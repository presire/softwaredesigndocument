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65.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35.xml" ContentType="application/vnd.openxmlformats-officedocument.presentationml.slide+xml"/>
  <Override PartName="/ppt/slides/slide80.xml" ContentType="application/vnd.openxmlformats-officedocument.presentationml.slide+xml"/>
  <Override PartName="/ppt/slides/slide64.xml" ContentType="application/vnd.openxmlformats-officedocument.presentationml.slide+xml"/>
  <Override PartName="/ppt/slides/slide29.xml" ContentType="application/vnd.openxmlformats-officedocument.presentationml.slide+xml"/>
  <Override PartName="/ppt/slides/slide61.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77.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85.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49.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76.xml" ContentType="application/vnd.openxmlformats-officedocument.presentationml.slide+xml"/>
  <Override PartName="/ppt/slides/slide71.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0.xml" ContentType="application/vnd.openxmlformats-officedocument.presentationml.slide+xml"/>
  <Override PartName="/ppt/slides/slide21.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57.xml" ContentType="application/vnd.openxmlformats-officedocument.presentationml.slide+xml"/>
  <Override PartName="/ppt/slides/slide20.xml" ContentType="application/vnd.openxmlformats-officedocument.presentationml.slide+xml"/>
  <Override PartName="/ppt/slides/slide83.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4.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notesSlides/notesSlide6.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defTabSz="457200">
              <a:tabLst>
                <a:tab pos="0" algn="l"/>
              </a:tabLst>
            </a:pPr>
            <a:r>
              <a:rPr lang="ja-JP" sz="4400" b="0" u="none" strike="noStrike">
                <a:solidFill>
                  <a:schemeClr val="dk1"/>
                </a:solidFill>
                <a:effectLst/>
                <a:uFillTx/>
                <a:latin typeface="Calibri"/>
              </a:rPr>
              <a:t>クリックしてスライドを移動</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ja-JP" sz="2000" b="0" u="none" strike="noStrike">
                <a:solidFill>
                  <a:srgbClr val="000000"/>
                </a:solidFill>
                <a:effectLst/>
                <a:uFillTx/>
                <a:latin typeface="Arial"/>
              </a:rPr>
              <a:t>クリックしてノートの書式を編集</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Noto Serif CJK JP"/>
              </a:rPr>
              <a:t>&lt;ヘッダー&gt;</a:t>
            </a:r>
            <a:endParaRPr lang="en-US" sz="1400" b="0" u="none" strike="noStrike">
              <a:solidFill>
                <a:srgbClr val="000000"/>
              </a:solidFill>
              <a:effectLst/>
              <a:uFillTx/>
              <a:latin typeface="Noto Serif CJK JP"/>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Noto Serif CJK JP"/>
              </a:defRPr>
            </a:lvl1pPr>
          </a:lstStyle>
          <a:p>
            <a:pPr indent="0" algn="r">
              <a:buNone/>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erif CJK JP"/>
              </a:defRPr>
            </a:lvl1pPr>
          </a:lstStyle>
          <a:p>
            <a:pPr indent="0" algn="l">
              <a:buNone/>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erif CJK JP"/>
              </a:defRPr>
            </a:lvl1pPr>
          </a:lstStyle>
          <a:p>
            <a:pPr indent="0" algn="r">
              <a:buNone/>
            </a:pPr>
            <a:fld id="{0703E9A6-48E9-4DEE-9E78-1704D9837051}" type="slidenum">
              <a:rPr lang="en-US" sz="1400" b="0" u="none" strike="noStrike">
                <a:solidFill>
                  <a:srgbClr val="000000"/>
                </a:solidFill>
                <a:effectLst/>
                <a:uFillTx/>
                <a:latin typeface="Noto Serif CJK JP"/>
              </a:rPr>
              <a:t>&lt;番号&gt;</a:t>
            </a:fld>
            <a:endParaRPr lang="en-US" sz="1400" b="0" u="none" strike="noStrike">
              <a:solidFill>
                <a:srgbClr val="000000"/>
              </a:solidFill>
              <a:effectLst/>
              <a:uFillTx/>
              <a:latin typeface="Noto Serif CJK JP"/>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0" name="PlaceHolder 1"/>
          <p:cNvSpPr>
            <a:spLocks noGrp="1"/>
          </p:cNvSpPr>
          <p:nvPr>
            <p:ph type="sldImg"/>
          </p:nvPr>
        </p:nvSpPr>
        <p:spPr>
          <a:xfrm>
            <a:off x="1143000" y="685800"/>
            <a:ext cx="4571280" cy="3428280"/>
          </a:xfrm>
          <a:prstGeom prst="rect">
            <a:avLst/>
          </a:prstGeom>
          <a:ln w="0">
            <a:noFill/>
          </a:ln>
        </p:spPr>
      </p:sp>
      <p:sp>
        <p:nvSpPr>
          <p:cNvPr id="2751"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ja-JP" sz="2000" b="0" u="none" strike="noStrike">
                <a:solidFill>
                  <a:srgbClr val="000000"/>
                </a:solidFill>
                <a:effectLst/>
                <a:uFillTx/>
                <a:latin typeface="Arial"/>
              </a:rPr>
              <a:t>評価委員に提案の全体像と主要</a:t>
            </a:r>
            <a:r>
              <a:rPr lang="en-US" sz="2000" b="0" u="none" strike="noStrike">
                <a:solidFill>
                  <a:srgbClr val="000000"/>
                </a:solidFill>
                <a:effectLst/>
                <a:uFillTx/>
                <a:latin typeface="Arial"/>
              </a:rPr>
              <a:t>KPI</a:t>
            </a:r>
            <a:r>
              <a:rPr lang="ja-JP" sz="2000" b="0" u="none" strike="noStrike">
                <a:solidFill>
                  <a:srgbClr val="000000"/>
                </a:solidFill>
                <a:effectLst/>
                <a:uFillTx/>
                <a:latin typeface="Arial"/>
              </a:rPr>
              <a:t>を最初に示す</a:t>
            </a:r>
            <a:endParaRPr lang="en-US" sz="2000" b="0" u="none" strike="noStrike">
              <a:solidFill>
                <a:srgbClr val="000000"/>
              </a:solidFill>
              <a:effectLst/>
              <a:uFillTx/>
              <a:latin typeface="Arial"/>
            </a:endParaRPr>
          </a:p>
        </p:txBody>
      </p:sp>
      <p:sp>
        <p:nvSpPr>
          <p:cNvPr id="2752" name="PlaceHolder 3"/>
          <p:cNvSpPr>
            <a:spLocks noGrp="1"/>
          </p:cNvSpPr>
          <p:nvPr>
            <p:ph type="sldNum" idx="37"/>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Noto Serif CJK JP"/>
              </a:defRPr>
            </a:lvl1pPr>
          </a:lstStyle>
          <a:p>
            <a:pPr indent="0" algn="r">
              <a:lnSpc>
                <a:spcPct val="100000"/>
              </a:lnSpc>
              <a:buNone/>
              <a:tabLst>
                <a:tab pos="0" algn="l"/>
              </a:tabLst>
            </a:pPr>
            <a:fld id="{F565CF3B-9807-46E9-AAA4-FE5543971F5B}" type="slidenum">
              <a:rPr lang="en-US" sz="1200" b="0" u="none" strike="noStrike">
                <a:solidFill>
                  <a:srgbClr val="000000"/>
                </a:solidFill>
                <a:effectLst/>
                <a:uFillTx/>
                <a:latin typeface="Noto Serif CJK JP"/>
              </a:rPr>
              <a:t>&lt;番号&gt;</a:t>
            </a:fld>
            <a:endParaRPr lang="en-US" sz="1200" b="0" u="none" strike="noStrike">
              <a:solidFill>
                <a:srgbClr val="000000"/>
              </a:solidFill>
              <a:effectLst/>
              <a:uFillTx/>
              <a:latin typeface="Noto Serif CJK JP"/>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3" name="PlaceHolder 1"/>
          <p:cNvSpPr>
            <a:spLocks noGrp="1"/>
          </p:cNvSpPr>
          <p:nvPr>
            <p:ph type="sldImg"/>
          </p:nvPr>
        </p:nvSpPr>
        <p:spPr>
          <a:xfrm>
            <a:off x="1143000" y="685800"/>
            <a:ext cx="4571280" cy="3428280"/>
          </a:xfrm>
          <a:prstGeom prst="rect">
            <a:avLst/>
          </a:prstGeom>
          <a:ln w="0">
            <a:noFill/>
          </a:ln>
        </p:spPr>
      </p:sp>
      <p:sp>
        <p:nvSpPr>
          <p:cNvPr id="2754" name="PlaceHolder 2"/>
          <p:cNvSpPr>
            <a:spLocks noGrp="1"/>
          </p:cNvSpPr>
          <p:nvPr>
            <p:ph type="body"/>
          </p:nvPr>
        </p:nvSpPr>
        <p:spPr>
          <a:xfrm>
            <a:off x="685800" y="4343400"/>
            <a:ext cx="5485680" cy="4114080"/>
          </a:xfrm>
          <a:prstGeom prst="rect">
            <a:avLst/>
          </a:prstGeom>
          <a:noFill/>
          <a:ln w="0">
            <a:noFill/>
          </a:ln>
        </p:spPr>
        <p:txBody>
          <a:bodyPr lIns="91440" tIns="45720" rIns="91440" bIns="45720" anchor="t">
            <a:noAutofit/>
          </a:bodyPr>
          <a:p>
            <a:pPr indent="0" algn="l">
              <a:lnSpc>
                <a:spcPct val="100000"/>
              </a:lnSpc>
              <a:buNone/>
              <a:tabLst>
                <a:tab pos="0" algn="l"/>
              </a:tabLst>
            </a:pPr>
            <a:r>
              <a:rPr lang="ja-JP" sz="2000" b="0" u="none" strike="noStrike">
                <a:solidFill>
                  <a:srgbClr val="000000"/>
                </a:solidFill>
                <a:effectLst/>
                <a:uFillTx/>
                <a:latin typeface="Arial"/>
              </a:rPr>
              <a:t>経営課題と投資判断の前提を最初に共有する</a:t>
            </a:r>
            <a:endParaRPr lang="en-US" sz="2000" b="0" u="none" strike="noStrike">
              <a:solidFill>
                <a:srgbClr val="000000"/>
              </a:solidFill>
              <a:effectLst/>
              <a:uFillTx/>
              <a:latin typeface="Arial"/>
            </a:endParaRPr>
          </a:p>
        </p:txBody>
      </p:sp>
      <p:sp>
        <p:nvSpPr>
          <p:cNvPr id="2755" name="PlaceHolder 3"/>
          <p:cNvSpPr>
            <a:spLocks noGrp="1"/>
          </p:cNvSpPr>
          <p:nvPr>
            <p:ph type="sldNum" idx="38"/>
          </p:nvPr>
        </p:nvSpPr>
        <p:spPr>
          <a:xfrm>
            <a:off x="3884760" y="8685360"/>
            <a:ext cx="297108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Noto Serif CJK JP"/>
              </a:defRPr>
            </a:lvl1pPr>
          </a:lstStyle>
          <a:p>
            <a:pPr indent="0" algn="r">
              <a:lnSpc>
                <a:spcPct val="100000"/>
              </a:lnSpc>
              <a:buNone/>
              <a:tabLst>
                <a:tab pos="0" algn="l"/>
              </a:tabLst>
            </a:pPr>
            <a:fld id="{F268DAD5-FC53-454F-909A-B7B184F8D8F1}" type="slidenum">
              <a:rPr lang="en-US" sz="1200" b="0" u="none" strike="noStrike">
                <a:solidFill>
                  <a:srgbClr val="000000"/>
                </a:solidFill>
                <a:effectLst/>
                <a:uFillTx/>
                <a:latin typeface="Noto Serif CJK JP"/>
              </a:rPr>
              <a:t>&lt;番号&gt;</a:t>
            </a:fld>
            <a:endParaRPr lang="en-US" sz="1200" b="0" u="none" strike="noStrike">
              <a:solidFill>
                <a:srgbClr val="000000"/>
              </a:solidFill>
              <a:effectLst/>
              <a:uFillTx/>
              <a:latin typeface="Noto Serif CJK JP"/>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C13FC41-C8D8-4833-8675-D97D74BA3EDE}"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
        <p:nvSpPr>
          <p:cNvPr id="5" name="PlaceHolder 4"/>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ja-JP" sz="4400" b="0" u="none" strike="noStrike">
                <a:solidFill>
                  <a:schemeClr val="dk1"/>
                </a:solidFill>
                <a:effectLst/>
                <a:uFillTx/>
                <a:latin typeface="Calibri"/>
              </a:defRPr>
            </a:lvl1pPr>
          </a:lstStyle>
          <a:p>
            <a:pPr indent="0" algn="ctr" defTabSz="457200">
              <a:lnSpc>
                <a:spcPct val="100000"/>
              </a:lnSpc>
              <a:buNone/>
              <a:tabLst>
                <a:tab pos="0" algn="l"/>
              </a:tabLst>
            </a:pPr>
            <a:r>
              <a:rPr lang="ja-JP" sz="4400" b="0" u="none" strike="noStrike">
                <a:solidFill>
                  <a:schemeClr val="dk1"/>
                </a:solidFill>
                <a:effectLst/>
                <a:uFillTx/>
                <a:latin typeface="Calibri"/>
              </a:rPr>
              <a:t>クリックしてタイトルテキストを編集</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ja-JP"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ja-JP"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ja-JP"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ja-JP"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ja-JP"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ja-JP"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ja-JP"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ja-JP" sz="3200" b="0" u="none" strike="noStrike">
                <a:solidFill>
                  <a:schemeClr val="dk1"/>
                </a:solidFill>
                <a:effectLst/>
                <a:uFillTx/>
                <a:latin typeface="Calibri"/>
              </a:rPr>
              <a:t>クリックしてアウトラインのテキストを編集</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ja-JP" sz="2800" b="0" u="none" strike="noStrike">
                <a:solidFill>
                  <a:schemeClr val="dk1"/>
                </a:solidFill>
                <a:effectLst/>
                <a:uFillTx/>
                <a:latin typeface="Calibri"/>
              </a:rPr>
              <a:t>第</a:t>
            </a:r>
            <a:r>
              <a:rPr lang="en-US" sz="2800" b="0" u="none" strike="noStrike">
                <a:solidFill>
                  <a:schemeClr val="dk1"/>
                </a:solidFill>
                <a:effectLst/>
                <a:uFillTx/>
                <a:latin typeface="Calibri"/>
              </a:rPr>
              <a:t>2</a:t>
            </a:r>
            <a:r>
              <a:rPr lang="ja-JP" sz="2800" b="0" u="none" strike="noStrike">
                <a:solidFill>
                  <a:schemeClr val="dk1"/>
                </a:solidFill>
                <a:effectLst/>
                <a:uFillTx/>
                <a:latin typeface="Calibri"/>
              </a:rPr>
              <a:t>レベル アウトライン</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ja-JP" sz="2400" b="0" u="none" strike="noStrike">
                <a:solidFill>
                  <a:schemeClr val="dk1"/>
                </a:solidFill>
                <a:effectLst/>
                <a:uFillTx/>
                <a:latin typeface="Calibri"/>
              </a:rPr>
              <a:t>第</a:t>
            </a:r>
            <a:r>
              <a:rPr lang="en-US" sz="2400" b="0" u="none" strike="noStrike">
                <a:solidFill>
                  <a:schemeClr val="dk1"/>
                </a:solidFill>
                <a:effectLst/>
                <a:uFillTx/>
                <a:latin typeface="Calibri"/>
              </a:rPr>
              <a:t>3</a:t>
            </a:r>
            <a:r>
              <a:rPr lang="ja-JP" sz="2400" b="0" u="none" strike="noStrike">
                <a:solidFill>
                  <a:schemeClr val="dk1"/>
                </a:solidFill>
                <a:effectLst/>
                <a:uFillTx/>
                <a:latin typeface="Calibri"/>
              </a:rPr>
              <a:t>レベル アウトライン</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ja-JP" sz="2000" b="0" u="none" strike="noStrike">
                <a:solidFill>
                  <a:schemeClr val="dk1"/>
                </a:solidFill>
                <a:effectLst/>
                <a:uFillTx/>
                <a:latin typeface="Calibri"/>
              </a:rPr>
              <a:t>第</a:t>
            </a:r>
            <a:r>
              <a:rPr lang="en-US" sz="2000" b="0" u="none" strike="noStrike">
                <a:solidFill>
                  <a:schemeClr val="dk1"/>
                </a:solidFill>
                <a:effectLst/>
                <a:uFillTx/>
                <a:latin typeface="Calibri"/>
              </a:rPr>
              <a:t>4</a:t>
            </a:r>
            <a:r>
              <a:rPr lang="ja-JP" sz="2000" b="0" u="none" strike="noStrike">
                <a:solidFill>
                  <a:schemeClr val="dk1"/>
                </a:solidFill>
                <a:effectLst/>
                <a:uFillTx/>
                <a:latin typeface="Calibri"/>
              </a:rPr>
              <a:t>レベル アウトライン</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ja-JP" sz="2000" b="0" u="none" strike="noStrike">
                <a:solidFill>
                  <a:schemeClr val="dk1"/>
                </a:solidFill>
                <a:effectLst/>
                <a:uFillTx/>
                <a:latin typeface="Calibri"/>
              </a:rPr>
              <a:t>第</a:t>
            </a:r>
            <a:r>
              <a:rPr lang="en-US" sz="2000" b="0" u="none" strike="noStrike">
                <a:solidFill>
                  <a:schemeClr val="dk1"/>
                </a:solidFill>
                <a:effectLst/>
                <a:uFillTx/>
                <a:latin typeface="Calibri"/>
              </a:rPr>
              <a:t>5</a:t>
            </a:r>
            <a:r>
              <a:rPr lang="ja-JP" sz="2000" b="0" u="none" strike="noStrike">
                <a:solidFill>
                  <a:schemeClr val="dk1"/>
                </a:solidFill>
                <a:effectLst/>
                <a:uFillTx/>
                <a:latin typeface="Calibri"/>
              </a:rPr>
              <a:t>レベル アウトライン</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ja-JP" sz="2000" b="0" u="none" strike="noStrike">
                <a:solidFill>
                  <a:schemeClr val="dk1"/>
                </a:solidFill>
                <a:effectLst/>
                <a:uFillTx/>
                <a:latin typeface="Calibri"/>
              </a:rPr>
              <a:t>第</a:t>
            </a:r>
            <a:r>
              <a:rPr lang="en-US" sz="2000" b="0" u="none" strike="noStrike">
                <a:solidFill>
                  <a:schemeClr val="dk1"/>
                </a:solidFill>
                <a:effectLst/>
                <a:uFillTx/>
                <a:latin typeface="Calibri"/>
              </a:rPr>
              <a:t>6</a:t>
            </a:r>
            <a:r>
              <a:rPr lang="ja-JP" sz="2000" b="0" u="none" strike="noStrike">
                <a:solidFill>
                  <a:schemeClr val="dk1"/>
                </a:solidFill>
                <a:effectLst/>
                <a:uFillTx/>
                <a:latin typeface="Calibri"/>
              </a:rPr>
              <a:t>レベル アウトライン</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ja-JP" sz="2000" b="0" u="none" strike="noStrike">
                <a:solidFill>
                  <a:schemeClr val="dk1"/>
                </a:solidFill>
                <a:effectLst/>
                <a:uFillTx/>
                <a:latin typeface="Calibri"/>
              </a:rPr>
              <a:t>第</a:t>
            </a:r>
            <a:r>
              <a:rPr lang="en-US" sz="2000" b="0" u="none" strike="noStrike">
                <a:solidFill>
                  <a:schemeClr val="dk1"/>
                </a:solidFill>
                <a:effectLst/>
                <a:uFillTx/>
                <a:latin typeface="Calibri"/>
              </a:rPr>
              <a:t>7</a:t>
            </a:r>
            <a:r>
              <a:rPr lang="ja-JP" sz="2000" b="0" u="none" strike="noStrike">
                <a:solidFill>
                  <a:schemeClr val="dk1"/>
                </a:solidFill>
                <a:effectLst/>
                <a:uFillTx/>
                <a:latin typeface="Calibri"/>
              </a:rPr>
              <a:t>レベル アウトライン</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B8D8A64-FB65-4D66-B81A-FCD6F5A60E1D}"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ja-JP"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ja-JP"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ja-JP"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ja-JP"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ja-JP"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ja-JP"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ja-JP"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ja-JP" sz="3200" b="0" u="none" strike="noStrike">
                <a:solidFill>
                  <a:schemeClr val="dk1"/>
                </a:solidFill>
                <a:effectLst/>
                <a:uFillTx/>
                <a:latin typeface="Calibri"/>
              </a:rPr>
              <a:t>クリックしてアウトラインのテキストを編集</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ja-JP" sz="3200" b="0" u="none" strike="noStrike">
                <a:solidFill>
                  <a:schemeClr val="dk1"/>
                </a:solidFill>
                <a:effectLst/>
                <a:uFillTx/>
                <a:latin typeface="Calibri"/>
              </a:rPr>
              <a:t>第</a:t>
            </a:r>
            <a:r>
              <a:rPr lang="en-US" sz="3200" b="0" u="none" strike="noStrike">
                <a:solidFill>
                  <a:schemeClr val="dk1"/>
                </a:solidFill>
                <a:effectLst/>
                <a:uFillTx/>
                <a:latin typeface="Calibri"/>
              </a:rPr>
              <a:t>2</a:t>
            </a:r>
            <a:r>
              <a:rPr lang="ja-JP" sz="3200" b="0" u="none" strike="noStrike">
                <a:solidFill>
                  <a:schemeClr val="dk1"/>
                </a:solidFill>
                <a:effectLst/>
                <a:uFillTx/>
                <a:latin typeface="Calibri"/>
              </a:rPr>
              <a:t>レベル アウトライン</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ja-JP" sz="3200" b="0" u="none" strike="noStrike">
                <a:solidFill>
                  <a:schemeClr val="dk1"/>
                </a:solidFill>
                <a:effectLst/>
                <a:uFillTx/>
                <a:latin typeface="Calibri"/>
              </a:rPr>
              <a:t>第</a:t>
            </a:r>
            <a:r>
              <a:rPr lang="en-US" sz="3200" b="0" u="none" strike="noStrike">
                <a:solidFill>
                  <a:schemeClr val="dk1"/>
                </a:solidFill>
                <a:effectLst/>
                <a:uFillTx/>
                <a:latin typeface="Calibri"/>
              </a:rPr>
              <a:t>3</a:t>
            </a:r>
            <a:r>
              <a:rPr lang="ja-JP" sz="3200" b="0" u="none" strike="noStrike">
                <a:solidFill>
                  <a:schemeClr val="dk1"/>
                </a:solidFill>
                <a:effectLst/>
                <a:uFillTx/>
                <a:latin typeface="Calibri"/>
              </a:rPr>
              <a:t>レベル アウトライン</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ja-JP" sz="3200" b="0" u="none" strike="noStrike">
                <a:solidFill>
                  <a:schemeClr val="dk1"/>
                </a:solidFill>
                <a:effectLst/>
                <a:uFillTx/>
                <a:latin typeface="Calibri"/>
              </a:rPr>
              <a:t>第</a:t>
            </a:r>
            <a:r>
              <a:rPr lang="en-US" sz="3200" b="0" u="none" strike="noStrike">
                <a:solidFill>
                  <a:schemeClr val="dk1"/>
                </a:solidFill>
                <a:effectLst/>
                <a:uFillTx/>
                <a:latin typeface="Calibri"/>
              </a:rPr>
              <a:t>4</a:t>
            </a:r>
            <a:r>
              <a:rPr lang="ja-JP" sz="3200" b="0" u="none" strike="noStrike">
                <a:solidFill>
                  <a:schemeClr val="dk1"/>
                </a:solidFill>
                <a:effectLst/>
                <a:uFillTx/>
                <a:latin typeface="Calibri"/>
              </a:rPr>
              <a:t>レベル アウトライン</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ja-JP" sz="3200" b="0" u="none" strike="noStrike">
                <a:solidFill>
                  <a:schemeClr val="dk1"/>
                </a:solidFill>
                <a:effectLst/>
                <a:uFillTx/>
                <a:latin typeface="Calibri"/>
              </a:rPr>
              <a:t>第</a:t>
            </a:r>
            <a:r>
              <a:rPr lang="en-US" sz="3200" b="0" u="none" strike="noStrike">
                <a:solidFill>
                  <a:schemeClr val="dk1"/>
                </a:solidFill>
                <a:effectLst/>
                <a:uFillTx/>
                <a:latin typeface="Calibri"/>
              </a:rPr>
              <a:t>5</a:t>
            </a:r>
            <a:r>
              <a:rPr lang="ja-JP" sz="3200" b="0" u="none" strike="noStrike">
                <a:solidFill>
                  <a:schemeClr val="dk1"/>
                </a:solidFill>
                <a:effectLst/>
                <a:uFillTx/>
                <a:latin typeface="Calibri"/>
              </a:rPr>
              <a:t>レベル アウトライン</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ja-JP" sz="3200" b="0" u="none" strike="noStrike">
                <a:solidFill>
                  <a:schemeClr val="dk1"/>
                </a:solidFill>
                <a:effectLst/>
                <a:uFillTx/>
                <a:latin typeface="Calibri"/>
              </a:rPr>
              <a:t>第</a:t>
            </a:r>
            <a:r>
              <a:rPr lang="en-US" sz="3200" b="0" u="none" strike="noStrike">
                <a:solidFill>
                  <a:schemeClr val="dk1"/>
                </a:solidFill>
                <a:effectLst/>
                <a:uFillTx/>
                <a:latin typeface="Calibri"/>
              </a:rPr>
              <a:t>6</a:t>
            </a:r>
            <a:r>
              <a:rPr lang="ja-JP" sz="3200" b="0" u="none" strike="noStrike">
                <a:solidFill>
                  <a:schemeClr val="dk1"/>
                </a:solidFill>
                <a:effectLst/>
                <a:uFillTx/>
                <a:latin typeface="Calibri"/>
              </a:rPr>
              <a:t>レベル アウトライン</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ja-JP" sz="3200" b="0" u="none" strike="noStrike">
                <a:solidFill>
                  <a:schemeClr val="dk1"/>
                </a:solidFill>
                <a:effectLst/>
                <a:uFillTx/>
                <a:latin typeface="Calibri"/>
              </a:rPr>
              <a:t>第</a:t>
            </a:r>
            <a:r>
              <a:rPr lang="en-US" sz="3200" b="0" u="none" strike="noStrike">
                <a:solidFill>
                  <a:schemeClr val="dk1"/>
                </a:solidFill>
                <a:effectLst/>
                <a:uFillTx/>
                <a:latin typeface="Calibri"/>
              </a:rPr>
              <a:t>7</a:t>
            </a:r>
            <a:r>
              <a:rPr lang="ja-JP" sz="3200" b="0" u="none" strike="noStrike">
                <a:solidFill>
                  <a:schemeClr val="dk1"/>
                </a:solidFill>
                <a:effectLst/>
                <a:uFillTx/>
                <a:latin typeface="Calibri"/>
              </a:rPr>
              <a:t>レベル アウトライン</a:t>
            </a:r>
            <a:endParaRPr lang="en-US" sz="3200" b="0" u="none" strike="noStrike">
              <a:solidFill>
                <a:schemeClr val="dk1"/>
              </a:solidFill>
              <a:effectLst/>
              <a:uFillTx/>
              <a:latin typeface="Calibri"/>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047F534-AE91-47D4-8754-2DFD8E384491}"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F77B081-4D35-46AE-BF6C-39B9BCFA51B9}"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C28C5C7-2C74-4F03-9FAE-25E14275192A}"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B306195-03A9-4FD9-B63F-078761DE69D6}"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3D769A5-6F84-4205-A07B-054C98B17E30}"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2446BC2A-15F6-4848-8E3C-917B40783174}"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23FBE12-AD2D-4FC8-B651-A8A8767E1C5D}"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7F50095-CFD1-4825-89B9-56C52204128E}"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&lt;日付/時刻&gt;</a:t>
            </a:r>
            <a:endParaRPr lang="en-US" sz="1200" b="0" u="none" strike="noStrike">
              <a:solidFill>
                <a:srgbClr val="000000"/>
              </a:solidFill>
              <a:effectLst/>
              <a:uFillTx/>
              <a:latin typeface="Noto Serif CJK JP"/>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CJK JP"/>
              </a:defRPr>
            </a:lvl1pPr>
          </a:lstStyle>
          <a:p>
            <a:pPr indent="0" algn="ctr">
              <a:lnSpc>
                <a:spcPct val="100000"/>
              </a:lnSpc>
              <a:buNone/>
              <a:tabLst>
                <a:tab pos="0" algn="l"/>
              </a:tabLst>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6B70778-50D4-4DF4-8EFE-BCCEF1B616EB}" type="slidenum">
              <a:rPr lang="en-US" sz="1200" b="0" u="none" strike="noStrike">
                <a:solidFill>
                  <a:schemeClr val="dk1">
                    <a:tint val="75000"/>
                  </a:schemeClr>
                </a:solidFill>
                <a:effectLst/>
                <a:uFillTx/>
                <a:latin typeface="Calibri"/>
              </a:rPr>
              <a:t>&lt;番号&gt;</a:t>
            </a:fld>
            <a:endParaRPr lang="en-US" sz="1200" b="0" u="none" strike="noStrike">
              <a:solidFill>
                <a:srgbClr val="000000"/>
              </a:solidFill>
              <a:effectLst/>
              <a:uFillTx/>
              <a:latin typeface="Noto Serif CJK JP"/>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c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cv-acc1"/>
          <p:cNvSpPr/>
          <p:nvPr/>
        </p:nvSpPr>
        <p:spPr>
          <a:xfrm>
            <a:off x="10042920" y="4709160"/>
            <a:ext cx="3748320" cy="3748320"/>
          </a:xfrm>
          <a:prstGeom prst="ellipse">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cv-acc4"/>
          <p:cNvSpPr/>
          <p:nvPr/>
        </p:nvSpPr>
        <p:spPr>
          <a:xfrm>
            <a:off x="10408680" y="5074920"/>
            <a:ext cx="3016800" cy="3016800"/>
          </a:xfrm>
          <a:prstGeom prst="ellipse">
            <a:avLst/>
          </a:prstGeom>
          <a:noFill/>
          <a:ln w="15875">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 name="cv-acc2"/>
          <p:cNvSpPr/>
          <p:nvPr/>
        </p:nvSpPr>
        <p:spPr>
          <a:xfrm>
            <a:off x="10225800" y="502920"/>
            <a:ext cx="1416600" cy="1416600"/>
          </a:xfrm>
          <a:prstGeom prst="ellipse">
            <a:avLst/>
          </a:prstGeom>
          <a:noFill/>
          <a:ln w="254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 name="cv-acc3"/>
          <p:cNvSpPr/>
          <p:nvPr/>
        </p:nvSpPr>
        <p:spPr>
          <a:xfrm rot="2700000">
            <a:off x="11323440" y="1691280"/>
            <a:ext cx="547920" cy="547920"/>
          </a:xfrm>
          <a:prstGeom prst="rect">
            <a:avLst/>
          </a:prstGeom>
          <a:solidFill>
            <a:srgbClr val="0E7490">
              <a:alpha val="55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 name="cv-kicker"/>
          <p:cNvSpPr/>
          <p:nvPr/>
        </p:nvSpPr>
        <p:spPr>
          <a:xfrm>
            <a:off x="868680" y="658440"/>
            <a:ext cx="104536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1" u="none" spc="400" strike="noStrike">
                <a:solidFill>
                  <a:srgbClr val="0E7490"/>
                </a:solidFill>
                <a:effectLst/>
                <a:uFillTx/>
                <a:latin typeface="BIZ UDPゴシック"/>
                <a:ea typeface="BIZ UDPゴシック"/>
              </a:rPr>
              <a:t>PROJECT PLAN</a:t>
            </a:r>
            <a:endParaRPr lang="en-US" sz="1250" b="0" u="none" strike="noStrike">
              <a:solidFill>
                <a:srgbClr val="000000"/>
              </a:solidFill>
              <a:effectLst/>
              <a:uFillTx/>
              <a:latin typeface="Arial"/>
            </a:endParaRPr>
          </a:p>
        </p:txBody>
      </p:sp>
      <p:sp>
        <p:nvSpPr>
          <p:cNvPr id="73" name="cv-doc"/>
          <p:cNvSpPr/>
          <p:nvPr/>
        </p:nvSpPr>
        <p:spPr>
          <a:xfrm>
            <a:off x="868680" y="969120"/>
            <a:ext cx="10453680" cy="776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プロジェクト計画書</a:t>
            </a:r>
            <a:endParaRPr lang="en-US" sz="4000" b="0" u="none" strike="noStrike">
              <a:solidFill>
                <a:srgbClr val="000000"/>
              </a:solidFill>
              <a:effectLst/>
              <a:uFillTx/>
              <a:latin typeface="Arial"/>
            </a:endParaRPr>
          </a:p>
        </p:txBody>
      </p:sp>
      <p:sp>
        <p:nvSpPr>
          <p:cNvPr id="74" name="cv-proj"/>
          <p:cNvSpPr/>
          <p:nvPr/>
        </p:nvSpPr>
        <p:spPr>
          <a:xfrm>
            <a:off x="868680" y="1828800"/>
            <a:ext cx="10453680" cy="383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2000" b="1" u="none" strike="noStrike">
                <a:solidFill>
                  <a:srgbClr val="CADCFC"/>
                </a:solidFill>
                <a:effectLst/>
                <a:uFillTx/>
                <a:latin typeface="BIZ UDPゴシック"/>
                <a:ea typeface="BIZ UDPゴシック"/>
              </a:rPr>
              <a:t>経費精算業務改革プロジェクト</a:t>
            </a:r>
            <a:endParaRPr lang="en-US" sz="2000" b="0" u="none" strike="noStrike">
              <a:solidFill>
                <a:srgbClr val="000000"/>
              </a:solidFill>
              <a:effectLst/>
              <a:uFillTx/>
              <a:latin typeface="Arial"/>
            </a:endParaRPr>
          </a:p>
        </p:txBody>
      </p:sp>
      <p:sp>
        <p:nvSpPr>
          <p:cNvPr id="75" name="cv-tagline"/>
          <p:cNvSpPr/>
          <p:nvPr/>
        </p:nvSpPr>
        <p:spPr>
          <a:xfrm>
            <a:off x="868680" y="2395800"/>
            <a:ext cx="10453680" cy="291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500" b="1" u="none" strike="noStrike">
                <a:solidFill>
                  <a:srgbClr val="0E7490"/>
                </a:solidFill>
                <a:effectLst/>
                <a:uFillTx/>
                <a:latin typeface="BIZ UDPゴシック"/>
                <a:ea typeface="BIZ UDPゴシック"/>
              </a:rPr>
              <a:t>精算リードタイム</a:t>
            </a:r>
            <a:r>
              <a:rPr lang="en-US" sz="1500" b="1" u="none" strike="noStrike">
                <a:solidFill>
                  <a:srgbClr val="0E7490"/>
                </a:solidFill>
                <a:effectLst/>
                <a:uFillTx/>
                <a:latin typeface="BIZ UDPゴシック"/>
                <a:ea typeface="BIZ UDPゴシック"/>
              </a:rPr>
              <a:t>5</a:t>
            </a:r>
            <a:r>
              <a:rPr lang="ja-JP" sz="1500" b="1" u="none" strike="noStrike">
                <a:solidFill>
                  <a:srgbClr val="0E7490"/>
                </a:solidFill>
                <a:effectLst/>
                <a:uFillTx/>
                <a:latin typeface="BIZ UDPゴシック"/>
                <a:ea typeface="BIZ UDPゴシック"/>
              </a:rPr>
              <a:t>営業日を</a:t>
            </a:r>
            <a:r>
              <a:rPr lang="en-US" sz="1500" b="1" u="none" strike="noStrike">
                <a:solidFill>
                  <a:srgbClr val="0E7490"/>
                </a:solidFill>
                <a:effectLst/>
                <a:uFillTx/>
                <a:latin typeface="BIZ UDPゴシック"/>
                <a:ea typeface="BIZ UDPゴシック"/>
              </a:rPr>
              <a:t>2</a:t>
            </a:r>
            <a:r>
              <a:rPr lang="ja-JP" sz="1500" b="1" u="none" strike="noStrike">
                <a:solidFill>
                  <a:srgbClr val="0E7490"/>
                </a:solidFill>
                <a:effectLst/>
                <a:uFillTx/>
                <a:latin typeface="BIZ UDPゴシック"/>
                <a:ea typeface="BIZ UDPゴシック"/>
              </a:rPr>
              <a:t>営業日に短縮</a:t>
            </a:r>
            <a:endParaRPr lang="en-US" sz="1500" b="0" u="none" strike="noStrike">
              <a:solidFill>
                <a:srgbClr val="000000"/>
              </a:solidFill>
              <a:effectLst/>
              <a:uFillTx/>
              <a:latin typeface="Arial"/>
            </a:endParaRPr>
          </a:p>
        </p:txBody>
      </p:sp>
      <p:sp>
        <p:nvSpPr>
          <p:cNvPr id="76" name="cv-sub"/>
          <p:cNvSpPr/>
          <p:nvPr/>
        </p:nvSpPr>
        <p:spPr>
          <a:xfrm>
            <a:off x="868680" y="2797920"/>
            <a:ext cx="10453680" cy="2736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50" b="0" u="none" strike="noStrike">
                <a:solidFill>
                  <a:srgbClr val="D7E5FD"/>
                </a:solidFill>
                <a:effectLst/>
                <a:uFillTx/>
                <a:latin typeface="BIZ UDPゴシック"/>
                <a:ea typeface="BIZ UDPゴシック"/>
              </a:rPr>
              <a:t>現状分析〜全社本番稼働・定着化</a:t>
            </a:r>
            <a:endParaRPr lang="en-US" sz="1250" b="0" u="none" strike="noStrike">
              <a:solidFill>
                <a:srgbClr val="000000"/>
              </a:solidFill>
              <a:effectLst/>
              <a:uFillTx/>
              <a:latin typeface="Arial"/>
            </a:endParaRPr>
          </a:p>
        </p:txBody>
      </p:sp>
      <p:sp>
        <p:nvSpPr>
          <p:cNvPr id="77" name="cv-hl-0"/>
          <p:cNvSpPr/>
          <p:nvPr/>
        </p:nvSpPr>
        <p:spPr>
          <a:xfrm>
            <a:off x="868680" y="3273480"/>
            <a:ext cx="2285280" cy="895320"/>
          </a:xfrm>
          <a:prstGeom prst="roundRect">
            <a:avLst>
              <a:gd name="adj" fmla="val 10000"/>
            </a:avLst>
          </a:prstGeom>
          <a:solidFill>
            <a:srgbClr val="3B455D"/>
          </a:solidFill>
          <a:ln w="127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cv-hl-v-0"/>
          <p:cNvSpPr/>
          <p:nvPr/>
        </p:nvSpPr>
        <p:spPr>
          <a:xfrm>
            <a:off x="960120" y="3346560"/>
            <a:ext cx="2102400" cy="4564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2400" b="1" u="none" strike="noStrike">
                <a:solidFill>
                  <a:srgbClr val="FFFFFF"/>
                </a:solidFill>
                <a:effectLst/>
                <a:uFillTx/>
                <a:latin typeface="BIZ UDPゴシック"/>
                <a:ea typeface="BIZ UDPゴシック"/>
              </a:rPr>
              <a:t>2</a:t>
            </a:r>
            <a:r>
              <a:rPr lang="ja-JP" sz="2400" b="1" u="none" strike="noStrike">
                <a:solidFill>
                  <a:srgbClr val="FFFFFF"/>
                </a:solidFill>
                <a:effectLst/>
                <a:uFillTx/>
                <a:latin typeface="BIZ UDPゴシック"/>
                <a:ea typeface="BIZ UDPゴシック"/>
              </a:rPr>
              <a:t>営業日</a:t>
            </a:r>
            <a:endParaRPr lang="en-US" sz="2400" b="0" u="none" strike="noStrike">
              <a:solidFill>
                <a:srgbClr val="000000"/>
              </a:solidFill>
              <a:effectLst/>
              <a:uFillTx/>
              <a:latin typeface="Arial"/>
            </a:endParaRPr>
          </a:p>
        </p:txBody>
      </p:sp>
      <p:sp>
        <p:nvSpPr>
          <p:cNvPr id="79" name="cv-hl-l-0"/>
          <p:cNvSpPr/>
          <p:nvPr/>
        </p:nvSpPr>
        <p:spPr>
          <a:xfrm>
            <a:off x="960120" y="3840480"/>
            <a:ext cx="2102400" cy="25524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50" b="0" u="none" strike="noStrike">
                <a:solidFill>
                  <a:srgbClr val="CADCFC"/>
                </a:solidFill>
                <a:effectLst/>
                <a:uFillTx/>
                <a:latin typeface="BIZ UDPゴシック"/>
                <a:ea typeface="BIZ UDPゴシック"/>
              </a:rPr>
              <a:t>精算リードタイム</a:t>
            </a:r>
            <a:endParaRPr lang="en-US" sz="950" b="0" u="none" strike="noStrike">
              <a:solidFill>
                <a:srgbClr val="000000"/>
              </a:solidFill>
              <a:effectLst/>
              <a:uFillTx/>
              <a:latin typeface="Arial"/>
            </a:endParaRPr>
          </a:p>
        </p:txBody>
      </p:sp>
      <p:sp>
        <p:nvSpPr>
          <p:cNvPr id="80" name="cv-hl-1"/>
          <p:cNvSpPr/>
          <p:nvPr/>
        </p:nvSpPr>
        <p:spPr>
          <a:xfrm>
            <a:off x="3374280" y="3273480"/>
            <a:ext cx="2285280" cy="895320"/>
          </a:xfrm>
          <a:prstGeom prst="roundRect">
            <a:avLst>
              <a:gd name="adj" fmla="val 10000"/>
            </a:avLst>
          </a:prstGeom>
          <a:solidFill>
            <a:srgbClr val="3B455D"/>
          </a:solidFill>
          <a:ln w="127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cv-hl-v-1"/>
          <p:cNvSpPr/>
          <p:nvPr/>
        </p:nvSpPr>
        <p:spPr>
          <a:xfrm>
            <a:off x="3465720" y="3346560"/>
            <a:ext cx="2102400" cy="4564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2400" b="1" u="none" strike="noStrike">
                <a:solidFill>
                  <a:srgbClr val="FFFFFF"/>
                </a:solidFill>
                <a:effectLst/>
                <a:uFillTx/>
                <a:latin typeface="BIZ UDPゴシック"/>
                <a:ea typeface="BIZ UDPゴシック"/>
              </a:rPr>
              <a:t>▲67%</a:t>
            </a:r>
            <a:endParaRPr lang="en-US" sz="2400" b="0" u="none" strike="noStrike">
              <a:solidFill>
                <a:srgbClr val="000000"/>
              </a:solidFill>
              <a:effectLst/>
              <a:uFillTx/>
              <a:latin typeface="Arial"/>
            </a:endParaRPr>
          </a:p>
        </p:txBody>
      </p:sp>
      <p:sp>
        <p:nvSpPr>
          <p:cNvPr id="82" name="cv-hl-l-1"/>
          <p:cNvSpPr/>
          <p:nvPr/>
        </p:nvSpPr>
        <p:spPr>
          <a:xfrm>
            <a:off x="3465720" y="3840480"/>
            <a:ext cx="2102400" cy="25524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50" b="0" u="none" strike="noStrike">
                <a:solidFill>
                  <a:srgbClr val="CADCFC"/>
                </a:solidFill>
                <a:effectLst/>
                <a:uFillTx/>
                <a:latin typeface="BIZ UDPゴシック"/>
                <a:ea typeface="BIZ UDPゴシック"/>
              </a:rPr>
              <a:t>経理手作業工数</a:t>
            </a:r>
            <a:endParaRPr lang="en-US" sz="950" b="0" u="none" strike="noStrike">
              <a:solidFill>
                <a:srgbClr val="000000"/>
              </a:solidFill>
              <a:effectLst/>
              <a:uFillTx/>
              <a:latin typeface="Arial"/>
            </a:endParaRPr>
          </a:p>
        </p:txBody>
      </p:sp>
      <p:sp>
        <p:nvSpPr>
          <p:cNvPr id="83" name="cv-hl-2"/>
          <p:cNvSpPr/>
          <p:nvPr/>
        </p:nvSpPr>
        <p:spPr>
          <a:xfrm>
            <a:off x="5879520" y="3273480"/>
            <a:ext cx="2285280" cy="895320"/>
          </a:xfrm>
          <a:prstGeom prst="roundRect">
            <a:avLst>
              <a:gd name="adj" fmla="val 10000"/>
            </a:avLst>
          </a:prstGeom>
          <a:solidFill>
            <a:srgbClr val="3B455D"/>
          </a:solidFill>
          <a:ln w="127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cv-hl-v-2"/>
          <p:cNvSpPr/>
          <p:nvPr/>
        </p:nvSpPr>
        <p:spPr>
          <a:xfrm>
            <a:off x="5970960" y="3346560"/>
            <a:ext cx="2102400" cy="4564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2400" b="1" u="none" strike="noStrike">
                <a:solidFill>
                  <a:srgbClr val="FFFFFF"/>
                </a:solidFill>
                <a:effectLst/>
                <a:uFillTx/>
                <a:latin typeface="BIZ UDPゴシック"/>
                <a:ea typeface="BIZ UDPゴシック"/>
              </a:rPr>
              <a:t>10/1</a:t>
            </a:r>
            <a:endParaRPr lang="en-US" sz="2400" b="0" u="none" strike="noStrike">
              <a:solidFill>
                <a:srgbClr val="000000"/>
              </a:solidFill>
              <a:effectLst/>
              <a:uFillTx/>
              <a:latin typeface="Arial"/>
            </a:endParaRPr>
          </a:p>
        </p:txBody>
      </p:sp>
      <p:sp>
        <p:nvSpPr>
          <p:cNvPr id="85" name="cv-hl-l-2"/>
          <p:cNvSpPr/>
          <p:nvPr/>
        </p:nvSpPr>
        <p:spPr>
          <a:xfrm>
            <a:off x="5970960" y="3840480"/>
            <a:ext cx="2102400" cy="25524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50" b="0" u="none" strike="noStrike">
                <a:solidFill>
                  <a:srgbClr val="CADCFC"/>
                </a:solidFill>
                <a:effectLst/>
                <a:uFillTx/>
                <a:latin typeface="BIZ UDPゴシック"/>
                <a:ea typeface="BIZ UDPゴシック"/>
              </a:rPr>
              <a:t>全社本番稼働</a:t>
            </a:r>
            <a:endParaRPr lang="en-US" sz="950" b="0" u="none" strike="noStrike">
              <a:solidFill>
                <a:srgbClr val="000000"/>
              </a:solidFill>
              <a:effectLst/>
              <a:uFillTx/>
              <a:latin typeface="Arial"/>
            </a:endParaRPr>
          </a:p>
        </p:txBody>
      </p:sp>
      <p:sp>
        <p:nvSpPr>
          <p:cNvPr id="86" name="cv-addr"/>
          <p:cNvSpPr/>
          <p:nvPr/>
        </p:nvSpPr>
        <p:spPr>
          <a:xfrm>
            <a:off x="868680" y="4581000"/>
            <a:ext cx="10453680" cy="2736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400" b="0" u="none" strike="noStrike">
                <a:solidFill>
                  <a:srgbClr val="FFFFFF"/>
                </a:solidFill>
                <a:effectLst/>
                <a:uFillTx/>
                <a:latin typeface="BIZ UDPゴシック"/>
                <a:ea typeface="BIZ UDPゴシック"/>
              </a:rPr>
              <a:t>サンプル商事株式会社 御中</a:t>
            </a:r>
            <a:endParaRPr lang="en-US" sz="1400" b="0" u="none" strike="noStrike">
              <a:solidFill>
                <a:srgbClr val="000000"/>
              </a:solidFill>
              <a:effectLst/>
              <a:uFillTx/>
              <a:latin typeface="Arial"/>
            </a:endParaRPr>
          </a:p>
        </p:txBody>
      </p:sp>
      <p:sp>
        <p:nvSpPr>
          <p:cNvPr id="87" name="cv-org"/>
          <p:cNvSpPr/>
          <p:nvPr/>
        </p:nvSpPr>
        <p:spPr>
          <a:xfrm>
            <a:off x="868680" y="5413320"/>
            <a:ext cx="10453680" cy="2736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300" b="1" u="none" strike="noStrike">
                <a:solidFill>
                  <a:srgbClr val="FFFFFF"/>
                </a:solidFill>
                <a:effectLst/>
                <a:uFillTx/>
                <a:latin typeface="BIZ UDPゴシック"/>
                <a:ea typeface="BIZ UDPゴシック"/>
              </a:rPr>
              <a:t>エグザンプルシステムズ株式会社</a:t>
            </a:r>
            <a:endParaRPr lang="en-US" sz="1300" b="0" u="none" strike="noStrike">
              <a:solidFill>
                <a:srgbClr val="000000"/>
              </a:solidFill>
              <a:effectLst/>
              <a:uFillTx/>
              <a:latin typeface="Arial"/>
            </a:endParaRPr>
          </a:p>
        </p:txBody>
      </p:sp>
      <p:sp>
        <p:nvSpPr>
          <p:cNvPr id="88" name="cv-date"/>
          <p:cNvSpPr/>
          <p:nvPr/>
        </p:nvSpPr>
        <p:spPr>
          <a:xfrm>
            <a:off x="868680" y="5706000"/>
            <a:ext cx="104536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0" u="none" strike="noStrike">
                <a:solidFill>
                  <a:srgbClr val="CADCFC"/>
                </a:solidFill>
                <a:effectLst/>
                <a:uFillTx/>
                <a:latin typeface="BIZ UDPゴシック"/>
                <a:ea typeface="BIZ UDPゴシック"/>
              </a:rPr>
              <a:t>2026/10/30 </a:t>
            </a:r>
            <a:r>
              <a:rPr lang="ja-JP" sz="1100" b="0" u="none" strike="noStrike">
                <a:solidFill>
                  <a:srgbClr val="CADCFC"/>
                </a:solidFill>
                <a:effectLst/>
                <a:uFillTx/>
                <a:latin typeface="BIZ UDPゴシック"/>
                <a:ea typeface="BIZ UDPゴシック"/>
              </a:rPr>
              <a:t>作成</a:t>
            </a:r>
            <a:endParaRPr lang="en-US" sz="1100" b="0" u="none" strike="noStrike">
              <a:solidFill>
                <a:srgbClr val="000000"/>
              </a:solidFill>
              <a:effectLst/>
              <a:uFillTx/>
              <a:latin typeface="Arial"/>
            </a:endParaRPr>
          </a:p>
        </p:txBody>
      </p:sp>
      <p:sp>
        <p:nvSpPr>
          <p:cNvPr id="89" name="cv-docid"/>
          <p:cNvSpPr/>
          <p:nvPr/>
        </p:nvSpPr>
        <p:spPr>
          <a:xfrm>
            <a:off x="868680" y="5980320"/>
            <a:ext cx="10453680" cy="218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000" b="0" u="none" spc="150" strike="noStrike">
                <a:solidFill>
                  <a:srgbClr val="DDE8FD"/>
                </a:solidFill>
                <a:effectLst/>
                <a:uFillTx/>
                <a:latin typeface="BIZ UDPゴシック"/>
                <a:ea typeface="BIZ UDPゴシック"/>
              </a:rPr>
              <a:t>EXS-PRP-2026-014</a:t>
            </a:r>
            <a:endParaRPr lang="en-US" sz="1000" b="0" u="none" strike="noStrike">
              <a:solidFill>
                <a:srgbClr val="000000"/>
              </a:solidFill>
              <a:effectLst/>
              <a:uFillTx/>
              <a:latin typeface="Arial"/>
            </a:endParaRPr>
          </a:p>
        </p:txBody>
      </p:sp>
      <p:sp>
        <p:nvSpPr>
          <p:cNvPr id="90" name="cv-badge"/>
          <p:cNvSpPr/>
          <p:nvPr/>
        </p:nvSpPr>
        <p:spPr>
          <a:xfrm>
            <a:off x="868680" y="6346080"/>
            <a:ext cx="1233720" cy="310320"/>
          </a:xfrm>
          <a:prstGeom prst="roundRect">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000" b="1" u="none" strike="noStrike">
                <a:solidFill>
                  <a:srgbClr val="FFFFFF"/>
                </a:solidFill>
                <a:effectLst/>
                <a:uFillTx/>
                <a:latin typeface="BIZ UDPゴシック"/>
                <a:ea typeface="BIZ UDPゴシック"/>
              </a:rPr>
              <a:t>Version 1.0</a:t>
            </a:r>
            <a:endParaRPr lang="en-US" sz="1000" b="0" u="none" strike="noStrike">
              <a:solidFill>
                <a:srgbClr val="FFFFFF"/>
              </a:solidFill>
              <a:effectLst/>
              <a:uFillTx/>
              <a:latin typeface="Arial"/>
            </a:endParaRPr>
          </a:p>
        </p:txBody>
      </p:sp>
      <p:sp>
        <p:nvSpPr>
          <p:cNvPr id="91" name="cv-conf"/>
          <p:cNvSpPr/>
          <p:nvPr/>
        </p:nvSpPr>
        <p:spPr>
          <a:xfrm>
            <a:off x="2240280" y="6346080"/>
            <a:ext cx="913680" cy="310320"/>
          </a:xfrm>
          <a:prstGeom prst="roundRect">
            <a:avLst>
              <a:gd name="adj" fmla="val 50000"/>
            </a:avLst>
          </a:prstGeom>
          <a:noFill/>
          <a:ln w="127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1000" b="1" u="none" strike="noStrike">
                <a:solidFill>
                  <a:srgbClr val="0E7490"/>
                </a:solidFill>
                <a:effectLst/>
                <a:uFillTx/>
                <a:latin typeface="BIZ UDPゴシック"/>
                <a:ea typeface="BIZ UDPゴシック"/>
              </a:rPr>
              <a:t>社外秘</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4" name="hdr-chap"/>
          <p:cNvSpPr/>
          <p:nvPr/>
        </p:nvSpPr>
        <p:spPr>
          <a:xfrm>
            <a:off x="502920" y="191880"/>
            <a:ext cx="9219240" cy="218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1" u="none" spc="249" strike="noStrike">
                <a:solidFill>
                  <a:srgbClr val="B4235A"/>
                </a:solidFill>
                <a:effectLst/>
                <a:uFillTx/>
                <a:latin typeface="BIZ UDPゴシック"/>
                <a:ea typeface="BIZ UDPゴシック"/>
              </a:rPr>
              <a:t>CONTENTS</a:t>
            </a:r>
            <a:endParaRPr lang="en-US" sz="1100" b="0" u="none" strike="noStrike">
              <a:solidFill>
                <a:srgbClr val="000000"/>
              </a:solidFill>
              <a:effectLst/>
              <a:uFillTx/>
              <a:latin typeface="Arial"/>
            </a:endParaRPr>
          </a:p>
        </p:txBody>
      </p:sp>
      <p:sp>
        <p:nvSpPr>
          <p:cNvPr id="95" name="hdr-title"/>
          <p:cNvSpPr/>
          <p:nvPr/>
        </p:nvSpPr>
        <p:spPr>
          <a:xfrm>
            <a:off x="502920" y="567000"/>
            <a:ext cx="9219240" cy="4388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2400" b="1" u="none" strike="noStrike">
                <a:solidFill>
                  <a:srgbClr val="16213E"/>
                </a:solidFill>
                <a:effectLst/>
                <a:uFillTx/>
                <a:latin typeface="BIZ UDPゴシック"/>
                <a:ea typeface="BIZ UDPゴシック"/>
              </a:rPr>
              <a:t>目次 </a:t>
            </a:r>
            <a:r>
              <a:rPr lang="en-US" sz="2400" b="1" u="none" strike="noStrike">
                <a:solidFill>
                  <a:srgbClr val="16213E"/>
                </a:solidFill>
                <a:effectLst/>
                <a:uFillTx/>
                <a:latin typeface="BIZ UDPゴシック"/>
                <a:ea typeface="BIZ UDPゴシック"/>
              </a:rPr>
              <a:t>(1/2)</a:t>
            </a:r>
            <a:endParaRPr lang="en-US" sz="2400" b="0" u="none" strike="noStrike">
              <a:solidFill>
                <a:srgbClr val="000000"/>
              </a:solidFill>
              <a:effectLst/>
              <a:uFillTx/>
              <a:latin typeface="Arial"/>
            </a:endParaRPr>
          </a:p>
        </p:txBody>
      </p:sp>
      <p:sp>
        <p:nvSpPr>
          <p:cNvPr id="96"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97" name="hdr-hair"/>
          <p:cNvCxnSpPr/>
          <p:nvPr/>
        </p:nvCxnSpPr>
        <p:spPr>
          <a:xfrm>
            <a:off x="502920" y="969120"/>
            <a:ext cx="11186280" cy="720"/>
          </a:xfrm>
          <a:prstGeom prst="straightConnector1">
            <a:avLst/>
          </a:prstGeom>
          <a:ln w="9525">
            <a:solidFill>
              <a:srgbClr val="D5DBE5"/>
            </a:solidFill>
            <a:round/>
          </a:ln>
        </p:spPr>
      </p:cxnSp>
      <p:cxnSp>
        <p:nvCxnSpPr>
          <p:cNvPr id="98" name="ftr-hair"/>
          <p:cNvCxnSpPr/>
          <p:nvPr/>
        </p:nvCxnSpPr>
        <p:spPr>
          <a:xfrm>
            <a:off x="502920" y="6382440"/>
            <a:ext cx="11186280" cy="720"/>
          </a:xfrm>
          <a:prstGeom prst="straightConnector1">
            <a:avLst/>
          </a:prstGeom>
          <a:ln w="9525">
            <a:solidFill>
              <a:srgbClr val="D5DBE5"/>
            </a:solidFill>
            <a:round/>
          </a:ln>
        </p:spPr>
      </p:cxnSp>
      <p:sp>
        <p:nvSpPr>
          <p:cNvPr id="99"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 / 85</a:t>
            </a:r>
            <a:endParaRPr lang="en-US" sz="1100" b="0" u="none" strike="noStrike">
              <a:solidFill>
                <a:srgbClr val="000000"/>
              </a:solidFill>
              <a:effectLst/>
              <a:uFillTx/>
              <a:latin typeface="Arial"/>
            </a:endParaRPr>
          </a:p>
        </p:txBody>
      </p:sp>
      <p:sp>
        <p:nvSpPr>
          <p:cNvPr id="100"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01"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02"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03" name="toc-card-1"/>
          <p:cNvSpPr/>
          <p:nvPr/>
        </p:nvSpPr>
        <p:spPr>
          <a:xfrm>
            <a:off x="502920" y="1170360"/>
            <a:ext cx="5455080" cy="266940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 name="toc-pill-1"/>
          <p:cNvSpPr/>
          <p:nvPr/>
        </p:nvSpPr>
        <p:spPr>
          <a:xfrm>
            <a:off x="612720" y="118872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01</a:t>
            </a:r>
            <a:endParaRPr lang="en-US" sz="1200" b="0" u="none" strike="noStrike">
              <a:solidFill>
                <a:srgbClr val="FFFFFF"/>
              </a:solidFill>
              <a:effectLst/>
              <a:uFillTx/>
              <a:latin typeface="Arial"/>
            </a:endParaRPr>
          </a:p>
        </p:txBody>
      </p:sp>
      <p:sp>
        <p:nvSpPr>
          <p:cNvPr id="105" name="TextBox 14"/>
          <p:cNvSpPr/>
          <p:nvPr/>
        </p:nvSpPr>
        <p:spPr>
          <a:xfrm>
            <a:off x="1033200" y="12254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方針</a:t>
            </a:r>
            <a:endParaRPr lang="en-US" sz="1350" b="0" u="none" strike="noStrike">
              <a:solidFill>
                <a:srgbClr val="000000"/>
              </a:solidFill>
              <a:effectLst/>
              <a:uFillTx/>
              <a:latin typeface="Arial"/>
            </a:endParaRPr>
          </a:p>
        </p:txBody>
      </p:sp>
      <p:sp>
        <p:nvSpPr>
          <p:cNvPr id="106" name="toc-pg-ch-1"/>
          <p:cNvSpPr/>
          <p:nvPr/>
        </p:nvSpPr>
        <p:spPr>
          <a:xfrm>
            <a:off x="5227200" y="12254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5</a:t>
            </a:r>
            <a:endParaRPr lang="en-US" sz="1050" b="0" u="none" strike="noStrike">
              <a:solidFill>
                <a:srgbClr val="000000"/>
              </a:solidFill>
              <a:effectLst/>
              <a:uFillTx/>
              <a:latin typeface="Arial"/>
            </a:endParaRPr>
          </a:p>
        </p:txBody>
      </p:sp>
      <p:sp>
        <p:nvSpPr>
          <p:cNvPr id="107" name="TextBox 16"/>
          <p:cNvSpPr/>
          <p:nvPr/>
        </p:nvSpPr>
        <p:spPr>
          <a:xfrm>
            <a:off x="777240" y="15177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  </a:t>
            </a:r>
            <a:r>
              <a:rPr lang="ja-JP" sz="850" b="0" u="none" strike="noStrike">
                <a:solidFill>
                  <a:srgbClr val="1F2937"/>
                </a:solidFill>
                <a:effectLst/>
                <a:uFillTx/>
                <a:latin typeface="BIZ UDPゴシック"/>
                <a:ea typeface="BIZ UDPゴシック"/>
              </a:rPr>
              <a:t>エグゼクティブサマリー</a:t>
            </a:r>
            <a:endParaRPr lang="en-US" sz="850" b="0" u="none" strike="noStrike">
              <a:solidFill>
                <a:srgbClr val="000000"/>
              </a:solidFill>
              <a:effectLst/>
              <a:uFillTx/>
              <a:latin typeface="Arial"/>
            </a:endParaRPr>
          </a:p>
        </p:txBody>
      </p:sp>
      <p:sp>
        <p:nvSpPr>
          <p:cNvPr id="108" name="toc-pg-1.1"/>
          <p:cNvSpPr/>
          <p:nvPr/>
        </p:nvSpPr>
        <p:spPr>
          <a:xfrm>
            <a:off x="5227200" y="15177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a:t>
            </a:r>
            <a:endParaRPr lang="en-US" sz="900" b="0" u="none" strike="noStrike">
              <a:solidFill>
                <a:srgbClr val="000000"/>
              </a:solidFill>
              <a:effectLst/>
              <a:uFillTx/>
              <a:latin typeface="Arial"/>
            </a:endParaRPr>
          </a:p>
        </p:txBody>
      </p:sp>
      <p:sp>
        <p:nvSpPr>
          <p:cNvPr id="109" name="TextBox 18"/>
          <p:cNvSpPr/>
          <p:nvPr/>
        </p:nvSpPr>
        <p:spPr>
          <a:xfrm>
            <a:off x="777240" y="16596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1.2  </a:t>
            </a:r>
            <a:r>
              <a:rPr lang="ja-JP" sz="850" b="0" u="none" strike="noStrike">
                <a:solidFill>
                  <a:srgbClr val="1F2937"/>
                </a:solidFill>
                <a:effectLst/>
                <a:uFillTx/>
                <a:latin typeface="BIZ UDPゴシック"/>
                <a:ea typeface="BIZ UDPゴシック"/>
              </a:rPr>
              <a:t>現状認識と課題</a:t>
            </a:r>
            <a:endParaRPr lang="en-US" sz="850" b="0" u="none" strike="noStrike">
              <a:solidFill>
                <a:srgbClr val="000000"/>
              </a:solidFill>
              <a:effectLst/>
              <a:uFillTx/>
              <a:latin typeface="Arial"/>
            </a:endParaRPr>
          </a:p>
        </p:txBody>
      </p:sp>
      <p:sp>
        <p:nvSpPr>
          <p:cNvPr id="110" name="toc-pg-1.2"/>
          <p:cNvSpPr/>
          <p:nvPr/>
        </p:nvSpPr>
        <p:spPr>
          <a:xfrm>
            <a:off x="5227200" y="16596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a:t>
            </a:r>
            <a:endParaRPr lang="en-US" sz="900" b="0" u="none" strike="noStrike">
              <a:solidFill>
                <a:srgbClr val="000000"/>
              </a:solidFill>
              <a:effectLst/>
              <a:uFillTx/>
              <a:latin typeface="Arial"/>
            </a:endParaRPr>
          </a:p>
        </p:txBody>
      </p:sp>
      <p:sp>
        <p:nvSpPr>
          <p:cNvPr id="111" name="TextBox 20"/>
          <p:cNvSpPr/>
          <p:nvPr/>
        </p:nvSpPr>
        <p:spPr>
          <a:xfrm>
            <a:off x="777240" y="18014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1.3  </a:t>
            </a:r>
            <a:r>
              <a:rPr lang="ja-JP" sz="850" b="0" u="none" strike="noStrike">
                <a:solidFill>
                  <a:srgbClr val="1F2937"/>
                </a:solidFill>
                <a:effectLst/>
                <a:uFillTx/>
                <a:latin typeface="BIZ UDPゴシック"/>
                <a:ea typeface="BIZ UDPゴシック"/>
              </a:rPr>
              <a:t>背景と目的</a:t>
            </a:r>
            <a:endParaRPr lang="en-US" sz="850" b="0" u="none" strike="noStrike">
              <a:solidFill>
                <a:srgbClr val="000000"/>
              </a:solidFill>
              <a:effectLst/>
              <a:uFillTx/>
              <a:latin typeface="Arial"/>
            </a:endParaRPr>
          </a:p>
        </p:txBody>
      </p:sp>
      <p:sp>
        <p:nvSpPr>
          <p:cNvPr id="112" name="toc-pg-1.3"/>
          <p:cNvSpPr/>
          <p:nvPr/>
        </p:nvSpPr>
        <p:spPr>
          <a:xfrm>
            <a:off x="5227200" y="18014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8</a:t>
            </a:r>
            <a:endParaRPr lang="en-US" sz="900" b="0" u="none" strike="noStrike">
              <a:solidFill>
                <a:srgbClr val="000000"/>
              </a:solidFill>
              <a:effectLst/>
              <a:uFillTx/>
              <a:latin typeface="Arial"/>
            </a:endParaRPr>
          </a:p>
        </p:txBody>
      </p:sp>
      <p:sp>
        <p:nvSpPr>
          <p:cNvPr id="113" name="TextBox 22"/>
          <p:cNvSpPr/>
          <p:nvPr/>
        </p:nvSpPr>
        <p:spPr>
          <a:xfrm>
            <a:off x="777240" y="19432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1.4  </a:t>
            </a:r>
            <a:r>
              <a:rPr lang="ja-JP" sz="850" b="0" u="none" strike="noStrike">
                <a:solidFill>
                  <a:srgbClr val="1F2937"/>
                </a:solidFill>
                <a:effectLst/>
                <a:uFillTx/>
                <a:latin typeface="BIZ UDPゴシック"/>
                <a:ea typeface="BIZ UDPゴシック"/>
              </a:rPr>
              <a:t>本提案の特長</a:t>
            </a:r>
            <a:endParaRPr lang="en-US" sz="850" b="0" u="none" strike="noStrike">
              <a:solidFill>
                <a:srgbClr val="000000"/>
              </a:solidFill>
              <a:effectLst/>
              <a:uFillTx/>
              <a:latin typeface="Arial"/>
            </a:endParaRPr>
          </a:p>
        </p:txBody>
      </p:sp>
      <p:sp>
        <p:nvSpPr>
          <p:cNvPr id="114" name="toc-pg-1.4"/>
          <p:cNvSpPr/>
          <p:nvPr/>
        </p:nvSpPr>
        <p:spPr>
          <a:xfrm>
            <a:off x="5227200" y="19432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9</a:t>
            </a:r>
            <a:endParaRPr lang="en-US" sz="900" b="0" u="none" strike="noStrike">
              <a:solidFill>
                <a:srgbClr val="000000"/>
              </a:solidFill>
              <a:effectLst/>
              <a:uFillTx/>
              <a:latin typeface="Arial"/>
            </a:endParaRPr>
          </a:p>
        </p:txBody>
      </p:sp>
      <p:sp>
        <p:nvSpPr>
          <p:cNvPr id="115" name="TextBox 24"/>
          <p:cNvSpPr/>
          <p:nvPr/>
        </p:nvSpPr>
        <p:spPr>
          <a:xfrm>
            <a:off x="777240" y="20847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1.5  </a:t>
            </a:r>
            <a:r>
              <a:rPr lang="ja-JP" sz="850" b="0" u="none" strike="noStrike">
                <a:solidFill>
                  <a:srgbClr val="1F2937"/>
                </a:solidFill>
                <a:effectLst/>
                <a:uFillTx/>
                <a:latin typeface="BIZ UDPゴシック"/>
                <a:ea typeface="BIZ UDPゴシック"/>
              </a:rPr>
              <a:t>実施方針</a:t>
            </a:r>
            <a:endParaRPr lang="en-US" sz="850" b="0" u="none" strike="noStrike">
              <a:solidFill>
                <a:srgbClr val="000000"/>
              </a:solidFill>
              <a:effectLst/>
              <a:uFillTx/>
              <a:latin typeface="Arial"/>
            </a:endParaRPr>
          </a:p>
        </p:txBody>
      </p:sp>
      <p:sp>
        <p:nvSpPr>
          <p:cNvPr id="116" name="toc-pg-1.5"/>
          <p:cNvSpPr/>
          <p:nvPr/>
        </p:nvSpPr>
        <p:spPr>
          <a:xfrm>
            <a:off x="5227200" y="20847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10</a:t>
            </a:r>
            <a:endParaRPr lang="en-US" sz="900" b="0" u="none" strike="noStrike">
              <a:solidFill>
                <a:srgbClr val="000000"/>
              </a:solidFill>
              <a:effectLst/>
              <a:uFillTx/>
              <a:latin typeface="Arial"/>
            </a:endParaRPr>
          </a:p>
        </p:txBody>
      </p:sp>
      <p:sp>
        <p:nvSpPr>
          <p:cNvPr id="117" name="TextBox 26"/>
          <p:cNvSpPr/>
          <p:nvPr/>
        </p:nvSpPr>
        <p:spPr>
          <a:xfrm>
            <a:off x="777240" y="22266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1.6  </a:t>
            </a:r>
            <a:r>
              <a:rPr lang="ja-JP" sz="850" b="0" u="none" strike="noStrike">
                <a:solidFill>
                  <a:srgbClr val="1F2937"/>
                </a:solidFill>
                <a:effectLst/>
                <a:uFillTx/>
                <a:latin typeface="BIZ UDPゴシック"/>
                <a:ea typeface="BIZ UDPゴシック"/>
              </a:rPr>
              <a:t>全体像</a:t>
            </a:r>
            <a:endParaRPr lang="en-US" sz="850" b="0" u="none" strike="noStrike">
              <a:solidFill>
                <a:srgbClr val="000000"/>
              </a:solidFill>
              <a:effectLst/>
              <a:uFillTx/>
              <a:latin typeface="Arial"/>
            </a:endParaRPr>
          </a:p>
        </p:txBody>
      </p:sp>
      <p:sp>
        <p:nvSpPr>
          <p:cNvPr id="118" name="toc-pg-1.6"/>
          <p:cNvSpPr/>
          <p:nvPr/>
        </p:nvSpPr>
        <p:spPr>
          <a:xfrm>
            <a:off x="5227200" y="22266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11</a:t>
            </a:r>
            <a:endParaRPr lang="en-US" sz="900" b="0" u="none" strike="noStrike">
              <a:solidFill>
                <a:srgbClr val="000000"/>
              </a:solidFill>
              <a:effectLst/>
              <a:uFillTx/>
              <a:latin typeface="Arial"/>
            </a:endParaRPr>
          </a:p>
        </p:txBody>
      </p:sp>
      <p:sp>
        <p:nvSpPr>
          <p:cNvPr id="119" name="TextBox 28"/>
          <p:cNvSpPr/>
          <p:nvPr/>
        </p:nvSpPr>
        <p:spPr>
          <a:xfrm>
            <a:off x="777240" y="23684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1.7  To-Be </a:t>
            </a:r>
            <a:r>
              <a:rPr lang="ja-JP" sz="850" b="0" u="none" strike="noStrike">
                <a:solidFill>
                  <a:srgbClr val="1F2937"/>
                </a:solidFill>
                <a:effectLst/>
                <a:uFillTx/>
                <a:latin typeface="BIZ UDPゴシック"/>
                <a:ea typeface="BIZ UDPゴシック"/>
              </a:rPr>
              <a:t>業務フロー</a:t>
            </a:r>
            <a:endParaRPr lang="en-US" sz="850" b="0" u="none" strike="noStrike">
              <a:solidFill>
                <a:srgbClr val="000000"/>
              </a:solidFill>
              <a:effectLst/>
              <a:uFillTx/>
              <a:latin typeface="Arial"/>
            </a:endParaRPr>
          </a:p>
        </p:txBody>
      </p:sp>
      <p:sp>
        <p:nvSpPr>
          <p:cNvPr id="120" name="toc-pg-1.7"/>
          <p:cNvSpPr/>
          <p:nvPr/>
        </p:nvSpPr>
        <p:spPr>
          <a:xfrm>
            <a:off x="5227200" y="23684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12</a:t>
            </a:r>
            <a:endParaRPr lang="en-US" sz="900" b="0" u="none" strike="noStrike">
              <a:solidFill>
                <a:srgbClr val="000000"/>
              </a:solidFill>
              <a:effectLst/>
              <a:uFillTx/>
              <a:latin typeface="Arial"/>
            </a:endParaRPr>
          </a:p>
        </p:txBody>
      </p:sp>
      <p:sp>
        <p:nvSpPr>
          <p:cNvPr id="121" name="TextBox 30"/>
          <p:cNvSpPr/>
          <p:nvPr/>
        </p:nvSpPr>
        <p:spPr>
          <a:xfrm>
            <a:off x="777240" y="25099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1.8  </a:t>
            </a:r>
            <a:r>
              <a:rPr lang="ja-JP" sz="850" b="0" u="none" strike="noStrike">
                <a:solidFill>
                  <a:srgbClr val="1F2937"/>
                </a:solidFill>
                <a:effectLst/>
                <a:uFillTx/>
                <a:latin typeface="BIZ UDPゴシック"/>
                <a:ea typeface="BIZ UDPゴシック"/>
              </a:rPr>
              <a:t>対象の概要</a:t>
            </a:r>
            <a:endParaRPr lang="en-US" sz="850" b="0" u="none" strike="noStrike">
              <a:solidFill>
                <a:srgbClr val="000000"/>
              </a:solidFill>
              <a:effectLst/>
              <a:uFillTx/>
              <a:latin typeface="Arial"/>
            </a:endParaRPr>
          </a:p>
        </p:txBody>
      </p:sp>
      <p:sp>
        <p:nvSpPr>
          <p:cNvPr id="122" name="toc-pg-1.8"/>
          <p:cNvSpPr/>
          <p:nvPr/>
        </p:nvSpPr>
        <p:spPr>
          <a:xfrm>
            <a:off x="5227200" y="25099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13</a:t>
            </a:r>
            <a:endParaRPr lang="en-US" sz="900" b="0" u="none" strike="noStrike">
              <a:solidFill>
                <a:srgbClr val="000000"/>
              </a:solidFill>
              <a:effectLst/>
              <a:uFillTx/>
              <a:latin typeface="Arial"/>
            </a:endParaRPr>
          </a:p>
        </p:txBody>
      </p:sp>
      <p:sp>
        <p:nvSpPr>
          <p:cNvPr id="123" name="TextBox 32"/>
          <p:cNvSpPr/>
          <p:nvPr/>
        </p:nvSpPr>
        <p:spPr>
          <a:xfrm>
            <a:off x="777240" y="26517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1.9  </a:t>
            </a:r>
            <a:r>
              <a:rPr lang="ja-JP" sz="850" b="0" u="none" strike="noStrike">
                <a:solidFill>
                  <a:srgbClr val="1F2937"/>
                </a:solidFill>
                <a:effectLst/>
                <a:uFillTx/>
                <a:latin typeface="BIZ UDPゴシック"/>
                <a:ea typeface="BIZ UDPゴシック"/>
              </a:rPr>
              <a:t>システム連携構成</a:t>
            </a:r>
            <a:endParaRPr lang="en-US" sz="850" b="0" u="none" strike="noStrike">
              <a:solidFill>
                <a:srgbClr val="000000"/>
              </a:solidFill>
              <a:effectLst/>
              <a:uFillTx/>
              <a:latin typeface="Arial"/>
            </a:endParaRPr>
          </a:p>
        </p:txBody>
      </p:sp>
      <p:sp>
        <p:nvSpPr>
          <p:cNvPr id="124" name="toc-pg-1.9"/>
          <p:cNvSpPr/>
          <p:nvPr/>
        </p:nvSpPr>
        <p:spPr>
          <a:xfrm>
            <a:off x="5227200" y="26517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14</a:t>
            </a:r>
            <a:endParaRPr lang="en-US" sz="900" b="0" u="none" strike="noStrike">
              <a:solidFill>
                <a:srgbClr val="000000"/>
              </a:solidFill>
              <a:effectLst/>
              <a:uFillTx/>
              <a:latin typeface="Arial"/>
            </a:endParaRPr>
          </a:p>
        </p:txBody>
      </p:sp>
      <p:sp>
        <p:nvSpPr>
          <p:cNvPr id="125" name="TextBox 34"/>
          <p:cNvSpPr/>
          <p:nvPr/>
        </p:nvSpPr>
        <p:spPr>
          <a:xfrm>
            <a:off x="777240" y="27936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1.10  </a:t>
            </a:r>
            <a:r>
              <a:rPr lang="ja-JP" sz="850" b="0" u="none" strike="noStrike">
                <a:solidFill>
                  <a:srgbClr val="1F2937"/>
                </a:solidFill>
                <a:effectLst/>
                <a:uFillTx/>
                <a:latin typeface="BIZ UDPゴシック"/>
                <a:ea typeface="BIZ UDPゴシック"/>
              </a:rPr>
              <a:t>スコープ </a:t>
            </a:r>
            <a:r>
              <a:rPr lang="en-US" sz="850" b="0" u="none" strike="noStrike">
                <a:solidFill>
                  <a:srgbClr val="1F2937"/>
                </a:solidFill>
                <a:effectLst/>
                <a:uFillTx/>
                <a:latin typeface="BIZ UDPゴシック"/>
                <a:ea typeface="BIZ UDPゴシック"/>
              </a:rPr>
              <a:t>(</a:t>
            </a:r>
            <a:r>
              <a:rPr lang="ja-JP" sz="850" b="0" u="none" strike="noStrike">
                <a:solidFill>
                  <a:srgbClr val="1F2937"/>
                </a:solidFill>
                <a:effectLst/>
                <a:uFillTx/>
                <a:latin typeface="BIZ UDPゴシック"/>
                <a:ea typeface="BIZ UDPゴシック"/>
              </a:rPr>
              <a:t>対象・対象外</a:t>
            </a:r>
            <a:r>
              <a:rPr lang="en-US" sz="850" b="0" u="none" strike="noStrike">
                <a:solidFill>
                  <a:srgbClr val="1F2937"/>
                </a:solidFill>
                <a:effectLst/>
                <a:uFillTx/>
                <a:latin typeface="BIZ UDPゴシック"/>
                <a:ea typeface="BIZ UDPゴシック"/>
              </a:rPr>
              <a:t>)</a:t>
            </a:r>
            <a:endParaRPr lang="en-US" sz="850" b="0" u="none" strike="noStrike">
              <a:solidFill>
                <a:srgbClr val="000000"/>
              </a:solidFill>
              <a:effectLst/>
              <a:uFillTx/>
              <a:latin typeface="Arial"/>
            </a:endParaRPr>
          </a:p>
        </p:txBody>
      </p:sp>
      <p:sp>
        <p:nvSpPr>
          <p:cNvPr id="126" name="toc-pg-1.10"/>
          <p:cNvSpPr/>
          <p:nvPr/>
        </p:nvSpPr>
        <p:spPr>
          <a:xfrm>
            <a:off x="5227200" y="27936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15</a:t>
            </a:r>
            <a:endParaRPr lang="en-US" sz="900" b="0" u="none" strike="noStrike">
              <a:solidFill>
                <a:srgbClr val="000000"/>
              </a:solidFill>
              <a:effectLst/>
              <a:uFillTx/>
              <a:latin typeface="Arial"/>
            </a:endParaRPr>
          </a:p>
        </p:txBody>
      </p:sp>
      <p:sp>
        <p:nvSpPr>
          <p:cNvPr id="127" name="TextBox 36"/>
          <p:cNvSpPr/>
          <p:nvPr/>
        </p:nvSpPr>
        <p:spPr>
          <a:xfrm>
            <a:off x="777240" y="29350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1.11  </a:t>
            </a:r>
            <a:r>
              <a:rPr lang="ja-JP" sz="850" b="0" u="none" strike="noStrike">
                <a:solidFill>
                  <a:srgbClr val="1F2937"/>
                </a:solidFill>
                <a:effectLst/>
                <a:uFillTx/>
                <a:latin typeface="BIZ UDPゴシック"/>
                <a:ea typeface="BIZ UDPゴシック"/>
              </a:rPr>
              <a:t>目標と成功基準</a:t>
            </a:r>
            <a:endParaRPr lang="en-US" sz="850" b="0" u="none" strike="noStrike">
              <a:solidFill>
                <a:srgbClr val="000000"/>
              </a:solidFill>
              <a:effectLst/>
              <a:uFillTx/>
              <a:latin typeface="Arial"/>
            </a:endParaRPr>
          </a:p>
        </p:txBody>
      </p:sp>
      <p:sp>
        <p:nvSpPr>
          <p:cNvPr id="128" name="toc-pg-1.11"/>
          <p:cNvSpPr/>
          <p:nvPr/>
        </p:nvSpPr>
        <p:spPr>
          <a:xfrm>
            <a:off x="5227200" y="29350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17</a:t>
            </a:r>
            <a:endParaRPr lang="en-US" sz="900" b="0" u="none" strike="noStrike">
              <a:solidFill>
                <a:srgbClr val="000000"/>
              </a:solidFill>
              <a:effectLst/>
              <a:uFillTx/>
              <a:latin typeface="Arial"/>
            </a:endParaRPr>
          </a:p>
        </p:txBody>
      </p:sp>
      <p:sp>
        <p:nvSpPr>
          <p:cNvPr id="129" name="TextBox 38"/>
          <p:cNvSpPr/>
          <p:nvPr/>
        </p:nvSpPr>
        <p:spPr>
          <a:xfrm>
            <a:off x="777240" y="30769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1.12  </a:t>
            </a:r>
            <a:r>
              <a:rPr lang="ja-JP" sz="850" b="0" u="none" strike="noStrike">
                <a:solidFill>
                  <a:srgbClr val="1F2937"/>
                </a:solidFill>
                <a:effectLst/>
                <a:uFillTx/>
                <a:latin typeface="BIZ UDPゴシック"/>
                <a:ea typeface="BIZ UDPゴシック"/>
              </a:rPr>
              <a:t>導入効果 </a:t>
            </a:r>
            <a:r>
              <a:rPr lang="en-US" sz="850" b="0" u="none" strike="noStrike">
                <a:solidFill>
                  <a:srgbClr val="1F2937"/>
                </a:solidFill>
                <a:effectLst/>
                <a:uFillTx/>
                <a:latin typeface="BIZ UDPゴシック"/>
                <a:ea typeface="BIZ UDPゴシック"/>
              </a:rPr>
              <a:t>(</a:t>
            </a:r>
            <a:r>
              <a:rPr lang="ja-JP" sz="850" b="0" u="none" strike="noStrike">
                <a:solidFill>
                  <a:srgbClr val="1F2937"/>
                </a:solidFill>
                <a:effectLst/>
                <a:uFillTx/>
                <a:latin typeface="BIZ UDPゴシック"/>
                <a:ea typeface="BIZ UDPゴシック"/>
              </a:rPr>
              <a:t>定量・定性</a:t>
            </a:r>
            <a:r>
              <a:rPr lang="en-US" sz="850" b="0" u="none" strike="noStrike">
                <a:solidFill>
                  <a:srgbClr val="1F2937"/>
                </a:solidFill>
                <a:effectLst/>
                <a:uFillTx/>
                <a:latin typeface="BIZ UDPゴシック"/>
                <a:ea typeface="BIZ UDPゴシック"/>
              </a:rPr>
              <a:t>)</a:t>
            </a:r>
            <a:endParaRPr lang="en-US" sz="850" b="0" u="none" strike="noStrike">
              <a:solidFill>
                <a:srgbClr val="000000"/>
              </a:solidFill>
              <a:effectLst/>
              <a:uFillTx/>
              <a:latin typeface="Arial"/>
            </a:endParaRPr>
          </a:p>
        </p:txBody>
      </p:sp>
      <p:sp>
        <p:nvSpPr>
          <p:cNvPr id="130" name="toc-pg-1.12"/>
          <p:cNvSpPr/>
          <p:nvPr/>
        </p:nvSpPr>
        <p:spPr>
          <a:xfrm>
            <a:off x="5227200" y="30769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20</a:t>
            </a:r>
            <a:endParaRPr lang="en-US" sz="900" b="0" u="none" strike="noStrike">
              <a:solidFill>
                <a:srgbClr val="000000"/>
              </a:solidFill>
              <a:effectLst/>
              <a:uFillTx/>
              <a:latin typeface="Arial"/>
            </a:endParaRPr>
          </a:p>
        </p:txBody>
      </p:sp>
      <p:sp>
        <p:nvSpPr>
          <p:cNvPr id="131" name="TextBox 40"/>
          <p:cNvSpPr/>
          <p:nvPr/>
        </p:nvSpPr>
        <p:spPr>
          <a:xfrm>
            <a:off x="777240" y="32187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1.13  </a:t>
            </a:r>
            <a:r>
              <a:rPr lang="ja-JP" sz="850" b="0" u="none" strike="noStrike">
                <a:solidFill>
                  <a:srgbClr val="1F2937"/>
                </a:solidFill>
                <a:effectLst/>
                <a:uFillTx/>
                <a:latin typeface="BIZ UDPゴシック"/>
                <a:ea typeface="BIZ UDPゴシック"/>
              </a:rPr>
              <a:t>法令・制度対応方針</a:t>
            </a:r>
            <a:endParaRPr lang="en-US" sz="850" b="0" u="none" strike="noStrike">
              <a:solidFill>
                <a:srgbClr val="000000"/>
              </a:solidFill>
              <a:effectLst/>
              <a:uFillTx/>
              <a:latin typeface="Arial"/>
            </a:endParaRPr>
          </a:p>
        </p:txBody>
      </p:sp>
      <p:sp>
        <p:nvSpPr>
          <p:cNvPr id="132" name="toc-pg-1.13"/>
          <p:cNvSpPr/>
          <p:nvPr/>
        </p:nvSpPr>
        <p:spPr>
          <a:xfrm>
            <a:off x="5227200" y="32187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22</a:t>
            </a:r>
            <a:endParaRPr lang="en-US" sz="900" b="0" u="none" strike="noStrike">
              <a:solidFill>
                <a:srgbClr val="000000"/>
              </a:solidFill>
              <a:effectLst/>
              <a:uFillTx/>
              <a:latin typeface="Arial"/>
            </a:endParaRPr>
          </a:p>
        </p:txBody>
      </p:sp>
      <p:sp>
        <p:nvSpPr>
          <p:cNvPr id="133" name="TextBox 42"/>
          <p:cNvSpPr/>
          <p:nvPr/>
        </p:nvSpPr>
        <p:spPr>
          <a:xfrm>
            <a:off x="777240" y="33602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1.14  </a:t>
            </a:r>
            <a:r>
              <a:rPr lang="ja-JP" sz="850" b="0" u="none" strike="noStrike">
                <a:solidFill>
                  <a:srgbClr val="1F2937"/>
                </a:solidFill>
                <a:effectLst/>
                <a:uFillTx/>
                <a:latin typeface="BIZ UDPゴシック"/>
                <a:ea typeface="BIZ UDPゴシック"/>
              </a:rPr>
              <a:t>前提条件・制約条件</a:t>
            </a:r>
            <a:endParaRPr lang="en-US" sz="850" b="0" u="none" strike="noStrike">
              <a:solidFill>
                <a:srgbClr val="000000"/>
              </a:solidFill>
              <a:effectLst/>
              <a:uFillTx/>
              <a:latin typeface="Arial"/>
            </a:endParaRPr>
          </a:p>
        </p:txBody>
      </p:sp>
      <p:sp>
        <p:nvSpPr>
          <p:cNvPr id="134" name="toc-pg-1.14"/>
          <p:cNvSpPr/>
          <p:nvPr/>
        </p:nvSpPr>
        <p:spPr>
          <a:xfrm>
            <a:off x="5227200" y="33602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24</a:t>
            </a:r>
            <a:endParaRPr lang="en-US" sz="900" b="0" u="none" strike="noStrike">
              <a:solidFill>
                <a:srgbClr val="000000"/>
              </a:solidFill>
              <a:effectLst/>
              <a:uFillTx/>
              <a:latin typeface="Arial"/>
            </a:endParaRPr>
          </a:p>
        </p:txBody>
      </p:sp>
      <p:sp>
        <p:nvSpPr>
          <p:cNvPr id="135" name="TextBox 44"/>
          <p:cNvSpPr/>
          <p:nvPr/>
        </p:nvSpPr>
        <p:spPr>
          <a:xfrm>
            <a:off x="777240" y="35020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1.15  </a:t>
            </a:r>
            <a:r>
              <a:rPr lang="ja-JP" sz="850" b="0" u="none" strike="noStrike">
                <a:solidFill>
                  <a:srgbClr val="1F2937"/>
                </a:solidFill>
                <a:effectLst/>
                <a:uFillTx/>
                <a:latin typeface="BIZ UDPゴシック"/>
                <a:ea typeface="BIZ UDPゴシック"/>
              </a:rPr>
              <a:t>要求・要件の定義方針</a:t>
            </a:r>
            <a:endParaRPr lang="en-US" sz="850" b="0" u="none" strike="noStrike">
              <a:solidFill>
                <a:srgbClr val="000000"/>
              </a:solidFill>
              <a:effectLst/>
              <a:uFillTx/>
              <a:latin typeface="Arial"/>
            </a:endParaRPr>
          </a:p>
        </p:txBody>
      </p:sp>
      <p:sp>
        <p:nvSpPr>
          <p:cNvPr id="136" name="toc-pg-1.15"/>
          <p:cNvSpPr/>
          <p:nvPr/>
        </p:nvSpPr>
        <p:spPr>
          <a:xfrm>
            <a:off x="5227200" y="35020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26</a:t>
            </a:r>
            <a:endParaRPr lang="en-US" sz="900" b="0" u="none" strike="noStrike">
              <a:solidFill>
                <a:srgbClr val="000000"/>
              </a:solidFill>
              <a:effectLst/>
              <a:uFillTx/>
              <a:latin typeface="Arial"/>
            </a:endParaRPr>
          </a:p>
        </p:txBody>
      </p:sp>
      <p:sp>
        <p:nvSpPr>
          <p:cNvPr id="137" name="TextBox 46"/>
          <p:cNvSpPr/>
          <p:nvPr/>
        </p:nvSpPr>
        <p:spPr>
          <a:xfrm>
            <a:off x="777240" y="36439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1.16  </a:t>
            </a:r>
            <a:r>
              <a:rPr lang="ja-JP" sz="850" b="0" u="none" strike="noStrike">
                <a:solidFill>
                  <a:srgbClr val="1F2937"/>
                </a:solidFill>
                <a:effectLst/>
                <a:uFillTx/>
                <a:latin typeface="BIZ UDPゴシック"/>
                <a:ea typeface="BIZ UDPゴシック"/>
              </a:rPr>
              <a:t>要求の優先順位付け</a:t>
            </a:r>
            <a:endParaRPr lang="en-US" sz="850" b="0" u="none" strike="noStrike">
              <a:solidFill>
                <a:srgbClr val="000000"/>
              </a:solidFill>
              <a:effectLst/>
              <a:uFillTx/>
              <a:latin typeface="Arial"/>
            </a:endParaRPr>
          </a:p>
        </p:txBody>
      </p:sp>
      <p:sp>
        <p:nvSpPr>
          <p:cNvPr id="138" name="toc-pg-1.16"/>
          <p:cNvSpPr/>
          <p:nvPr/>
        </p:nvSpPr>
        <p:spPr>
          <a:xfrm>
            <a:off x="5227200" y="36439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27</a:t>
            </a:r>
            <a:endParaRPr lang="en-US" sz="900" b="0" u="none" strike="noStrike">
              <a:solidFill>
                <a:srgbClr val="000000"/>
              </a:solidFill>
              <a:effectLst/>
              <a:uFillTx/>
              <a:latin typeface="Arial"/>
            </a:endParaRPr>
          </a:p>
        </p:txBody>
      </p:sp>
      <p:sp>
        <p:nvSpPr>
          <p:cNvPr id="139" name="toc-card-2"/>
          <p:cNvSpPr/>
          <p:nvPr/>
        </p:nvSpPr>
        <p:spPr>
          <a:xfrm>
            <a:off x="502920" y="3931920"/>
            <a:ext cx="5455080" cy="125208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toc-pill-2"/>
          <p:cNvSpPr/>
          <p:nvPr/>
        </p:nvSpPr>
        <p:spPr>
          <a:xfrm>
            <a:off x="612720" y="395028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02</a:t>
            </a:r>
            <a:endParaRPr lang="en-US" sz="1200" b="0" u="none" strike="noStrike">
              <a:solidFill>
                <a:srgbClr val="FFFFFF"/>
              </a:solidFill>
              <a:effectLst/>
              <a:uFillTx/>
              <a:latin typeface="Arial"/>
            </a:endParaRPr>
          </a:p>
        </p:txBody>
      </p:sp>
      <p:sp>
        <p:nvSpPr>
          <p:cNvPr id="141" name="TextBox 50"/>
          <p:cNvSpPr/>
          <p:nvPr/>
        </p:nvSpPr>
        <p:spPr>
          <a:xfrm>
            <a:off x="1033200" y="39866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スケジュール</a:t>
            </a:r>
            <a:endParaRPr lang="en-US" sz="1350" b="0" u="none" strike="noStrike">
              <a:solidFill>
                <a:srgbClr val="000000"/>
              </a:solidFill>
              <a:effectLst/>
              <a:uFillTx/>
              <a:latin typeface="Arial"/>
            </a:endParaRPr>
          </a:p>
        </p:txBody>
      </p:sp>
      <p:sp>
        <p:nvSpPr>
          <p:cNvPr id="142" name="toc-pg-ch-2"/>
          <p:cNvSpPr/>
          <p:nvPr/>
        </p:nvSpPr>
        <p:spPr>
          <a:xfrm>
            <a:off x="5227200" y="39866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28</a:t>
            </a:r>
            <a:endParaRPr lang="en-US" sz="1050" b="0" u="none" strike="noStrike">
              <a:solidFill>
                <a:srgbClr val="000000"/>
              </a:solidFill>
              <a:effectLst/>
              <a:uFillTx/>
              <a:latin typeface="Arial"/>
            </a:endParaRPr>
          </a:p>
        </p:txBody>
      </p:sp>
      <p:sp>
        <p:nvSpPr>
          <p:cNvPr id="143" name="TextBox 52"/>
          <p:cNvSpPr/>
          <p:nvPr/>
        </p:nvSpPr>
        <p:spPr>
          <a:xfrm>
            <a:off x="777240" y="42793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2.1  </a:t>
            </a:r>
            <a:r>
              <a:rPr lang="ja-JP" sz="850" b="0" u="none" strike="noStrike">
                <a:solidFill>
                  <a:srgbClr val="1F2937"/>
                </a:solidFill>
                <a:effectLst/>
                <a:uFillTx/>
                <a:latin typeface="BIZ UDPゴシック"/>
                <a:ea typeface="BIZ UDPゴシック"/>
              </a:rPr>
              <a:t>全体スケジュール</a:t>
            </a:r>
            <a:endParaRPr lang="en-US" sz="850" b="0" u="none" strike="noStrike">
              <a:solidFill>
                <a:srgbClr val="000000"/>
              </a:solidFill>
              <a:effectLst/>
              <a:uFillTx/>
              <a:latin typeface="Arial"/>
            </a:endParaRPr>
          </a:p>
        </p:txBody>
      </p:sp>
      <p:sp>
        <p:nvSpPr>
          <p:cNvPr id="144" name="toc-pg-2.1"/>
          <p:cNvSpPr/>
          <p:nvPr/>
        </p:nvSpPr>
        <p:spPr>
          <a:xfrm>
            <a:off x="5227200" y="42793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29</a:t>
            </a:r>
            <a:endParaRPr lang="en-US" sz="900" b="0" u="none" strike="noStrike">
              <a:solidFill>
                <a:srgbClr val="000000"/>
              </a:solidFill>
              <a:effectLst/>
              <a:uFillTx/>
              <a:latin typeface="Arial"/>
            </a:endParaRPr>
          </a:p>
        </p:txBody>
      </p:sp>
      <p:sp>
        <p:nvSpPr>
          <p:cNvPr id="145" name="TextBox 54"/>
          <p:cNvSpPr/>
          <p:nvPr/>
        </p:nvSpPr>
        <p:spPr>
          <a:xfrm>
            <a:off x="777240" y="44211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2.2  </a:t>
            </a:r>
            <a:r>
              <a:rPr lang="ja-JP" sz="850" b="0" u="none" strike="noStrike">
                <a:solidFill>
                  <a:srgbClr val="1F2937"/>
                </a:solidFill>
                <a:effectLst/>
                <a:uFillTx/>
                <a:latin typeface="BIZ UDPゴシック"/>
                <a:ea typeface="BIZ UDPゴシック"/>
              </a:rPr>
              <a:t>マイルストーンと完了基準</a:t>
            </a:r>
            <a:endParaRPr lang="en-US" sz="850" b="0" u="none" strike="noStrike">
              <a:solidFill>
                <a:srgbClr val="000000"/>
              </a:solidFill>
              <a:effectLst/>
              <a:uFillTx/>
              <a:latin typeface="Arial"/>
            </a:endParaRPr>
          </a:p>
        </p:txBody>
      </p:sp>
      <p:sp>
        <p:nvSpPr>
          <p:cNvPr id="146" name="toc-pg-2.2"/>
          <p:cNvSpPr/>
          <p:nvPr/>
        </p:nvSpPr>
        <p:spPr>
          <a:xfrm>
            <a:off x="5227200" y="44211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31</a:t>
            </a:r>
            <a:endParaRPr lang="en-US" sz="900" b="0" u="none" strike="noStrike">
              <a:solidFill>
                <a:srgbClr val="000000"/>
              </a:solidFill>
              <a:effectLst/>
              <a:uFillTx/>
              <a:latin typeface="Arial"/>
            </a:endParaRPr>
          </a:p>
        </p:txBody>
      </p:sp>
      <p:sp>
        <p:nvSpPr>
          <p:cNvPr id="147" name="TextBox 56"/>
          <p:cNvSpPr/>
          <p:nvPr/>
        </p:nvSpPr>
        <p:spPr>
          <a:xfrm>
            <a:off x="777240" y="45630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2.3  </a:t>
            </a:r>
            <a:r>
              <a:rPr lang="ja-JP" sz="850" b="0" u="none" strike="noStrike">
                <a:solidFill>
                  <a:srgbClr val="1F2937"/>
                </a:solidFill>
                <a:effectLst/>
                <a:uFillTx/>
                <a:latin typeface="BIZ UDPゴシック"/>
                <a:ea typeface="BIZ UDPゴシック"/>
              </a:rPr>
              <a:t>検証・テスト計画</a:t>
            </a:r>
            <a:endParaRPr lang="en-US" sz="850" b="0" u="none" strike="noStrike">
              <a:solidFill>
                <a:srgbClr val="000000"/>
              </a:solidFill>
              <a:effectLst/>
              <a:uFillTx/>
              <a:latin typeface="Arial"/>
            </a:endParaRPr>
          </a:p>
        </p:txBody>
      </p:sp>
      <p:sp>
        <p:nvSpPr>
          <p:cNvPr id="148" name="toc-pg-2.3"/>
          <p:cNvSpPr/>
          <p:nvPr/>
        </p:nvSpPr>
        <p:spPr>
          <a:xfrm>
            <a:off x="5227200" y="45630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32</a:t>
            </a:r>
            <a:endParaRPr lang="en-US" sz="900" b="0" u="none" strike="noStrike">
              <a:solidFill>
                <a:srgbClr val="000000"/>
              </a:solidFill>
              <a:effectLst/>
              <a:uFillTx/>
              <a:latin typeface="Arial"/>
            </a:endParaRPr>
          </a:p>
        </p:txBody>
      </p:sp>
      <p:sp>
        <p:nvSpPr>
          <p:cNvPr id="149" name="TextBox 58"/>
          <p:cNvSpPr/>
          <p:nvPr/>
        </p:nvSpPr>
        <p:spPr>
          <a:xfrm>
            <a:off x="777240" y="47044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2.4  </a:t>
            </a:r>
            <a:r>
              <a:rPr lang="ja-JP" sz="850" b="0" u="none" strike="noStrike">
                <a:solidFill>
                  <a:srgbClr val="1F2937"/>
                </a:solidFill>
                <a:effectLst/>
                <a:uFillTx/>
                <a:latin typeface="BIZ UDPゴシック"/>
                <a:ea typeface="BIZ UDPゴシック"/>
              </a:rPr>
              <a:t>フェーズ別スケジュール</a:t>
            </a:r>
            <a:endParaRPr lang="en-US" sz="850" b="0" u="none" strike="noStrike">
              <a:solidFill>
                <a:srgbClr val="000000"/>
              </a:solidFill>
              <a:effectLst/>
              <a:uFillTx/>
              <a:latin typeface="Arial"/>
            </a:endParaRPr>
          </a:p>
        </p:txBody>
      </p:sp>
      <p:sp>
        <p:nvSpPr>
          <p:cNvPr id="150" name="toc-pg-2.4"/>
          <p:cNvSpPr/>
          <p:nvPr/>
        </p:nvSpPr>
        <p:spPr>
          <a:xfrm>
            <a:off x="5227200" y="47044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33</a:t>
            </a:r>
            <a:endParaRPr lang="en-US" sz="900" b="0" u="none" strike="noStrike">
              <a:solidFill>
                <a:srgbClr val="000000"/>
              </a:solidFill>
              <a:effectLst/>
              <a:uFillTx/>
              <a:latin typeface="Arial"/>
            </a:endParaRPr>
          </a:p>
        </p:txBody>
      </p:sp>
      <p:sp>
        <p:nvSpPr>
          <p:cNvPr id="151" name="TextBox 60"/>
          <p:cNvSpPr/>
          <p:nvPr/>
        </p:nvSpPr>
        <p:spPr>
          <a:xfrm>
            <a:off x="777240" y="48463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2.5  </a:t>
            </a:r>
            <a:r>
              <a:rPr lang="ja-JP" sz="850" b="0" u="none" strike="noStrike">
                <a:solidFill>
                  <a:srgbClr val="1F2937"/>
                </a:solidFill>
                <a:effectLst/>
                <a:uFillTx/>
                <a:latin typeface="BIZ UDPゴシック"/>
                <a:ea typeface="BIZ UDPゴシック"/>
              </a:rPr>
              <a:t>移行・切替計画</a:t>
            </a:r>
            <a:endParaRPr lang="en-US" sz="850" b="0" u="none" strike="noStrike">
              <a:solidFill>
                <a:srgbClr val="000000"/>
              </a:solidFill>
              <a:effectLst/>
              <a:uFillTx/>
              <a:latin typeface="Arial"/>
            </a:endParaRPr>
          </a:p>
        </p:txBody>
      </p:sp>
      <p:sp>
        <p:nvSpPr>
          <p:cNvPr id="152" name="toc-pg-2.5"/>
          <p:cNvSpPr/>
          <p:nvPr/>
        </p:nvSpPr>
        <p:spPr>
          <a:xfrm>
            <a:off x="5227200" y="48463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35</a:t>
            </a:r>
            <a:endParaRPr lang="en-US" sz="900" b="0" u="none" strike="noStrike">
              <a:solidFill>
                <a:srgbClr val="000000"/>
              </a:solidFill>
              <a:effectLst/>
              <a:uFillTx/>
              <a:latin typeface="Arial"/>
            </a:endParaRPr>
          </a:p>
        </p:txBody>
      </p:sp>
      <p:sp>
        <p:nvSpPr>
          <p:cNvPr id="153" name="TextBox 62"/>
          <p:cNvSpPr/>
          <p:nvPr/>
        </p:nvSpPr>
        <p:spPr>
          <a:xfrm>
            <a:off x="777240" y="49881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2.6  </a:t>
            </a:r>
            <a:r>
              <a:rPr lang="ja-JP" sz="850" b="0" u="none" strike="noStrike">
                <a:solidFill>
                  <a:srgbClr val="1F2937"/>
                </a:solidFill>
                <a:effectLst/>
                <a:uFillTx/>
                <a:latin typeface="BIZ UDPゴシック"/>
                <a:ea typeface="BIZ UDPゴシック"/>
              </a:rPr>
              <a:t>研修・定着化計画</a:t>
            </a:r>
            <a:endParaRPr lang="en-US" sz="850" b="0" u="none" strike="noStrike">
              <a:solidFill>
                <a:srgbClr val="000000"/>
              </a:solidFill>
              <a:effectLst/>
              <a:uFillTx/>
              <a:latin typeface="Arial"/>
            </a:endParaRPr>
          </a:p>
        </p:txBody>
      </p:sp>
      <p:sp>
        <p:nvSpPr>
          <p:cNvPr id="154" name="toc-pg-2.6"/>
          <p:cNvSpPr/>
          <p:nvPr/>
        </p:nvSpPr>
        <p:spPr>
          <a:xfrm>
            <a:off x="5227200" y="49881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37</a:t>
            </a:r>
            <a:endParaRPr lang="en-US" sz="900" b="0" u="none" strike="noStrike">
              <a:solidFill>
                <a:srgbClr val="000000"/>
              </a:solidFill>
              <a:effectLst/>
              <a:uFillTx/>
              <a:latin typeface="Arial"/>
            </a:endParaRPr>
          </a:p>
        </p:txBody>
      </p:sp>
      <p:sp>
        <p:nvSpPr>
          <p:cNvPr id="155" name="toc-card-3"/>
          <p:cNvSpPr/>
          <p:nvPr/>
        </p:nvSpPr>
        <p:spPr>
          <a:xfrm>
            <a:off x="6233040" y="1170360"/>
            <a:ext cx="5455080" cy="111024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6" name="toc-pill-3"/>
          <p:cNvSpPr/>
          <p:nvPr/>
        </p:nvSpPr>
        <p:spPr>
          <a:xfrm>
            <a:off x="6342840" y="118872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03</a:t>
            </a:r>
            <a:endParaRPr lang="en-US" sz="1200" b="0" u="none" strike="noStrike">
              <a:solidFill>
                <a:srgbClr val="FFFFFF"/>
              </a:solidFill>
              <a:effectLst/>
              <a:uFillTx/>
              <a:latin typeface="Arial"/>
            </a:endParaRPr>
          </a:p>
        </p:txBody>
      </p:sp>
      <p:sp>
        <p:nvSpPr>
          <p:cNvPr id="157" name="TextBox 66"/>
          <p:cNvSpPr/>
          <p:nvPr/>
        </p:nvSpPr>
        <p:spPr>
          <a:xfrm>
            <a:off x="6763320" y="12254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体制</a:t>
            </a:r>
            <a:endParaRPr lang="en-US" sz="1350" b="0" u="none" strike="noStrike">
              <a:solidFill>
                <a:srgbClr val="000000"/>
              </a:solidFill>
              <a:effectLst/>
              <a:uFillTx/>
              <a:latin typeface="Arial"/>
            </a:endParaRPr>
          </a:p>
        </p:txBody>
      </p:sp>
      <p:sp>
        <p:nvSpPr>
          <p:cNvPr id="158" name="toc-pg-ch-3"/>
          <p:cNvSpPr/>
          <p:nvPr/>
        </p:nvSpPr>
        <p:spPr>
          <a:xfrm>
            <a:off x="10957320" y="12254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39</a:t>
            </a:r>
            <a:endParaRPr lang="en-US" sz="1050" b="0" u="none" strike="noStrike">
              <a:solidFill>
                <a:srgbClr val="000000"/>
              </a:solidFill>
              <a:effectLst/>
              <a:uFillTx/>
              <a:latin typeface="Arial"/>
            </a:endParaRPr>
          </a:p>
        </p:txBody>
      </p:sp>
      <p:sp>
        <p:nvSpPr>
          <p:cNvPr id="159" name="TextBox 68"/>
          <p:cNvSpPr/>
          <p:nvPr/>
        </p:nvSpPr>
        <p:spPr>
          <a:xfrm>
            <a:off x="6507360" y="15177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3.1  </a:t>
            </a:r>
            <a:r>
              <a:rPr lang="ja-JP" sz="850" b="0" u="none" strike="noStrike">
                <a:solidFill>
                  <a:srgbClr val="1F2937"/>
                </a:solidFill>
                <a:effectLst/>
                <a:uFillTx/>
                <a:latin typeface="BIZ UDPゴシック"/>
                <a:ea typeface="BIZ UDPゴシック"/>
              </a:rPr>
              <a:t>オーナー側体制</a:t>
            </a:r>
            <a:endParaRPr lang="en-US" sz="850" b="0" u="none" strike="noStrike">
              <a:solidFill>
                <a:srgbClr val="000000"/>
              </a:solidFill>
              <a:effectLst/>
              <a:uFillTx/>
              <a:latin typeface="Arial"/>
            </a:endParaRPr>
          </a:p>
        </p:txBody>
      </p:sp>
      <p:sp>
        <p:nvSpPr>
          <p:cNvPr id="160" name="toc-pg-3.1"/>
          <p:cNvSpPr/>
          <p:nvPr/>
        </p:nvSpPr>
        <p:spPr>
          <a:xfrm>
            <a:off x="10957320" y="15177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40</a:t>
            </a:r>
            <a:endParaRPr lang="en-US" sz="900" b="0" u="none" strike="noStrike">
              <a:solidFill>
                <a:srgbClr val="000000"/>
              </a:solidFill>
              <a:effectLst/>
              <a:uFillTx/>
              <a:latin typeface="Arial"/>
            </a:endParaRPr>
          </a:p>
        </p:txBody>
      </p:sp>
      <p:sp>
        <p:nvSpPr>
          <p:cNvPr id="161" name="TextBox 70"/>
          <p:cNvSpPr/>
          <p:nvPr/>
        </p:nvSpPr>
        <p:spPr>
          <a:xfrm>
            <a:off x="6507360" y="16596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3.2  </a:t>
            </a:r>
            <a:r>
              <a:rPr lang="ja-JP" sz="850" b="0" u="none" strike="noStrike">
                <a:solidFill>
                  <a:srgbClr val="1F2937"/>
                </a:solidFill>
                <a:effectLst/>
                <a:uFillTx/>
                <a:latin typeface="BIZ UDPゴシック"/>
                <a:ea typeface="BIZ UDPゴシック"/>
              </a:rPr>
              <a:t>実施側体制</a:t>
            </a:r>
            <a:endParaRPr lang="en-US" sz="850" b="0" u="none" strike="noStrike">
              <a:solidFill>
                <a:srgbClr val="000000"/>
              </a:solidFill>
              <a:effectLst/>
              <a:uFillTx/>
              <a:latin typeface="Arial"/>
            </a:endParaRPr>
          </a:p>
        </p:txBody>
      </p:sp>
      <p:sp>
        <p:nvSpPr>
          <p:cNvPr id="162" name="toc-pg-3.2"/>
          <p:cNvSpPr/>
          <p:nvPr/>
        </p:nvSpPr>
        <p:spPr>
          <a:xfrm>
            <a:off x="10957320" y="16596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41</a:t>
            </a:r>
            <a:endParaRPr lang="en-US" sz="900" b="0" u="none" strike="noStrike">
              <a:solidFill>
                <a:srgbClr val="000000"/>
              </a:solidFill>
              <a:effectLst/>
              <a:uFillTx/>
              <a:latin typeface="Arial"/>
            </a:endParaRPr>
          </a:p>
        </p:txBody>
      </p:sp>
      <p:sp>
        <p:nvSpPr>
          <p:cNvPr id="163" name="TextBox 72"/>
          <p:cNvSpPr/>
          <p:nvPr/>
        </p:nvSpPr>
        <p:spPr>
          <a:xfrm>
            <a:off x="6507360" y="18014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3.3  </a:t>
            </a:r>
            <a:r>
              <a:rPr lang="ja-JP" sz="850" b="0" u="none" strike="noStrike">
                <a:solidFill>
                  <a:srgbClr val="1F2937"/>
                </a:solidFill>
                <a:effectLst/>
                <a:uFillTx/>
                <a:latin typeface="BIZ UDPゴシック"/>
                <a:ea typeface="BIZ UDPゴシック"/>
              </a:rPr>
              <a:t>主要メンバー</a:t>
            </a:r>
            <a:endParaRPr lang="en-US" sz="850" b="0" u="none" strike="noStrike">
              <a:solidFill>
                <a:srgbClr val="000000"/>
              </a:solidFill>
              <a:effectLst/>
              <a:uFillTx/>
              <a:latin typeface="Arial"/>
            </a:endParaRPr>
          </a:p>
        </p:txBody>
      </p:sp>
      <p:sp>
        <p:nvSpPr>
          <p:cNvPr id="164" name="toc-pg-3.3"/>
          <p:cNvSpPr/>
          <p:nvPr/>
        </p:nvSpPr>
        <p:spPr>
          <a:xfrm>
            <a:off x="10957320" y="18014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42</a:t>
            </a:r>
            <a:endParaRPr lang="en-US" sz="900" b="0" u="none" strike="noStrike">
              <a:solidFill>
                <a:srgbClr val="000000"/>
              </a:solidFill>
              <a:effectLst/>
              <a:uFillTx/>
              <a:latin typeface="Arial"/>
            </a:endParaRPr>
          </a:p>
        </p:txBody>
      </p:sp>
      <p:sp>
        <p:nvSpPr>
          <p:cNvPr id="165" name="TextBox 74"/>
          <p:cNvSpPr/>
          <p:nvPr/>
        </p:nvSpPr>
        <p:spPr>
          <a:xfrm>
            <a:off x="6507360" y="19432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3.4  </a:t>
            </a:r>
            <a:r>
              <a:rPr lang="ja-JP" sz="850" b="0" u="none" strike="noStrike">
                <a:solidFill>
                  <a:srgbClr val="1F2937"/>
                </a:solidFill>
                <a:effectLst/>
                <a:uFillTx/>
                <a:latin typeface="BIZ UDPゴシック"/>
                <a:ea typeface="BIZ UDPゴシック"/>
              </a:rPr>
              <a:t>役割と責任</a:t>
            </a:r>
            <a:endParaRPr lang="en-US" sz="850" b="0" u="none" strike="noStrike">
              <a:solidFill>
                <a:srgbClr val="000000"/>
              </a:solidFill>
              <a:effectLst/>
              <a:uFillTx/>
              <a:latin typeface="Arial"/>
            </a:endParaRPr>
          </a:p>
        </p:txBody>
      </p:sp>
      <p:sp>
        <p:nvSpPr>
          <p:cNvPr id="166" name="toc-pg-3.4"/>
          <p:cNvSpPr/>
          <p:nvPr/>
        </p:nvSpPr>
        <p:spPr>
          <a:xfrm>
            <a:off x="10957320" y="19432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45</a:t>
            </a:r>
            <a:endParaRPr lang="en-US" sz="900" b="0" u="none" strike="noStrike">
              <a:solidFill>
                <a:srgbClr val="000000"/>
              </a:solidFill>
              <a:effectLst/>
              <a:uFillTx/>
              <a:latin typeface="Arial"/>
            </a:endParaRPr>
          </a:p>
        </p:txBody>
      </p:sp>
      <p:sp>
        <p:nvSpPr>
          <p:cNvPr id="167" name="TextBox 76"/>
          <p:cNvSpPr/>
          <p:nvPr/>
        </p:nvSpPr>
        <p:spPr>
          <a:xfrm>
            <a:off x="6507360" y="20847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3.5  </a:t>
            </a:r>
            <a:r>
              <a:rPr lang="ja-JP" sz="850" b="0" u="none" strike="noStrike">
                <a:solidFill>
                  <a:srgbClr val="1F2937"/>
                </a:solidFill>
                <a:effectLst/>
                <a:uFillTx/>
                <a:latin typeface="BIZ UDPゴシック"/>
                <a:ea typeface="BIZ UDPゴシック"/>
              </a:rPr>
              <a:t>ステークホルダー</a:t>
            </a:r>
            <a:endParaRPr lang="en-US" sz="850" b="0" u="none" strike="noStrike">
              <a:solidFill>
                <a:srgbClr val="000000"/>
              </a:solidFill>
              <a:effectLst/>
              <a:uFillTx/>
              <a:latin typeface="Arial"/>
            </a:endParaRPr>
          </a:p>
        </p:txBody>
      </p:sp>
      <p:sp>
        <p:nvSpPr>
          <p:cNvPr id="168" name="toc-pg-3.5"/>
          <p:cNvSpPr/>
          <p:nvPr/>
        </p:nvSpPr>
        <p:spPr>
          <a:xfrm>
            <a:off x="10957320" y="20847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47</a:t>
            </a:r>
            <a:endParaRPr lang="en-US" sz="900" b="0" u="none" strike="noStrike">
              <a:solidFill>
                <a:srgbClr val="000000"/>
              </a:solidFill>
              <a:effectLst/>
              <a:uFillTx/>
              <a:latin typeface="Arial"/>
            </a:endParaRPr>
          </a:p>
        </p:txBody>
      </p:sp>
      <p:sp>
        <p:nvSpPr>
          <p:cNvPr id="169" name="toc-card-4"/>
          <p:cNvSpPr/>
          <p:nvPr/>
        </p:nvSpPr>
        <p:spPr>
          <a:xfrm>
            <a:off x="6233040" y="2372760"/>
            <a:ext cx="5455080" cy="111024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0" name="toc-pill-4"/>
          <p:cNvSpPr/>
          <p:nvPr/>
        </p:nvSpPr>
        <p:spPr>
          <a:xfrm>
            <a:off x="6342840" y="239112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04</a:t>
            </a:r>
            <a:endParaRPr lang="en-US" sz="1200" b="0" u="none" strike="noStrike">
              <a:solidFill>
                <a:srgbClr val="FFFFFF"/>
              </a:solidFill>
              <a:effectLst/>
              <a:uFillTx/>
              <a:latin typeface="Arial"/>
            </a:endParaRPr>
          </a:p>
        </p:txBody>
      </p:sp>
      <p:sp>
        <p:nvSpPr>
          <p:cNvPr id="171" name="TextBox 80"/>
          <p:cNvSpPr/>
          <p:nvPr/>
        </p:nvSpPr>
        <p:spPr>
          <a:xfrm>
            <a:off x="6763320" y="24278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コミュニケーション計画</a:t>
            </a:r>
            <a:endParaRPr lang="en-US" sz="1350" b="0" u="none" strike="noStrike">
              <a:solidFill>
                <a:srgbClr val="000000"/>
              </a:solidFill>
              <a:effectLst/>
              <a:uFillTx/>
              <a:latin typeface="Arial"/>
            </a:endParaRPr>
          </a:p>
        </p:txBody>
      </p:sp>
      <p:sp>
        <p:nvSpPr>
          <p:cNvPr id="172" name="toc-pg-ch-4"/>
          <p:cNvSpPr/>
          <p:nvPr/>
        </p:nvSpPr>
        <p:spPr>
          <a:xfrm>
            <a:off x="10957320" y="24278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48</a:t>
            </a:r>
            <a:endParaRPr lang="en-US" sz="1050" b="0" u="none" strike="noStrike">
              <a:solidFill>
                <a:srgbClr val="000000"/>
              </a:solidFill>
              <a:effectLst/>
              <a:uFillTx/>
              <a:latin typeface="Arial"/>
            </a:endParaRPr>
          </a:p>
        </p:txBody>
      </p:sp>
      <p:sp>
        <p:nvSpPr>
          <p:cNvPr id="173" name="TextBox 82"/>
          <p:cNvSpPr/>
          <p:nvPr/>
        </p:nvSpPr>
        <p:spPr>
          <a:xfrm>
            <a:off x="6507360" y="27205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4.1  </a:t>
            </a:r>
            <a:r>
              <a:rPr lang="ja-JP" sz="850" b="0" u="none" strike="noStrike">
                <a:solidFill>
                  <a:srgbClr val="1F2937"/>
                </a:solidFill>
                <a:effectLst/>
                <a:uFillTx/>
                <a:latin typeface="BIZ UDPゴシック"/>
                <a:ea typeface="BIZ UDPゴシック"/>
              </a:rPr>
              <a:t>会議体</a:t>
            </a:r>
            <a:endParaRPr lang="en-US" sz="850" b="0" u="none" strike="noStrike">
              <a:solidFill>
                <a:srgbClr val="000000"/>
              </a:solidFill>
              <a:effectLst/>
              <a:uFillTx/>
              <a:latin typeface="Arial"/>
            </a:endParaRPr>
          </a:p>
        </p:txBody>
      </p:sp>
      <p:sp>
        <p:nvSpPr>
          <p:cNvPr id="174" name="toc-pg-4.1"/>
          <p:cNvSpPr/>
          <p:nvPr/>
        </p:nvSpPr>
        <p:spPr>
          <a:xfrm>
            <a:off x="10957320" y="27205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49</a:t>
            </a:r>
            <a:endParaRPr lang="en-US" sz="900" b="0" u="none" strike="noStrike">
              <a:solidFill>
                <a:srgbClr val="000000"/>
              </a:solidFill>
              <a:effectLst/>
              <a:uFillTx/>
              <a:latin typeface="Arial"/>
            </a:endParaRPr>
          </a:p>
        </p:txBody>
      </p:sp>
      <p:sp>
        <p:nvSpPr>
          <p:cNvPr id="175" name="TextBox 84"/>
          <p:cNvSpPr/>
          <p:nvPr/>
        </p:nvSpPr>
        <p:spPr>
          <a:xfrm>
            <a:off x="6507360" y="28620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4.2  </a:t>
            </a:r>
            <a:r>
              <a:rPr lang="ja-JP" sz="850" b="0" u="none" strike="noStrike">
                <a:solidFill>
                  <a:srgbClr val="1F2937"/>
                </a:solidFill>
                <a:effectLst/>
                <a:uFillTx/>
                <a:latin typeface="BIZ UDPゴシック"/>
                <a:ea typeface="BIZ UDPゴシック"/>
              </a:rPr>
              <a:t>会議体 </a:t>
            </a:r>
            <a:r>
              <a:rPr lang="en-US" sz="850" b="0" u="none" strike="noStrike">
                <a:solidFill>
                  <a:srgbClr val="1F2937"/>
                </a:solidFill>
                <a:effectLst/>
                <a:uFillTx/>
                <a:latin typeface="BIZ UDPゴシック"/>
                <a:ea typeface="BIZ UDPゴシック"/>
              </a:rPr>
              <a:t>(</a:t>
            </a:r>
            <a:r>
              <a:rPr lang="ja-JP" sz="850" b="0" u="none" strike="noStrike">
                <a:solidFill>
                  <a:srgbClr val="1F2937"/>
                </a:solidFill>
                <a:effectLst/>
                <a:uFillTx/>
                <a:latin typeface="BIZ UDPゴシック"/>
                <a:ea typeface="BIZ UDPゴシック"/>
              </a:rPr>
              <a:t>チーム内部</a:t>
            </a:r>
            <a:r>
              <a:rPr lang="en-US" sz="850" b="0" u="none" strike="noStrike">
                <a:solidFill>
                  <a:srgbClr val="1F2937"/>
                </a:solidFill>
                <a:effectLst/>
                <a:uFillTx/>
                <a:latin typeface="BIZ UDPゴシック"/>
                <a:ea typeface="BIZ UDPゴシック"/>
              </a:rPr>
              <a:t>)</a:t>
            </a:r>
            <a:endParaRPr lang="en-US" sz="850" b="0" u="none" strike="noStrike">
              <a:solidFill>
                <a:srgbClr val="000000"/>
              </a:solidFill>
              <a:effectLst/>
              <a:uFillTx/>
              <a:latin typeface="Arial"/>
            </a:endParaRPr>
          </a:p>
        </p:txBody>
      </p:sp>
      <p:sp>
        <p:nvSpPr>
          <p:cNvPr id="176" name="toc-pg-4.2"/>
          <p:cNvSpPr/>
          <p:nvPr/>
        </p:nvSpPr>
        <p:spPr>
          <a:xfrm>
            <a:off x="10957320" y="28620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50</a:t>
            </a:r>
            <a:endParaRPr lang="en-US" sz="900" b="0" u="none" strike="noStrike">
              <a:solidFill>
                <a:srgbClr val="000000"/>
              </a:solidFill>
              <a:effectLst/>
              <a:uFillTx/>
              <a:latin typeface="Arial"/>
            </a:endParaRPr>
          </a:p>
        </p:txBody>
      </p:sp>
      <p:sp>
        <p:nvSpPr>
          <p:cNvPr id="177" name="TextBox 86"/>
          <p:cNvSpPr/>
          <p:nvPr/>
        </p:nvSpPr>
        <p:spPr>
          <a:xfrm>
            <a:off x="6507360" y="30038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4.3  </a:t>
            </a:r>
            <a:r>
              <a:rPr lang="ja-JP" sz="850" b="0" u="none" strike="noStrike">
                <a:solidFill>
                  <a:srgbClr val="1F2937"/>
                </a:solidFill>
                <a:effectLst/>
                <a:uFillTx/>
                <a:latin typeface="BIZ UDPゴシック"/>
                <a:ea typeface="BIZ UDPゴシック"/>
              </a:rPr>
              <a:t>会議招集・議事録</a:t>
            </a:r>
            <a:endParaRPr lang="en-US" sz="850" b="0" u="none" strike="noStrike">
              <a:solidFill>
                <a:srgbClr val="000000"/>
              </a:solidFill>
              <a:effectLst/>
              <a:uFillTx/>
              <a:latin typeface="Arial"/>
            </a:endParaRPr>
          </a:p>
        </p:txBody>
      </p:sp>
      <p:sp>
        <p:nvSpPr>
          <p:cNvPr id="178" name="toc-pg-4.3"/>
          <p:cNvSpPr/>
          <p:nvPr/>
        </p:nvSpPr>
        <p:spPr>
          <a:xfrm>
            <a:off x="10957320" y="30038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51</a:t>
            </a:r>
            <a:endParaRPr lang="en-US" sz="900" b="0" u="none" strike="noStrike">
              <a:solidFill>
                <a:srgbClr val="000000"/>
              </a:solidFill>
              <a:effectLst/>
              <a:uFillTx/>
              <a:latin typeface="Arial"/>
            </a:endParaRPr>
          </a:p>
        </p:txBody>
      </p:sp>
      <p:sp>
        <p:nvSpPr>
          <p:cNvPr id="179" name="TextBox 88"/>
          <p:cNvSpPr/>
          <p:nvPr/>
        </p:nvSpPr>
        <p:spPr>
          <a:xfrm>
            <a:off x="6507360" y="31456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4.4  </a:t>
            </a:r>
            <a:r>
              <a:rPr lang="ja-JP" sz="850" b="0" u="none" strike="noStrike">
                <a:solidFill>
                  <a:srgbClr val="1F2937"/>
                </a:solidFill>
                <a:effectLst/>
                <a:uFillTx/>
                <a:latin typeface="BIZ UDPゴシック"/>
                <a:ea typeface="BIZ UDPゴシック"/>
              </a:rPr>
              <a:t>進捗報告とエスカレーション</a:t>
            </a:r>
            <a:endParaRPr lang="en-US" sz="850" b="0" u="none" strike="noStrike">
              <a:solidFill>
                <a:srgbClr val="000000"/>
              </a:solidFill>
              <a:effectLst/>
              <a:uFillTx/>
              <a:latin typeface="Arial"/>
            </a:endParaRPr>
          </a:p>
        </p:txBody>
      </p:sp>
      <p:sp>
        <p:nvSpPr>
          <p:cNvPr id="180" name="toc-pg-4.4"/>
          <p:cNvSpPr/>
          <p:nvPr/>
        </p:nvSpPr>
        <p:spPr>
          <a:xfrm>
            <a:off x="10957320" y="31456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52</a:t>
            </a:r>
            <a:endParaRPr lang="en-US" sz="900" b="0" u="none" strike="noStrike">
              <a:solidFill>
                <a:srgbClr val="000000"/>
              </a:solidFill>
              <a:effectLst/>
              <a:uFillTx/>
              <a:latin typeface="Arial"/>
            </a:endParaRPr>
          </a:p>
        </p:txBody>
      </p:sp>
      <p:sp>
        <p:nvSpPr>
          <p:cNvPr id="181" name="TextBox 90"/>
          <p:cNvSpPr/>
          <p:nvPr/>
        </p:nvSpPr>
        <p:spPr>
          <a:xfrm>
            <a:off x="6507360" y="32871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4.5  </a:t>
            </a:r>
            <a:r>
              <a:rPr lang="ja-JP" sz="850" b="0" u="none" strike="noStrike">
                <a:solidFill>
                  <a:srgbClr val="1F2937"/>
                </a:solidFill>
                <a:effectLst/>
                <a:uFillTx/>
                <a:latin typeface="BIZ UDPゴシック"/>
                <a:ea typeface="BIZ UDPゴシック"/>
              </a:rPr>
              <a:t>連絡手段 </a:t>
            </a:r>
            <a:r>
              <a:rPr lang="en-US" sz="850" b="0" u="none" strike="noStrike">
                <a:solidFill>
                  <a:srgbClr val="1F2937"/>
                </a:solidFill>
                <a:effectLst/>
                <a:uFillTx/>
                <a:latin typeface="BIZ UDPゴシック"/>
                <a:ea typeface="BIZ UDPゴシック"/>
              </a:rPr>
              <a:t>(</a:t>
            </a:r>
            <a:r>
              <a:rPr lang="ja-JP" sz="850" b="0" u="none" strike="noStrike">
                <a:solidFill>
                  <a:srgbClr val="1F2937"/>
                </a:solidFill>
                <a:effectLst/>
                <a:uFillTx/>
                <a:latin typeface="BIZ UDPゴシック"/>
                <a:ea typeface="BIZ UDPゴシック"/>
              </a:rPr>
              <a:t>メール・チャット等</a:t>
            </a:r>
            <a:r>
              <a:rPr lang="en-US" sz="850" b="0" u="none" strike="noStrike">
                <a:solidFill>
                  <a:srgbClr val="1F2937"/>
                </a:solidFill>
                <a:effectLst/>
                <a:uFillTx/>
                <a:latin typeface="BIZ UDPゴシック"/>
                <a:ea typeface="BIZ UDPゴシック"/>
              </a:rPr>
              <a:t>)</a:t>
            </a:r>
            <a:endParaRPr lang="en-US" sz="850" b="0" u="none" strike="noStrike">
              <a:solidFill>
                <a:srgbClr val="000000"/>
              </a:solidFill>
              <a:effectLst/>
              <a:uFillTx/>
              <a:latin typeface="Arial"/>
            </a:endParaRPr>
          </a:p>
        </p:txBody>
      </p:sp>
      <p:sp>
        <p:nvSpPr>
          <p:cNvPr id="182" name="toc-pg-4.5"/>
          <p:cNvSpPr/>
          <p:nvPr/>
        </p:nvSpPr>
        <p:spPr>
          <a:xfrm>
            <a:off x="10957320" y="32871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54</a:t>
            </a:r>
            <a:endParaRPr lang="en-US" sz="900" b="0" u="none" strike="noStrike">
              <a:solidFill>
                <a:srgbClr val="000000"/>
              </a:solidFill>
              <a:effectLst/>
              <a:uFillTx/>
              <a:latin typeface="Arial"/>
            </a:endParaRPr>
          </a:p>
        </p:txBody>
      </p:sp>
      <p:sp>
        <p:nvSpPr>
          <p:cNvPr id="183" name="toc-card-5"/>
          <p:cNvSpPr/>
          <p:nvPr/>
        </p:nvSpPr>
        <p:spPr>
          <a:xfrm>
            <a:off x="6233040" y="3575160"/>
            <a:ext cx="5455080" cy="196056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oc-pill-5"/>
          <p:cNvSpPr/>
          <p:nvPr/>
        </p:nvSpPr>
        <p:spPr>
          <a:xfrm>
            <a:off x="6342840" y="359352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05</a:t>
            </a:r>
            <a:endParaRPr lang="en-US" sz="1200" b="0" u="none" strike="noStrike">
              <a:solidFill>
                <a:srgbClr val="FFFFFF"/>
              </a:solidFill>
              <a:effectLst/>
              <a:uFillTx/>
              <a:latin typeface="Arial"/>
            </a:endParaRPr>
          </a:p>
        </p:txBody>
      </p:sp>
      <p:sp>
        <p:nvSpPr>
          <p:cNvPr id="185" name="TextBox 94"/>
          <p:cNvSpPr/>
          <p:nvPr/>
        </p:nvSpPr>
        <p:spPr>
          <a:xfrm>
            <a:off x="6763320" y="36302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プロジェクト管理計画</a:t>
            </a:r>
            <a:endParaRPr lang="en-US" sz="1350" b="0" u="none" strike="noStrike">
              <a:solidFill>
                <a:srgbClr val="000000"/>
              </a:solidFill>
              <a:effectLst/>
              <a:uFillTx/>
              <a:latin typeface="Arial"/>
            </a:endParaRPr>
          </a:p>
        </p:txBody>
      </p:sp>
      <p:sp>
        <p:nvSpPr>
          <p:cNvPr id="186" name="toc-pg-ch-5"/>
          <p:cNvSpPr/>
          <p:nvPr/>
        </p:nvSpPr>
        <p:spPr>
          <a:xfrm>
            <a:off x="10957320" y="36302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55</a:t>
            </a:r>
            <a:endParaRPr lang="en-US" sz="1050" b="0" u="none" strike="noStrike">
              <a:solidFill>
                <a:srgbClr val="000000"/>
              </a:solidFill>
              <a:effectLst/>
              <a:uFillTx/>
              <a:latin typeface="Arial"/>
            </a:endParaRPr>
          </a:p>
        </p:txBody>
      </p:sp>
      <p:sp>
        <p:nvSpPr>
          <p:cNvPr id="187" name="TextBox 96"/>
          <p:cNvSpPr/>
          <p:nvPr/>
        </p:nvSpPr>
        <p:spPr>
          <a:xfrm>
            <a:off x="6507360" y="392292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5.1  </a:t>
            </a:r>
            <a:r>
              <a:rPr lang="ja-JP" sz="850" b="0" u="none" strike="noStrike">
                <a:solidFill>
                  <a:srgbClr val="1F2937"/>
                </a:solidFill>
                <a:effectLst/>
                <a:uFillTx/>
                <a:latin typeface="BIZ UDPゴシック"/>
                <a:ea typeface="BIZ UDPゴシック"/>
              </a:rPr>
              <a:t>課題関連図</a:t>
            </a:r>
            <a:endParaRPr lang="en-US" sz="850" b="0" u="none" strike="noStrike">
              <a:solidFill>
                <a:srgbClr val="000000"/>
              </a:solidFill>
              <a:effectLst/>
              <a:uFillTx/>
              <a:latin typeface="Arial"/>
            </a:endParaRPr>
          </a:p>
        </p:txBody>
      </p:sp>
      <p:sp>
        <p:nvSpPr>
          <p:cNvPr id="188" name="toc-pg-5.1"/>
          <p:cNvSpPr/>
          <p:nvPr/>
        </p:nvSpPr>
        <p:spPr>
          <a:xfrm>
            <a:off x="10957320" y="392292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56</a:t>
            </a:r>
            <a:endParaRPr lang="en-US" sz="900" b="0" u="none" strike="noStrike">
              <a:solidFill>
                <a:srgbClr val="000000"/>
              </a:solidFill>
              <a:effectLst/>
              <a:uFillTx/>
              <a:latin typeface="Arial"/>
            </a:endParaRPr>
          </a:p>
        </p:txBody>
      </p:sp>
      <p:sp>
        <p:nvSpPr>
          <p:cNvPr id="189" name="TextBox 98"/>
          <p:cNvSpPr/>
          <p:nvPr/>
        </p:nvSpPr>
        <p:spPr>
          <a:xfrm>
            <a:off x="6507360" y="40644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5.2  Q&amp;A</a:t>
            </a:r>
            <a:r>
              <a:rPr lang="ja-JP" sz="850" b="0" u="none" strike="noStrike">
                <a:solidFill>
                  <a:srgbClr val="1F2937"/>
                </a:solidFill>
                <a:effectLst/>
                <a:uFillTx/>
                <a:latin typeface="BIZ UDPゴシック"/>
                <a:ea typeface="BIZ UDPゴシック"/>
              </a:rPr>
              <a:t>管理</a:t>
            </a:r>
            <a:endParaRPr lang="en-US" sz="850" b="0" u="none" strike="noStrike">
              <a:solidFill>
                <a:srgbClr val="000000"/>
              </a:solidFill>
              <a:effectLst/>
              <a:uFillTx/>
              <a:latin typeface="Arial"/>
            </a:endParaRPr>
          </a:p>
        </p:txBody>
      </p:sp>
      <p:sp>
        <p:nvSpPr>
          <p:cNvPr id="190" name="toc-pg-5.2"/>
          <p:cNvSpPr/>
          <p:nvPr/>
        </p:nvSpPr>
        <p:spPr>
          <a:xfrm>
            <a:off x="10957320" y="40644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58</a:t>
            </a:r>
            <a:endParaRPr lang="en-US" sz="900" b="0" u="none" strike="noStrike">
              <a:solidFill>
                <a:srgbClr val="000000"/>
              </a:solidFill>
              <a:effectLst/>
              <a:uFillTx/>
              <a:latin typeface="Arial"/>
            </a:endParaRPr>
          </a:p>
        </p:txBody>
      </p:sp>
      <p:sp>
        <p:nvSpPr>
          <p:cNvPr id="191" name="TextBox 100"/>
          <p:cNvSpPr/>
          <p:nvPr/>
        </p:nvSpPr>
        <p:spPr>
          <a:xfrm>
            <a:off x="6507360" y="42062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5.3  </a:t>
            </a:r>
            <a:r>
              <a:rPr lang="ja-JP" sz="850" b="0" u="none" strike="noStrike">
                <a:solidFill>
                  <a:srgbClr val="1F2937"/>
                </a:solidFill>
                <a:effectLst/>
                <a:uFillTx/>
                <a:latin typeface="BIZ UDPゴシック"/>
                <a:ea typeface="BIZ UDPゴシック"/>
              </a:rPr>
              <a:t>課題管理</a:t>
            </a:r>
            <a:endParaRPr lang="en-US" sz="850" b="0" u="none" strike="noStrike">
              <a:solidFill>
                <a:srgbClr val="000000"/>
              </a:solidFill>
              <a:effectLst/>
              <a:uFillTx/>
              <a:latin typeface="Arial"/>
            </a:endParaRPr>
          </a:p>
        </p:txBody>
      </p:sp>
      <p:sp>
        <p:nvSpPr>
          <p:cNvPr id="192" name="toc-pg-5.3"/>
          <p:cNvSpPr/>
          <p:nvPr/>
        </p:nvSpPr>
        <p:spPr>
          <a:xfrm>
            <a:off x="10957320" y="42062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59</a:t>
            </a:r>
            <a:endParaRPr lang="en-US" sz="900" b="0" u="none" strike="noStrike">
              <a:solidFill>
                <a:srgbClr val="000000"/>
              </a:solidFill>
              <a:effectLst/>
              <a:uFillTx/>
              <a:latin typeface="Arial"/>
            </a:endParaRPr>
          </a:p>
        </p:txBody>
      </p:sp>
      <p:sp>
        <p:nvSpPr>
          <p:cNvPr id="193" name="TextBox 102"/>
          <p:cNvSpPr/>
          <p:nvPr/>
        </p:nvSpPr>
        <p:spPr>
          <a:xfrm>
            <a:off x="6507360" y="43480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5.4  </a:t>
            </a:r>
            <a:r>
              <a:rPr lang="ja-JP" sz="850" b="0" u="none" strike="noStrike">
                <a:solidFill>
                  <a:srgbClr val="1F2937"/>
                </a:solidFill>
                <a:effectLst/>
                <a:uFillTx/>
                <a:latin typeface="BIZ UDPゴシック"/>
                <a:ea typeface="BIZ UDPゴシック"/>
              </a:rPr>
              <a:t>リスク管理</a:t>
            </a:r>
            <a:endParaRPr lang="en-US" sz="850" b="0" u="none" strike="noStrike">
              <a:solidFill>
                <a:srgbClr val="000000"/>
              </a:solidFill>
              <a:effectLst/>
              <a:uFillTx/>
              <a:latin typeface="Arial"/>
            </a:endParaRPr>
          </a:p>
        </p:txBody>
      </p:sp>
      <p:sp>
        <p:nvSpPr>
          <p:cNvPr id="194" name="toc-pg-5.4"/>
          <p:cNvSpPr/>
          <p:nvPr/>
        </p:nvSpPr>
        <p:spPr>
          <a:xfrm>
            <a:off x="10957320" y="43480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60</a:t>
            </a:r>
            <a:endParaRPr lang="en-US" sz="900" b="0" u="none" strike="noStrike">
              <a:solidFill>
                <a:srgbClr val="000000"/>
              </a:solidFill>
              <a:effectLst/>
              <a:uFillTx/>
              <a:latin typeface="Arial"/>
            </a:endParaRPr>
          </a:p>
        </p:txBody>
      </p:sp>
      <p:sp>
        <p:nvSpPr>
          <p:cNvPr id="195" name="TextBox 104"/>
          <p:cNvSpPr/>
          <p:nvPr/>
        </p:nvSpPr>
        <p:spPr>
          <a:xfrm>
            <a:off x="6507360" y="44895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5.5  </a:t>
            </a:r>
            <a:r>
              <a:rPr lang="ja-JP" sz="850" b="0" u="none" strike="noStrike">
                <a:solidFill>
                  <a:srgbClr val="1F2937"/>
                </a:solidFill>
                <a:effectLst/>
                <a:uFillTx/>
                <a:latin typeface="BIZ UDPゴシック"/>
                <a:ea typeface="BIZ UDPゴシック"/>
              </a:rPr>
              <a:t>変更管理</a:t>
            </a:r>
            <a:endParaRPr lang="en-US" sz="850" b="0" u="none" strike="noStrike">
              <a:solidFill>
                <a:srgbClr val="000000"/>
              </a:solidFill>
              <a:effectLst/>
              <a:uFillTx/>
              <a:latin typeface="Arial"/>
            </a:endParaRPr>
          </a:p>
        </p:txBody>
      </p:sp>
      <p:sp>
        <p:nvSpPr>
          <p:cNvPr id="196" name="toc-pg-5.5"/>
          <p:cNvSpPr/>
          <p:nvPr/>
        </p:nvSpPr>
        <p:spPr>
          <a:xfrm>
            <a:off x="10957320" y="44895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62</a:t>
            </a:r>
            <a:endParaRPr lang="en-US" sz="900" b="0" u="none" strike="noStrike">
              <a:solidFill>
                <a:srgbClr val="000000"/>
              </a:solidFill>
              <a:effectLst/>
              <a:uFillTx/>
              <a:latin typeface="Arial"/>
            </a:endParaRPr>
          </a:p>
        </p:txBody>
      </p:sp>
      <p:sp>
        <p:nvSpPr>
          <p:cNvPr id="197" name="TextBox 106"/>
          <p:cNvSpPr/>
          <p:nvPr/>
        </p:nvSpPr>
        <p:spPr>
          <a:xfrm>
            <a:off x="6507360" y="46314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5.6  </a:t>
            </a:r>
            <a:r>
              <a:rPr lang="ja-JP" sz="850" b="0" u="none" strike="noStrike">
                <a:solidFill>
                  <a:srgbClr val="1F2937"/>
                </a:solidFill>
                <a:effectLst/>
                <a:uFillTx/>
                <a:latin typeface="BIZ UDPゴシック"/>
                <a:ea typeface="BIZ UDPゴシック"/>
              </a:rPr>
              <a:t>品質管理</a:t>
            </a:r>
            <a:endParaRPr lang="en-US" sz="850" b="0" u="none" strike="noStrike">
              <a:solidFill>
                <a:srgbClr val="000000"/>
              </a:solidFill>
              <a:effectLst/>
              <a:uFillTx/>
              <a:latin typeface="Arial"/>
            </a:endParaRPr>
          </a:p>
        </p:txBody>
      </p:sp>
      <p:sp>
        <p:nvSpPr>
          <p:cNvPr id="198" name="toc-pg-5.6"/>
          <p:cNvSpPr/>
          <p:nvPr/>
        </p:nvSpPr>
        <p:spPr>
          <a:xfrm>
            <a:off x="10957320" y="46314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64</a:t>
            </a:r>
            <a:endParaRPr lang="en-US" sz="900" b="0" u="none" strike="noStrike">
              <a:solidFill>
                <a:srgbClr val="000000"/>
              </a:solidFill>
              <a:effectLst/>
              <a:uFillTx/>
              <a:latin typeface="Arial"/>
            </a:endParaRPr>
          </a:p>
        </p:txBody>
      </p:sp>
      <p:sp>
        <p:nvSpPr>
          <p:cNvPr id="199" name="TextBox 108"/>
          <p:cNvSpPr/>
          <p:nvPr/>
        </p:nvSpPr>
        <p:spPr>
          <a:xfrm>
            <a:off x="6507360" y="47732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5.7  </a:t>
            </a:r>
            <a:r>
              <a:rPr lang="ja-JP" sz="850" b="0" u="none" strike="noStrike">
                <a:solidFill>
                  <a:srgbClr val="1F2937"/>
                </a:solidFill>
                <a:effectLst/>
                <a:uFillTx/>
                <a:latin typeface="BIZ UDPゴシック"/>
                <a:ea typeface="BIZ UDPゴシック"/>
              </a:rPr>
              <a:t>進捗管理</a:t>
            </a:r>
            <a:endParaRPr lang="en-US" sz="850" b="0" u="none" strike="noStrike">
              <a:solidFill>
                <a:srgbClr val="000000"/>
              </a:solidFill>
              <a:effectLst/>
              <a:uFillTx/>
              <a:latin typeface="Arial"/>
            </a:endParaRPr>
          </a:p>
        </p:txBody>
      </p:sp>
      <p:sp>
        <p:nvSpPr>
          <p:cNvPr id="200" name="toc-pg-5.7"/>
          <p:cNvSpPr/>
          <p:nvPr/>
        </p:nvSpPr>
        <p:spPr>
          <a:xfrm>
            <a:off x="10957320" y="47732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66</a:t>
            </a:r>
            <a:endParaRPr lang="en-US" sz="900" b="0" u="none" strike="noStrike">
              <a:solidFill>
                <a:srgbClr val="000000"/>
              </a:solidFill>
              <a:effectLst/>
              <a:uFillTx/>
              <a:latin typeface="Arial"/>
            </a:endParaRPr>
          </a:p>
        </p:txBody>
      </p:sp>
      <p:sp>
        <p:nvSpPr>
          <p:cNvPr id="201" name="TextBox 110"/>
          <p:cNvSpPr/>
          <p:nvPr/>
        </p:nvSpPr>
        <p:spPr>
          <a:xfrm>
            <a:off x="6507360" y="491508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5.8  </a:t>
            </a:r>
            <a:r>
              <a:rPr lang="ja-JP" sz="850" b="0" u="none" strike="noStrike">
                <a:solidFill>
                  <a:srgbClr val="1F2937"/>
                </a:solidFill>
                <a:effectLst/>
                <a:uFillTx/>
                <a:latin typeface="BIZ UDPゴシック"/>
                <a:ea typeface="BIZ UDPゴシック"/>
              </a:rPr>
              <a:t>予算・コスト管理</a:t>
            </a:r>
            <a:endParaRPr lang="en-US" sz="850" b="0" u="none" strike="noStrike">
              <a:solidFill>
                <a:srgbClr val="000000"/>
              </a:solidFill>
              <a:effectLst/>
              <a:uFillTx/>
              <a:latin typeface="Arial"/>
            </a:endParaRPr>
          </a:p>
        </p:txBody>
      </p:sp>
      <p:sp>
        <p:nvSpPr>
          <p:cNvPr id="202" name="toc-pg-5.8"/>
          <p:cNvSpPr/>
          <p:nvPr/>
        </p:nvSpPr>
        <p:spPr>
          <a:xfrm>
            <a:off x="10957320" y="491508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67</a:t>
            </a:r>
            <a:endParaRPr lang="en-US" sz="900" b="0" u="none" strike="noStrike">
              <a:solidFill>
                <a:srgbClr val="000000"/>
              </a:solidFill>
              <a:effectLst/>
              <a:uFillTx/>
              <a:latin typeface="Arial"/>
            </a:endParaRPr>
          </a:p>
        </p:txBody>
      </p:sp>
      <p:sp>
        <p:nvSpPr>
          <p:cNvPr id="203" name="TextBox 112"/>
          <p:cNvSpPr/>
          <p:nvPr/>
        </p:nvSpPr>
        <p:spPr>
          <a:xfrm>
            <a:off x="6507360" y="505656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5.9  </a:t>
            </a:r>
            <a:r>
              <a:rPr lang="ja-JP" sz="850" b="0" u="none" strike="noStrike">
                <a:solidFill>
                  <a:srgbClr val="1F2937"/>
                </a:solidFill>
                <a:effectLst/>
                <a:uFillTx/>
                <a:latin typeface="BIZ UDPゴシック"/>
                <a:ea typeface="BIZ UDPゴシック"/>
              </a:rPr>
              <a:t>調達・外部委託管理</a:t>
            </a:r>
            <a:endParaRPr lang="en-US" sz="850" b="0" u="none" strike="noStrike">
              <a:solidFill>
                <a:srgbClr val="000000"/>
              </a:solidFill>
              <a:effectLst/>
              <a:uFillTx/>
              <a:latin typeface="Arial"/>
            </a:endParaRPr>
          </a:p>
        </p:txBody>
      </p:sp>
      <p:sp>
        <p:nvSpPr>
          <p:cNvPr id="204" name="toc-pg-5.9"/>
          <p:cNvSpPr/>
          <p:nvPr/>
        </p:nvSpPr>
        <p:spPr>
          <a:xfrm>
            <a:off x="10957320" y="505656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68</a:t>
            </a:r>
            <a:endParaRPr lang="en-US" sz="900" b="0" u="none" strike="noStrike">
              <a:solidFill>
                <a:srgbClr val="000000"/>
              </a:solidFill>
              <a:effectLst/>
              <a:uFillTx/>
              <a:latin typeface="Arial"/>
            </a:endParaRPr>
          </a:p>
        </p:txBody>
      </p:sp>
      <p:sp>
        <p:nvSpPr>
          <p:cNvPr id="205" name="TextBox 114"/>
          <p:cNvSpPr/>
          <p:nvPr/>
        </p:nvSpPr>
        <p:spPr>
          <a:xfrm>
            <a:off x="6507360" y="519840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5.10  </a:t>
            </a:r>
            <a:r>
              <a:rPr lang="ja-JP" sz="850" b="0" u="none" strike="noStrike">
                <a:solidFill>
                  <a:srgbClr val="1F2937"/>
                </a:solidFill>
                <a:effectLst/>
                <a:uFillTx/>
                <a:latin typeface="BIZ UDPゴシック"/>
                <a:ea typeface="BIZ UDPゴシック"/>
              </a:rPr>
              <a:t>ドキュメント・構成管理</a:t>
            </a:r>
            <a:endParaRPr lang="en-US" sz="850" b="0" u="none" strike="noStrike">
              <a:solidFill>
                <a:srgbClr val="000000"/>
              </a:solidFill>
              <a:effectLst/>
              <a:uFillTx/>
              <a:latin typeface="Arial"/>
            </a:endParaRPr>
          </a:p>
        </p:txBody>
      </p:sp>
      <p:sp>
        <p:nvSpPr>
          <p:cNvPr id="206" name="toc-pg-5.10"/>
          <p:cNvSpPr/>
          <p:nvPr/>
        </p:nvSpPr>
        <p:spPr>
          <a:xfrm>
            <a:off x="10957320" y="519840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69</a:t>
            </a:r>
            <a:endParaRPr lang="en-US" sz="900" b="0" u="none" strike="noStrike">
              <a:solidFill>
                <a:srgbClr val="000000"/>
              </a:solidFill>
              <a:effectLst/>
              <a:uFillTx/>
              <a:latin typeface="Arial"/>
            </a:endParaRPr>
          </a:p>
        </p:txBody>
      </p:sp>
      <p:sp>
        <p:nvSpPr>
          <p:cNvPr id="207" name="TextBox 116"/>
          <p:cNvSpPr/>
          <p:nvPr/>
        </p:nvSpPr>
        <p:spPr>
          <a:xfrm>
            <a:off x="6507360" y="5340240"/>
            <a:ext cx="4312080" cy="1551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850" b="0" u="none" strike="noStrike">
                <a:solidFill>
                  <a:srgbClr val="1F2937"/>
                </a:solidFill>
                <a:effectLst/>
                <a:uFillTx/>
                <a:latin typeface="BIZ UDPゴシック"/>
                <a:ea typeface="BIZ UDPゴシック"/>
              </a:rPr>
              <a:t>5.11  </a:t>
            </a:r>
            <a:r>
              <a:rPr lang="ja-JP" sz="850" b="0" u="none" strike="noStrike">
                <a:solidFill>
                  <a:srgbClr val="1F2937"/>
                </a:solidFill>
                <a:effectLst/>
                <a:uFillTx/>
                <a:latin typeface="BIZ UDPゴシック"/>
                <a:ea typeface="BIZ UDPゴシック"/>
              </a:rPr>
              <a:t>情報セキュリティ管理</a:t>
            </a:r>
            <a:endParaRPr lang="en-US" sz="850" b="0" u="none" strike="noStrike">
              <a:solidFill>
                <a:srgbClr val="000000"/>
              </a:solidFill>
              <a:effectLst/>
              <a:uFillTx/>
              <a:latin typeface="Arial"/>
            </a:endParaRPr>
          </a:p>
        </p:txBody>
      </p:sp>
      <p:sp>
        <p:nvSpPr>
          <p:cNvPr id="208" name="toc-pg-5.11"/>
          <p:cNvSpPr/>
          <p:nvPr/>
        </p:nvSpPr>
        <p:spPr>
          <a:xfrm>
            <a:off x="10957320" y="5340240"/>
            <a:ext cx="602640" cy="1645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0"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1" name="hdr-chap"/>
          <p:cNvSpPr/>
          <p:nvPr/>
        </p:nvSpPr>
        <p:spPr>
          <a:xfrm>
            <a:off x="502920" y="191880"/>
            <a:ext cx="9219240" cy="218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1" u="none" spc="249" strike="noStrike">
                <a:solidFill>
                  <a:srgbClr val="B4235A"/>
                </a:solidFill>
                <a:effectLst/>
                <a:uFillTx/>
                <a:latin typeface="BIZ UDPゴシック"/>
                <a:ea typeface="BIZ UDPゴシック"/>
              </a:rPr>
              <a:t>CONTENTS</a:t>
            </a:r>
            <a:endParaRPr lang="en-US" sz="1100" b="0" u="none" strike="noStrike">
              <a:solidFill>
                <a:srgbClr val="000000"/>
              </a:solidFill>
              <a:effectLst/>
              <a:uFillTx/>
              <a:latin typeface="Arial"/>
            </a:endParaRPr>
          </a:p>
        </p:txBody>
      </p:sp>
      <p:sp>
        <p:nvSpPr>
          <p:cNvPr id="212" name="hdr-title"/>
          <p:cNvSpPr/>
          <p:nvPr/>
        </p:nvSpPr>
        <p:spPr>
          <a:xfrm>
            <a:off x="502920" y="567000"/>
            <a:ext cx="9219240" cy="4388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2400" b="1" u="none" strike="noStrike">
                <a:solidFill>
                  <a:srgbClr val="16213E"/>
                </a:solidFill>
                <a:effectLst/>
                <a:uFillTx/>
                <a:latin typeface="BIZ UDPゴシック"/>
                <a:ea typeface="BIZ UDPゴシック"/>
              </a:rPr>
              <a:t>目次 </a:t>
            </a:r>
            <a:r>
              <a:rPr lang="en-US" sz="2400" b="1" u="none" strike="noStrike">
                <a:solidFill>
                  <a:srgbClr val="16213E"/>
                </a:solidFill>
                <a:effectLst/>
                <a:uFillTx/>
                <a:latin typeface="BIZ UDPゴシック"/>
                <a:ea typeface="BIZ UDPゴシック"/>
              </a:rPr>
              <a:t>(2/2)</a:t>
            </a:r>
            <a:endParaRPr lang="en-US" sz="2400" b="0" u="none" strike="noStrike">
              <a:solidFill>
                <a:srgbClr val="000000"/>
              </a:solidFill>
              <a:effectLst/>
              <a:uFillTx/>
              <a:latin typeface="Arial"/>
            </a:endParaRPr>
          </a:p>
        </p:txBody>
      </p:sp>
      <p:sp>
        <p:nvSpPr>
          <p:cNvPr id="213"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14" name="hdr-hair"/>
          <p:cNvCxnSpPr/>
          <p:nvPr/>
        </p:nvCxnSpPr>
        <p:spPr>
          <a:xfrm>
            <a:off x="502920" y="969120"/>
            <a:ext cx="11186280" cy="720"/>
          </a:xfrm>
          <a:prstGeom prst="straightConnector1">
            <a:avLst/>
          </a:prstGeom>
          <a:ln w="9525">
            <a:solidFill>
              <a:srgbClr val="D5DBE5"/>
            </a:solidFill>
            <a:round/>
          </a:ln>
        </p:spPr>
      </p:cxnSp>
      <p:cxnSp>
        <p:nvCxnSpPr>
          <p:cNvPr id="215" name="ftr-hair"/>
          <p:cNvCxnSpPr/>
          <p:nvPr/>
        </p:nvCxnSpPr>
        <p:spPr>
          <a:xfrm>
            <a:off x="502920" y="6382440"/>
            <a:ext cx="11186280" cy="720"/>
          </a:xfrm>
          <a:prstGeom prst="straightConnector1">
            <a:avLst/>
          </a:prstGeom>
          <a:ln w="9525">
            <a:solidFill>
              <a:srgbClr val="D5DBE5"/>
            </a:solidFill>
            <a:round/>
          </a:ln>
        </p:spPr>
      </p:cxnSp>
      <p:sp>
        <p:nvSpPr>
          <p:cNvPr id="216"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 / 85</a:t>
            </a:r>
            <a:endParaRPr lang="en-US" sz="1100" b="0" u="none" strike="noStrike">
              <a:solidFill>
                <a:srgbClr val="000000"/>
              </a:solidFill>
              <a:effectLst/>
              <a:uFillTx/>
              <a:latin typeface="Arial"/>
            </a:endParaRPr>
          </a:p>
        </p:txBody>
      </p:sp>
      <p:sp>
        <p:nvSpPr>
          <p:cNvPr id="217"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18"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19"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20" name="toc-card-6"/>
          <p:cNvSpPr/>
          <p:nvPr/>
        </p:nvSpPr>
        <p:spPr>
          <a:xfrm>
            <a:off x="502920" y="1170360"/>
            <a:ext cx="5455080" cy="113328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1" name="toc-pill-6"/>
          <p:cNvSpPr/>
          <p:nvPr/>
        </p:nvSpPr>
        <p:spPr>
          <a:xfrm>
            <a:off x="612720" y="118872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06</a:t>
            </a:r>
            <a:endParaRPr lang="en-US" sz="1200" b="0" u="none" strike="noStrike">
              <a:solidFill>
                <a:srgbClr val="FFFFFF"/>
              </a:solidFill>
              <a:effectLst/>
              <a:uFillTx/>
              <a:latin typeface="Arial"/>
            </a:endParaRPr>
          </a:p>
        </p:txBody>
      </p:sp>
      <p:sp>
        <p:nvSpPr>
          <p:cNvPr id="222" name="TextBox 14"/>
          <p:cNvSpPr/>
          <p:nvPr/>
        </p:nvSpPr>
        <p:spPr>
          <a:xfrm>
            <a:off x="1033200" y="12254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プロジェクトルール</a:t>
            </a:r>
            <a:endParaRPr lang="en-US" sz="1350" b="0" u="none" strike="noStrike">
              <a:solidFill>
                <a:srgbClr val="000000"/>
              </a:solidFill>
              <a:effectLst/>
              <a:uFillTx/>
              <a:latin typeface="Arial"/>
            </a:endParaRPr>
          </a:p>
        </p:txBody>
      </p:sp>
      <p:sp>
        <p:nvSpPr>
          <p:cNvPr id="223" name="toc-pg-ch-6"/>
          <p:cNvSpPr/>
          <p:nvPr/>
        </p:nvSpPr>
        <p:spPr>
          <a:xfrm>
            <a:off x="5227200" y="12254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73</a:t>
            </a:r>
            <a:endParaRPr lang="en-US" sz="1050" b="0" u="none" strike="noStrike">
              <a:solidFill>
                <a:srgbClr val="000000"/>
              </a:solidFill>
              <a:effectLst/>
              <a:uFillTx/>
              <a:latin typeface="Arial"/>
            </a:endParaRPr>
          </a:p>
        </p:txBody>
      </p:sp>
      <p:sp>
        <p:nvSpPr>
          <p:cNvPr id="224" name="TextBox 16"/>
          <p:cNvSpPr/>
          <p:nvPr/>
        </p:nvSpPr>
        <p:spPr>
          <a:xfrm>
            <a:off x="777240" y="151776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6.1  </a:t>
            </a:r>
            <a:r>
              <a:rPr lang="ja-JP" sz="1070" b="0" u="none" strike="noStrike">
                <a:solidFill>
                  <a:srgbClr val="1F2937"/>
                </a:solidFill>
                <a:effectLst/>
                <a:uFillTx/>
                <a:latin typeface="BIZ UDPゴシック"/>
                <a:ea typeface="BIZ UDPゴシック"/>
              </a:rPr>
              <a:t>運営ルール</a:t>
            </a:r>
            <a:endParaRPr lang="en-US" sz="1070" b="0" u="none" strike="noStrike">
              <a:solidFill>
                <a:srgbClr val="000000"/>
              </a:solidFill>
              <a:effectLst/>
              <a:uFillTx/>
              <a:latin typeface="Arial"/>
            </a:endParaRPr>
          </a:p>
        </p:txBody>
      </p:sp>
      <p:sp>
        <p:nvSpPr>
          <p:cNvPr id="225" name="toc-pg-6.1"/>
          <p:cNvSpPr/>
          <p:nvPr/>
        </p:nvSpPr>
        <p:spPr>
          <a:xfrm>
            <a:off x="5227200" y="151776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74</a:t>
            </a:r>
            <a:endParaRPr lang="en-US" sz="900" b="0" u="none" strike="noStrike">
              <a:solidFill>
                <a:srgbClr val="000000"/>
              </a:solidFill>
              <a:effectLst/>
              <a:uFillTx/>
              <a:latin typeface="Arial"/>
            </a:endParaRPr>
          </a:p>
        </p:txBody>
      </p:sp>
      <p:sp>
        <p:nvSpPr>
          <p:cNvPr id="226" name="TextBox 18"/>
          <p:cNvSpPr/>
          <p:nvPr/>
        </p:nvSpPr>
        <p:spPr>
          <a:xfrm>
            <a:off x="777240" y="170064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6.2  ID</a:t>
            </a:r>
            <a:r>
              <a:rPr lang="ja-JP" sz="1070" b="0" u="none" strike="noStrike">
                <a:solidFill>
                  <a:srgbClr val="1F2937"/>
                </a:solidFill>
                <a:effectLst/>
                <a:uFillTx/>
                <a:latin typeface="BIZ UDPゴシック"/>
                <a:ea typeface="BIZ UDPゴシック"/>
              </a:rPr>
              <a:t>管理</a:t>
            </a:r>
            <a:endParaRPr lang="en-US" sz="1070" b="0" u="none" strike="noStrike">
              <a:solidFill>
                <a:srgbClr val="000000"/>
              </a:solidFill>
              <a:effectLst/>
              <a:uFillTx/>
              <a:latin typeface="Arial"/>
            </a:endParaRPr>
          </a:p>
        </p:txBody>
      </p:sp>
      <p:sp>
        <p:nvSpPr>
          <p:cNvPr id="227" name="toc-pg-6.2"/>
          <p:cNvSpPr/>
          <p:nvPr/>
        </p:nvSpPr>
        <p:spPr>
          <a:xfrm>
            <a:off x="5227200" y="170064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75</a:t>
            </a:r>
            <a:endParaRPr lang="en-US" sz="900" b="0" u="none" strike="noStrike">
              <a:solidFill>
                <a:srgbClr val="000000"/>
              </a:solidFill>
              <a:effectLst/>
              <a:uFillTx/>
              <a:latin typeface="Arial"/>
            </a:endParaRPr>
          </a:p>
        </p:txBody>
      </p:sp>
      <p:sp>
        <p:nvSpPr>
          <p:cNvPr id="228" name="TextBox 20"/>
          <p:cNvSpPr/>
          <p:nvPr/>
        </p:nvSpPr>
        <p:spPr>
          <a:xfrm>
            <a:off x="777240" y="188352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6.3  </a:t>
            </a:r>
            <a:r>
              <a:rPr lang="ja-JP" sz="1070" b="0" u="none" strike="noStrike">
                <a:solidFill>
                  <a:srgbClr val="1F2937"/>
                </a:solidFill>
                <a:effectLst/>
                <a:uFillTx/>
                <a:latin typeface="BIZ UDPゴシック"/>
                <a:ea typeface="BIZ UDPゴシック"/>
              </a:rPr>
              <a:t>略称・コード</a:t>
            </a:r>
            <a:endParaRPr lang="en-US" sz="1070" b="0" u="none" strike="noStrike">
              <a:solidFill>
                <a:srgbClr val="000000"/>
              </a:solidFill>
              <a:effectLst/>
              <a:uFillTx/>
              <a:latin typeface="Arial"/>
            </a:endParaRPr>
          </a:p>
        </p:txBody>
      </p:sp>
      <p:sp>
        <p:nvSpPr>
          <p:cNvPr id="229" name="toc-pg-6.3"/>
          <p:cNvSpPr/>
          <p:nvPr/>
        </p:nvSpPr>
        <p:spPr>
          <a:xfrm>
            <a:off x="5227200" y="188352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76</a:t>
            </a:r>
            <a:endParaRPr lang="en-US" sz="900" b="0" u="none" strike="noStrike">
              <a:solidFill>
                <a:srgbClr val="000000"/>
              </a:solidFill>
              <a:effectLst/>
              <a:uFillTx/>
              <a:latin typeface="Arial"/>
            </a:endParaRPr>
          </a:p>
        </p:txBody>
      </p:sp>
      <p:sp>
        <p:nvSpPr>
          <p:cNvPr id="230" name="TextBox 22"/>
          <p:cNvSpPr/>
          <p:nvPr/>
        </p:nvSpPr>
        <p:spPr>
          <a:xfrm>
            <a:off x="777240" y="206640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6.4  </a:t>
            </a:r>
            <a:r>
              <a:rPr lang="ja-JP" sz="1070" b="0" u="none" strike="noStrike">
                <a:solidFill>
                  <a:srgbClr val="1F2937"/>
                </a:solidFill>
                <a:effectLst/>
                <a:uFillTx/>
                <a:latin typeface="BIZ UDPゴシック"/>
                <a:ea typeface="BIZ UDPゴシック"/>
              </a:rPr>
              <a:t>ファイル命名規約</a:t>
            </a:r>
            <a:endParaRPr lang="en-US" sz="1070" b="0" u="none" strike="noStrike">
              <a:solidFill>
                <a:srgbClr val="000000"/>
              </a:solidFill>
              <a:effectLst/>
              <a:uFillTx/>
              <a:latin typeface="Arial"/>
            </a:endParaRPr>
          </a:p>
        </p:txBody>
      </p:sp>
      <p:sp>
        <p:nvSpPr>
          <p:cNvPr id="231" name="toc-pg-6.4"/>
          <p:cNvSpPr/>
          <p:nvPr/>
        </p:nvSpPr>
        <p:spPr>
          <a:xfrm>
            <a:off x="5227200" y="206640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77</a:t>
            </a:r>
            <a:endParaRPr lang="en-US" sz="900" b="0" u="none" strike="noStrike">
              <a:solidFill>
                <a:srgbClr val="000000"/>
              </a:solidFill>
              <a:effectLst/>
              <a:uFillTx/>
              <a:latin typeface="Arial"/>
            </a:endParaRPr>
          </a:p>
        </p:txBody>
      </p:sp>
      <p:sp>
        <p:nvSpPr>
          <p:cNvPr id="232" name="toc-card-7"/>
          <p:cNvSpPr/>
          <p:nvPr/>
        </p:nvSpPr>
        <p:spPr>
          <a:xfrm>
            <a:off x="6233040" y="1170360"/>
            <a:ext cx="5455080" cy="950400"/>
          </a:xfrm>
          <a:prstGeom prst="roundRect">
            <a:avLst>
              <a:gd name="adj" fmla="val 6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3" name="toc-pill-7"/>
          <p:cNvSpPr/>
          <p:nvPr/>
        </p:nvSpPr>
        <p:spPr>
          <a:xfrm>
            <a:off x="6342840" y="1188720"/>
            <a:ext cx="310320" cy="31032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200" b="1" u="none" strike="noStrike">
                <a:solidFill>
                  <a:srgbClr val="FFFFFF"/>
                </a:solidFill>
                <a:effectLst/>
                <a:uFillTx/>
                <a:latin typeface="BIZ UDPゴシック"/>
                <a:ea typeface="BIZ UDPゴシック"/>
              </a:rPr>
              <a:t>07</a:t>
            </a:r>
            <a:endParaRPr lang="en-US" sz="1200" b="0" u="none" strike="noStrike">
              <a:solidFill>
                <a:srgbClr val="FFFFFF"/>
              </a:solidFill>
              <a:effectLst/>
              <a:uFillTx/>
              <a:latin typeface="Arial"/>
            </a:endParaRPr>
          </a:p>
        </p:txBody>
      </p:sp>
      <p:sp>
        <p:nvSpPr>
          <p:cNvPr id="234" name="TextBox 26"/>
          <p:cNvSpPr/>
          <p:nvPr/>
        </p:nvSpPr>
        <p:spPr>
          <a:xfrm>
            <a:off x="6763320" y="1225440"/>
            <a:ext cx="4138200" cy="31032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350" b="1" u="none" strike="noStrike">
                <a:solidFill>
                  <a:srgbClr val="16213E"/>
                </a:solidFill>
                <a:effectLst/>
                <a:uFillTx/>
                <a:latin typeface="BIZ UDPゴシック"/>
                <a:ea typeface="BIZ UDPゴシック"/>
              </a:rPr>
              <a:t>その他</a:t>
            </a:r>
            <a:endParaRPr lang="en-US" sz="1350" b="0" u="none" strike="noStrike">
              <a:solidFill>
                <a:srgbClr val="000000"/>
              </a:solidFill>
              <a:effectLst/>
              <a:uFillTx/>
              <a:latin typeface="Arial"/>
            </a:endParaRPr>
          </a:p>
        </p:txBody>
      </p:sp>
      <p:sp>
        <p:nvSpPr>
          <p:cNvPr id="235" name="toc-pg-ch-7"/>
          <p:cNvSpPr/>
          <p:nvPr/>
        </p:nvSpPr>
        <p:spPr>
          <a:xfrm>
            <a:off x="10957320" y="1225440"/>
            <a:ext cx="602640" cy="31032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1050" b="0" u="none" strike="noStrike">
                <a:solidFill>
                  <a:srgbClr val="6B7280"/>
                </a:solidFill>
                <a:effectLst/>
                <a:uFillTx/>
                <a:latin typeface="BIZ UDPゴシック"/>
                <a:ea typeface="BIZ UDPゴシック"/>
              </a:rPr>
              <a:t>78</a:t>
            </a:r>
            <a:endParaRPr lang="en-US" sz="1050" b="0" u="none" strike="noStrike">
              <a:solidFill>
                <a:srgbClr val="000000"/>
              </a:solidFill>
              <a:effectLst/>
              <a:uFillTx/>
              <a:latin typeface="Arial"/>
            </a:endParaRPr>
          </a:p>
        </p:txBody>
      </p:sp>
      <p:sp>
        <p:nvSpPr>
          <p:cNvPr id="236" name="TextBox 28"/>
          <p:cNvSpPr/>
          <p:nvPr/>
        </p:nvSpPr>
        <p:spPr>
          <a:xfrm>
            <a:off x="6507360" y="151776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7.1  </a:t>
            </a:r>
            <a:r>
              <a:rPr lang="ja-JP" sz="1070" b="0" u="none" strike="noStrike">
                <a:solidFill>
                  <a:srgbClr val="1F2937"/>
                </a:solidFill>
                <a:effectLst/>
                <a:uFillTx/>
                <a:latin typeface="BIZ UDPゴシック"/>
                <a:ea typeface="BIZ UDPゴシック"/>
              </a:rPr>
              <a:t>成果物一覧</a:t>
            </a:r>
            <a:endParaRPr lang="en-US" sz="1070" b="0" u="none" strike="noStrike">
              <a:solidFill>
                <a:srgbClr val="000000"/>
              </a:solidFill>
              <a:effectLst/>
              <a:uFillTx/>
              <a:latin typeface="Arial"/>
            </a:endParaRPr>
          </a:p>
        </p:txBody>
      </p:sp>
      <p:sp>
        <p:nvSpPr>
          <p:cNvPr id="237" name="toc-pg-7.1"/>
          <p:cNvSpPr/>
          <p:nvPr/>
        </p:nvSpPr>
        <p:spPr>
          <a:xfrm>
            <a:off x="10957320" y="151776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79</a:t>
            </a:r>
            <a:endParaRPr lang="en-US" sz="900" b="0" u="none" strike="noStrike">
              <a:solidFill>
                <a:srgbClr val="000000"/>
              </a:solidFill>
              <a:effectLst/>
              <a:uFillTx/>
              <a:latin typeface="Arial"/>
            </a:endParaRPr>
          </a:p>
        </p:txBody>
      </p:sp>
      <p:sp>
        <p:nvSpPr>
          <p:cNvPr id="238" name="TextBox 30"/>
          <p:cNvSpPr/>
          <p:nvPr/>
        </p:nvSpPr>
        <p:spPr>
          <a:xfrm>
            <a:off x="6507360" y="170064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7.2  </a:t>
            </a:r>
            <a:r>
              <a:rPr lang="ja-JP" sz="1070" b="0" u="none" strike="noStrike">
                <a:solidFill>
                  <a:srgbClr val="1F2937"/>
                </a:solidFill>
                <a:effectLst/>
                <a:uFillTx/>
                <a:latin typeface="BIZ UDPゴシック"/>
                <a:ea typeface="BIZ UDPゴシック"/>
              </a:rPr>
              <a:t>用語集</a:t>
            </a:r>
            <a:endParaRPr lang="en-US" sz="1070" b="0" u="none" strike="noStrike">
              <a:solidFill>
                <a:srgbClr val="000000"/>
              </a:solidFill>
              <a:effectLst/>
              <a:uFillTx/>
              <a:latin typeface="Arial"/>
            </a:endParaRPr>
          </a:p>
        </p:txBody>
      </p:sp>
      <p:sp>
        <p:nvSpPr>
          <p:cNvPr id="239" name="toc-pg-7.2"/>
          <p:cNvSpPr/>
          <p:nvPr/>
        </p:nvSpPr>
        <p:spPr>
          <a:xfrm>
            <a:off x="10957320" y="170064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81</a:t>
            </a:r>
            <a:endParaRPr lang="en-US" sz="900" b="0" u="none" strike="noStrike">
              <a:solidFill>
                <a:srgbClr val="000000"/>
              </a:solidFill>
              <a:effectLst/>
              <a:uFillTx/>
              <a:latin typeface="Arial"/>
            </a:endParaRPr>
          </a:p>
        </p:txBody>
      </p:sp>
      <p:sp>
        <p:nvSpPr>
          <p:cNvPr id="240" name="TextBox 32"/>
          <p:cNvSpPr/>
          <p:nvPr/>
        </p:nvSpPr>
        <p:spPr>
          <a:xfrm>
            <a:off x="6507360" y="1883520"/>
            <a:ext cx="4312080" cy="194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070" b="0" u="none" strike="noStrike">
                <a:solidFill>
                  <a:srgbClr val="1F2937"/>
                </a:solidFill>
                <a:effectLst/>
                <a:uFillTx/>
                <a:latin typeface="BIZ UDPゴシック"/>
                <a:ea typeface="BIZ UDPゴシック"/>
              </a:rPr>
              <a:t>7.3  </a:t>
            </a:r>
            <a:r>
              <a:rPr lang="ja-JP" sz="1070" b="0" u="none" strike="noStrike">
                <a:solidFill>
                  <a:srgbClr val="1F2937"/>
                </a:solidFill>
                <a:effectLst/>
                <a:uFillTx/>
                <a:latin typeface="BIZ UDPゴシック"/>
                <a:ea typeface="BIZ UDPゴシック"/>
              </a:rPr>
              <a:t>参考資料</a:t>
            </a:r>
            <a:endParaRPr lang="en-US" sz="1070" b="0" u="none" strike="noStrike">
              <a:solidFill>
                <a:srgbClr val="000000"/>
              </a:solidFill>
              <a:effectLst/>
              <a:uFillTx/>
              <a:latin typeface="Arial"/>
            </a:endParaRPr>
          </a:p>
        </p:txBody>
      </p:sp>
      <p:sp>
        <p:nvSpPr>
          <p:cNvPr id="241" name="toc-pg-7.3"/>
          <p:cNvSpPr/>
          <p:nvPr/>
        </p:nvSpPr>
        <p:spPr>
          <a:xfrm>
            <a:off x="10957320" y="1883520"/>
            <a:ext cx="602640" cy="182160"/>
          </a:xfrm>
          <a:prstGeom prst="rect">
            <a:avLst/>
          </a:prstGeom>
          <a:noFill/>
          <a:ln w="0">
            <a:noFill/>
          </a:ln>
        </p:spPr>
        <p:style>
          <a:lnRef idx="0"/>
          <a:fillRef idx="0"/>
          <a:effectRef idx="0"/>
          <a:fontRef idx="minor"/>
        </p:style>
        <p:txBody>
          <a:bodyPr lIns="0" tIns="0" rIns="0" bIns="0" anchor="ctr">
            <a:spAutoFit/>
          </a:bodyPr>
          <a:p>
            <a:pPr algn="r" defTabSz="457200">
              <a:lnSpc>
                <a:spcPct val="120000"/>
              </a:lnSpc>
            </a:pPr>
            <a:r>
              <a:rPr lang="en-US" sz="900" b="0" u="none" strike="noStrike">
                <a:solidFill>
                  <a:srgbClr val="6B7280"/>
                </a:solidFill>
                <a:effectLst/>
                <a:uFillTx/>
                <a:latin typeface="BIZ UDPゴシック"/>
                <a:ea typeface="BIZ UDPゴシック"/>
              </a:rPr>
              <a:t>84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43" name="hdr-chap"/>
          <p:cNvSpPr/>
          <p:nvPr/>
        </p:nvSpPr>
        <p:spPr>
          <a:xfrm>
            <a:off x="502920" y="191880"/>
            <a:ext cx="9219240" cy="218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1" u="none" spc="249" strike="noStrike">
                <a:solidFill>
                  <a:srgbClr val="B4235A"/>
                </a:solidFill>
                <a:effectLst/>
                <a:uFillTx/>
                <a:latin typeface="BIZ UDPゴシック"/>
                <a:ea typeface="BIZ UDPゴシック"/>
              </a:rPr>
              <a:t>FRONT</a:t>
            </a:r>
            <a:endParaRPr lang="en-US" sz="1100" b="0" u="none" strike="noStrike">
              <a:solidFill>
                <a:srgbClr val="000000"/>
              </a:solidFill>
              <a:effectLst/>
              <a:uFillTx/>
              <a:latin typeface="Arial"/>
            </a:endParaRPr>
          </a:p>
        </p:txBody>
      </p:sp>
      <p:sp>
        <p:nvSpPr>
          <p:cNvPr id="244" name="hdr-bar"/>
          <p:cNvSpPr/>
          <p:nvPr/>
        </p:nvSpPr>
        <p:spPr>
          <a:xfrm>
            <a:off x="100062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5"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6"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7"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8"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0"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52" name="hdr-title"/>
          <p:cNvSpPr/>
          <p:nvPr/>
        </p:nvSpPr>
        <p:spPr>
          <a:xfrm>
            <a:off x="502920" y="567000"/>
            <a:ext cx="9219240" cy="4388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2400" b="1" u="none" strike="noStrike">
                <a:solidFill>
                  <a:srgbClr val="16213E"/>
                </a:solidFill>
                <a:effectLst/>
                <a:uFillTx/>
                <a:latin typeface="BIZ UDPゴシック"/>
                <a:ea typeface="BIZ UDPゴシック"/>
              </a:rPr>
              <a:t>更新履歴</a:t>
            </a:r>
            <a:endParaRPr lang="en-US" sz="2400" b="0" u="none" strike="noStrike">
              <a:solidFill>
                <a:srgbClr val="000000"/>
              </a:solidFill>
              <a:effectLst/>
              <a:uFillTx/>
              <a:latin typeface="Arial"/>
            </a:endParaRPr>
          </a:p>
        </p:txBody>
      </p:sp>
      <p:sp>
        <p:nvSpPr>
          <p:cNvPr id="253"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54" name="hdr-hair"/>
          <p:cNvCxnSpPr/>
          <p:nvPr/>
        </p:nvCxnSpPr>
        <p:spPr>
          <a:xfrm>
            <a:off x="502920" y="969120"/>
            <a:ext cx="11186280" cy="720"/>
          </a:xfrm>
          <a:prstGeom prst="straightConnector1">
            <a:avLst/>
          </a:prstGeom>
          <a:ln w="9525">
            <a:solidFill>
              <a:srgbClr val="D5DBE5"/>
            </a:solidFill>
            <a:round/>
          </a:ln>
        </p:spPr>
      </p:cxnSp>
      <p:cxnSp>
        <p:nvCxnSpPr>
          <p:cNvPr id="255" name="ftr-hair"/>
          <p:cNvCxnSpPr/>
          <p:nvPr/>
        </p:nvCxnSpPr>
        <p:spPr>
          <a:xfrm>
            <a:off x="502920" y="6382440"/>
            <a:ext cx="11186280" cy="720"/>
          </a:xfrm>
          <a:prstGeom prst="straightConnector1">
            <a:avLst/>
          </a:prstGeom>
          <a:ln w="9525">
            <a:solidFill>
              <a:srgbClr val="D5DBE5"/>
            </a:solidFill>
            <a:round/>
          </a:ln>
        </p:spPr>
      </p:cxnSp>
      <p:sp>
        <p:nvSpPr>
          <p:cNvPr id="256"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 / 85</a:t>
            </a:r>
            <a:endParaRPr lang="en-US" sz="1100" b="0" u="none" strike="noStrike">
              <a:solidFill>
                <a:srgbClr val="000000"/>
              </a:solidFill>
              <a:effectLst/>
              <a:uFillTx/>
              <a:latin typeface="Arial"/>
            </a:endParaRPr>
          </a:p>
        </p:txBody>
      </p:sp>
      <p:sp>
        <p:nvSpPr>
          <p:cNvPr id="257"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58"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59"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graphicFrame>
        <p:nvGraphicFramePr>
          <p:cNvPr id="260" name="blk-table"/>
          <p:cNvGraphicFramePr/>
          <p:nvPr/>
        </p:nvGraphicFramePr>
        <p:xfrm>
          <a:off x="502920" y="1289160"/>
          <a:ext cx="11183760" cy="1446120"/>
        </p:xfrm>
        <a:graphic>
          <a:graphicData uri="http://schemas.openxmlformats.org/drawingml/2006/table">
            <a:tbl>
              <a:tblPr/>
              <a:tblGrid>
                <a:gridCol w="579240"/>
                <a:gridCol w="1332720"/>
                <a:gridCol w="1390680"/>
                <a:gridCol w="811080"/>
                <a:gridCol w="5331960"/>
                <a:gridCol w="1738440"/>
              </a:tblGrid>
              <a:tr h="294840">
                <a:tc>
                  <a:txBody>
                    <a:bodyPr lIns="45720" tIns="18000" rIns="45720" bIns="18000" anchor="t">
                      <a:noAutofit/>
                    </a:bodyPr>
                    <a:p>
                      <a:pPr algn="ctr" defTabSz="457200">
                        <a:lnSpc>
                          <a:spcPct val="120000"/>
                        </a:lnSpc>
                      </a:pPr>
                      <a:r>
                        <a:rPr lang="en-US" sz="1400" b="1" u="none" strike="noStrike">
                          <a:solidFill>
                            <a:srgbClr val="FFFFFF"/>
                          </a:solidFill>
                          <a:effectLst/>
                          <a:uFillTx/>
                          <a:latin typeface="BIZ UDPゴシック"/>
                          <a:ea typeface="BIZ UDPゴシック"/>
                        </a:rPr>
                        <a:t>No.</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日付</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更新者</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版</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主な変更点</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備考</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2026/09/01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架空 太郎</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初版作成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課題整理と提案骨子</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2</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2026/10/10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架空 太郎</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0.9</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レビュー指摘を反映し、体制とスケジュールを更新</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3</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2026/10/30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架空 太郎</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1.0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コンペ提出版として制定</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3"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4"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5"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266"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01</a:t>
            </a:r>
            <a:endParaRPr lang="en-US" sz="9600" b="0" u="none" strike="noStrike">
              <a:solidFill>
                <a:srgbClr val="000000"/>
              </a:solidFill>
              <a:effectLst/>
              <a:uFillTx/>
              <a:latin typeface="Arial"/>
            </a:endParaRPr>
          </a:p>
        </p:txBody>
      </p:sp>
      <p:sp>
        <p:nvSpPr>
          <p:cNvPr id="267"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方針</a:t>
            </a:r>
            <a:endParaRPr lang="en-US" sz="4000" b="0" u="none" strike="noStrike">
              <a:solidFill>
                <a:srgbClr val="000000"/>
              </a:solidFill>
              <a:effectLst/>
              <a:uFillTx/>
              <a:latin typeface="Arial"/>
            </a:endParaRPr>
          </a:p>
        </p:txBody>
      </p:sp>
      <p:sp>
        <p:nvSpPr>
          <p:cNvPr id="268" name="dv-dot-1.1"/>
          <p:cNvSpPr/>
          <p:nvPr/>
        </p:nvSpPr>
        <p:spPr>
          <a:xfrm>
            <a:off x="896040" y="40989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69" name="dv-sec-1.1"/>
          <p:cNvSpPr/>
          <p:nvPr/>
        </p:nvSpPr>
        <p:spPr>
          <a:xfrm>
            <a:off x="1097280" y="404172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  </a:t>
            </a:r>
            <a:r>
              <a:rPr lang="ja-JP" sz="1150" b="0" u="none" strike="noStrike">
                <a:solidFill>
                  <a:srgbClr val="D2E1FC"/>
                </a:solidFill>
                <a:effectLst/>
                <a:uFillTx/>
                <a:latin typeface="BIZ UDPゴシック"/>
                <a:ea typeface="BIZ UDPゴシック"/>
              </a:rPr>
              <a:t>エグゼクティブサマリー</a:t>
            </a:r>
            <a:endParaRPr lang="en-US" sz="1150" b="0" u="none" strike="noStrike">
              <a:solidFill>
                <a:srgbClr val="000000"/>
              </a:solidFill>
              <a:effectLst/>
              <a:uFillTx/>
              <a:latin typeface="Arial"/>
            </a:endParaRPr>
          </a:p>
        </p:txBody>
      </p:sp>
      <p:sp>
        <p:nvSpPr>
          <p:cNvPr id="270" name="dv-dot-1.2"/>
          <p:cNvSpPr/>
          <p:nvPr/>
        </p:nvSpPr>
        <p:spPr>
          <a:xfrm>
            <a:off x="896040" y="42962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71" name="dv-sec-1.2"/>
          <p:cNvSpPr/>
          <p:nvPr/>
        </p:nvSpPr>
        <p:spPr>
          <a:xfrm>
            <a:off x="1097280" y="423864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1.2  </a:t>
            </a:r>
            <a:r>
              <a:rPr lang="ja-JP" sz="1150" b="0" u="none" strike="noStrike">
                <a:solidFill>
                  <a:srgbClr val="D2E1FC"/>
                </a:solidFill>
                <a:effectLst/>
                <a:uFillTx/>
                <a:latin typeface="BIZ UDPゴシック"/>
                <a:ea typeface="BIZ UDPゴシック"/>
              </a:rPr>
              <a:t>現状認識と課題</a:t>
            </a:r>
            <a:endParaRPr lang="en-US" sz="1150" b="0" u="none" strike="noStrike">
              <a:solidFill>
                <a:srgbClr val="000000"/>
              </a:solidFill>
              <a:effectLst/>
              <a:uFillTx/>
              <a:latin typeface="Arial"/>
            </a:endParaRPr>
          </a:p>
        </p:txBody>
      </p:sp>
      <p:sp>
        <p:nvSpPr>
          <p:cNvPr id="272" name="dv-dot-1.3"/>
          <p:cNvSpPr/>
          <p:nvPr/>
        </p:nvSpPr>
        <p:spPr>
          <a:xfrm>
            <a:off x="896040" y="44935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73" name="dv-sec-1.3"/>
          <p:cNvSpPr/>
          <p:nvPr/>
        </p:nvSpPr>
        <p:spPr>
          <a:xfrm>
            <a:off x="1097280" y="443592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1.3  </a:t>
            </a:r>
            <a:r>
              <a:rPr lang="ja-JP" sz="1150" b="0" u="none" strike="noStrike">
                <a:solidFill>
                  <a:srgbClr val="D2E1FC"/>
                </a:solidFill>
                <a:effectLst/>
                <a:uFillTx/>
                <a:latin typeface="BIZ UDPゴシック"/>
                <a:ea typeface="BIZ UDPゴシック"/>
              </a:rPr>
              <a:t>背景と目的</a:t>
            </a:r>
            <a:endParaRPr lang="en-US" sz="1150" b="0" u="none" strike="noStrike">
              <a:solidFill>
                <a:srgbClr val="000000"/>
              </a:solidFill>
              <a:effectLst/>
              <a:uFillTx/>
              <a:latin typeface="Arial"/>
            </a:endParaRPr>
          </a:p>
        </p:txBody>
      </p:sp>
      <p:sp>
        <p:nvSpPr>
          <p:cNvPr id="274" name="dv-dot-1.4"/>
          <p:cNvSpPr/>
          <p:nvPr/>
        </p:nvSpPr>
        <p:spPr>
          <a:xfrm>
            <a:off x="896040" y="469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75" name="dv-sec-1.4"/>
          <p:cNvSpPr/>
          <p:nvPr/>
        </p:nvSpPr>
        <p:spPr>
          <a:xfrm>
            <a:off x="1097280" y="463320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1.4  </a:t>
            </a:r>
            <a:r>
              <a:rPr lang="ja-JP" sz="1150" b="0" u="none" strike="noStrike">
                <a:solidFill>
                  <a:srgbClr val="D2E1FC"/>
                </a:solidFill>
                <a:effectLst/>
                <a:uFillTx/>
                <a:latin typeface="BIZ UDPゴシック"/>
                <a:ea typeface="BIZ UDPゴシック"/>
              </a:rPr>
              <a:t>本提案の特長</a:t>
            </a:r>
            <a:endParaRPr lang="en-US" sz="1150" b="0" u="none" strike="noStrike">
              <a:solidFill>
                <a:srgbClr val="000000"/>
              </a:solidFill>
              <a:effectLst/>
              <a:uFillTx/>
              <a:latin typeface="Arial"/>
            </a:endParaRPr>
          </a:p>
        </p:txBody>
      </p:sp>
      <p:sp>
        <p:nvSpPr>
          <p:cNvPr id="276" name="dv-dot-1.5"/>
          <p:cNvSpPr/>
          <p:nvPr/>
        </p:nvSpPr>
        <p:spPr>
          <a:xfrm>
            <a:off x="896040" y="48877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77" name="dv-sec-1.5"/>
          <p:cNvSpPr/>
          <p:nvPr/>
        </p:nvSpPr>
        <p:spPr>
          <a:xfrm>
            <a:off x="1097280" y="483048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1.5  </a:t>
            </a:r>
            <a:r>
              <a:rPr lang="ja-JP" sz="1150" b="0" u="none" strike="noStrike">
                <a:solidFill>
                  <a:srgbClr val="D2E1FC"/>
                </a:solidFill>
                <a:effectLst/>
                <a:uFillTx/>
                <a:latin typeface="BIZ UDPゴシック"/>
                <a:ea typeface="BIZ UDPゴシック"/>
              </a:rPr>
              <a:t>実施方針</a:t>
            </a:r>
            <a:endParaRPr lang="en-US" sz="1150" b="0" u="none" strike="noStrike">
              <a:solidFill>
                <a:srgbClr val="000000"/>
              </a:solidFill>
              <a:effectLst/>
              <a:uFillTx/>
              <a:latin typeface="Arial"/>
            </a:endParaRPr>
          </a:p>
        </p:txBody>
      </p:sp>
      <p:sp>
        <p:nvSpPr>
          <p:cNvPr id="278" name="dv-dot-1.6"/>
          <p:cNvSpPr/>
          <p:nvPr/>
        </p:nvSpPr>
        <p:spPr>
          <a:xfrm>
            <a:off x="896040" y="50850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79" name="dv-sec-1.6"/>
          <p:cNvSpPr/>
          <p:nvPr/>
        </p:nvSpPr>
        <p:spPr>
          <a:xfrm>
            <a:off x="1097280" y="502740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1.6  </a:t>
            </a:r>
            <a:r>
              <a:rPr lang="ja-JP" sz="1150" b="0" u="none" strike="noStrike">
                <a:solidFill>
                  <a:srgbClr val="D2E1FC"/>
                </a:solidFill>
                <a:effectLst/>
                <a:uFillTx/>
                <a:latin typeface="BIZ UDPゴシック"/>
                <a:ea typeface="BIZ UDPゴシック"/>
              </a:rPr>
              <a:t>全体像</a:t>
            </a:r>
            <a:endParaRPr lang="en-US" sz="1150" b="0" u="none" strike="noStrike">
              <a:solidFill>
                <a:srgbClr val="000000"/>
              </a:solidFill>
              <a:effectLst/>
              <a:uFillTx/>
              <a:latin typeface="Arial"/>
            </a:endParaRPr>
          </a:p>
        </p:txBody>
      </p:sp>
      <p:sp>
        <p:nvSpPr>
          <p:cNvPr id="280" name="dv-dot-1.7"/>
          <p:cNvSpPr/>
          <p:nvPr/>
        </p:nvSpPr>
        <p:spPr>
          <a:xfrm>
            <a:off x="896040" y="528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81" name="dv-sec-1.7"/>
          <p:cNvSpPr/>
          <p:nvPr/>
        </p:nvSpPr>
        <p:spPr>
          <a:xfrm>
            <a:off x="1097280" y="522468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1.7  To-Be </a:t>
            </a:r>
            <a:r>
              <a:rPr lang="ja-JP" sz="1150" b="0" u="none" strike="noStrike">
                <a:solidFill>
                  <a:srgbClr val="D2E1FC"/>
                </a:solidFill>
                <a:effectLst/>
                <a:uFillTx/>
                <a:latin typeface="BIZ UDPゴシック"/>
                <a:ea typeface="BIZ UDPゴシック"/>
              </a:rPr>
              <a:t>業務フロー</a:t>
            </a:r>
            <a:endParaRPr lang="en-US" sz="1150" b="0" u="none" strike="noStrike">
              <a:solidFill>
                <a:srgbClr val="000000"/>
              </a:solidFill>
              <a:effectLst/>
              <a:uFillTx/>
              <a:latin typeface="Arial"/>
            </a:endParaRPr>
          </a:p>
        </p:txBody>
      </p:sp>
      <p:sp>
        <p:nvSpPr>
          <p:cNvPr id="282" name="dv-dot-1.8"/>
          <p:cNvSpPr/>
          <p:nvPr/>
        </p:nvSpPr>
        <p:spPr>
          <a:xfrm>
            <a:off x="896040" y="54792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83" name="dv-sec-1.8"/>
          <p:cNvSpPr/>
          <p:nvPr/>
        </p:nvSpPr>
        <p:spPr>
          <a:xfrm>
            <a:off x="1097280" y="542196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1.8  </a:t>
            </a:r>
            <a:r>
              <a:rPr lang="ja-JP" sz="1150" b="0" u="none" strike="noStrike">
                <a:solidFill>
                  <a:srgbClr val="D2E1FC"/>
                </a:solidFill>
                <a:effectLst/>
                <a:uFillTx/>
                <a:latin typeface="BIZ UDPゴシック"/>
                <a:ea typeface="BIZ UDPゴシック"/>
              </a:rPr>
              <a:t>対象の概要</a:t>
            </a:r>
            <a:endParaRPr lang="en-US" sz="1150" b="0" u="none" strike="noStrike">
              <a:solidFill>
                <a:srgbClr val="000000"/>
              </a:solidFill>
              <a:effectLst/>
              <a:uFillTx/>
              <a:latin typeface="Arial"/>
            </a:endParaRPr>
          </a:p>
        </p:txBody>
      </p:sp>
      <p:sp>
        <p:nvSpPr>
          <p:cNvPr id="284" name="dv-dot-1.9"/>
          <p:cNvSpPr/>
          <p:nvPr/>
        </p:nvSpPr>
        <p:spPr>
          <a:xfrm>
            <a:off x="6324480" y="40989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85" name="dv-sec-1.9"/>
          <p:cNvSpPr/>
          <p:nvPr/>
        </p:nvSpPr>
        <p:spPr>
          <a:xfrm>
            <a:off x="6525720" y="404172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1.9  </a:t>
            </a:r>
            <a:r>
              <a:rPr lang="ja-JP" sz="1150" b="0" u="none" strike="noStrike">
                <a:solidFill>
                  <a:srgbClr val="D2E1FC"/>
                </a:solidFill>
                <a:effectLst/>
                <a:uFillTx/>
                <a:latin typeface="BIZ UDPゴシック"/>
                <a:ea typeface="BIZ UDPゴシック"/>
              </a:rPr>
              <a:t>システム連携構成</a:t>
            </a:r>
            <a:endParaRPr lang="en-US" sz="1150" b="0" u="none" strike="noStrike">
              <a:solidFill>
                <a:srgbClr val="000000"/>
              </a:solidFill>
              <a:effectLst/>
              <a:uFillTx/>
              <a:latin typeface="Arial"/>
            </a:endParaRPr>
          </a:p>
        </p:txBody>
      </p:sp>
      <p:sp>
        <p:nvSpPr>
          <p:cNvPr id="286" name="dv-dot-1.10"/>
          <p:cNvSpPr/>
          <p:nvPr/>
        </p:nvSpPr>
        <p:spPr>
          <a:xfrm>
            <a:off x="6324480" y="42962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87" name="dv-sec-1.10"/>
          <p:cNvSpPr/>
          <p:nvPr/>
        </p:nvSpPr>
        <p:spPr>
          <a:xfrm>
            <a:off x="6525720" y="423864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1.10  </a:t>
            </a:r>
            <a:r>
              <a:rPr lang="ja-JP" sz="1150" b="0" u="none" strike="noStrike">
                <a:solidFill>
                  <a:srgbClr val="D2E1FC"/>
                </a:solidFill>
                <a:effectLst/>
                <a:uFillTx/>
                <a:latin typeface="BIZ UDPゴシック"/>
                <a:ea typeface="BIZ UDPゴシック"/>
              </a:rPr>
              <a:t>スコープ </a:t>
            </a:r>
            <a:r>
              <a:rPr lang="en-US" sz="1150" b="0" u="none" strike="noStrike">
                <a:solidFill>
                  <a:srgbClr val="D2E1FC"/>
                </a:solidFill>
                <a:effectLst/>
                <a:uFillTx/>
                <a:latin typeface="BIZ UDPゴシック"/>
                <a:ea typeface="BIZ UDPゴシック"/>
              </a:rPr>
              <a:t>(</a:t>
            </a:r>
            <a:r>
              <a:rPr lang="ja-JP" sz="1150" b="0" u="none" strike="noStrike">
                <a:solidFill>
                  <a:srgbClr val="D2E1FC"/>
                </a:solidFill>
                <a:effectLst/>
                <a:uFillTx/>
                <a:latin typeface="BIZ UDPゴシック"/>
                <a:ea typeface="BIZ UDPゴシック"/>
              </a:rPr>
              <a:t>対象・対象外</a:t>
            </a:r>
            <a:r>
              <a:rPr lang="en-US" sz="1150" b="0" u="none" strike="noStrike">
                <a:solidFill>
                  <a:srgbClr val="D2E1FC"/>
                </a:solidFill>
                <a:effectLst/>
                <a:uFillTx/>
                <a:latin typeface="BIZ UDPゴシック"/>
                <a:ea typeface="BIZ UDPゴシック"/>
              </a:rPr>
              <a:t>)</a:t>
            </a:r>
            <a:endParaRPr lang="en-US" sz="1150" b="0" u="none" strike="noStrike">
              <a:solidFill>
                <a:srgbClr val="000000"/>
              </a:solidFill>
              <a:effectLst/>
              <a:uFillTx/>
              <a:latin typeface="Arial"/>
            </a:endParaRPr>
          </a:p>
        </p:txBody>
      </p:sp>
      <p:sp>
        <p:nvSpPr>
          <p:cNvPr id="288" name="dv-dot-1.11"/>
          <p:cNvSpPr/>
          <p:nvPr/>
        </p:nvSpPr>
        <p:spPr>
          <a:xfrm>
            <a:off x="6324480" y="44935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89" name="dv-sec-1.11"/>
          <p:cNvSpPr/>
          <p:nvPr/>
        </p:nvSpPr>
        <p:spPr>
          <a:xfrm>
            <a:off x="6525720" y="443592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1.11  </a:t>
            </a:r>
            <a:r>
              <a:rPr lang="ja-JP" sz="1150" b="0" u="none" strike="noStrike">
                <a:solidFill>
                  <a:srgbClr val="D2E1FC"/>
                </a:solidFill>
                <a:effectLst/>
                <a:uFillTx/>
                <a:latin typeface="BIZ UDPゴシック"/>
                <a:ea typeface="BIZ UDPゴシック"/>
              </a:rPr>
              <a:t>目標と成功基準</a:t>
            </a:r>
            <a:endParaRPr lang="en-US" sz="1150" b="0" u="none" strike="noStrike">
              <a:solidFill>
                <a:srgbClr val="000000"/>
              </a:solidFill>
              <a:effectLst/>
              <a:uFillTx/>
              <a:latin typeface="Arial"/>
            </a:endParaRPr>
          </a:p>
        </p:txBody>
      </p:sp>
      <p:sp>
        <p:nvSpPr>
          <p:cNvPr id="290" name="dv-dot-1.12"/>
          <p:cNvSpPr/>
          <p:nvPr/>
        </p:nvSpPr>
        <p:spPr>
          <a:xfrm>
            <a:off x="6324480" y="469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91" name="dv-sec-1.12"/>
          <p:cNvSpPr/>
          <p:nvPr/>
        </p:nvSpPr>
        <p:spPr>
          <a:xfrm>
            <a:off x="6525720" y="463320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1.12  </a:t>
            </a:r>
            <a:r>
              <a:rPr lang="ja-JP" sz="1150" b="0" u="none" strike="noStrike">
                <a:solidFill>
                  <a:srgbClr val="D2E1FC"/>
                </a:solidFill>
                <a:effectLst/>
                <a:uFillTx/>
                <a:latin typeface="BIZ UDPゴシック"/>
                <a:ea typeface="BIZ UDPゴシック"/>
              </a:rPr>
              <a:t>導入効果 </a:t>
            </a:r>
            <a:r>
              <a:rPr lang="en-US" sz="1150" b="0" u="none" strike="noStrike">
                <a:solidFill>
                  <a:srgbClr val="D2E1FC"/>
                </a:solidFill>
                <a:effectLst/>
                <a:uFillTx/>
                <a:latin typeface="BIZ UDPゴシック"/>
                <a:ea typeface="BIZ UDPゴシック"/>
              </a:rPr>
              <a:t>(</a:t>
            </a:r>
            <a:r>
              <a:rPr lang="ja-JP" sz="1150" b="0" u="none" strike="noStrike">
                <a:solidFill>
                  <a:srgbClr val="D2E1FC"/>
                </a:solidFill>
                <a:effectLst/>
                <a:uFillTx/>
                <a:latin typeface="BIZ UDPゴシック"/>
                <a:ea typeface="BIZ UDPゴシック"/>
              </a:rPr>
              <a:t>定量・定性</a:t>
            </a:r>
            <a:r>
              <a:rPr lang="en-US" sz="1150" b="0" u="none" strike="noStrike">
                <a:solidFill>
                  <a:srgbClr val="D2E1FC"/>
                </a:solidFill>
                <a:effectLst/>
                <a:uFillTx/>
                <a:latin typeface="BIZ UDPゴシック"/>
                <a:ea typeface="BIZ UDPゴシック"/>
              </a:rPr>
              <a:t>)</a:t>
            </a:r>
            <a:endParaRPr lang="en-US" sz="1150" b="0" u="none" strike="noStrike">
              <a:solidFill>
                <a:srgbClr val="000000"/>
              </a:solidFill>
              <a:effectLst/>
              <a:uFillTx/>
              <a:latin typeface="Arial"/>
            </a:endParaRPr>
          </a:p>
        </p:txBody>
      </p:sp>
      <p:sp>
        <p:nvSpPr>
          <p:cNvPr id="292" name="dv-dot-1.13"/>
          <p:cNvSpPr/>
          <p:nvPr/>
        </p:nvSpPr>
        <p:spPr>
          <a:xfrm>
            <a:off x="6324480" y="48877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93" name="dv-sec-1.13"/>
          <p:cNvSpPr/>
          <p:nvPr/>
        </p:nvSpPr>
        <p:spPr>
          <a:xfrm>
            <a:off x="6525720" y="483048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1.13  </a:t>
            </a:r>
            <a:r>
              <a:rPr lang="ja-JP" sz="1150" b="0" u="none" strike="noStrike">
                <a:solidFill>
                  <a:srgbClr val="D2E1FC"/>
                </a:solidFill>
                <a:effectLst/>
                <a:uFillTx/>
                <a:latin typeface="BIZ UDPゴシック"/>
                <a:ea typeface="BIZ UDPゴシック"/>
              </a:rPr>
              <a:t>法令・制度対応方針</a:t>
            </a:r>
            <a:endParaRPr lang="en-US" sz="1150" b="0" u="none" strike="noStrike">
              <a:solidFill>
                <a:srgbClr val="000000"/>
              </a:solidFill>
              <a:effectLst/>
              <a:uFillTx/>
              <a:latin typeface="Arial"/>
            </a:endParaRPr>
          </a:p>
        </p:txBody>
      </p:sp>
      <p:sp>
        <p:nvSpPr>
          <p:cNvPr id="294" name="dv-dot-1.14"/>
          <p:cNvSpPr/>
          <p:nvPr/>
        </p:nvSpPr>
        <p:spPr>
          <a:xfrm>
            <a:off x="6324480" y="50850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95" name="dv-sec-1.14"/>
          <p:cNvSpPr/>
          <p:nvPr/>
        </p:nvSpPr>
        <p:spPr>
          <a:xfrm>
            <a:off x="6525720" y="502740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1.14  </a:t>
            </a:r>
            <a:r>
              <a:rPr lang="ja-JP" sz="1150" b="0" u="none" strike="noStrike">
                <a:solidFill>
                  <a:srgbClr val="D2E1FC"/>
                </a:solidFill>
                <a:effectLst/>
                <a:uFillTx/>
                <a:latin typeface="BIZ UDPゴシック"/>
                <a:ea typeface="BIZ UDPゴシック"/>
              </a:rPr>
              <a:t>前提条件・制約条件</a:t>
            </a:r>
            <a:endParaRPr lang="en-US" sz="1150" b="0" u="none" strike="noStrike">
              <a:solidFill>
                <a:srgbClr val="000000"/>
              </a:solidFill>
              <a:effectLst/>
              <a:uFillTx/>
              <a:latin typeface="Arial"/>
            </a:endParaRPr>
          </a:p>
        </p:txBody>
      </p:sp>
      <p:sp>
        <p:nvSpPr>
          <p:cNvPr id="296" name="dv-dot-1.15"/>
          <p:cNvSpPr/>
          <p:nvPr/>
        </p:nvSpPr>
        <p:spPr>
          <a:xfrm>
            <a:off x="6324480" y="528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97" name="dv-sec-1.15"/>
          <p:cNvSpPr/>
          <p:nvPr/>
        </p:nvSpPr>
        <p:spPr>
          <a:xfrm>
            <a:off x="6525720" y="522468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1.15  </a:t>
            </a:r>
            <a:r>
              <a:rPr lang="ja-JP" sz="1150" b="0" u="none" strike="noStrike">
                <a:solidFill>
                  <a:srgbClr val="D2E1FC"/>
                </a:solidFill>
                <a:effectLst/>
                <a:uFillTx/>
                <a:latin typeface="BIZ UDPゴシック"/>
                <a:ea typeface="BIZ UDPゴシック"/>
              </a:rPr>
              <a:t>要求・要件の定義方針</a:t>
            </a:r>
            <a:endParaRPr lang="en-US" sz="1150" b="0" u="none" strike="noStrike">
              <a:solidFill>
                <a:srgbClr val="000000"/>
              </a:solidFill>
              <a:effectLst/>
              <a:uFillTx/>
              <a:latin typeface="Arial"/>
            </a:endParaRPr>
          </a:p>
        </p:txBody>
      </p:sp>
      <p:sp>
        <p:nvSpPr>
          <p:cNvPr id="298" name="dv-dot-1.16"/>
          <p:cNvSpPr/>
          <p:nvPr/>
        </p:nvSpPr>
        <p:spPr>
          <a:xfrm>
            <a:off x="6324480" y="54792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99" name="dv-sec-1.16"/>
          <p:cNvSpPr/>
          <p:nvPr/>
        </p:nvSpPr>
        <p:spPr>
          <a:xfrm>
            <a:off x="6525720" y="5421960"/>
            <a:ext cx="476928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1.16  </a:t>
            </a:r>
            <a:r>
              <a:rPr lang="ja-JP" sz="1150" b="0" u="none" strike="noStrike">
                <a:solidFill>
                  <a:srgbClr val="D2E1FC"/>
                </a:solidFill>
                <a:effectLst/>
                <a:uFillTx/>
                <a:latin typeface="BIZ UDPゴシック"/>
                <a:ea typeface="BIZ UDPゴシック"/>
              </a:rPr>
              <a:t>要求の優先順位付け</a:t>
            </a:r>
            <a:endParaRPr lang="en-US" sz="1150" b="0" u="none" strike="noStrike">
              <a:solidFill>
                <a:srgbClr val="000000"/>
              </a:solidFill>
              <a:effectLst/>
              <a:uFillTx/>
              <a:latin typeface="Arial"/>
            </a:endParaRPr>
          </a:p>
        </p:txBody>
      </p:sp>
      <p:sp>
        <p:nvSpPr>
          <p:cNvPr id="300"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5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0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30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305"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06"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07"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0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0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1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1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1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31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 </a:t>
            </a:r>
            <a:r>
              <a:rPr lang="ja-JP" sz="2400" b="1" u="none" strike="noStrike">
                <a:solidFill>
                  <a:srgbClr val="16213E"/>
                </a:solidFill>
                <a:effectLst/>
                <a:uFillTx/>
                <a:latin typeface="BIZ UDPゴシック"/>
                <a:ea typeface="BIZ UDPゴシック"/>
              </a:rPr>
              <a:t>エグゼクティブサマリー</a:t>
            </a:r>
            <a:endParaRPr lang="en-US" sz="2400" b="0" u="none" strike="noStrike">
              <a:solidFill>
                <a:srgbClr val="000000"/>
              </a:solidFill>
              <a:effectLst/>
              <a:uFillTx/>
              <a:latin typeface="Arial"/>
            </a:endParaRPr>
          </a:p>
        </p:txBody>
      </p:sp>
      <p:sp>
        <p:nvSpPr>
          <p:cNvPr id="31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315" name="hdr-hair"/>
          <p:cNvCxnSpPr/>
          <p:nvPr/>
        </p:nvCxnSpPr>
        <p:spPr>
          <a:xfrm>
            <a:off x="502920" y="969120"/>
            <a:ext cx="11186280" cy="720"/>
          </a:xfrm>
          <a:prstGeom prst="straightConnector1">
            <a:avLst/>
          </a:prstGeom>
          <a:ln w="9525">
            <a:solidFill>
              <a:srgbClr val="D5DBE5"/>
            </a:solidFill>
            <a:round/>
          </a:ln>
        </p:spPr>
      </p:cxnSp>
      <p:cxnSp>
        <p:nvCxnSpPr>
          <p:cNvPr id="316" name="ftr-hair"/>
          <p:cNvCxnSpPr/>
          <p:nvPr/>
        </p:nvCxnSpPr>
        <p:spPr>
          <a:xfrm>
            <a:off x="502920" y="6382440"/>
            <a:ext cx="11186280" cy="720"/>
          </a:xfrm>
          <a:prstGeom prst="straightConnector1">
            <a:avLst/>
          </a:prstGeom>
          <a:ln w="9525">
            <a:solidFill>
              <a:srgbClr val="D5DBE5"/>
            </a:solidFill>
            <a:round/>
          </a:ln>
        </p:spPr>
      </p:cxnSp>
      <p:sp>
        <p:nvSpPr>
          <p:cNvPr id="31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 / 85</a:t>
            </a:r>
            <a:endParaRPr lang="en-US" sz="1100" b="0" u="none" strike="noStrike">
              <a:solidFill>
                <a:srgbClr val="000000"/>
              </a:solidFill>
              <a:effectLst/>
              <a:uFillTx/>
              <a:latin typeface="Arial"/>
            </a:endParaRPr>
          </a:p>
        </p:txBody>
      </p:sp>
      <p:sp>
        <p:nvSpPr>
          <p:cNvPr id="31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31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32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32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標準機能活用と段階展開で、リードタイム</a:t>
            </a:r>
            <a:r>
              <a:rPr lang="en-US" sz="1500" b="1" u="none" strike="noStrike">
                <a:solidFill>
                  <a:srgbClr val="16213E"/>
                </a:solidFill>
                <a:effectLst/>
                <a:uFillTx/>
                <a:latin typeface="BIZ UDPゴシック"/>
                <a:ea typeface="BIZ UDPゴシック"/>
              </a:rPr>
              <a:t>2</a:t>
            </a:r>
            <a:r>
              <a:rPr lang="ja-JP" sz="1500" b="1" u="none" strike="noStrike">
                <a:solidFill>
                  <a:srgbClr val="16213E"/>
                </a:solidFill>
                <a:effectLst/>
                <a:uFillTx/>
                <a:latin typeface="BIZ UDPゴシック"/>
                <a:ea typeface="BIZ UDPゴシック"/>
              </a:rPr>
              <a:t>営業日・経理工数▲</a:t>
            </a:r>
            <a:r>
              <a:rPr lang="en-US" sz="1500" b="1" u="none" strike="noStrike">
                <a:solidFill>
                  <a:srgbClr val="16213E"/>
                </a:solidFill>
                <a:effectLst/>
                <a:uFillTx/>
                <a:latin typeface="BIZ UDPゴシック"/>
                <a:ea typeface="BIZ UDPゴシック"/>
              </a:rPr>
              <a:t>67%</a:t>
            </a:r>
            <a:r>
              <a:rPr lang="ja-JP" sz="1500" b="1" u="none" strike="noStrike">
                <a:solidFill>
                  <a:srgbClr val="16213E"/>
                </a:solidFill>
                <a:effectLst/>
                <a:uFillTx/>
                <a:latin typeface="BIZ UDPゴシック"/>
                <a:ea typeface="BIZ UDPゴシック"/>
              </a:rPr>
              <a:t>を実現する</a:t>
            </a:r>
            <a:endParaRPr lang="en-US" sz="1500" b="0" u="none" strike="noStrike">
              <a:solidFill>
                <a:srgbClr val="000000"/>
              </a:solidFill>
              <a:effectLst/>
              <a:uFillTx/>
              <a:latin typeface="Arial"/>
            </a:endParaRPr>
          </a:p>
        </p:txBody>
      </p:sp>
      <p:sp>
        <p:nvSpPr>
          <p:cNvPr id="324" name="blk-title"/>
          <p:cNvSpPr/>
          <p:nvPr/>
        </p:nvSpPr>
        <p:spPr>
          <a:xfrm>
            <a:off x="502920" y="162756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本提案が実現する主要</a:t>
            </a:r>
            <a:r>
              <a:rPr lang="en-US" sz="1200" b="1" u="none" strike="noStrike">
                <a:solidFill>
                  <a:srgbClr val="B4235A"/>
                </a:solidFill>
                <a:effectLst/>
                <a:uFillTx/>
                <a:latin typeface="BIZ UDPゴシック"/>
                <a:ea typeface="BIZ UDPゴシック"/>
              </a:rPr>
              <a:t>KPI</a:t>
            </a:r>
            <a:endParaRPr lang="en-US" sz="1200" b="0" u="none" strike="noStrike">
              <a:solidFill>
                <a:srgbClr val="000000"/>
              </a:solidFill>
              <a:effectLst/>
              <a:uFillTx/>
              <a:latin typeface="Arial"/>
            </a:endParaRPr>
          </a:p>
        </p:txBody>
      </p:sp>
      <p:sp>
        <p:nvSpPr>
          <p:cNvPr id="325" name="blk-metrics"/>
          <p:cNvSpPr/>
          <p:nvPr/>
        </p:nvSpPr>
        <p:spPr>
          <a:xfrm>
            <a:off x="502920" y="1901880"/>
            <a:ext cx="267228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6" name="blk-metrics-value"/>
          <p:cNvSpPr/>
          <p:nvPr/>
        </p:nvSpPr>
        <p:spPr>
          <a:xfrm>
            <a:off x="594360" y="1956960"/>
            <a:ext cx="248940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B4235A"/>
                </a:solidFill>
                <a:effectLst/>
                <a:uFillTx/>
                <a:latin typeface="BIZ UDPゴシック"/>
                <a:ea typeface="BIZ UDPゴシック"/>
              </a:rPr>
              <a:t>2</a:t>
            </a:r>
            <a:r>
              <a:rPr lang="ja-JP" sz="3000" b="1" u="none" strike="noStrike">
                <a:solidFill>
                  <a:srgbClr val="B4235A"/>
                </a:solidFill>
                <a:effectLst/>
                <a:uFillTx/>
                <a:latin typeface="BIZ UDPゴシック"/>
                <a:ea typeface="BIZ UDPゴシック"/>
              </a:rPr>
              <a:t>営業日</a:t>
            </a:r>
            <a:endParaRPr lang="en-US" sz="3000" b="0" u="none" strike="noStrike">
              <a:solidFill>
                <a:srgbClr val="000000"/>
              </a:solidFill>
              <a:effectLst/>
              <a:uFillTx/>
              <a:latin typeface="Arial"/>
            </a:endParaRPr>
          </a:p>
        </p:txBody>
      </p:sp>
      <p:sp>
        <p:nvSpPr>
          <p:cNvPr id="327" name="blk-metrics-label"/>
          <p:cNvSpPr/>
          <p:nvPr/>
        </p:nvSpPr>
        <p:spPr>
          <a:xfrm>
            <a:off x="594360" y="28047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精算リードタイム</a:t>
            </a:r>
            <a:endParaRPr lang="en-US" sz="1100" b="0" u="none" strike="noStrike">
              <a:solidFill>
                <a:srgbClr val="000000"/>
              </a:solidFill>
              <a:effectLst/>
              <a:uFillTx/>
              <a:latin typeface="Arial"/>
            </a:endParaRPr>
          </a:p>
        </p:txBody>
      </p:sp>
      <p:sp>
        <p:nvSpPr>
          <p:cNvPr id="328" name="blk-metrics-note"/>
          <p:cNvSpPr/>
          <p:nvPr/>
        </p:nvSpPr>
        <p:spPr>
          <a:xfrm>
            <a:off x="594360" y="3188520"/>
            <a:ext cx="248940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a:t>
            </a:r>
            <a:r>
              <a:rPr lang="en-US" sz="900" b="0" u="none" strike="noStrike">
                <a:solidFill>
                  <a:srgbClr val="6B7280"/>
                </a:solidFill>
                <a:effectLst/>
                <a:uFillTx/>
                <a:latin typeface="BIZ UDPゴシック"/>
                <a:ea typeface="BIZ UDPゴシック"/>
              </a:rPr>
              <a:t>5</a:t>
            </a:r>
            <a:r>
              <a:rPr lang="ja-JP" sz="900" b="0" u="none" strike="noStrike">
                <a:solidFill>
                  <a:srgbClr val="6B7280"/>
                </a:solidFill>
                <a:effectLst/>
                <a:uFillTx/>
                <a:latin typeface="BIZ UDPゴシック"/>
                <a:ea typeface="BIZ UDPゴシック"/>
              </a:rPr>
              <a:t>営業日から短縮</a:t>
            </a:r>
            <a:endParaRPr lang="en-US" sz="900" b="0" u="none" strike="noStrike">
              <a:solidFill>
                <a:srgbClr val="000000"/>
              </a:solidFill>
              <a:effectLst/>
              <a:uFillTx/>
              <a:latin typeface="Arial"/>
            </a:endParaRPr>
          </a:p>
        </p:txBody>
      </p:sp>
      <p:sp>
        <p:nvSpPr>
          <p:cNvPr id="329" name="blk-metrics"/>
          <p:cNvSpPr/>
          <p:nvPr/>
        </p:nvSpPr>
        <p:spPr>
          <a:xfrm>
            <a:off x="3340440" y="1901880"/>
            <a:ext cx="267228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0" name="blk-metrics-value"/>
          <p:cNvSpPr/>
          <p:nvPr/>
        </p:nvSpPr>
        <p:spPr>
          <a:xfrm>
            <a:off x="3431880" y="1956960"/>
            <a:ext cx="248940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2563EB"/>
                </a:solidFill>
                <a:effectLst/>
                <a:uFillTx/>
                <a:latin typeface="BIZ UDPゴシック"/>
                <a:ea typeface="BIZ UDPゴシック"/>
              </a:rPr>
              <a:t>▲67%</a:t>
            </a:r>
            <a:endParaRPr lang="en-US" sz="3000" b="0" u="none" strike="noStrike">
              <a:solidFill>
                <a:srgbClr val="000000"/>
              </a:solidFill>
              <a:effectLst/>
              <a:uFillTx/>
              <a:latin typeface="Arial"/>
            </a:endParaRPr>
          </a:p>
        </p:txBody>
      </p:sp>
      <p:sp>
        <p:nvSpPr>
          <p:cNvPr id="331" name="blk-metrics-label"/>
          <p:cNvSpPr/>
          <p:nvPr/>
        </p:nvSpPr>
        <p:spPr>
          <a:xfrm>
            <a:off x="3431880" y="28047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経理手作業工数</a:t>
            </a:r>
            <a:endParaRPr lang="en-US" sz="1100" b="0" u="none" strike="noStrike">
              <a:solidFill>
                <a:srgbClr val="000000"/>
              </a:solidFill>
              <a:effectLst/>
              <a:uFillTx/>
              <a:latin typeface="Arial"/>
            </a:endParaRPr>
          </a:p>
        </p:txBody>
      </p:sp>
      <p:sp>
        <p:nvSpPr>
          <p:cNvPr id="332" name="blk-metrics-note"/>
          <p:cNvSpPr/>
          <p:nvPr/>
        </p:nvSpPr>
        <p:spPr>
          <a:xfrm>
            <a:off x="3431880" y="3188520"/>
            <a:ext cx="248940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月</a:t>
            </a:r>
            <a:r>
              <a:rPr lang="en-US" sz="900" b="0" u="none" strike="noStrike">
                <a:solidFill>
                  <a:srgbClr val="6B7280"/>
                </a:solidFill>
                <a:effectLst/>
                <a:uFillTx/>
                <a:latin typeface="BIZ UDPゴシック"/>
                <a:ea typeface="BIZ UDPゴシック"/>
              </a:rPr>
              <a:t>120</a:t>
            </a:r>
            <a:r>
              <a:rPr lang="ja-JP" sz="900" b="0" u="none" strike="noStrike">
                <a:solidFill>
                  <a:srgbClr val="6B7280"/>
                </a:solidFill>
                <a:effectLst/>
                <a:uFillTx/>
                <a:latin typeface="BIZ UDPゴシック"/>
                <a:ea typeface="BIZ UDPゴシック"/>
              </a:rPr>
              <a:t>時間から</a:t>
            </a:r>
            <a:r>
              <a:rPr lang="en-US" sz="900" b="0" u="none" strike="noStrike">
                <a:solidFill>
                  <a:srgbClr val="6B7280"/>
                </a:solidFill>
                <a:effectLst/>
                <a:uFillTx/>
                <a:latin typeface="BIZ UDPゴシック"/>
                <a:ea typeface="BIZ UDPゴシック"/>
              </a:rPr>
              <a:t>40</a:t>
            </a:r>
            <a:r>
              <a:rPr lang="ja-JP" sz="900" b="0" u="none" strike="noStrike">
                <a:solidFill>
                  <a:srgbClr val="6B7280"/>
                </a:solidFill>
                <a:effectLst/>
                <a:uFillTx/>
                <a:latin typeface="BIZ UDPゴシック"/>
                <a:ea typeface="BIZ UDPゴシック"/>
              </a:rPr>
              <a:t>時間へ</a:t>
            </a:r>
            <a:endParaRPr lang="en-US" sz="900" b="0" u="none" strike="noStrike">
              <a:solidFill>
                <a:srgbClr val="000000"/>
              </a:solidFill>
              <a:effectLst/>
              <a:uFillTx/>
              <a:latin typeface="Arial"/>
            </a:endParaRPr>
          </a:p>
        </p:txBody>
      </p:sp>
      <p:sp>
        <p:nvSpPr>
          <p:cNvPr id="333" name="blk-metrics"/>
          <p:cNvSpPr/>
          <p:nvPr/>
        </p:nvSpPr>
        <p:spPr>
          <a:xfrm>
            <a:off x="6178320" y="1901880"/>
            <a:ext cx="267228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4" name="blk-metrics-value"/>
          <p:cNvSpPr/>
          <p:nvPr/>
        </p:nvSpPr>
        <p:spPr>
          <a:xfrm>
            <a:off x="6269760" y="1956960"/>
            <a:ext cx="248940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059669"/>
                </a:solidFill>
                <a:effectLst/>
                <a:uFillTx/>
                <a:latin typeface="BIZ UDPゴシック"/>
                <a:ea typeface="BIZ UDPゴシック"/>
              </a:rPr>
              <a:t>95%</a:t>
            </a:r>
            <a:r>
              <a:rPr lang="ja-JP" sz="3000" b="1" u="none" strike="noStrike">
                <a:solidFill>
                  <a:srgbClr val="059669"/>
                </a:solidFill>
                <a:effectLst/>
                <a:uFillTx/>
                <a:latin typeface="BIZ UDPゴシック"/>
                <a:ea typeface="BIZ UDPゴシック"/>
              </a:rPr>
              <a:t>以上</a:t>
            </a:r>
            <a:endParaRPr lang="en-US" sz="3000" b="0" u="none" strike="noStrike">
              <a:solidFill>
                <a:srgbClr val="000000"/>
              </a:solidFill>
              <a:effectLst/>
              <a:uFillTx/>
              <a:latin typeface="Arial"/>
            </a:endParaRPr>
          </a:p>
        </p:txBody>
      </p:sp>
      <p:sp>
        <p:nvSpPr>
          <p:cNvPr id="335" name="blk-metrics-label"/>
          <p:cNvSpPr/>
          <p:nvPr/>
        </p:nvSpPr>
        <p:spPr>
          <a:xfrm>
            <a:off x="6269760" y="28047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対象者利用率</a:t>
            </a:r>
            <a:endParaRPr lang="en-US" sz="1100" b="0" u="none" strike="noStrike">
              <a:solidFill>
                <a:srgbClr val="000000"/>
              </a:solidFill>
              <a:effectLst/>
              <a:uFillTx/>
              <a:latin typeface="Arial"/>
            </a:endParaRPr>
          </a:p>
        </p:txBody>
      </p:sp>
      <p:sp>
        <p:nvSpPr>
          <p:cNvPr id="336" name="blk-metrics-note"/>
          <p:cNvSpPr/>
          <p:nvPr/>
        </p:nvSpPr>
        <p:spPr>
          <a:xfrm>
            <a:off x="6269760" y="3188520"/>
            <a:ext cx="248940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全社約</a:t>
            </a:r>
            <a:r>
              <a:rPr lang="en-US" sz="900" b="0" u="none" strike="noStrike">
                <a:solidFill>
                  <a:srgbClr val="6B7280"/>
                </a:solidFill>
                <a:effectLst/>
                <a:uFillTx/>
                <a:latin typeface="BIZ UDPゴシック"/>
                <a:ea typeface="BIZ UDPゴシック"/>
              </a:rPr>
              <a:t>1,200</a:t>
            </a:r>
            <a:r>
              <a:rPr lang="ja-JP" sz="900" b="0" u="none" strike="noStrike">
                <a:solidFill>
                  <a:srgbClr val="6B7280"/>
                </a:solidFill>
                <a:effectLst/>
                <a:uFillTx/>
                <a:latin typeface="BIZ UDPゴシック"/>
                <a:ea typeface="BIZ UDPゴシック"/>
              </a:rPr>
              <a:t>名</a:t>
            </a:r>
            <a:endParaRPr lang="en-US" sz="900" b="0" u="none" strike="noStrike">
              <a:solidFill>
                <a:srgbClr val="000000"/>
              </a:solidFill>
              <a:effectLst/>
              <a:uFillTx/>
              <a:latin typeface="Arial"/>
            </a:endParaRPr>
          </a:p>
        </p:txBody>
      </p:sp>
      <p:sp>
        <p:nvSpPr>
          <p:cNvPr id="337" name="blk-metrics"/>
          <p:cNvSpPr/>
          <p:nvPr/>
        </p:nvSpPr>
        <p:spPr>
          <a:xfrm>
            <a:off x="9015840" y="1901880"/>
            <a:ext cx="267228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8" name="blk-metrics-value"/>
          <p:cNvSpPr/>
          <p:nvPr/>
        </p:nvSpPr>
        <p:spPr>
          <a:xfrm>
            <a:off x="9107280" y="1956960"/>
            <a:ext cx="248940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D97706"/>
                </a:solidFill>
                <a:effectLst/>
                <a:uFillTx/>
                <a:latin typeface="BIZ UDPゴシック"/>
                <a:ea typeface="BIZ UDPゴシック"/>
              </a:rPr>
              <a:t>10/1</a:t>
            </a:r>
            <a:endParaRPr lang="en-US" sz="3000" b="0" u="none" strike="noStrike">
              <a:solidFill>
                <a:srgbClr val="000000"/>
              </a:solidFill>
              <a:effectLst/>
              <a:uFillTx/>
              <a:latin typeface="Arial"/>
            </a:endParaRPr>
          </a:p>
        </p:txBody>
      </p:sp>
      <p:sp>
        <p:nvSpPr>
          <p:cNvPr id="339" name="blk-metrics-label"/>
          <p:cNvSpPr/>
          <p:nvPr/>
        </p:nvSpPr>
        <p:spPr>
          <a:xfrm>
            <a:off x="9107280" y="28047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全社本番稼働</a:t>
            </a:r>
            <a:endParaRPr lang="en-US" sz="1100" b="0" u="none" strike="noStrike">
              <a:solidFill>
                <a:srgbClr val="000000"/>
              </a:solidFill>
              <a:effectLst/>
              <a:uFillTx/>
              <a:latin typeface="Arial"/>
            </a:endParaRPr>
          </a:p>
        </p:txBody>
      </p:sp>
      <p:sp>
        <p:nvSpPr>
          <p:cNvPr id="340" name="blk-metrics-note"/>
          <p:cNvSpPr/>
          <p:nvPr/>
        </p:nvSpPr>
        <p:spPr>
          <a:xfrm>
            <a:off x="9107280" y="3188520"/>
            <a:ext cx="248940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900" b="0" u="none" strike="noStrike">
                <a:solidFill>
                  <a:srgbClr val="6B7280"/>
                </a:solidFill>
                <a:effectLst/>
                <a:uFillTx/>
                <a:latin typeface="BIZ UDPゴシック"/>
                <a:ea typeface="BIZ UDPゴシック"/>
              </a:rPr>
              <a:t>2027/10/01</a:t>
            </a:r>
            <a:endParaRPr lang="en-US" sz="900" b="0" u="none" strike="noStrike">
              <a:solidFill>
                <a:srgbClr val="000000"/>
              </a:solidFill>
              <a:effectLst/>
              <a:uFillTx/>
              <a:latin typeface="Arial"/>
            </a:endParaRPr>
          </a:p>
        </p:txBody>
      </p:sp>
      <p:sp>
        <p:nvSpPr>
          <p:cNvPr id="341" name="blk-card"/>
          <p:cNvSpPr/>
          <p:nvPr/>
        </p:nvSpPr>
        <p:spPr>
          <a:xfrm>
            <a:off x="502920" y="4005000"/>
            <a:ext cx="36180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blk-card-band"/>
          <p:cNvSpPr/>
          <p:nvPr/>
        </p:nvSpPr>
        <p:spPr>
          <a:xfrm>
            <a:off x="502920" y="4005000"/>
            <a:ext cx="3618000" cy="817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43" name="blk-card-title"/>
          <p:cNvSpPr/>
          <p:nvPr/>
        </p:nvSpPr>
        <p:spPr>
          <a:xfrm>
            <a:off x="631080" y="4151520"/>
            <a:ext cx="33620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業務標準化</a:t>
            </a:r>
            <a:endParaRPr lang="en-US" sz="1250" b="0" u="none" strike="noStrike">
              <a:solidFill>
                <a:srgbClr val="000000"/>
              </a:solidFill>
              <a:effectLst/>
              <a:uFillTx/>
              <a:latin typeface="Arial"/>
            </a:endParaRPr>
          </a:p>
        </p:txBody>
      </p:sp>
      <p:sp>
        <p:nvSpPr>
          <p:cNvPr id="344" name="blk-card-text"/>
          <p:cNvSpPr/>
          <p:nvPr/>
        </p:nvSpPr>
        <p:spPr>
          <a:xfrm>
            <a:off x="631080" y="4462200"/>
            <a:ext cx="33620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標準機能を軸に経費精算プロセスを標準化し、属人化と転記ミスを解消する</a:t>
            </a:r>
            <a:endParaRPr lang="en-US" sz="1100" b="0" u="none" strike="noStrike">
              <a:solidFill>
                <a:srgbClr val="000000"/>
              </a:solidFill>
              <a:effectLst/>
              <a:uFillTx/>
              <a:latin typeface="Arial"/>
            </a:endParaRPr>
          </a:p>
        </p:txBody>
      </p:sp>
      <p:sp>
        <p:nvSpPr>
          <p:cNvPr id="345" name="blk-card"/>
          <p:cNvSpPr/>
          <p:nvPr/>
        </p:nvSpPr>
        <p:spPr>
          <a:xfrm>
            <a:off x="4286520" y="4005000"/>
            <a:ext cx="36180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6" name="blk-card-band"/>
          <p:cNvSpPr/>
          <p:nvPr/>
        </p:nvSpPr>
        <p:spPr>
          <a:xfrm>
            <a:off x="4286520" y="4005000"/>
            <a:ext cx="3618000" cy="817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47" name="blk-card-title"/>
          <p:cNvSpPr/>
          <p:nvPr/>
        </p:nvSpPr>
        <p:spPr>
          <a:xfrm>
            <a:off x="4414320" y="4151520"/>
            <a:ext cx="33620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デジタル化・法令準拠</a:t>
            </a:r>
            <a:endParaRPr lang="en-US" sz="1250" b="0" u="none" strike="noStrike">
              <a:solidFill>
                <a:srgbClr val="000000"/>
              </a:solidFill>
              <a:effectLst/>
              <a:uFillTx/>
              <a:latin typeface="Arial"/>
            </a:endParaRPr>
          </a:p>
        </p:txBody>
      </p:sp>
      <p:sp>
        <p:nvSpPr>
          <p:cNvPr id="348" name="blk-card-text"/>
          <p:cNvSpPr/>
          <p:nvPr/>
        </p:nvSpPr>
        <p:spPr>
          <a:xfrm>
            <a:off x="4414320" y="4462200"/>
            <a:ext cx="33620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ペーパーレス化と電子帳簿保存法・インボイス制度への準拠を設計段階で組み込む</a:t>
            </a:r>
            <a:endParaRPr lang="en-US" sz="1100" b="0" u="none" strike="noStrike">
              <a:solidFill>
                <a:srgbClr val="000000"/>
              </a:solidFill>
              <a:effectLst/>
              <a:uFillTx/>
              <a:latin typeface="Arial"/>
            </a:endParaRPr>
          </a:p>
        </p:txBody>
      </p:sp>
      <p:sp>
        <p:nvSpPr>
          <p:cNvPr id="349" name="blk-card"/>
          <p:cNvSpPr/>
          <p:nvPr/>
        </p:nvSpPr>
        <p:spPr>
          <a:xfrm>
            <a:off x="8069760" y="4005000"/>
            <a:ext cx="36180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0" name="blk-card-band"/>
          <p:cNvSpPr/>
          <p:nvPr/>
        </p:nvSpPr>
        <p:spPr>
          <a:xfrm>
            <a:off x="8069760" y="4005000"/>
            <a:ext cx="3618000" cy="817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351" name="blk-card-title"/>
          <p:cNvSpPr/>
          <p:nvPr/>
        </p:nvSpPr>
        <p:spPr>
          <a:xfrm>
            <a:off x="8197920" y="4151520"/>
            <a:ext cx="33620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定着化</a:t>
            </a:r>
            <a:endParaRPr lang="en-US" sz="1250" b="0" u="none" strike="noStrike">
              <a:solidFill>
                <a:srgbClr val="000000"/>
              </a:solidFill>
              <a:effectLst/>
              <a:uFillTx/>
              <a:latin typeface="Arial"/>
            </a:endParaRPr>
          </a:p>
        </p:txBody>
      </p:sp>
      <p:sp>
        <p:nvSpPr>
          <p:cNvPr id="352" name="blk-card-text"/>
          <p:cNvSpPr/>
          <p:nvPr/>
        </p:nvSpPr>
        <p:spPr>
          <a:xfrm>
            <a:off x="8197920" y="4462200"/>
            <a:ext cx="33620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パイロット稼働と稼働後</a:t>
            </a:r>
            <a:r>
              <a:rPr lang="en-US" sz="1100" b="0" u="none" strike="noStrike">
                <a:solidFill>
                  <a:srgbClr val="1F2937"/>
                </a:solidFill>
                <a:effectLst/>
                <a:uFillTx/>
                <a:latin typeface="BIZ UDPゴシック"/>
                <a:ea typeface="BIZ UDPゴシック"/>
              </a:rPr>
              <a:t>2</a:t>
            </a:r>
            <a:r>
              <a:rPr lang="ja-JP" sz="1100" b="0" u="none" strike="noStrike">
                <a:solidFill>
                  <a:srgbClr val="1F2937"/>
                </a:solidFill>
                <a:effectLst/>
                <a:uFillTx/>
                <a:latin typeface="BIZ UDPゴシック"/>
                <a:ea typeface="BIZ UDPゴシック"/>
              </a:rPr>
              <a:t>か月の伴走支援で、全社定着と</a:t>
            </a:r>
            <a:r>
              <a:rPr lang="en-US" sz="1100" b="0" u="none" strike="noStrike">
                <a:solidFill>
                  <a:srgbClr val="1F2937"/>
                </a:solidFill>
                <a:effectLst/>
                <a:uFillTx/>
                <a:latin typeface="BIZ UDPゴシック"/>
                <a:ea typeface="BIZ UDPゴシック"/>
              </a:rPr>
              <a:t>KPI</a:t>
            </a:r>
            <a:r>
              <a:rPr lang="ja-JP" sz="1100" b="0" u="none" strike="noStrike">
                <a:solidFill>
                  <a:srgbClr val="1F2937"/>
                </a:solidFill>
                <a:effectLst/>
                <a:uFillTx/>
                <a:latin typeface="BIZ UDPゴシック"/>
                <a:ea typeface="BIZ UDPゴシック"/>
              </a:rPr>
              <a:t>達成を確実にする</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4"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55"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356"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357"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58"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59"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60"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61"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62"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63"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64"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365"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1.2 </a:t>
            </a:r>
            <a:r>
              <a:rPr lang="ja-JP" sz="2400" b="1" u="none" strike="noStrike">
                <a:solidFill>
                  <a:srgbClr val="16213E"/>
                </a:solidFill>
                <a:effectLst/>
                <a:uFillTx/>
                <a:latin typeface="BIZ UDPゴシック"/>
                <a:ea typeface="BIZ UDPゴシック"/>
              </a:rPr>
              <a:t>現状認識と課題</a:t>
            </a:r>
            <a:endParaRPr lang="en-US" sz="2400" b="0" u="none" strike="noStrike">
              <a:solidFill>
                <a:srgbClr val="000000"/>
              </a:solidFill>
              <a:effectLst/>
              <a:uFillTx/>
              <a:latin typeface="Arial"/>
            </a:endParaRPr>
          </a:p>
        </p:txBody>
      </p:sp>
      <p:sp>
        <p:nvSpPr>
          <p:cNvPr id="366"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367" name="hdr-hair"/>
          <p:cNvCxnSpPr/>
          <p:nvPr/>
        </p:nvCxnSpPr>
        <p:spPr>
          <a:xfrm>
            <a:off x="502920" y="969120"/>
            <a:ext cx="11186280" cy="720"/>
          </a:xfrm>
          <a:prstGeom prst="straightConnector1">
            <a:avLst/>
          </a:prstGeom>
          <a:ln w="9525">
            <a:solidFill>
              <a:srgbClr val="D5DBE5"/>
            </a:solidFill>
            <a:round/>
          </a:ln>
        </p:spPr>
      </p:cxnSp>
      <p:cxnSp>
        <p:nvCxnSpPr>
          <p:cNvPr id="368" name="ftr-hair"/>
          <p:cNvCxnSpPr/>
          <p:nvPr/>
        </p:nvCxnSpPr>
        <p:spPr>
          <a:xfrm>
            <a:off x="502920" y="6382440"/>
            <a:ext cx="11186280" cy="720"/>
          </a:xfrm>
          <a:prstGeom prst="straightConnector1">
            <a:avLst/>
          </a:prstGeom>
          <a:ln w="9525">
            <a:solidFill>
              <a:srgbClr val="D5DBE5"/>
            </a:solidFill>
            <a:round/>
          </a:ln>
        </p:spPr>
      </p:cxnSp>
      <p:sp>
        <p:nvSpPr>
          <p:cNvPr id="369"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 / 85</a:t>
            </a:r>
            <a:endParaRPr lang="en-US" sz="1100" b="0" u="none" strike="noStrike">
              <a:solidFill>
                <a:srgbClr val="000000"/>
              </a:solidFill>
              <a:effectLst/>
              <a:uFillTx/>
              <a:latin typeface="Arial"/>
            </a:endParaRPr>
          </a:p>
        </p:txBody>
      </p:sp>
      <p:sp>
        <p:nvSpPr>
          <p:cNvPr id="370"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371"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372"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373"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4"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5"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5</a:t>
            </a:r>
            <a:r>
              <a:rPr lang="ja-JP" sz="1500" b="1" u="none" strike="noStrike">
                <a:solidFill>
                  <a:srgbClr val="16213E"/>
                </a:solidFill>
                <a:effectLst/>
                <a:uFillTx/>
                <a:latin typeface="BIZ UDPゴシック"/>
                <a:ea typeface="BIZ UDPゴシック"/>
              </a:rPr>
              <a:t>営業日と月</a:t>
            </a:r>
            <a:r>
              <a:rPr lang="en-US" sz="1500" b="1" u="none" strike="noStrike">
                <a:solidFill>
                  <a:srgbClr val="16213E"/>
                </a:solidFill>
                <a:effectLst/>
                <a:uFillTx/>
                <a:latin typeface="BIZ UDPゴシック"/>
                <a:ea typeface="BIZ UDPゴシック"/>
              </a:rPr>
              <a:t>120</a:t>
            </a:r>
            <a:r>
              <a:rPr lang="ja-JP" sz="1500" b="1" u="none" strike="noStrike">
                <a:solidFill>
                  <a:srgbClr val="16213E"/>
                </a:solidFill>
                <a:effectLst/>
                <a:uFillTx/>
                <a:latin typeface="BIZ UDPゴシック"/>
                <a:ea typeface="BIZ UDPゴシック"/>
              </a:rPr>
              <a:t>時間は手作業と属人判断に起因し、標準化とデジタル化で解消する</a:t>
            </a:r>
            <a:endParaRPr lang="en-US" sz="1500" b="0" u="none" strike="noStrike">
              <a:solidFill>
                <a:srgbClr val="000000"/>
              </a:solidFill>
              <a:effectLst/>
              <a:uFillTx/>
              <a:latin typeface="Arial"/>
            </a:endParaRPr>
          </a:p>
        </p:txBody>
      </p:sp>
      <p:graphicFrame>
        <p:nvGraphicFramePr>
          <p:cNvPr id="376" name="blk-table"/>
          <p:cNvGraphicFramePr/>
          <p:nvPr/>
        </p:nvGraphicFramePr>
        <p:xfrm>
          <a:off x="502920" y="1627560"/>
          <a:ext cx="11184840" cy="2548080"/>
        </p:xfrm>
        <a:graphic>
          <a:graphicData uri="http://schemas.openxmlformats.org/drawingml/2006/table">
            <a:tbl>
              <a:tblPr/>
              <a:tblGrid>
                <a:gridCol w="2908080"/>
                <a:gridCol w="3579120"/>
                <a:gridCol w="469800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現状の問題</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原因</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本提案の打ち手</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申請〜支払に</a:t>
                      </a: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営業日</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紙・</a:t>
                      </a:r>
                      <a:r>
                        <a:rPr lang="en-US" sz="1100" b="0" u="none" strike="noStrike">
                          <a:solidFill>
                            <a:srgbClr val="1F2937"/>
                          </a:solidFill>
                          <a:effectLst/>
                          <a:uFillTx/>
                          <a:latin typeface="BIZ UDPゴシック"/>
                          <a:ea typeface="BIZ UDPゴシック"/>
                        </a:rPr>
                        <a:t>Excel</a:t>
                      </a:r>
                      <a:r>
                        <a:rPr lang="ja-JP" sz="1100" b="0" u="none" strike="noStrike">
                          <a:solidFill>
                            <a:srgbClr val="1F2937"/>
                          </a:solidFill>
                          <a:effectLst/>
                          <a:uFillTx/>
                          <a:latin typeface="BIZ UDPゴシック"/>
                          <a:ea typeface="BIZ UDPゴシック"/>
                        </a:rPr>
                        <a:t>申請と手作業での突合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クラウド経費精算</a:t>
                      </a:r>
                      <a:r>
                        <a:rPr lang="en-US" sz="1100" b="0" u="none" strike="noStrike">
                          <a:solidFill>
                            <a:srgbClr val="1F2937"/>
                          </a:solidFill>
                          <a:effectLst/>
                          <a:uFillTx/>
                          <a:latin typeface="BIZ UDPゴシック"/>
                          <a:ea typeface="BIZ UDPゴシック"/>
                        </a:rPr>
                        <a:t>SaaS</a:t>
                      </a:r>
                      <a:r>
                        <a:rPr lang="ja-JP" sz="1100" b="0" u="none" strike="noStrike">
                          <a:solidFill>
                            <a:srgbClr val="1F2937"/>
                          </a:solidFill>
                          <a:effectLst/>
                          <a:uFillTx/>
                          <a:latin typeface="BIZ UDPゴシック"/>
                          <a:ea typeface="BIZ UDPゴシック"/>
                        </a:rPr>
                        <a:t>で申請・承認・データ取込を自動化する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経理の手作業が月</a:t>
                      </a:r>
                      <a:r>
                        <a:rPr lang="en-US" sz="1100" b="0" u="none" strike="noStrike">
                          <a:solidFill>
                            <a:srgbClr val="1F2937"/>
                          </a:solidFill>
                          <a:effectLst/>
                          <a:uFillTx/>
                          <a:latin typeface="BIZ UDPゴシック"/>
                          <a:ea typeface="BIZ UDPゴシック"/>
                        </a:rPr>
                        <a:t>120</a:t>
                      </a:r>
                      <a:r>
                        <a:rPr lang="ja-JP" sz="1100" b="0" u="none" strike="noStrike">
                          <a:solidFill>
                            <a:srgbClr val="1F2937"/>
                          </a:solidFill>
                          <a:effectLst/>
                          <a:uFillTx/>
                          <a:latin typeface="BIZ UDPゴシック"/>
                          <a:ea typeface="BIZ UDPゴシック"/>
                        </a:rPr>
                        <a:t>時間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会計システムへの手入力転記</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仕訳連携で自動転記し、経理の手入力を廃止する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申請の差戻し率</a:t>
                      </a:r>
                      <a:r>
                        <a:rPr lang="en-US" sz="1100" b="0" u="none" strike="noStrike">
                          <a:solidFill>
                            <a:srgbClr val="1F2937"/>
                          </a:solidFill>
                          <a:effectLst/>
                          <a:uFillTx/>
                          <a:latin typeface="BIZ UDPゴシック"/>
                          <a:ea typeface="BIZ UDPゴシック"/>
                        </a:rPr>
                        <a:t>15%</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規程・勘定科目の判断が属人的</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入力時の自動チェックと規程提示で差戻しを削減する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領収書原本の回付・保管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紙運用で原本保存が必須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電子帳簿保存法に準拠した電子保存でペーパーレス化する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月次締めの遅延</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承認滞留と後追い精算</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承認リマインドと申請状況の可視化で滞留をなくす</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インボイス制度対応の負荷</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登録番号確認と経過措置区分が手作業</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登録番号の確認と経過措置の区分をシステムで自動判定する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7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38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381"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2"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3"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4"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38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38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1.3 </a:t>
            </a:r>
            <a:r>
              <a:rPr lang="ja-JP" sz="2400" b="1" u="none" strike="noStrike">
                <a:solidFill>
                  <a:srgbClr val="16213E"/>
                </a:solidFill>
                <a:effectLst/>
                <a:uFillTx/>
                <a:latin typeface="BIZ UDPゴシック"/>
                <a:ea typeface="BIZ UDPゴシック"/>
              </a:rPr>
              <a:t>背景と目的</a:t>
            </a:r>
            <a:endParaRPr lang="en-US" sz="2400" b="0" u="none" strike="noStrike">
              <a:solidFill>
                <a:srgbClr val="000000"/>
              </a:solidFill>
              <a:effectLst/>
              <a:uFillTx/>
              <a:latin typeface="Arial"/>
            </a:endParaRPr>
          </a:p>
        </p:txBody>
      </p:sp>
      <p:sp>
        <p:nvSpPr>
          <p:cNvPr id="39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391" name="hdr-hair"/>
          <p:cNvCxnSpPr/>
          <p:nvPr/>
        </p:nvCxnSpPr>
        <p:spPr>
          <a:xfrm>
            <a:off x="502920" y="969120"/>
            <a:ext cx="11186280" cy="720"/>
          </a:xfrm>
          <a:prstGeom prst="straightConnector1">
            <a:avLst/>
          </a:prstGeom>
          <a:ln w="9525">
            <a:solidFill>
              <a:srgbClr val="D5DBE5"/>
            </a:solidFill>
            <a:round/>
          </a:ln>
        </p:spPr>
      </p:cxnSp>
      <p:cxnSp>
        <p:nvCxnSpPr>
          <p:cNvPr id="392" name="ftr-hair"/>
          <p:cNvCxnSpPr/>
          <p:nvPr/>
        </p:nvCxnSpPr>
        <p:spPr>
          <a:xfrm>
            <a:off x="502920" y="6382440"/>
            <a:ext cx="11186280" cy="720"/>
          </a:xfrm>
          <a:prstGeom prst="straightConnector1">
            <a:avLst/>
          </a:prstGeom>
          <a:ln w="9525">
            <a:solidFill>
              <a:srgbClr val="D5DBE5"/>
            </a:solidFill>
            <a:round/>
          </a:ln>
        </p:spPr>
      </p:cxnSp>
      <p:sp>
        <p:nvSpPr>
          <p:cNvPr id="39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8 / 85</a:t>
            </a:r>
            <a:endParaRPr lang="en-US" sz="1100" b="0" u="none" strike="noStrike">
              <a:solidFill>
                <a:srgbClr val="000000"/>
              </a:solidFill>
              <a:effectLst/>
              <a:uFillTx/>
              <a:latin typeface="Arial"/>
            </a:endParaRPr>
          </a:p>
        </p:txBody>
      </p:sp>
      <p:sp>
        <p:nvSpPr>
          <p:cNvPr id="39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39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39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39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経費精算業務を改革し、リードタイム半減と月</a:t>
            </a:r>
            <a:r>
              <a:rPr lang="en-US" sz="1500" b="1" u="none" strike="noStrike">
                <a:solidFill>
                  <a:srgbClr val="16213E"/>
                </a:solidFill>
                <a:effectLst/>
                <a:uFillTx/>
                <a:latin typeface="BIZ UDPゴシック"/>
                <a:ea typeface="BIZ UDPゴシック"/>
              </a:rPr>
              <a:t>80</a:t>
            </a:r>
            <a:r>
              <a:rPr lang="ja-JP" sz="1500" b="1" u="none" strike="noStrike">
                <a:solidFill>
                  <a:srgbClr val="16213E"/>
                </a:solidFill>
                <a:effectLst/>
                <a:uFillTx/>
                <a:latin typeface="BIZ UDPゴシック"/>
                <a:ea typeface="BIZ UDPゴシック"/>
              </a:rPr>
              <a:t>時間の工数削減を実現する</a:t>
            </a:r>
            <a:endParaRPr lang="en-US" sz="1500" b="0" u="none" strike="noStrike">
              <a:solidFill>
                <a:srgbClr val="000000"/>
              </a:solidFill>
              <a:effectLst/>
              <a:uFillTx/>
              <a:latin typeface="Arial"/>
            </a:endParaRPr>
          </a:p>
        </p:txBody>
      </p:sp>
      <p:sp>
        <p:nvSpPr>
          <p:cNvPr id="400" name="blk-card"/>
          <p:cNvSpPr/>
          <p:nvPr/>
        </p:nvSpPr>
        <p:spPr>
          <a:xfrm>
            <a:off x="502920" y="162756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1" name="blk-card-band"/>
          <p:cNvSpPr/>
          <p:nvPr/>
        </p:nvSpPr>
        <p:spPr>
          <a:xfrm>
            <a:off x="502920" y="1627560"/>
            <a:ext cx="5509800" cy="817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02" name="blk-card-title"/>
          <p:cNvSpPr/>
          <p:nvPr/>
        </p:nvSpPr>
        <p:spPr>
          <a:xfrm>
            <a:off x="631080" y="177408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背景</a:t>
            </a:r>
            <a:endParaRPr lang="en-US" sz="1250" b="0" u="none" strike="noStrike">
              <a:solidFill>
                <a:srgbClr val="000000"/>
              </a:solidFill>
              <a:effectLst/>
              <a:uFillTx/>
              <a:latin typeface="Arial"/>
            </a:endParaRPr>
          </a:p>
        </p:txBody>
      </p:sp>
      <p:sp>
        <p:nvSpPr>
          <p:cNvPr id="403" name="blk-card-text"/>
          <p:cNvSpPr/>
          <p:nvPr/>
        </p:nvSpPr>
        <p:spPr>
          <a:xfrm>
            <a:off x="631080" y="208476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経費精算が紙と手作業中心で、申請から支払まで</a:t>
            </a: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営業日、経理の手作業が月</a:t>
            </a:r>
            <a:r>
              <a:rPr lang="en-US" sz="1100" b="0" u="none" strike="noStrike">
                <a:solidFill>
                  <a:srgbClr val="1F2937"/>
                </a:solidFill>
                <a:effectLst/>
                <a:uFillTx/>
                <a:latin typeface="BIZ UDPゴシック"/>
                <a:ea typeface="BIZ UDPゴシック"/>
              </a:rPr>
              <a:t>120</a:t>
            </a:r>
            <a:r>
              <a:rPr lang="ja-JP" sz="1100" b="0" u="none" strike="noStrike">
                <a:solidFill>
                  <a:srgbClr val="1F2937"/>
                </a:solidFill>
                <a:effectLst/>
                <a:uFillTx/>
                <a:latin typeface="BIZ UDPゴシック"/>
                <a:ea typeface="BIZ UDPゴシック"/>
              </a:rPr>
              <a:t>時間に達している</a:t>
            </a:r>
            <a:endParaRPr lang="en-US" sz="1100" b="0" u="none" strike="noStrike">
              <a:solidFill>
                <a:srgbClr val="000000"/>
              </a:solidFill>
              <a:effectLst/>
              <a:uFillTx/>
              <a:latin typeface="Arial"/>
            </a:endParaRPr>
          </a:p>
        </p:txBody>
      </p:sp>
      <p:sp>
        <p:nvSpPr>
          <p:cNvPr id="404" name="blk-card"/>
          <p:cNvSpPr/>
          <p:nvPr/>
        </p:nvSpPr>
        <p:spPr>
          <a:xfrm>
            <a:off x="6178320" y="162756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5" name="blk-card-band"/>
          <p:cNvSpPr/>
          <p:nvPr/>
        </p:nvSpPr>
        <p:spPr>
          <a:xfrm>
            <a:off x="6178320" y="1627560"/>
            <a:ext cx="5509800" cy="817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06" name="blk-card-title"/>
          <p:cNvSpPr/>
          <p:nvPr/>
        </p:nvSpPr>
        <p:spPr>
          <a:xfrm>
            <a:off x="6306120" y="177408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課題</a:t>
            </a:r>
            <a:endParaRPr lang="en-US" sz="1250" b="0" u="none" strike="noStrike">
              <a:solidFill>
                <a:srgbClr val="000000"/>
              </a:solidFill>
              <a:effectLst/>
              <a:uFillTx/>
              <a:latin typeface="Arial"/>
            </a:endParaRPr>
          </a:p>
        </p:txBody>
      </p:sp>
      <p:sp>
        <p:nvSpPr>
          <p:cNvPr id="407" name="blk-card-text"/>
          <p:cNvSpPr/>
          <p:nvPr/>
        </p:nvSpPr>
        <p:spPr>
          <a:xfrm>
            <a:off x="6306120" y="208476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属人化と転記ミスが多く、締め処理の遅延が経営情報の迅速な把握を妨げている</a:t>
            </a:r>
            <a:endParaRPr lang="en-US" sz="1100" b="0" u="none" strike="noStrike">
              <a:solidFill>
                <a:srgbClr val="000000"/>
              </a:solidFill>
              <a:effectLst/>
              <a:uFillTx/>
              <a:latin typeface="Arial"/>
            </a:endParaRPr>
          </a:p>
        </p:txBody>
      </p:sp>
      <p:sp>
        <p:nvSpPr>
          <p:cNvPr id="408" name="blk-card"/>
          <p:cNvSpPr/>
          <p:nvPr/>
        </p:nvSpPr>
        <p:spPr>
          <a:xfrm>
            <a:off x="502920" y="400500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9" name="blk-card-band"/>
          <p:cNvSpPr/>
          <p:nvPr/>
        </p:nvSpPr>
        <p:spPr>
          <a:xfrm>
            <a:off x="502920" y="4005000"/>
            <a:ext cx="5509800" cy="817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10" name="blk-card-title"/>
          <p:cNvSpPr/>
          <p:nvPr/>
        </p:nvSpPr>
        <p:spPr>
          <a:xfrm>
            <a:off x="631080" y="415152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目的</a:t>
            </a:r>
            <a:endParaRPr lang="en-US" sz="1250" b="0" u="none" strike="noStrike">
              <a:solidFill>
                <a:srgbClr val="000000"/>
              </a:solidFill>
              <a:effectLst/>
              <a:uFillTx/>
              <a:latin typeface="Arial"/>
            </a:endParaRPr>
          </a:p>
        </p:txBody>
      </p:sp>
      <p:sp>
        <p:nvSpPr>
          <p:cNvPr id="411" name="blk-card-text"/>
          <p:cNvSpPr/>
          <p:nvPr/>
        </p:nvSpPr>
        <p:spPr>
          <a:xfrm>
            <a:off x="631080" y="446220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標準機能を活用したクラウド経費精算サービスの導入と業務改革で、リードタイムと工数を削減する</a:t>
            </a:r>
            <a:endParaRPr lang="en-US" sz="1100" b="0" u="none" strike="noStrike">
              <a:solidFill>
                <a:srgbClr val="000000"/>
              </a:solidFill>
              <a:effectLst/>
              <a:uFillTx/>
              <a:latin typeface="Arial"/>
            </a:endParaRPr>
          </a:p>
        </p:txBody>
      </p:sp>
      <p:sp>
        <p:nvSpPr>
          <p:cNvPr id="412" name="blk-card"/>
          <p:cNvSpPr/>
          <p:nvPr/>
        </p:nvSpPr>
        <p:spPr>
          <a:xfrm>
            <a:off x="6178320" y="400500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blk-card-band"/>
          <p:cNvSpPr/>
          <p:nvPr/>
        </p:nvSpPr>
        <p:spPr>
          <a:xfrm>
            <a:off x="6178320" y="4005000"/>
            <a:ext cx="5509800" cy="817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14" name="blk-card-title"/>
          <p:cNvSpPr/>
          <p:nvPr/>
        </p:nvSpPr>
        <p:spPr>
          <a:xfrm>
            <a:off x="6306120" y="415152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期待効果</a:t>
            </a:r>
            <a:endParaRPr lang="en-US" sz="1250" b="0" u="none" strike="noStrike">
              <a:solidFill>
                <a:srgbClr val="000000"/>
              </a:solidFill>
              <a:effectLst/>
              <a:uFillTx/>
              <a:latin typeface="Arial"/>
            </a:endParaRPr>
          </a:p>
        </p:txBody>
      </p:sp>
      <p:sp>
        <p:nvSpPr>
          <p:cNvPr id="415" name="blk-card-text"/>
          <p:cNvSpPr/>
          <p:nvPr/>
        </p:nvSpPr>
        <p:spPr>
          <a:xfrm>
            <a:off x="6306120" y="446220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リードタイム</a:t>
            </a:r>
            <a:r>
              <a:rPr lang="en-US" sz="1100" b="0" u="none" strike="noStrike">
                <a:solidFill>
                  <a:srgbClr val="1F2937"/>
                </a:solidFill>
                <a:effectLst/>
                <a:uFillTx/>
                <a:latin typeface="BIZ UDPゴシック"/>
                <a:ea typeface="BIZ UDPゴシック"/>
              </a:rPr>
              <a:t>2</a:t>
            </a:r>
            <a:r>
              <a:rPr lang="ja-JP" sz="1100" b="0" u="none" strike="noStrike">
                <a:solidFill>
                  <a:srgbClr val="1F2937"/>
                </a:solidFill>
                <a:effectLst/>
                <a:uFillTx/>
                <a:latin typeface="BIZ UDPゴシック"/>
                <a:ea typeface="BIZ UDPゴシック"/>
              </a:rPr>
              <a:t>営業日、経理工数</a:t>
            </a:r>
            <a:r>
              <a:rPr lang="en-US" sz="1100" b="0" u="none" strike="noStrike">
                <a:solidFill>
                  <a:srgbClr val="1F2937"/>
                </a:solidFill>
                <a:effectLst/>
                <a:uFillTx/>
                <a:latin typeface="BIZ UDPゴシック"/>
                <a:ea typeface="BIZ UDPゴシック"/>
              </a:rPr>
              <a:t>40</a:t>
            </a:r>
            <a:r>
              <a:rPr lang="ja-JP" sz="1100" b="0" u="none" strike="noStrike">
                <a:solidFill>
                  <a:srgbClr val="1F2937"/>
                </a:solidFill>
                <a:effectLst/>
                <a:uFillTx/>
                <a:latin typeface="BIZ UDPゴシック"/>
                <a:ea typeface="BIZ UDPゴシック"/>
              </a:rPr>
              <a:t>時間</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月、対象者利用率</a:t>
            </a:r>
            <a:r>
              <a:rPr lang="en-US" sz="1100" b="0" u="none" strike="noStrike">
                <a:solidFill>
                  <a:srgbClr val="1F2937"/>
                </a:solidFill>
                <a:effectLst/>
                <a:uFillTx/>
                <a:latin typeface="BIZ UDPゴシック"/>
                <a:ea typeface="BIZ UDPゴシック"/>
              </a:rPr>
              <a:t>95%</a:t>
            </a:r>
            <a:r>
              <a:rPr lang="ja-JP" sz="1100" b="0" u="none" strike="noStrike">
                <a:solidFill>
                  <a:srgbClr val="1F2937"/>
                </a:solidFill>
                <a:effectLst/>
                <a:uFillTx/>
                <a:latin typeface="BIZ UDPゴシック"/>
                <a:ea typeface="BIZ UDPゴシック"/>
              </a:rPr>
              <a:t>以上を達成する</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1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41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420"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1"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2"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3"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4"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5"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2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42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1.4 </a:t>
            </a:r>
            <a:r>
              <a:rPr lang="ja-JP" sz="2400" b="1" u="none" strike="noStrike">
                <a:solidFill>
                  <a:srgbClr val="16213E"/>
                </a:solidFill>
                <a:effectLst/>
                <a:uFillTx/>
                <a:latin typeface="BIZ UDPゴシック"/>
                <a:ea typeface="BIZ UDPゴシック"/>
              </a:rPr>
              <a:t>本提案の特長</a:t>
            </a:r>
            <a:endParaRPr lang="en-US" sz="2400" b="0" u="none" strike="noStrike">
              <a:solidFill>
                <a:srgbClr val="000000"/>
              </a:solidFill>
              <a:effectLst/>
              <a:uFillTx/>
              <a:latin typeface="Arial"/>
            </a:endParaRPr>
          </a:p>
        </p:txBody>
      </p:sp>
      <p:sp>
        <p:nvSpPr>
          <p:cNvPr id="42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430" name="hdr-hair"/>
          <p:cNvCxnSpPr/>
          <p:nvPr/>
        </p:nvCxnSpPr>
        <p:spPr>
          <a:xfrm>
            <a:off x="502920" y="969120"/>
            <a:ext cx="11186280" cy="720"/>
          </a:xfrm>
          <a:prstGeom prst="straightConnector1">
            <a:avLst/>
          </a:prstGeom>
          <a:ln w="9525">
            <a:solidFill>
              <a:srgbClr val="D5DBE5"/>
            </a:solidFill>
            <a:round/>
          </a:ln>
        </p:spPr>
      </p:cxnSp>
      <p:cxnSp>
        <p:nvCxnSpPr>
          <p:cNvPr id="431" name="ftr-hair"/>
          <p:cNvCxnSpPr/>
          <p:nvPr/>
        </p:nvCxnSpPr>
        <p:spPr>
          <a:xfrm>
            <a:off x="502920" y="6382440"/>
            <a:ext cx="11186280" cy="720"/>
          </a:xfrm>
          <a:prstGeom prst="straightConnector1">
            <a:avLst/>
          </a:prstGeom>
          <a:ln w="9525">
            <a:solidFill>
              <a:srgbClr val="D5DBE5"/>
            </a:solidFill>
            <a:round/>
          </a:ln>
        </p:spPr>
      </p:cxnSp>
      <p:sp>
        <p:nvSpPr>
          <p:cNvPr id="43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9 / 85</a:t>
            </a:r>
            <a:endParaRPr lang="en-US" sz="1100" b="0" u="none" strike="noStrike">
              <a:solidFill>
                <a:srgbClr val="000000"/>
              </a:solidFill>
              <a:effectLst/>
              <a:uFillTx/>
              <a:latin typeface="Arial"/>
            </a:endParaRPr>
          </a:p>
        </p:txBody>
      </p:sp>
      <p:sp>
        <p:nvSpPr>
          <p:cNvPr id="43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43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43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43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標準機能活用・法令準拠・段階展開・伴走定着化の</a:t>
            </a:r>
            <a:r>
              <a:rPr lang="en-US" sz="1500" b="1" u="none" strike="noStrike">
                <a:solidFill>
                  <a:srgbClr val="16213E"/>
                </a:solidFill>
                <a:effectLst/>
                <a:uFillTx/>
                <a:latin typeface="BIZ UDPゴシック"/>
                <a:ea typeface="BIZ UDPゴシック"/>
              </a:rPr>
              <a:t>4</a:t>
            </a:r>
            <a:r>
              <a:rPr lang="ja-JP" sz="1500" b="1" u="none" strike="noStrike">
                <a:solidFill>
                  <a:srgbClr val="16213E"/>
                </a:solidFill>
                <a:effectLst/>
                <a:uFillTx/>
                <a:latin typeface="BIZ UDPゴシック"/>
                <a:ea typeface="BIZ UDPゴシック"/>
              </a:rPr>
              <a:t>点で提案の実現性を示す</a:t>
            </a:r>
            <a:endParaRPr lang="en-US" sz="1500" b="0" u="none" strike="noStrike">
              <a:solidFill>
                <a:srgbClr val="000000"/>
              </a:solidFill>
              <a:effectLst/>
              <a:uFillTx/>
              <a:latin typeface="Arial"/>
            </a:endParaRPr>
          </a:p>
        </p:txBody>
      </p:sp>
      <p:sp>
        <p:nvSpPr>
          <p:cNvPr id="439" name="blk-card"/>
          <p:cNvSpPr/>
          <p:nvPr/>
        </p:nvSpPr>
        <p:spPr>
          <a:xfrm>
            <a:off x="502920" y="162756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0" name="blk-card-band"/>
          <p:cNvSpPr/>
          <p:nvPr/>
        </p:nvSpPr>
        <p:spPr>
          <a:xfrm>
            <a:off x="502920" y="1627560"/>
            <a:ext cx="5509800" cy="817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41" name="blk-card-title"/>
          <p:cNvSpPr/>
          <p:nvPr/>
        </p:nvSpPr>
        <p:spPr>
          <a:xfrm>
            <a:off x="631080" y="177408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1250" b="1" u="none" strike="noStrike">
                <a:solidFill>
                  <a:srgbClr val="16213E"/>
                </a:solidFill>
                <a:effectLst/>
                <a:uFillTx/>
                <a:latin typeface="BIZ UDPゴシック"/>
                <a:ea typeface="BIZ UDPゴシック"/>
              </a:rPr>
              <a:t>Fit to Standard</a:t>
            </a:r>
            <a:endParaRPr lang="en-US" sz="1250" b="0" u="none" strike="noStrike">
              <a:solidFill>
                <a:srgbClr val="000000"/>
              </a:solidFill>
              <a:effectLst/>
              <a:uFillTx/>
              <a:latin typeface="Arial"/>
            </a:endParaRPr>
          </a:p>
        </p:txBody>
      </p:sp>
      <p:sp>
        <p:nvSpPr>
          <p:cNvPr id="442" name="blk-card-text"/>
          <p:cNvSpPr/>
          <p:nvPr/>
        </p:nvSpPr>
        <p:spPr>
          <a:xfrm>
            <a:off x="631080" y="208476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標準機能を優先し、フィット</a:t>
            </a:r>
            <a:r>
              <a:rPr lang="en-US" sz="1100" b="0" u="none" strike="noStrike">
                <a:solidFill>
                  <a:srgbClr val="1F2937"/>
                </a:solidFill>
                <a:effectLst/>
                <a:uFillTx/>
                <a:latin typeface="BIZ UDPゴシック"/>
                <a:ea typeface="BIZ UDPゴシック"/>
              </a:rPr>
              <a:t>&amp;</a:t>
            </a:r>
            <a:r>
              <a:rPr lang="ja-JP" sz="1100" b="0" u="none" strike="noStrike">
                <a:solidFill>
                  <a:srgbClr val="1F2937"/>
                </a:solidFill>
                <a:effectLst/>
                <a:uFillTx/>
                <a:latin typeface="BIZ UDPゴシック"/>
                <a:ea typeface="BIZ UDPゴシック"/>
              </a:rPr>
              <a:t>ギャップ分析で追加開発を最小化して費用と期間を抑制する</a:t>
            </a:r>
            <a:endParaRPr lang="en-US" sz="1100" b="0" u="none" strike="noStrike">
              <a:solidFill>
                <a:srgbClr val="000000"/>
              </a:solidFill>
              <a:effectLst/>
              <a:uFillTx/>
              <a:latin typeface="Arial"/>
            </a:endParaRPr>
          </a:p>
        </p:txBody>
      </p:sp>
      <p:sp>
        <p:nvSpPr>
          <p:cNvPr id="443" name="blk-card"/>
          <p:cNvSpPr/>
          <p:nvPr/>
        </p:nvSpPr>
        <p:spPr>
          <a:xfrm>
            <a:off x="6178320" y="162756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4" name="blk-card-band"/>
          <p:cNvSpPr/>
          <p:nvPr/>
        </p:nvSpPr>
        <p:spPr>
          <a:xfrm>
            <a:off x="6178320" y="1627560"/>
            <a:ext cx="5509800" cy="817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45" name="blk-card-title"/>
          <p:cNvSpPr/>
          <p:nvPr/>
        </p:nvSpPr>
        <p:spPr>
          <a:xfrm>
            <a:off x="6306120" y="177408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法令準拠を設計段階で組込み</a:t>
            </a:r>
            <a:endParaRPr lang="en-US" sz="1250" b="0" u="none" strike="noStrike">
              <a:solidFill>
                <a:srgbClr val="000000"/>
              </a:solidFill>
              <a:effectLst/>
              <a:uFillTx/>
              <a:latin typeface="Arial"/>
            </a:endParaRPr>
          </a:p>
        </p:txBody>
      </p:sp>
      <p:sp>
        <p:nvSpPr>
          <p:cNvPr id="446" name="blk-card-text"/>
          <p:cNvSpPr/>
          <p:nvPr/>
        </p:nvSpPr>
        <p:spPr>
          <a:xfrm>
            <a:off x="6306120" y="208476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電子帳簿保存法・インボイス制度への対応を要件定義で確定し、後追いの手戻りを防ぐ</a:t>
            </a:r>
            <a:endParaRPr lang="en-US" sz="1100" b="0" u="none" strike="noStrike">
              <a:solidFill>
                <a:srgbClr val="000000"/>
              </a:solidFill>
              <a:effectLst/>
              <a:uFillTx/>
              <a:latin typeface="Arial"/>
            </a:endParaRPr>
          </a:p>
        </p:txBody>
      </p:sp>
      <p:sp>
        <p:nvSpPr>
          <p:cNvPr id="447" name="blk-card"/>
          <p:cNvSpPr/>
          <p:nvPr/>
        </p:nvSpPr>
        <p:spPr>
          <a:xfrm>
            <a:off x="502920" y="400500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8" name="blk-card-band"/>
          <p:cNvSpPr/>
          <p:nvPr/>
        </p:nvSpPr>
        <p:spPr>
          <a:xfrm>
            <a:off x="502920" y="4005000"/>
            <a:ext cx="5509800" cy="817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49" name="blk-card-title"/>
          <p:cNvSpPr/>
          <p:nvPr/>
        </p:nvSpPr>
        <p:spPr>
          <a:xfrm>
            <a:off x="631080" y="415152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パイロットから全社へ段階展開</a:t>
            </a:r>
            <a:endParaRPr lang="en-US" sz="1250" b="0" u="none" strike="noStrike">
              <a:solidFill>
                <a:srgbClr val="000000"/>
              </a:solidFill>
              <a:effectLst/>
              <a:uFillTx/>
              <a:latin typeface="Arial"/>
            </a:endParaRPr>
          </a:p>
        </p:txBody>
      </p:sp>
      <p:sp>
        <p:nvSpPr>
          <p:cNvPr id="450" name="blk-card-text"/>
          <p:cNvSpPr/>
          <p:nvPr/>
        </p:nvSpPr>
        <p:spPr>
          <a:xfrm>
            <a:off x="631080" y="446220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経理部と</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事業部で先行稼働し、課題を解消してから全社展開して定着のリスクを下げる</a:t>
            </a:r>
            <a:endParaRPr lang="en-US" sz="1100" b="0" u="none" strike="noStrike">
              <a:solidFill>
                <a:srgbClr val="000000"/>
              </a:solidFill>
              <a:effectLst/>
              <a:uFillTx/>
              <a:latin typeface="Arial"/>
            </a:endParaRPr>
          </a:p>
        </p:txBody>
      </p:sp>
      <p:sp>
        <p:nvSpPr>
          <p:cNvPr id="451" name="blk-card"/>
          <p:cNvSpPr/>
          <p:nvPr/>
        </p:nvSpPr>
        <p:spPr>
          <a:xfrm>
            <a:off x="6178320" y="4005000"/>
            <a:ext cx="5509800" cy="2248560"/>
          </a:xfrm>
          <a:prstGeom prst="roundRect">
            <a:avLst>
              <a:gd name="adj" fmla="val 7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2" name="blk-card-band"/>
          <p:cNvSpPr/>
          <p:nvPr/>
        </p:nvSpPr>
        <p:spPr>
          <a:xfrm>
            <a:off x="6178320" y="4005000"/>
            <a:ext cx="5509800" cy="817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453" name="blk-card-title"/>
          <p:cNvSpPr/>
          <p:nvPr/>
        </p:nvSpPr>
        <p:spPr>
          <a:xfrm>
            <a:off x="6306120" y="4151520"/>
            <a:ext cx="5253840" cy="27360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ja-JP" sz="1250" b="1" u="none" strike="noStrike">
                <a:solidFill>
                  <a:srgbClr val="16213E"/>
                </a:solidFill>
                <a:effectLst/>
                <a:uFillTx/>
                <a:latin typeface="BIZ UDPゴシック"/>
                <a:ea typeface="BIZ UDPゴシック"/>
              </a:rPr>
              <a:t>稼働後</a:t>
            </a:r>
            <a:r>
              <a:rPr lang="en-US" sz="1250" b="1" u="none" strike="noStrike">
                <a:solidFill>
                  <a:srgbClr val="16213E"/>
                </a:solidFill>
                <a:effectLst/>
                <a:uFillTx/>
                <a:latin typeface="BIZ UDPゴシック"/>
                <a:ea typeface="BIZ UDPゴシック"/>
              </a:rPr>
              <a:t>2</a:t>
            </a:r>
            <a:r>
              <a:rPr lang="ja-JP" sz="1250" b="1" u="none" strike="noStrike">
                <a:solidFill>
                  <a:srgbClr val="16213E"/>
                </a:solidFill>
                <a:effectLst/>
                <a:uFillTx/>
                <a:latin typeface="BIZ UDPゴシック"/>
                <a:ea typeface="BIZ UDPゴシック"/>
              </a:rPr>
              <a:t>か月の伴走定着化</a:t>
            </a:r>
            <a:endParaRPr lang="en-US" sz="1250" b="0" u="none" strike="noStrike">
              <a:solidFill>
                <a:srgbClr val="000000"/>
              </a:solidFill>
              <a:effectLst/>
              <a:uFillTx/>
              <a:latin typeface="Arial"/>
            </a:endParaRPr>
          </a:p>
        </p:txBody>
      </p:sp>
      <p:sp>
        <p:nvSpPr>
          <p:cNvPr id="454" name="blk-card-text"/>
          <p:cNvSpPr/>
          <p:nvPr/>
        </p:nvSpPr>
        <p:spPr>
          <a:xfrm>
            <a:off x="6306120" y="4462200"/>
            <a:ext cx="5253840" cy="1681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ja-JP" sz="1100" b="0" u="none" strike="noStrike">
                <a:solidFill>
                  <a:srgbClr val="1F2937"/>
                </a:solidFill>
                <a:effectLst/>
                <a:uFillTx/>
                <a:latin typeface="BIZ UDPゴシック"/>
                <a:ea typeface="BIZ UDPゴシック"/>
              </a:rPr>
              <a:t>月次締め</a:t>
            </a:r>
            <a:r>
              <a:rPr lang="en-US" sz="1100" b="0" u="none" strike="noStrike">
                <a:solidFill>
                  <a:srgbClr val="1F2937"/>
                </a:solidFill>
                <a:effectLst/>
                <a:uFillTx/>
                <a:latin typeface="BIZ UDPゴシック"/>
                <a:ea typeface="BIZ UDPゴシック"/>
              </a:rPr>
              <a:t>2</a:t>
            </a:r>
            <a:r>
              <a:rPr lang="ja-JP" sz="1100" b="0" u="none" strike="noStrike">
                <a:solidFill>
                  <a:srgbClr val="1F2937"/>
                </a:solidFill>
                <a:effectLst/>
                <a:uFillTx/>
                <a:latin typeface="BIZ UDPゴシック"/>
                <a:ea typeface="BIZ UDPゴシック"/>
              </a:rPr>
              <a:t>回に同席し、運用課題を解消しながら利用率と効果の定着を支援する</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5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45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459"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0"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1"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2"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6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46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1.5 </a:t>
            </a:r>
            <a:r>
              <a:rPr lang="ja-JP" sz="2400" b="1" u="none" strike="noStrike">
                <a:solidFill>
                  <a:srgbClr val="16213E"/>
                </a:solidFill>
                <a:effectLst/>
                <a:uFillTx/>
                <a:latin typeface="BIZ UDPゴシック"/>
                <a:ea typeface="BIZ UDPゴシック"/>
              </a:rPr>
              <a:t>実施方針</a:t>
            </a:r>
            <a:endParaRPr lang="en-US" sz="2400" b="0" u="none" strike="noStrike">
              <a:solidFill>
                <a:srgbClr val="000000"/>
              </a:solidFill>
              <a:effectLst/>
              <a:uFillTx/>
              <a:latin typeface="Arial"/>
            </a:endParaRPr>
          </a:p>
        </p:txBody>
      </p:sp>
      <p:sp>
        <p:nvSpPr>
          <p:cNvPr id="46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469" name="hdr-hair"/>
          <p:cNvCxnSpPr/>
          <p:nvPr/>
        </p:nvCxnSpPr>
        <p:spPr>
          <a:xfrm>
            <a:off x="502920" y="969120"/>
            <a:ext cx="11186280" cy="720"/>
          </a:xfrm>
          <a:prstGeom prst="straightConnector1">
            <a:avLst/>
          </a:prstGeom>
          <a:ln w="9525">
            <a:solidFill>
              <a:srgbClr val="D5DBE5"/>
            </a:solidFill>
            <a:round/>
          </a:ln>
        </p:spPr>
      </p:cxnSp>
      <p:cxnSp>
        <p:nvCxnSpPr>
          <p:cNvPr id="470" name="ftr-hair"/>
          <p:cNvCxnSpPr/>
          <p:nvPr/>
        </p:nvCxnSpPr>
        <p:spPr>
          <a:xfrm>
            <a:off x="502920" y="6382440"/>
            <a:ext cx="11186280" cy="720"/>
          </a:xfrm>
          <a:prstGeom prst="straightConnector1">
            <a:avLst/>
          </a:prstGeom>
          <a:ln w="9525">
            <a:solidFill>
              <a:srgbClr val="D5DBE5"/>
            </a:solidFill>
            <a:round/>
          </a:ln>
        </p:spPr>
      </p:cxnSp>
      <p:sp>
        <p:nvSpPr>
          <p:cNvPr id="47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10 / 85</a:t>
            </a:r>
            <a:endParaRPr lang="en-US" sz="1100" b="0" u="none" strike="noStrike">
              <a:solidFill>
                <a:srgbClr val="000000"/>
              </a:solidFill>
              <a:effectLst/>
              <a:uFillTx/>
              <a:latin typeface="Arial"/>
            </a:endParaRPr>
          </a:p>
        </p:txBody>
      </p:sp>
      <p:sp>
        <p:nvSpPr>
          <p:cNvPr id="47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47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47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47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標準機能を軸に段階移行し、現場参画で改革を定着させる</a:t>
            </a:r>
            <a:endParaRPr lang="en-US" sz="1500" b="0" u="none" strike="noStrike">
              <a:solidFill>
                <a:srgbClr val="000000"/>
              </a:solidFill>
              <a:effectLst/>
              <a:uFillTx/>
              <a:latin typeface="Arial"/>
            </a:endParaRPr>
          </a:p>
        </p:txBody>
      </p:sp>
      <p:sp>
        <p:nvSpPr>
          <p:cNvPr id="478" name="blk-bullets"/>
          <p:cNvSpPr/>
          <p:nvPr/>
        </p:nvSpPr>
        <p:spPr>
          <a:xfrm>
            <a:off x="502920" y="1627560"/>
            <a:ext cx="3927600" cy="46260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標準機能を優先し、</a:t>
            </a:r>
            <a:r>
              <a:rPr lang="en-US" sz="1400" b="0" u="none" strike="noStrike">
                <a:solidFill>
                  <a:srgbClr val="1F2937"/>
                </a:solidFill>
                <a:effectLst/>
                <a:uFillTx/>
                <a:latin typeface="BIZ UDPゴシック"/>
                <a:ea typeface="BIZ UDPゴシック"/>
              </a:rPr>
              <a:t>Fit to Standard</a:t>
            </a:r>
            <a:r>
              <a:rPr lang="ja-JP" sz="1400" b="0" u="none" strike="noStrike">
                <a:solidFill>
                  <a:srgbClr val="1F2937"/>
                </a:solidFill>
                <a:effectLst/>
                <a:uFillTx/>
                <a:latin typeface="BIZ UDPゴシック"/>
                <a:ea typeface="BIZ UDPゴシック"/>
              </a:rPr>
              <a:t>で個別開発を最小化する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経理部と利用部門が現状分析から受入まで継続参画し、合意形成する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フェーズを段階的に進め、各フェーズで完了基準を判定する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変更は変更管理手順に従い、スコープ・日程・費用への影響を都度評価する</a:t>
            </a:r>
            <a:endParaRPr lang="en-US" sz="1400" b="0" u="none" strike="noStrike">
              <a:solidFill>
                <a:srgbClr val="000000"/>
              </a:solidFill>
              <a:effectLst/>
              <a:uFillTx/>
              <a:latin typeface="Arial"/>
            </a:endParaRPr>
          </a:p>
        </p:txBody>
      </p:sp>
      <p:sp>
        <p:nvSpPr>
          <p:cNvPr id="479" name="drawio:p1"/>
          <p:cNvSpPr/>
          <p:nvPr/>
        </p:nvSpPr>
        <p:spPr>
          <a:xfrm>
            <a:off x="6266880" y="1627560"/>
            <a:ext cx="3859560" cy="696960"/>
          </a:xfrm>
          <a:prstGeom prst="roundRect">
            <a:avLst>
              <a:gd name="adj" fmla="val 16667"/>
            </a:avLst>
          </a:prstGeom>
          <a:solidFill>
            <a:srgbClr val="F4F6FA"/>
          </a:solidFill>
          <a:ln w="11254">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40" b="0" u="none" strike="noStrike">
                <a:solidFill>
                  <a:srgbClr val="1F2937"/>
                </a:solidFill>
                <a:effectLst/>
                <a:uFillTx/>
                <a:latin typeface="BIZ UDPゴシック"/>
                <a:ea typeface="BIZ UDPゴシック"/>
              </a:rPr>
              <a:t>標準機能を優先し、フィット</a:t>
            </a:r>
            <a:r>
              <a:rPr lang="en-US" sz="1240" b="0" u="none" strike="noStrike">
                <a:solidFill>
                  <a:srgbClr val="1F2937"/>
                </a:solidFill>
                <a:effectLst/>
                <a:uFillTx/>
                <a:latin typeface="BIZ UDPゴシック"/>
                <a:ea typeface="BIZ UDPゴシック"/>
              </a:rPr>
              <a:t>&amp;</a:t>
            </a:r>
            <a:r>
              <a:rPr lang="ja-JP" sz="1240" b="0" u="none" strike="noStrike">
                <a:solidFill>
                  <a:srgbClr val="1F2937"/>
                </a:solidFill>
                <a:effectLst/>
                <a:uFillTx/>
                <a:latin typeface="BIZ UDPゴシック"/>
                <a:ea typeface="BIZ UDPゴシック"/>
              </a:rPr>
              <a:t>ギャップ分析で</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個別開発を最小化する</a:t>
            </a:r>
            <a:endParaRPr lang="en-US" sz="1240" b="0" u="none" strike="noStrike">
              <a:solidFill>
                <a:srgbClr val="000000"/>
              </a:solidFill>
              <a:effectLst/>
              <a:uFillTx/>
              <a:latin typeface="Arial"/>
            </a:endParaRPr>
          </a:p>
        </p:txBody>
      </p:sp>
      <p:sp>
        <p:nvSpPr>
          <p:cNvPr id="480" name="drawio:p2"/>
          <p:cNvSpPr/>
          <p:nvPr/>
        </p:nvSpPr>
        <p:spPr>
          <a:xfrm>
            <a:off x="6266880" y="2854440"/>
            <a:ext cx="3859560" cy="696960"/>
          </a:xfrm>
          <a:prstGeom prst="roundRect">
            <a:avLst>
              <a:gd name="adj" fmla="val 16667"/>
            </a:avLst>
          </a:prstGeom>
          <a:solidFill>
            <a:srgbClr val="F4F6FA"/>
          </a:solidFill>
          <a:ln w="11254">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40" b="0" u="none" strike="noStrike">
                <a:solidFill>
                  <a:srgbClr val="1F2937"/>
                </a:solidFill>
                <a:effectLst/>
                <a:uFillTx/>
                <a:latin typeface="BIZ UDPゴシック"/>
                <a:ea typeface="BIZ UDPゴシック"/>
              </a:rPr>
              <a:t>経理部と利用部門が現状分析から受入まで</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継続参画し、合意形成する</a:t>
            </a:r>
            <a:endParaRPr lang="en-US" sz="1240" b="0" u="none" strike="noStrike">
              <a:solidFill>
                <a:srgbClr val="000000"/>
              </a:solidFill>
              <a:effectLst/>
              <a:uFillTx/>
              <a:latin typeface="Arial"/>
            </a:endParaRPr>
          </a:p>
        </p:txBody>
      </p:sp>
      <p:sp>
        <p:nvSpPr>
          <p:cNvPr id="481" name="drawio:p3"/>
          <p:cNvSpPr/>
          <p:nvPr/>
        </p:nvSpPr>
        <p:spPr>
          <a:xfrm>
            <a:off x="6266880" y="4092120"/>
            <a:ext cx="3859560" cy="696960"/>
          </a:xfrm>
          <a:prstGeom prst="roundRect">
            <a:avLst>
              <a:gd name="adj" fmla="val 16667"/>
            </a:avLst>
          </a:prstGeom>
          <a:solidFill>
            <a:srgbClr val="F4F6FA"/>
          </a:solidFill>
          <a:ln w="11254">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5</a:t>
            </a:r>
            <a:r>
              <a:rPr lang="ja-JP" sz="1240" b="0" u="none" strike="noStrike">
                <a:solidFill>
                  <a:srgbClr val="1F2937"/>
                </a:solidFill>
                <a:effectLst/>
                <a:uFillTx/>
                <a:latin typeface="BIZ UDPゴシック"/>
                <a:ea typeface="BIZ UDPゴシック"/>
              </a:rPr>
              <a:t>フェーズで段階的に進め、</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各フェーズで完了基準を判定する</a:t>
            </a:r>
            <a:endParaRPr lang="en-US" sz="1240" b="0" u="none" strike="noStrike">
              <a:solidFill>
                <a:srgbClr val="000000"/>
              </a:solidFill>
              <a:effectLst/>
              <a:uFillTx/>
              <a:latin typeface="Arial"/>
            </a:endParaRPr>
          </a:p>
        </p:txBody>
      </p:sp>
      <p:sp>
        <p:nvSpPr>
          <p:cNvPr id="482" name="drawio:p4"/>
          <p:cNvSpPr/>
          <p:nvPr/>
        </p:nvSpPr>
        <p:spPr>
          <a:xfrm>
            <a:off x="6266880" y="5319000"/>
            <a:ext cx="3859560" cy="696960"/>
          </a:xfrm>
          <a:prstGeom prst="roundRect">
            <a:avLst>
              <a:gd name="adj" fmla="val 16667"/>
            </a:avLst>
          </a:prstGeom>
          <a:solidFill>
            <a:srgbClr val="B4235A"/>
          </a:solidFill>
          <a:ln w="11254">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40" b="0" u="none" strike="noStrike">
                <a:solidFill>
                  <a:srgbClr val="FFFFFF"/>
                </a:solidFill>
                <a:effectLst/>
                <a:uFillTx/>
                <a:latin typeface="BIZ UDPゴシック"/>
                <a:ea typeface="BIZ UDPゴシック"/>
              </a:rPr>
              <a:t>変更は変更管理手順に従い、</a:t>
            </a:r>
            <a:endParaRPr lang="en-US" sz="1240" b="0" u="none" strike="noStrike">
              <a:solidFill>
                <a:srgbClr val="FFFFFF"/>
              </a:solidFill>
              <a:effectLst/>
              <a:uFillTx/>
              <a:latin typeface="Arial"/>
            </a:endParaRPr>
          </a:p>
          <a:p>
            <a:pPr algn="ctr" defTabSz="457200">
              <a:lnSpc>
                <a:spcPct val="110000"/>
              </a:lnSpc>
            </a:pPr>
            <a:r>
              <a:rPr lang="ja-JP" sz="1240" b="0" u="none" strike="noStrike">
                <a:solidFill>
                  <a:srgbClr val="FFFFFF"/>
                </a:solidFill>
                <a:effectLst/>
                <a:uFillTx/>
                <a:latin typeface="BIZ UDPゴシック"/>
                <a:ea typeface="BIZ UDPゴシック"/>
              </a:rPr>
              <a:t>スコープ・日程・費用への影響を都度評価する</a:t>
            </a:r>
            <a:endParaRPr lang="en-US" sz="1240" b="0" u="none" strike="noStrike">
              <a:solidFill>
                <a:srgbClr val="FFFFFF"/>
              </a:solidFill>
              <a:effectLst/>
              <a:uFillTx/>
              <a:latin typeface="Arial"/>
            </a:endParaRPr>
          </a:p>
        </p:txBody>
      </p:sp>
      <p:sp>
        <p:nvSpPr>
          <p:cNvPr id="483" name="drawio:e1"/>
          <p:cNvSpPr/>
          <p:nvPr/>
        </p:nvSpPr>
        <p:spPr>
          <a:xfrm>
            <a:off x="8197200" y="2314800"/>
            <a:ext cx="360" cy="549000"/>
          </a:xfrm>
          <a:custGeom>
            <a:avLst/>
            <a:gdLst>
              <a:gd name="textAreaLeft" fmla="*/ 0 w 360"/>
              <a:gd name="textAreaRight" fmla="*/ 1440 w 360"/>
              <a:gd name="textAreaTop" fmla="*/ 0 h 549000"/>
              <a:gd name="textAreaBottom" fmla="*/ 549720 h 549000"/>
            </a:gdLst>
            <a:ahLst/>
            <a:cxnLst/>
            <a:rect l="textAreaLeft" t="textAreaTop" r="textAreaRight" b="textAreaBottom"/>
            <a:pathLst>
              <a:path w="0" h="549878">
                <a:moveTo>
                  <a:pt x="0" y="0"/>
                </a:moveTo>
                <a:lnTo>
                  <a:pt x="0" y="274939"/>
                </a:lnTo>
                <a:lnTo>
                  <a:pt x="0" y="274939"/>
                </a:lnTo>
                <a:lnTo>
                  <a:pt x="0" y="549878"/>
                </a:lnTo>
              </a:path>
            </a:pathLst>
          </a:custGeom>
          <a:noFill/>
          <a:ln w="22508">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4" name="drawio:e2"/>
          <p:cNvSpPr/>
          <p:nvPr/>
        </p:nvSpPr>
        <p:spPr>
          <a:xfrm>
            <a:off x="8197200" y="3541680"/>
            <a:ext cx="360" cy="560520"/>
          </a:xfrm>
          <a:custGeom>
            <a:avLst/>
            <a:gdLst>
              <a:gd name="textAreaLeft" fmla="*/ 0 w 360"/>
              <a:gd name="textAreaRight" fmla="*/ 1440 w 360"/>
              <a:gd name="textAreaTop" fmla="*/ 0 h 560520"/>
              <a:gd name="textAreaBottom" fmla="*/ 561240 h 560520"/>
            </a:gdLst>
            <a:ahLst/>
            <a:cxnLst/>
            <a:rect l="textAreaLeft" t="textAreaTop" r="textAreaRight" b="textAreaBottom"/>
            <a:pathLst>
              <a:path w="0" h="561133">
                <a:moveTo>
                  <a:pt x="0" y="0"/>
                </a:moveTo>
                <a:lnTo>
                  <a:pt x="0" y="280567"/>
                </a:lnTo>
                <a:lnTo>
                  <a:pt x="0" y="280567"/>
                </a:lnTo>
                <a:lnTo>
                  <a:pt x="0" y="561133"/>
                </a:lnTo>
              </a:path>
            </a:pathLst>
          </a:custGeom>
          <a:noFill/>
          <a:ln w="22508">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5" name="drawio:e3"/>
          <p:cNvSpPr/>
          <p:nvPr/>
        </p:nvSpPr>
        <p:spPr>
          <a:xfrm>
            <a:off x="8197200" y="4779720"/>
            <a:ext cx="360" cy="549000"/>
          </a:xfrm>
          <a:custGeom>
            <a:avLst/>
            <a:gdLst>
              <a:gd name="textAreaLeft" fmla="*/ 0 w 360"/>
              <a:gd name="textAreaRight" fmla="*/ 1440 w 360"/>
              <a:gd name="textAreaTop" fmla="*/ 0 h 549000"/>
              <a:gd name="textAreaBottom" fmla="*/ 549720 h 549000"/>
            </a:gdLst>
            <a:ahLst/>
            <a:cxnLst/>
            <a:rect l="textAreaLeft" t="textAreaTop" r="textAreaRight" b="textAreaBottom"/>
            <a:pathLst>
              <a:path w="0" h="549878">
                <a:moveTo>
                  <a:pt x="0" y="0"/>
                </a:moveTo>
                <a:lnTo>
                  <a:pt x="0" y="274939"/>
                </a:lnTo>
                <a:lnTo>
                  <a:pt x="0" y="274939"/>
                </a:lnTo>
                <a:lnTo>
                  <a:pt x="0" y="549878"/>
                </a:lnTo>
              </a:path>
            </a:pathLst>
          </a:custGeom>
          <a:noFill/>
          <a:ln w="22508">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6" name="blk-diagram-cap"/>
          <p:cNvSpPr/>
          <p:nvPr/>
        </p:nvSpPr>
        <p:spPr>
          <a:xfrm>
            <a:off x="4705560" y="6053400"/>
            <a:ext cx="698256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実施方針の全体像</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8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49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491"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2"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3"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4"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49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49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1.6 </a:t>
            </a:r>
            <a:r>
              <a:rPr lang="ja-JP" sz="2400" b="1" u="none" strike="noStrike">
                <a:solidFill>
                  <a:srgbClr val="16213E"/>
                </a:solidFill>
                <a:effectLst/>
                <a:uFillTx/>
                <a:latin typeface="BIZ UDPゴシック"/>
                <a:ea typeface="BIZ UDPゴシック"/>
              </a:rPr>
              <a:t>全体像</a:t>
            </a:r>
            <a:endParaRPr lang="en-US" sz="2400" b="0" u="none" strike="noStrike">
              <a:solidFill>
                <a:srgbClr val="000000"/>
              </a:solidFill>
              <a:effectLst/>
              <a:uFillTx/>
              <a:latin typeface="Arial"/>
            </a:endParaRPr>
          </a:p>
        </p:txBody>
      </p:sp>
      <p:sp>
        <p:nvSpPr>
          <p:cNvPr id="50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501" name="hdr-hair"/>
          <p:cNvCxnSpPr/>
          <p:nvPr/>
        </p:nvCxnSpPr>
        <p:spPr>
          <a:xfrm>
            <a:off x="502920" y="969120"/>
            <a:ext cx="11186280" cy="720"/>
          </a:xfrm>
          <a:prstGeom prst="straightConnector1">
            <a:avLst/>
          </a:prstGeom>
          <a:ln w="9525">
            <a:solidFill>
              <a:srgbClr val="D5DBE5"/>
            </a:solidFill>
            <a:round/>
          </a:ln>
        </p:spPr>
      </p:cxnSp>
      <p:cxnSp>
        <p:nvCxnSpPr>
          <p:cNvPr id="502" name="ftr-hair"/>
          <p:cNvCxnSpPr/>
          <p:nvPr/>
        </p:nvCxnSpPr>
        <p:spPr>
          <a:xfrm>
            <a:off x="502920" y="6382440"/>
            <a:ext cx="11186280" cy="720"/>
          </a:xfrm>
          <a:prstGeom prst="straightConnector1">
            <a:avLst/>
          </a:prstGeom>
          <a:ln w="9525">
            <a:solidFill>
              <a:srgbClr val="D5DBE5"/>
            </a:solidFill>
            <a:round/>
          </a:ln>
        </p:spPr>
      </p:cxnSp>
      <p:sp>
        <p:nvSpPr>
          <p:cNvPr id="50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11 / 85</a:t>
            </a:r>
            <a:endParaRPr lang="en-US" sz="1100" b="0" u="none" strike="noStrike">
              <a:solidFill>
                <a:srgbClr val="000000"/>
              </a:solidFill>
              <a:effectLst/>
              <a:uFillTx/>
              <a:latin typeface="Arial"/>
            </a:endParaRPr>
          </a:p>
        </p:txBody>
      </p:sp>
      <p:sp>
        <p:nvSpPr>
          <p:cNvPr id="50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50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50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50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経費精算業務の</a:t>
            </a:r>
            <a:r>
              <a:rPr lang="en-US" sz="1500" b="1" u="none" strike="noStrike">
                <a:solidFill>
                  <a:srgbClr val="16213E"/>
                </a:solidFill>
                <a:effectLst/>
                <a:uFillTx/>
                <a:latin typeface="BIZ UDPゴシック"/>
                <a:ea typeface="BIZ UDPゴシック"/>
              </a:rPr>
              <a:t>As-Is</a:t>
            </a:r>
            <a:r>
              <a:rPr lang="ja-JP" sz="1500" b="1" u="none" strike="noStrike">
                <a:solidFill>
                  <a:srgbClr val="16213E"/>
                </a:solidFill>
                <a:effectLst/>
                <a:uFillTx/>
                <a:latin typeface="BIZ UDPゴシック"/>
                <a:ea typeface="BIZ UDPゴシック"/>
              </a:rPr>
              <a:t>と</a:t>
            </a:r>
            <a:r>
              <a:rPr lang="en-US" sz="1500" b="1" u="none" strike="noStrike">
                <a:solidFill>
                  <a:srgbClr val="16213E"/>
                </a:solidFill>
                <a:effectLst/>
                <a:uFillTx/>
                <a:latin typeface="BIZ UDPゴシック"/>
                <a:ea typeface="BIZ UDPゴシック"/>
              </a:rPr>
              <a:t>To-Be</a:t>
            </a:r>
            <a:r>
              <a:rPr lang="ja-JP" sz="1500" b="1" u="none" strike="noStrike">
                <a:solidFill>
                  <a:srgbClr val="16213E"/>
                </a:solidFill>
                <a:effectLst/>
                <a:uFillTx/>
                <a:latin typeface="BIZ UDPゴシック"/>
                <a:ea typeface="BIZ UDPゴシック"/>
              </a:rPr>
              <a:t>を並べ、改革の全体像を示す</a:t>
            </a:r>
            <a:endParaRPr lang="en-US" sz="1500" b="0" u="none" strike="noStrike">
              <a:solidFill>
                <a:srgbClr val="000000"/>
              </a:solidFill>
              <a:effectLst/>
              <a:uFillTx/>
              <a:latin typeface="Arial"/>
            </a:endParaRPr>
          </a:p>
        </p:txBody>
      </p:sp>
      <p:sp>
        <p:nvSpPr>
          <p:cNvPr id="510" name="drawio:asis"/>
          <p:cNvSpPr/>
          <p:nvPr/>
        </p:nvSpPr>
        <p:spPr>
          <a:xfrm>
            <a:off x="1004400" y="1627560"/>
            <a:ext cx="3861720" cy="3686040"/>
          </a:xfrm>
          <a:prstGeom prst="rect">
            <a:avLst/>
          </a:prstGeom>
          <a:solidFill>
            <a:srgbClr val="F4F6FA"/>
          </a:solidFill>
          <a:ln w="10972">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1" name="drawio:asis:hdr"/>
          <p:cNvSpPr/>
          <p:nvPr/>
        </p:nvSpPr>
        <p:spPr>
          <a:xfrm>
            <a:off x="1004400" y="1627560"/>
            <a:ext cx="3861720" cy="438120"/>
          </a:xfrm>
          <a:prstGeom prst="rect">
            <a:avLst/>
          </a:prstGeom>
          <a:solidFill>
            <a:srgbClr val="F4F6FA"/>
          </a:solidFill>
          <a:ln w="10972">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300" b="1" u="none" strike="noStrike">
                <a:solidFill>
                  <a:srgbClr val="16213E"/>
                </a:solidFill>
                <a:effectLst/>
                <a:uFillTx/>
                <a:latin typeface="BIZ UDPゴシック"/>
                <a:ea typeface="BIZ UDPゴシック"/>
              </a:rPr>
              <a:t>As-Is (</a:t>
            </a:r>
            <a:r>
              <a:rPr lang="ja-JP" sz="1300" b="1" u="none" strike="noStrike">
                <a:solidFill>
                  <a:srgbClr val="16213E"/>
                </a:solidFill>
                <a:effectLst/>
                <a:uFillTx/>
                <a:latin typeface="BIZ UDPゴシック"/>
                <a:ea typeface="BIZ UDPゴシック"/>
              </a:rPr>
              <a:t>現状</a:t>
            </a:r>
            <a:r>
              <a:rPr lang="en-US" sz="1300" b="1" u="none" strike="noStrike">
                <a:solidFill>
                  <a:srgbClr val="16213E"/>
                </a:solidFill>
                <a:effectLst/>
                <a:uFillTx/>
                <a:latin typeface="BIZ UDPゴシック"/>
                <a:ea typeface="BIZ UDPゴシック"/>
              </a:rPr>
              <a:t>)</a:t>
            </a:r>
            <a:endParaRPr lang="en-US" sz="1300" b="0" u="none" strike="noStrike">
              <a:solidFill>
                <a:srgbClr val="000000"/>
              </a:solidFill>
              <a:effectLst/>
              <a:uFillTx/>
              <a:latin typeface="Arial"/>
            </a:endParaRPr>
          </a:p>
        </p:txBody>
      </p:sp>
      <p:sp>
        <p:nvSpPr>
          <p:cNvPr id="512" name="drawio:a1"/>
          <p:cNvSpPr/>
          <p:nvPr/>
        </p:nvSpPr>
        <p:spPr>
          <a:xfrm>
            <a:off x="1267920" y="2242080"/>
            <a:ext cx="3335040" cy="613800"/>
          </a:xfrm>
          <a:prstGeom prst="roundRect">
            <a:avLst>
              <a:gd name="adj" fmla="val 16667"/>
            </a:avLst>
          </a:prstGeom>
          <a:solidFill>
            <a:srgbClr val="FFFFFF"/>
          </a:solidFill>
          <a:ln w="10972">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経費精算 </a:t>
            </a:r>
            <a:r>
              <a:rPr lang="en-US" sz="1210" b="0" u="none" strike="noStrike">
                <a:solidFill>
                  <a:srgbClr val="1F2937"/>
                </a:solidFill>
                <a:effectLst/>
                <a:uFillTx/>
                <a:latin typeface="BIZ UDPゴシック"/>
                <a:ea typeface="BIZ UDPゴシック"/>
              </a:rPr>
              <a:t>(</a:t>
            </a:r>
            <a:r>
              <a:rPr lang="ja-JP" sz="1210" b="0" u="none" strike="noStrike">
                <a:solidFill>
                  <a:srgbClr val="1F2937"/>
                </a:solidFill>
                <a:effectLst/>
                <a:uFillTx/>
                <a:latin typeface="BIZ UDPゴシック"/>
                <a:ea typeface="BIZ UDPゴシック"/>
              </a:rPr>
              <a:t>紙・手作業</a:t>
            </a:r>
            <a:r>
              <a:rPr lang="en-US" sz="1210" b="0" u="none" strike="noStrike">
                <a:solidFill>
                  <a:srgbClr val="1F2937"/>
                </a:solidFill>
                <a:effectLst/>
                <a:uFillTx/>
                <a:latin typeface="BIZ UDPゴシック"/>
                <a:ea typeface="BIZ UDPゴシック"/>
              </a:rPr>
              <a:t>)</a:t>
            </a:r>
            <a:endParaRPr lang="en-US" sz="1210" b="0" u="none" strike="noStrike">
              <a:solidFill>
                <a:srgbClr val="000000"/>
              </a:solidFill>
              <a:effectLst/>
              <a:uFillTx/>
              <a:latin typeface="Arial"/>
            </a:endParaRPr>
          </a:p>
        </p:txBody>
      </p:sp>
      <p:sp>
        <p:nvSpPr>
          <p:cNvPr id="513" name="drawio:a2"/>
          <p:cNvSpPr/>
          <p:nvPr/>
        </p:nvSpPr>
        <p:spPr>
          <a:xfrm>
            <a:off x="1267920" y="2944440"/>
            <a:ext cx="3335040" cy="613800"/>
          </a:xfrm>
          <a:prstGeom prst="roundRect">
            <a:avLst>
              <a:gd name="adj" fmla="val 16667"/>
            </a:avLst>
          </a:prstGeom>
          <a:solidFill>
            <a:srgbClr val="FFFFFF"/>
          </a:solidFill>
          <a:ln w="10972">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申請・承認・支払 </a:t>
            </a:r>
            <a:r>
              <a:rPr lang="en-US" sz="1210" b="0" u="none" strike="noStrike">
                <a:solidFill>
                  <a:srgbClr val="1F2937"/>
                </a:solidFill>
                <a:effectLst/>
                <a:uFillTx/>
                <a:latin typeface="BIZ UDPゴシック"/>
                <a:ea typeface="BIZ UDPゴシック"/>
              </a:rPr>
              <a:t>(5</a:t>
            </a:r>
            <a:r>
              <a:rPr lang="ja-JP" sz="1210" b="0" u="none" strike="noStrike">
                <a:solidFill>
                  <a:srgbClr val="1F2937"/>
                </a:solidFill>
                <a:effectLst/>
                <a:uFillTx/>
                <a:latin typeface="BIZ UDPゴシック"/>
                <a:ea typeface="BIZ UDPゴシック"/>
              </a:rPr>
              <a:t>営業日</a:t>
            </a:r>
            <a:r>
              <a:rPr lang="en-US" sz="1210" b="0" u="none" strike="noStrike">
                <a:solidFill>
                  <a:srgbClr val="1F2937"/>
                </a:solidFill>
                <a:effectLst/>
                <a:uFillTx/>
                <a:latin typeface="BIZ UDPゴシック"/>
                <a:ea typeface="BIZ UDPゴシック"/>
              </a:rPr>
              <a:t>)</a:t>
            </a:r>
            <a:endParaRPr lang="en-US" sz="1210" b="0" u="none" strike="noStrike">
              <a:solidFill>
                <a:srgbClr val="000000"/>
              </a:solidFill>
              <a:effectLst/>
              <a:uFillTx/>
              <a:latin typeface="Arial"/>
            </a:endParaRPr>
          </a:p>
        </p:txBody>
      </p:sp>
      <p:sp>
        <p:nvSpPr>
          <p:cNvPr id="514" name="drawio:a3"/>
          <p:cNvSpPr/>
          <p:nvPr/>
        </p:nvSpPr>
        <p:spPr>
          <a:xfrm>
            <a:off x="1267920" y="3646800"/>
            <a:ext cx="3335040" cy="613800"/>
          </a:xfrm>
          <a:prstGeom prst="roundRect">
            <a:avLst>
              <a:gd name="adj" fmla="val 16667"/>
            </a:avLst>
          </a:prstGeom>
          <a:solidFill>
            <a:srgbClr val="FFFFFF"/>
          </a:solidFill>
          <a:ln w="10972">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基幹会計システム </a:t>
            </a:r>
            <a:r>
              <a:rPr lang="en-US" sz="1210" b="0" u="none" strike="noStrike">
                <a:solidFill>
                  <a:srgbClr val="1F2937"/>
                </a:solidFill>
                <a:effectLst/>
                <a:uFillTx/>
                <a:latin typeface="BIZ UDPゴシック"/>
                <a:ea typeface="BIZ UDPゴシック"/>
              </a:rPr>
              <a:t>(</a:t>
            </a:r>
            <a:r>
              <a:rPr lang="ja-JP" sz="1210" b="0" u="none" strike="noStrike">
                <a:solidFill>
                  <a:srgbClr val="1F2937"/>
                </a:solidFill>
                <a:effectLst/>
                <a:uFillTx/>
                <a:latin typeface="BIZ UDPゴシック"/>
                <a:ea typeface="BIZ UDPゴシック"/>
              </a:rPr>
              <a:t>手入力連携</a:t>
            </a:r>
            <a:r>
              <a:rPr lang="en-US" sz="1210" b="0" u="none" strike="noStrike">
                <a:solidFill>
                  <a:srgbClr val="1F2937"/>
                </a:solidFill>
                <a:effectLst/>
                <a:uFillTx/>
                <a:latin typeface="BIZ UDPゴシック"/>
                <a:ea typeface="BIZ UDPゴシック"/>
              </a:rPr>
              <a:t>)</a:t>
            </a:r>
            <a:endParaRPr lang="en-US" sz="1210" b="0" u="none" strike="noStrike">
              <a:solidFill>
                <a:srgbClr val="000000"/>
              </a:solidFill>
              <a:effectLst/>
              <a:uFillTx/>
              <a:latin typeface="Arial"/>
            </a:endParaRPr>
          </a:p>
        </p:txBody>
      </p:sp>
      <p:sp>
        <p:nvSpPr>
          <p:cNvPr id="515" name="drawio:a4"/>
          <p:cNvSpPr/>
          <p:nvPr/>
        </p:nvSpPr>
        <p:spPr>
          <a:xfrm>
            <a:off x="1267920" y="4348800"/>
            <a:ext cx="3335040" cy="613800"/>
          </a:xfrm>
          <a:prstGeom prst="roundRect">
            <a:avLst>
              <a:gd name="adj" fmla="val 16667"/>
            </a:avLst>
          </a:prstGeom>
          <a:solidFill>
            <a:srgbClr val="FFFFFF"/>
          </a:solidFill>
          <a:ln w="10972">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月</a:t>
            </a:r>
            <a:r>
              <a:rPr lang="en-US" sz="1210" b="0" u="none" strike="noStrike">
                <a:solidFill>
                  <a:srgbClr val="1F2937"/>
                </a:solidFill>
                <a:effectLst/>
                <a:uFillTx/>
                <a:latin typeface="BIZ UDPゴシック"/>
                <a:ea typeface="BIZ UDPゴシック"/>
              </a:rPr>
              <a:t>120</a:t>
            </a:r>
            <a:r>
              <a:rPr lang="ja-JP" sz="1210" b="0" u="none" strike="noStrike">
                <a:solidFill>
                  <a:srgbClr val="1F2937"/>
                </a:solidFill>
                <a:effectLst/>
                <a:uFillTx/>
                <a:latin typeface="BIZ UDPゴシック"/>
                <a:ea typeface="BIZ UDPゴシック"/>
              </a:rPr>
              <a:t>時間の工数</a:t>
            </a:r>
            <a:endParaRPr lang="en-US" sz="1210" b="0" u="none" strike="noStrike">
              <a:solidFill>
                <a:srgbClr val="000000"/>
              </a:solidFill>
              <a:effectLst/>
              <a:uFillTx/>
              <a:latin typeface="Arial"/>
            </a:endParaRPr>
          </a:p>
          <a:p>
            <a:pPr algn="ctr" defTabSz="457200">
              <a:lnSpc>
                <a:spcPct val="110000"/>
              </a:lnSpc>
            </a:pPr>
            <a:r>
              <a:rPr lang="ja-JP" sz="1210" b="0" u="none" strike="noStrike">
                <a:solidFill>
                  <a:srgbClr val="1F2937"/>
                </a:solidFill>
                <a:effectLst/>
                <a:uFillTx/>
                <a:latin typeface="BIZ UDPゴシック"/>
                <a:ea typeface="BIZ UDPゴシック"/>
              </a:rPr>
              <a:t>属人化・転記ミス</a:t>
            </a:r>
            <a:endParaRPr lang="en-US" sz="1210" b="0" u="none" strike="noStrike">
              <a:solidFill>
                <a:srgbClr val="000000"/>
              </a:solidFill>
              <a:effectLst/>
              <a:uFillTx/>
              <a:latin typeface="Arial"/>
            </a:endParaRPr>
          </a:p>
        </p:txBody>
      </p:sp>
      <p:sp>
        <p:nvSpPr>
          <p:cNvPr id="516" name="drawio:tobe"/>
          <p:cNvSpPr/>
          <p:nvPr/>
        </p:nvSpPr>
        <p:spPr>
          <a:xfrm>
            <a:off x="7324920" y="1627560"/>
            <a:ext cx="3861720" cy="3686040"/>
          </a:xfrm>
          <a:prstGeom prst="rect">
            <a:avLst/>
          </a:prstGeom>
          <a:solidFill>
            <a:srgbClr val="F4F6FA"/>
          </a:solidFill>
          <a:ln w="10972">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7" name="drawio:tobe:hdr"/>
          <p:cNvSpPr/>
          <p:nvPr/>
        </p:nvSpPr>
        <p:spPr>
          <a:xfrm>
            <a:off x="7324920" y="1627560"/>
            <a:ext cx="3861720" cy="438120"/>
          </a:xfrm>
          <a:prstGeom prst="rect">
            <a:avLst/>
          </a:prstGeom>
          <a:solidFill>
            <a:srgbClr val="F4F6FA"/>
          </a:solidFill>
          <a:ln w="10972">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300" b="1" u="none" strike="noStrike">
                <a:solidFill>
                  <a:srgbClr val="16213E"/>
                </a:solidFill>
                <a:effectLst/>
                <a:uFillTx/>
                <a:latin typeface="BIZ UDPゴシック"/>
                <a:ea typeface="BIZ UDPゴシック"/>
              </a:rPr>
              <a:t>To-Be (</a:t>
            </a:r>
            <a:r>
              <a:rPr lang="ja-JP" sz="1300" b="1" u="none" strike="noStrike">
                <a:solidFill>
                  <a:srgbClr val="16213E"/>
                </a:solidFill>
                <a:effectLst/>
                <a:uFillTx/>
                <a:latin typeface="BIZ UDPゴシック"/>
                <a:ea typeface="BIZ UDPゴシック"/>
              </a:rPr>
              <a:t>改革後</a:t>
            </a:r>
            <a:r>
              <a:rPr lang="en-US" sz="1300" b="1" u="none" strike="noStrike">
                <a:solidFill>
                  <a:srgbClr val="16213E"/>
                </a:solidFill>
                <a:effectLst/>
                <a:uFillTx/>
                <a:latin typeface="BIZ UDPゴシック"/>
                <a:ea typeface="BIZ UDPゴシック"/>
              </a:rPr>
              <a:t>)</a:t>
            </a:r>
            <a:endParaRPr lang="en-US" sz="1300" b="0" u="none" strike="noStrike">
              <a:solidFill>
                <a:srgbClr val="000000"/>
              </a:solidFill>
              <a:effectLst/>
              <a:uFillTx/>
              <a:latin typeface="Arial"/>
            </a:endParaRPr>
          </a:p>
        </p:txBody>
      </p:sp>
      <p:sp>
        <p:nvSpPr>
          <p:cNvPr id="518" name="drawio:t1"/>
          <p:cNvSpPr/>
          <p:nvPr/>
        </p:nvSpPr>
        <p:spPr>
          <a:xfrm>
            <a:off x="7588080" y="2242080"/>
            <a:ext cx="3335040" cy="613800"/>
          </a:xfrm>
          <a:prstGeom prst="roundRect">
            <a:avLst>
              <a:gd name="adj" fmla="val 16667"/>
            </a:avLst>
          </a:prstGeom>
          <a:solidFill>
            <a:srgbClr val="FFFFFF"/>
          </a:solidFill>
          <a:ln w="10972">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クラウド経費精算</a:t>
            </a:r>
            <a:r>
              <a:rPr lang="en-US" sz="1210" b="0" u="none" strike="noStrike">
                <a:solidFill>
                  <a:srgbClr val="1F2937"/>
                </a:solidFill>
                <a:effectLst/>
                <a:uFillTx/>
                <a:latin typeface="BIZ UDPゴシック"/>
                <a:ea typeface="BIZ UDPゴシック"/>
              </a:rPr>
              <a:t>SaaS</a:t>
            </a:r>
            <a:endParaRPr lang="en-US" sz="1210" b="0" u="none" strike="noStrike">
              <a:solidFill>
                <a:srgbClr val="000000"/>
              </a:solidFill>
              <a:effectLst/>
              <a:uFillTx/>
              <a:latin typeface="Arial"/>
            </a:endParaRPr>
          </a:p>
        </p:txBody>
      </p:sp>
      <p:sp>
        <p:nvSpPr>
          <p:cNvPr id="519" name="drawio:t2"/>
          <p:cNvSpPr/>
          <p:nvPr/>
        </p:nvSpPr>
        <p:spPr>
          <a:xfrm>
            <a:off x="7588080" y="2944440"/>
            <a:ext cx="3335040" cy="613800"/>
          </a:xfrm>
          <a:prstGeom prst="roundRect">
            <a:avLst>
              <a:gd name="adj" fmla="val 16667"/>
            </a:avLst>
          </a:prstGeom>
          <a:solidFill>
            <a:srgbClr val="FFFFFF"/>
          </a:solidFill>
          <a:ln w="10972">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申請・承認 </a:t>
            </a:r>
            <a:r>
              <a:rPr lang="en-US" sz="1210" b="0" u="none" strike="noStrike">
                <a:solidFill>
                  <a:srgbClr val="1F2937"/>
                </a:solidFill>
                <a:effectLst/>
                <a:uFillTx/>
                <a:latin typeface="BIZ UDPゴシック"/>
                <a:ea typeface="BIZ UDPゴシック"/>
              </a:rPr>
              <a:t>(</a:t>
            </a:r>
            <a:r>
              <a:rPr lang="ja-JP" sz="1210" b="0" u="none" strike="noStrike">
                <a:solidFill>
                  <a:srgbClr val="1F2937"/>
                </a:solidFill>
                <a:effectLst/>
                <a:uFillTx/>
                <a:latin typeface="BIZ UDPゴシック"/>
                <a:ea typeface="BIZ UDPゴシック"/>
              </a:rPr>
              <a:t>スマートフォン対応</a:t>
            </a:r>
            <a:r>
              <a:rPr lang="en-US" sz="1210" b="0" u="none" strike="noStrike">
                <a:solidFill>
                  <a:srgbClr val="1F2937"/>
                </a:solidFill>
                <a:effectLst/>
                <a:uFillTx/>
                <a:latin typeface="BIZ UDPゴシック"/>
                <a:ea typeface="BIZ UDPゴシック"/>
              </a:rPr>
              <a:t>)</a:t>
            </a:r>
            <a:endParaRPr lang="en-US" sz="1210" b="0" u="none" strike="noStrike">
              <a:solidFill>
                <a:srgbClr val="000000"/>
              </a:solidFill>
              <a:effectLst/>
              <a:uFillTx/>
              <a:latin typeface="Arial"/>
            </a:endParaRPr>
          </a:p>
        </p:txBody>
      </p:sp>
      <p:sp>
        <p:nvSpPr>
          <p:cNvPr id="520" name="drawio:t3"/>
          <p:cNvSpPr/>
          <p:nvPr/>
        </p:nvSpPr>
        <p:spPr>
          <a:xfrm>
            <a:off x="7588080" y="3646800"/>
            <a:ext cx="3335040" cy="613800"/>
          </a:xfrm>
          <a:prstGeom prst="roundRect">
            <a:avLst>
              <a:gd name="adj" fmla="val 16667"/>
            </a:avLst>
          </a:prstGeom>
          <a:solidFill>
            <a:srgbClr val="FFFFFF"/>
          </a:solidFill>
          <a:ln w="10972">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基幹会計システム </a:t>
            </a:r>
            <a:r>
              <a:rPr lang="en-US" sz="1210" b="0" u="none" strike="noStrike">
                <a:solidFill>
                  <a:srgbClr val="1F2937"/>
                </a:solidFill>
                <a:effectLst/>
                <a:uFillTx/>
                <a:latin typeface="BIZ UDPゴシック"/>
                <a:ea typeface="BIZ UDPゴシック"/>
              </a:rPr>
              <a:t>(</a:t>
            </a:r>
            <a:r>
              <a:rPr lang="ja-JP" sz="1210" b="0" u="none" strike="noStrike">
                <a:solidFill>
                  <a:srgbClr val="1F2937"/>
                </a:solidFill>
                <a:effectLst/>
                <a:uFillTx/>
                <a:latin typeface="BIZ UDPゴシック"/>
                <a:ea typeface="BIZ UDPゴシック"/>
              </a:rPr>
              <a:t>自動連携</a:t>
            </a:r>
            <a:r>
              <a:rPr lang="en-US" sz="1210" b="0" u="none" strike="noStrike">
                <a:solidFill>
                  <a:srgbClr val="1F2937"/>
                </a:solidFill>
                <a:effectLst/>
                <a:uFillTx/>
                <a:latin typeface="BIZ UDPゴシック"/>
                <a:ea typeface="BIZ UDPゴシック"/>
              </a:rPr>
              <a:t>)</a:t>
            </a:r>
            <a:endParaRPr lang="en-US" sz="1210" b="0" u="none" strike="noStrike">
              <a:solidFill>
                <a:srgbClr val="000000"/>
              </a:solidFill>
              <a:effectLst/>
              <a:uFillTx/>
              <a:latin typeface="Arial"/>
            </a:endParaRPr>
          </a:p>
        </p:txBody>
      </p:sp>
      <p:sp>
        <p:nvSpPr>
          <p:cNvPr id="521" name="drawio:t4"/>
          <p:cNvSpPr/>
          <p:nvPr/>
        </p:nvSpPr>
        <p:spPr>
          <a:xfrm>
            <a:off x="7588080" y="4348800"/>
            <a:ext cx="3335040" cy="613800"/>
          </a:xfrm>
          <a:prstGeom prst="roundRect">
            <a:avLst>
              <a:gd name="adj" fmla="val 16667"/>
            </a:avLst>
          </a:prstGeom>
          <a:solidFill>
            <a:srgbClr val="059669"/>
          </a:solidFill>
          <a:ln w="10972">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1" u="none" strike="noStrike">
                <a:solidFill>
                  <a:srgbClr val="FFFFFF"/>
                </a:solidFill>
                <a:effectLst/>
                <a:uFillTx/>
                <a:latin typeface="BIZ UDPゴシック"/>
                <a:ea typeface="BIZ UDPゴシック"/>
              </a:rPr>
              <a:t>リードタイム</a:t>
            </a:r>
            <a:r>
              <a:rPr lang="en-US" sz="1210" b="1" u="none" strike="noStrike">
                <a:solidFill>
                  <a:srgbClr val="FFFFFF"/>
                </a:solidFill>
                <a:effectLst/>
                <a:uFillTx/>
                <a:latin typeface="BIZ UDPゴシック"/>
                <a:ea typeface="BIZ UDPゴシック"/>
              </a:rPr>
              <a:t>2</a:t>
            </a:r>
            <a:r>
              <a:rPr lang="ja-JP" sz="1210" b="1" u="none" strike="noStrike">
                <a:solidFill>
                  <a:srgbClr val="FFFFFF"/>
                </a:solidFill>
                <a:effectLst/>
                <a:uFillTx/>
                <a:latin typeface="BIZ UDPゴシック"/>
                <a:ea typeface="BIZ UDPゴシック"/>
              </a:rPr>
              <a:t>営業日 </a:t>
            </a:r>
            <a:r>
              <a:rPr lang="en-US" sz="1210" b="1" u="none" strike="noStrike">
                <a:solidFill>
                  <a:srgbClr val="FFFFFF"/>
                </a:solidFill>
                <a:effectLst/>
                <a:uFillTx/>
                <a:latin typeface="BIZ UDPゴシック"/>
                <a:ea typeface="BIZ UDPゴシック"/>
              </a:rPr>
              <a:t>/ </a:t>
            </a:r>
            <a:r>
              <a:rPr lang="ja-JP" sz="1210" b="1" u="none" strike="noStrike">
                <a:solidFill>
                  <a:srgbClr val="FFFFFF"/>
                </a:solidFill>
                <a:effectLst/>
                <a:uFillTx/>
                <a:latin typeface="BIZ UDPゴシック"/>
                <a:ea typeface="BIZ UDPゴシック"/>
              </a:rPr>
              <a:t>月</a:t>
            </a:r>
            <a:r>
              <a:rPr lang="en-US" sz="1210" b="1" u="none" strike="noStrike">
                <a:solidFill>
                  <a:srgbClr val="FFFFFF"/>
                </a:solidFill>
                <a:effectLst/>
                <a:uFillTx/>
                <a:latin typeface="BIZ UDPゴシック"/>
                <a:ea typeface="BIZ UDPゴシック"/>
              </a:rPr>
              <a:t>40</a:t>
            </a:r>
            <a:r>
              <a:rPr lang="ja-JP" sz="1210" b="1" u="none" strike="noStrike">
                <a:solidFill>
                  <a:srgbClr val="FFFFFF"/>
                </a:solidFill>
                <a:effectLst/>
                <a:uFillTx/>
                <a:latin typeface="BIZ UDPゴシック"/>
                <a:ea typeface="BIZ UDPゴシック"/>
              </a:rPr>
              <a:t>時間</a:t>
            </a:r>
            <a:endParaRPr lang="en-US" sz="1210" b="0" u="none" strike="noStrike">
              <a:solidFill>
                <a:srgbClr val="FFFFFF"/>
              </a:solidFill>
              <a:effectLst/>
              <a:uFillTx/>
              <a:latin typeface="Arial"/>
            </a:endParaRPr>
          </a:p>
        </p:txBody>
      </p:sp>
      <p:sp>
        <p:nvSpPr>
          <p:cNvPr id="522" name="drawio:bpr"/>
          <p:cNvSpPr/>
          <p:nvPr/>
        </p:nvSpPr>
        <p:spPr>
          <a:xfrm>
            <a:off x="5130360" y="3119760"/>
            <a:ext cx="1930320" cy="701640"/>
          </a:xfrm>
          <a:prstGeom prst="chevron">
            <a:avLst>
              <a:gd name="adj" fmla="val 50000"/>
            </a:avLst>
          </a:prstGeom>
          <a:solidFill>
            <a:srgbClr val="B4235A"/>
          </a:solidFill>
          <a:ln w="10972">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00" b="1" u="none" strike="noStrike">
                <a:solidFill>
                  <a:srgbClr val="FFFFFF"/>
                </a:solidFill>
                <a:effectLst/>
                <a:uFillTx/>
                <a:latin typeface="BIZ UDPゴシック"/>
                <a:ea typeface="BIZ UDPゴシック"/>
              </a:rPr>
              <a:t>業務改革 </a:t>
            </a:r>
            <a:r>
              <a:rPr lang="en-US" sz="1300" b="1" u="none" strike="noStrike">
                <a:solidFill>
                  <a:srgbClr val="FFFFFF"/>
                </a:solidFill>
                <a:effectLst/>
                <a:uFillTx/>
                <a:latin typeface="BIZ UDPゴシック"/>
                <a:ea typeface="BIZ UDPゴシック"/>
              </a:rPr>
              <a:t>(BPR)</a:t>
            </a:r>
            <a:endParaRPr lang="en-US" sz="1300" b="0" u="none" strike="noStrike">
              <a:solidFill>
                <a:srgbClr val="FFFFFF"/>
              </a:solidFill>
              <a:effectLst/>
              <a:uFillTx/>
              <a:latin typeface="Arial"/>
            </a:endParaRPr>
          </a:p>
        </p:txBody>
      </p:sp>
      <p:sp>
        <p:nvSpPr>
          <p:cNvPr id="523" name="drawio:band"/>
          <p:cNvSpPr/>
          <p:nvPr/>
        </p:nvSpPr>
        <p:spPr>
          <a:xfrm>
            <a:off x="1004400" y="5577840"/>
            <a:ext cx="10181880" cy="438120"/>
          </a:xfrm>
          <a:prstGeom prst="roundRect">
            <a:avLst>
              <a:gd name="adj" fmla="val 16667"/>
            </a:avLst>
          </a:prstGeom>
          <a:solidFill>
            <a:srgbClr val="F4F6FA"/>
          </a:solidFill>
          <a:ln w="10972">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対象</a:t>
            </a:r>
            <a:r>
              <a:rPr lang="en-US" sz="1210" b="0" u="none" strike="noStrike">
                <a:solidFill>
                  <a:srgbClr val="1F2937"/>
                </a:solidFill>
                <a:effectLst/>
                <a:uFillTx/>
                <a:latin typeface="BIZ UDPゴシック"/>
                <a:ea typeface="BIZ UDPゴシック"/>
              </a:rPr>
              <a:t>: </a:t>
            </a:r>
            <a:r>
              <a:rPr lang="ja-JP" sz="1210" b="0" u="none" strike="noStrike">
                <a:solidFill>
                  <a:srgbClr val="1F2937"/>
                </a:solidFill>
                <a:effectLst/>
                <a:uFillTx/>
                <a:latin typeface="BIZ UDPゴシック"/>
                <a:ea typeface="BIZ UDPゴシック"/>
              </a:rPr>
              <a:t>全社約</a:t>
            </a:r>
            <a:r>
              <a:rPr lang="en-US" sz="1210" b="0" u="none" strike="noStrike">
                <a:solidFill>
                  <a:srgbClr val="1F2937"/>
                </a:solidFill>
                <a:effectLst/>
                <a:uFillTx/>
                <a:latin typeface="BIZ UDPゴシック"/>
                <a:ea typeface="BIZ UDPゴシック"/>
              </a:rPr>
              <a:t>1,200</a:t>
            </a:r>
            <a:r>
              <a:rPr lang="ja-JP" sz="1210" b="0" u="none" strike="noStrike">
                <a:solidFill>
                  <a:srgbClr val="1F2937"/>
                </a:solidFill>
                <a:effectLst/>
                <a:uFillTx/>
                <a:latin typeface="BIZ UDPゴシック"/>
                <a:ea typeface="BIZ UDPゴシック"/>
              </a:rPr>
              <a:t>名 </a:t>
            </a:r>
            <a:r>
              <a:rPr lang="en-US" sz="1210" b="0" u="none" strike="noStrike">
                <a:solidFill>
                  <a:srgbClr val="1F2937"/>
                </a:solidFill>
                <a:effectLst/>
                <a:uFillTx/>
                <a:latin typeface="BIZ UDPゴシック"/>
                <a:ea typeface="BIZ UDPゴシック"/>
              </a:rPr>
              <a:t>/ </a:t>
            </a:r>
            <a:r>
              <a:rPr lang="ja-JP" sz="1210" b="0" u="none" strike="noStrike">
                <a:solidFill>
                  <a:srgbClr val="1F2937"/>
                </a:solidFill>
                <a:effectLst/>
                <a:uFillTx/>
                <a:latin typeface="BIZ UDPゴシック"/>
                <a:ea typeface="BIZ UDPゴシック"/>
              </a:rPr>
              <a:t>期間</a:t>
            </a:r>
            <a:r>
              <a:rPr lang="en-US" sz="1210" b="0" u="none" strike="noStrike">
                <a:solidFill>
                  <a:srgbClr val="1F2937"/>
                </a:solidFill>
                <a:effectLst/>
                <a:uFillTx/>
                <a:latin typeface="BIZ UDPゴシック"/>
                <a:ea typeface="BIZ UDPゴシック"/>
              </a:rPr>
              <a:t>: 2026-12-01</a:t>
            </a:r>
            <a:r>
              <a:rPr lang="ja-JP" sz="1210" b="0" u="none" strike="noStrike">
                <a:solidFill>
                  <a:srgbClr val="1F2937"/>
                </a:solidFill>
                <a:effectLst/>
                <a:uFillTx/>
                <a:latin typeface="BIZ UDPゴシック"/>
                <a:ea typeface="BIZ UDPゴシック"/>
              </a:rPr>
              <a:t>〜</a:t>
            </a:r>
            <a:r>
              <a:rPr lang="en-US" sz="1210" b="0" u="none" strike="noStrike">
                <a:solidFill>
                  <a:srgbClr val="1F2937"/>
                </a:solidFill>
                <a:effectLst/>
                <a:uFillTx/>
                <a:latin typeface="BIZ UDPゴシック"/>
                <a:ea typeface="BIZ UDPゴシック"/>
              </a:rPr>
              <a:t>2027-11-30</a:t>
            </a:r>
            <a:endParaRPr lang="en-US" sz="1210" b="0" u="none" strike="noStrike">
              <a:solidFill>
                <a:srgbClr val="000000"/>
              </a:solidFill>
              <a:effectLst/>
              <a:uFillTx/>
              <a:latin typeface="Arial"/>
            </a:endParaRPr>
          </a:p>
        </p:txBody>
      </p:sp>
      <p:sp>
        <p:nvSpPr>
          <p:cNvPr id="524" name="blk-diagram-cap"/>
          <p:cNvSpPr/>
          <p:nvPr/>
        </p:nvSpPr>
        <p:spPr>
          <a:xfrm>
            <a:off x="502920" y="605340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en-US" sz="900" b="0" u="none" strike="noStrike">
                <a:solidFill>
                  <a:srgbClr val="6B7280"/>
                </a:solidFill>
                <a:effectLst/>
                <a:uFillTx/>
                <a:latin typeface="BIZ UDPゴシック"/>
                <a:ea typeface="BIZ UDPゴシック"/>
              </a:rPr>
              <a:t>As-Is (</a:t>
            </a:r>
            <a:r>
              <a:rPr lang="ja-JP" sz="900" b="0" u="none" strike="noStrike">
                <a:solidFill>
                  <a:srgbClr val="6B7280"/>
                </a:solidFill>
                <a:effectLst/>
                <a:uFillTx/>
                <a:latin typeface="BIZ UDPゴシック"/>
                <a:ea typeface="BIZ UDPゴシック"/>
              </a:rPr>
              <a:t>紙・手作業中心</a:t>
            </a:r>
            <a:r>
              <a:rPr lang="en-US" sz="900" b="0" u="none" strike="noStrike">
                <a:solidFill>
                  <a:srgbClr val="6B7280"/>
                </a:solidFill>
                <a:effectLst/>
                <a:uFillTx/>
                <a:latin typeface="BIZ UDPゴシック"/>
                <a:ea typeface="BIZ UDPゴシック"/>
              </a:rPr>
              <a:t>) </a:t>
            </a:r>
            <a:r>
              <a:rPr lang="ja-JP" sz="900" b="0" u="none" strike="noStrike">
                <a:solidFill>
                  <a:srgbClr val="6B7280"/>
                </a:solidFill>
                <a:effectLst/>
                <a:uFillTx/>
                <a:latin typeface="BIZ UDPゴシック"/>
                <a:ea typeface="BIZ UDPゴシック"/>
              </a:rPr>
              <a:t>から </a:t>
            </a:r>
            <a:r>
              <a:rPr lang="en-US" sz="900" b="0" u="none" strike="noStrike">
                <a:solidFill>
                  <a:srgbClr val="6B7280"/>
                </a:solidFill>
                <a:effectLst/>
                <a:uFillTx/>
                <a:latin typeface="BIZ UDPゴシック"/>
                <a:ea typeface="BIZ UDPゴシック"/>
              </a:rPr>
              <a:t>To-Be (</a:t>
            </a:r>
            <a:r>
              <a:rPr lang="ja-JP" sz="900" b="0" u="none" strike="noStrike">
                <a:solidFill>
                  <a:srgbClr val="6B7280"/>
                </a:solidFill>
                <a:effectLst/>
                <a:uFillTx/>
                <a:latin typeface="BIZ UDPゴシック"/>
                <a:ea typeface="BIZ UDPゴシック"/>
              </a:rPr>
              <a:t>電子・自動化</a:t>
            </a:r>
            <a:r>
              <a:rPr lang="en-US" sz="900" b="0" u="none" strike="noStrike">
                <a:solidFill>
                  <a:srgbClr val="6B7280"/>
                </a:solidFill>
                <a:effectLst/>
                <a:uFillTx/>
                <a:latin typeface="BIZ UDPゴシック"/>
                <a:ea typeface="BIZ UDPゴシック"/>
              </a:rPr>
              <a:t>) </a:t>
            </a:r>
            <a:r>
              <a:rPr lang="ja-JP" sz="900" b="0" u="none" strike="noStrike">
                <a:solidFill>
                  <a:srgbClr val="6B7280"/>
                </a:solidFill>
                <a:effectLst/>
                <a:uFillTx/>
                <a:latin typeface="BIZ UDPゴシック"/>
                <a:ea typeface="BIZ UDPゴシック"/>
              </a:rPr>
              <a:t>への改革全体像</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2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52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529"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0"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1"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2"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3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53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1.7 To-Be </a:t>
            </a:r>
            <a:r>
              <a:rPr lang="ja-JP" sz="2400" b="1" u="none" strike="noStrike">
                <a:solidFill>
                  <a:srgbClr val="16213E"/>
                </a:solidFill>
                <a:effectLst/>
                <a:uFillTx/>
                <a:latin typeface="BIZ UDPゴシック"/>
                <a:ea typeface="BIZ UDPゴシック"/>
              </a:rPr>
              <a:t>業務フロー</a:t>
            </a:r>
            <a:endParaRPr lang="en-US" sz="2400" b="0" u="none" strike="noStrike">
              <a:solidFill>
                <a:srgbClr val="000000"/>
              </a:solidFill>
              <a:effectLst/>
              <a:uFillTx/>
              <a:latin typeface="Arial"/>
            </a:endParaRPr>
          </a:p>
        </p:txBody>
      </p:sp>
      <p:sp>
        <p:nvSpPr>
          <p:cNvPr id="53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539" name="hdr-hair"/>
          <p:cNvCxnSpPr/>
          <p:nvPr/>
        </p:nvCxnSpPr>
        <p:spPr>
          <a:xfrm>
            <a:off x="502920" y="969120"/>
            <a:ext cx="11186280" cy="720"/>
          </a:xfrm>
          <a:prstGeom prst="straightConnector1">
            <a:avLst/>
          </a:prstGeom>
          <a:ln w="9525">
            <a:solidFill>
              <a:srgbClr val="D5DBE5"/>
            </a:solidFill>
            <a:round/>
          </a:ln>
        </p:spPr>
      </p:cxnSp>
      <p:cxnSp>
        <p:nvCxnSpPr>
          <p:cNvPr id="540" name="ftr-hair"/>
          <p:cNvCxnSpPr/>
          <p:nvPr/>
        </p:nvCxnSpPr>
        <p:spPr>
          <a:xfrm>
            <a:off x="502920" y="6382440"/>
            <a:ext cx="11186280" cy="720"/>
          </a:xfrm>
          <a:prstGeom prst="straightConnector1">
            <a:avLst/>
          </a:prstGeom>
          <a:ln w="9525">
            <a:solidFill>
              <a:srgbClr val="D5DBE5"/>
            </a:solidFill>
            <a:round/>
          </a:ln>
        </p:spPr>
      </p:cxnSp>
      <p:sp>
        <p:nvSpPr>
          <p:cNvPr id="54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12 / 85</a:t>
            </a:r>
            <a:endParaRPr lang="en-US" sz="1100" b="0" u="none" strike="noStrike">
              <a:solidFill>
                <a:srgbClr val="000000"/>
              </a:solidFill>
              <a:effectLst/>
              <a:uFillTx/>
              <a:latin typeface="Arial"/>
            </a:endParaRPr>
          </a:p>
        </p:txBody>
      </p:sp>
      <p:sp>
        <p:nvSpPr>
          <p:cNvPr id="54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54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54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54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申請から支払までを電子化し、承認と会計連携を自動化する</a:t>
            </a:r>
            <a:endParaRPr lang="en-US" sz="1500" b="0" u="none" strike="noStrike">
              <a:solidFill>
                <a:srgbClr val="000000"/>
              </a:solidFill>
              <a:effectLst/>
              <a:uFillTx/>
              <a:latin typeface="Arial"/>
            </a:endParaRPr>
          </a:p>
        </p:txBody>
      </p:sp>
      <p:sp>
        <p:nvSpPr>
          <p:cNvPr id="548" name="drawio:L1"/>
          <p:cNvSpPr/>
          <p:nvPr/>
        </p:nvSpPr>
        <p:spPr>
          <a:xfrm>
            <a:off x="1118160" y="1627560"/>
            <a:ext cx="9954720" cy="945360"/>
          </a:xfrm>
          <a:prstGeom prst="rect">
            <a:avLst/>
          </a:prstGeom>
          <a:solidFill>
            <a:srgbClr val="F4F6FA"/>
          </a:solidFill>
          <a:ln w="11000">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9" name="drawio:L1:hdr"/>
          <p:cNvSpPr/>
          <p:nvPr/>
        </p:nvSpPr>
        <p:spPr>
          <a:xfrm>
            <a:off x="1118160" y="1627560"/>
            <a:ext cx="9954720" cy="329400"/>
          </a:xfrm>
          <a:prstGeom prst="rect">
            <a:avLst/>
          </a:prstGeom>
          <a:solidFill>
            <a:srgbClr val="F4F6FA"/>
          </a:solidFill>
          <a:ln w="11000">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1" u="none" strike="noStrike">
                <a:solidFill>
                  <a:srgbClr val="16213E"/>
                </a:solidFill>
                <a:effectLst/>
                <a:uFillTx/>
                <a:latin typeface="BIZ UDPゴシック"/>
                <a:ea typeface="BIZ UDPゴシック"/>
              </a:rPr>
              <a:t>申請者</a:t>
            </a:r>
            <a:endParaRPr lang="en-US" sz="1210" b="0" u="none" strike="noStrike">
              <a:solidFill>
                <a:srgbClr val="000000"/>
              </a:solidFill>
              <a:effectLst/>
              <a:uFillTx/>
              <a:latin typeface="Arial"/>
            </a:endParaRPr>
          </a:p>
        </p:txBody>
      </p:sp>
      <p:sp>
        <p:nvSpPr>
          <p:cNvPr id="550" name="drawio:s1"/>
          <p:cNvSpPr/>
          <p:nvPr/>
        </p:nvSpPr>
        <p:spPr>
          <a:xfrm>
            <a:off x="1459080" y="2012760"/>
            <a:ext cx="2144160" cy="472320"/>
          </a:xfrm>
          <a:prstGeom prst="roundRect">
            <a:avLst>
              <a:gd name="adj" fmla="val 16667"/>
            </a:avLst>
          </a:prstGeom>
          <a:solidFill>
            <a:srgbClr val="FFFFFF"/>
          </a:solidFill>
          <a:ln w="1100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スマホで撮影・取込</a:t>
            </a:r>
            <a:endParaRPr lang="en-US" sz="1210" b="0" u="none" strike="noStrike">
              <a:solidFill>
                <a:srgbClr val="000000"/>
              </a:solidFill>
              <a:effectLst/>
              <a:uFillTx/>
              <a:latin typeface="Arial"/>
            </a:endParaRPr>
          </a:p>
          <a:p>
            <a:pPr algn="ctr" defTabSz="457200">
              <a:lnSpc>
                <a:spcPct val="110000"/>
              </a:lnSpc>
            </a:pPr>
            <a:r>
              <a:rPr lang="ja-JP" sz="1210" b="0" u="none" strike="noStrike">
                <a:solidFill>
                  <a:srgbClr val="1F2937"/>
                </a:solidFill>
                <a:effectLst/>
                <a:uFillTx/>
                <a:latin typeface="BIZ UDPゴシック"/>
                <a:ea typeface="BIZ UDPゴシック"/>
              </a:rPr>
              <a:t>カード</a:t>
            </a:r>
            <a:r>
              <a:rPr lang="en-US" sz="1210" b="0" u="none" strike="noStrike">
                <a:solidFill>
                  <a:srgbClr val="1F2937"/>
                </a:solidFill>
                <a:effectLst/>
                <a:uFillTx/>
                <a:latin typeface="BIZ UDPゴシック"/>
                <a:ea typeface="BIZ UDPゴシック"/>
              </a:rPr>
              <a:t>/IC</a:t>
            </a:r>
            <a:r>
              <a:rPr lang="ja-JP" sz="1210" b="0" u="none" strike="noStrike">
                <a:solidFill>
                  <a:srgbClr val="1F2937"/>
                </a:solidFill>
                <a:effectLst/>
                <a:uFillTx/>
                <a:latin typeface="BIZ UDPゴシック"/>
                <a:ea typeface="BIZ UDPゴシック"/>
              </a:rPr>
              <a:t>自動連携</a:t>
            </a:r>
            <a:endParaRPr lang="en-US" sz="1210" b="0" u="none" strike="noStrike">
              <a:solidFill>
                <a:srgbClr val="000000"/>
              </a:solidFill>
              <a:effectLst/>
              <a:uFillTx/>
              <a:latin typeface="Arial"/>
            </a:endParaRPr>
          </a:p>
        </p:txBody>
      </p:sp>
      <p:sp>
        <p:nvSpPr>
          <p:cNvPr id="551" name="drawio:s2"/>
          <p:cNvSpPr/>
          <p:nvPr/>
        </p:nvSpPr>
        <p:spPr>
          <a:xfrm>
            <a:off x="4033440" y="2012760"/>
            <a:ext cx="1891440" cy="472320"/>
          </a:xfrm>
          <a:prstGeom prst="roundRect">
            <a:avLst>
              <a:gd name="adj" fmla="val 16667"/>
            </a:avLst>
          </a:prstGeom>
          <a:solidFill>
            <a:srgbClr val="FFFFFF"/>
          </a:solidFill>
          <a:ln w="1100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申請</a:t>
            </a:r>
            <a:endParaRPr lang="en-US" sz="1210" b="0" u="none" strike="noStrike">
              <a:solidFill>
                <a:srgbClr val="000000"/>
              </a:solidFill>
              <a:effectLst/>
              <a:uFillTx/>
              <a:latin typeface="Arial"/>
            </a:endParaRPr>
          </a:p>
          <a:p>
            <a:pPr algn="ctr" defTabSz="457200">
              <a:lnSpc>
                <a:spcPct val="110000"/>
              </a:lnSpc>
            </a:pPr>
            <a:r>
              <a:rPr lang="ja-JP" sz="1210" b="0" u="none" strike="noStrike">
                <a:solidFill>
                  <a:srgbClr val="1F2937"/>
                </a:solidFill>
                <a:effectLst/>
                <a:uFillTx/>
                <a:latin typeface="BIZ UDPゴシック"/>
                <a:ea typeface="BIZ UDPゴシック"/>
              </a:rPr>
              <a:t>規程チェック自動</a:t>
            </a:r>
            <a:endParaRPr lang="en-US" sz="1210" b="0" u="none" strike="noStrike">
              <a:solidFill>
                <a:srgbClr val="000000"/>
              </a:solidFill>
              <a:effectLst/>
              <a:uFillTx/>
              <a:latin typeface="Arial"/>
            </a:endParaRPr>
          </a:p>
        </p:txBody>
      </p:sp>
      <p:sp>
        <p:nvSpPr>
          <p:cNvPr id="552" name="drawio:L2"/>
          <p:cNvSpPr/>
          <p:nvPr/>
        </p:nvSpPr>
        <p:spPr>
          <a:xfrm>
            <a:off x="1118160" y="2661480"/>
            <a:ext cx="9954720" cy="945360"/>
          </a:xfrm>
          <a:prstGeom prst="rect">
            <a:avLst/>
          </a:prstGeom>
          <a:solidFill>
            <a:srgbClr val="F4F6FA"/>
          </a:solidFill>
          <a:ln w="11000">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3" name="drawio:L2:hdr"/>
          <p:cNvSpPr/>
          <p:nvPr/>
        </p:nvSpPr>
        <p:spPr>
          <a:xfrm>
            <a:off x="1118160" y="2661480"/>
            <a:ext cx="9954720" cy="329400"/>
          </a:xfrm>
          <a:prstGeom prst="rect">
            <a:avLst/>
          </a:prstGeom>
          <a:solidFill>
            <a:srgbClr val="F4F6FA"/>
          </a:solidFill>
          <a:ln w="11000">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1" u="none" strike="noStrike">
                <a:solidFill>
                  <a:srgbClr val="16213E"/>
                </a:solidFill>
                <a:effectLst/>
                <a:uFillTx/>
                <a:latin typeface="BIZ UDPゴシック"/>
                <a:ea typeface="BIZ UDPゴシック"/>
              </a:rPr>
              <a:t>承認者</a:t>
            </a:r>
            <a:endParaRPr lang="en-US" sz="1210" b="0" u="none" strike="noStrike">
              <a:solidFill>
                <a:srgbClr val="000000"/>
              </a:solidFill>
              <a:effectLst/>
              <a:uFillTx/>
              <a:latin typeface="Arial"/>
            </a:endParaRPr>
          </a:p>
        </p:txBody>
      </p:sp>
      <p:sp>
        <p:nvSpPr>
          <p:cNvPr id="554" name="drawio:s3"/>
          <p:cNvSpPr/>
          <p:nvPr/>
        </p:nvSpPr>
        <p:spPr>
          <a:xfrm>
            <a:off x="4033440" y="3046680"/>
            <a:ext cx="1891440" cy="472320"/>
          </a:xfrm>
          <a:prstGeom prst="roundRect">
            <a:avLst>
              <a:gd name="adj" fmla="val 16667"/>
            </a:avLst>
          </a:prstGeom>
          <a:solidFill>
            <a:srgbClr val="FFFFFF"/>
          </a:solidFill>
          <a:ln w="1100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承認</a:t>
            </a:r>
            <a:endParaRPr lang="en-US" sz="1210" b="0" u="none" strike="noStrike">
              <a:solidFill>
                <a:srgbClr val="000000"/>
              </a:solidFill>
              <a:effectLst/>
              <a:uFillTx/>
              <a:latin typeface="Arial"/>
            </a:endParaRPr>
          </a:p>
          <a:p>
            <a:pPr algn="ctr" defTabSz="457200">
              <a:lnSpc>
                <a:spcPct val="110000"/>
              </a:lnSpc>
            </a:pPr>
            <a:r>
              <a:rPr lang="ja-JP" sz="1210" b="0" u="none" strike="noStrike">
                <a:solidFill>
                  <a:srgbClr val="1F2937"/>
                </a:solidFill>
                <a:effectLst/>
                <a:uFillTx/>
                <a:latin typeface="BIZ UDPゴシック"/>
                <a:ea typeface="BIZ UDPゴシック"/>
              </a:rPr>
              <a:t>モバイル承認対応</a:t>
            </a:r>
            <a:endParaRPr lang="en-US" sz="1210" b="0" u="none" strike="noStrike">
              <a:solidFill>
                <a:srgbClr val="000000"/>
              </a:solidFill>
              <a:effectLst/>
              <a:uFillTx/>
              <a:latin typeface="Arial"/>
            </a:endParaRPr>
          </a:p>
        </p:txBody>
      </p:sp>
      <p:sp>
        <p:nvSpPr>
          <p:cNvPr id="555" name="drawio:L3"/>
          <p:cNvSpPr/>
          <p:nvPr/>
        </p:nvSpPr>
        <p:spPr>
          <a:xfrm>
            <a:off x="1118160" y="3695760"/>
            <a:ext cx="9954720" cy="945360"/>
          </a:xfrm>
          <a:prstGeom prst="rect">
            <a:avLst/>
          </a:prstGeom>
          <a:solidFill>
            <a:srgbClr val="F4F6FA"/>
          </a:solidFill>
          <a:ln w="11000">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6" name="drawio:L3:hdr"/>
          <p:cNvSpPr/>
          <p:nvPr/>
        </p:nvSpPr>
        <p:spPr>
          <a:xfrm>
            <a:off x="1118160" y="3695760"/>
            <a:ext cx="9954720" cy="329400"/>
          </a:xfrm>
          <a:prstGeom prst="rect">
            <a:avLst/>
          </a:prstGeom>
          <a:solidFill>
            <a:srgbClr val="F4F6FA"/>
          </a:solidFill>
          <a:ln w="11000">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1" u="none" strike="noStrike">
                <a:solidFill>
                  <a:srgbClr val="16213E"/>
                </a:solidFill>
                <a:effectLst/>
                <a:uFillTx/>
                <a:latin typeface="BIZ UDPゴシック"/>
                <a:ea typeface="BIZ UDPゴシック"/>
              </a:rPr>
              <a:t>経理部</a:t>
            </a:r>
            <a:endParaRPr lang="en-US" sz="1210" b="0" u="none" strike="noStrike">
              <a:solidFill>
                <a:srgbClr val="000000"/>
              </a:solidFill>
              <a:effectLst/>
              <a:uFillTx/>
              <a:latin typeface="Arial"/>
            </a:endParaRPr>
          </a:p>
        </p:txBody>
      </p:sp>
      <p:sp>
        <p:nvSpPr>
          <p:cNvPr id="557" name="drawio:s4"/>
          <p:cNvSpPr/>
          <p:nvPr/>
        </p:nvSpPr>
        <p:spPr>
          <a:xfrm>
            <a:off x="3861000" y="4080600"/>
            <a:ext cx="2144160" cy="472320"/>
          </a:xfrm>
          <a:prstGeom prst="roundRect">
            <a:avLst>
              <a:gd name="adj" fmla="val 16667"/>
            </a:avLst>
          </a:prstGeom>
          <a:solidFill>
            <a:srgbClr val="FFFFFF"/>
          </a:solidFill>
          <a:ln w="1100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経理確認</a:t>
            </a:r>
            <a:endParaRPr lang="en-US" sz="1210" b="0" u="none" strike="noStrike">
              <a:solidFill>
                <a:srgbClr val="000000"/>
              </a:solidFill>
              <a:effectLst/>
              <a:uFillTx/>
              <a:latin typeface="Arial"/>
            </a:endParaRPr>
          </a:p>
          <a:p>
            <a:pPr algn="ctr" defTabSz="457200">
              <a:lnSpc>
                <a:spcPct val="110000"/>
              </a:lnSpc>
            </a:pPr>
            <a:r>
              <a:rPr lang="en-US" sz="1210" b="0" u="none" strike="noStrike">
                <a:solidFill>
                  <a:srgbClr val="1F2937"/>
                </a:solidFill>
                <a:effectLst/>
                <a:uFillTx/>
                <a:latin typeface="BIZ UDPゴシック"/>
                <a:ea typeface="BIZ UDPゴシック"/>
              </a:rPr>
              <a:t>AI-OCR</a:t>
            </a:r>
            <a:r>
              <a:rPr lang="ja-JP" sz="1210" b="0" u="none" strike="noStrike">
                <a:solidFill>
                  <a:srgbClr val="1F2937"/>
                </a:solidFill>
                <a:effectLst/>
                <a:uFillTx/>
                <a:latin typeface="BIZ UDPゴシック"/>
                <a:ea typeface="BIZ UDPゴシック"/>
              </a:rPr>
              <a:t>結果</a:t>
            </a:r>
            <a:r>
              <a:rPr lang="en-US" sz="1210" b="0" u="none" strike="noStrike">
                <a:solidFill>
                  <a:srgbClr val="1F2937"/>
                </a:solidFill>
                <a:effectLst/>
                <a:uFillTx/>
                <a:latin typeface="BIZ UDPゴシック"/>
                <a:ea typeface="BIZ UDPゴシック"/>
              </a:rPr>
              <a:t>/</a:t>
            </a:r>
            <a:r>
              <a:rPr lang="ja-JP" sz="1210" b="0" u="none" strike="noStrike">
                <a:solidFill>
                  <a:srgbClr val="1F2937"/>
                </a:solidFill>
                <a:effectLst/>
                <a:uFillTx/>
                <a:latin typeface="BIZ UDPゴシック"/>
                <a:ea typeface="BIZ UDPゴシック"/>
              </a:rPr>
              <a:t>規程違反のみ</a:t>
            </a:r>
            <a:endParaRPr lang="en-US" sz="1210" b="0" u="none" strike="noStrike">
              <a:solidFill>
                <a:srgbClr val="000000"/>
              </a:solidFill>
              <a:effectLst/>
              <a:uFillTx/>
              <a:latin typeface="Arial"/>
            </a:endParaRPr>
          </a:p>
        </p:txBody>
      </p:sp>
      <p:sp>
        <p:nvSpPr>
          <p:cNvPr id="558" name="drawio:L4"/>
          <p:cNvSpPr/>
          <p:nvPr/>
        </p:nvSpPr>
        <p:spPr>
          <a:xfrm>
            <a:off x="1118160" y="4718880"/>
            <a:ext cx="9954720" cy="945360"/>
          </a:xfrm>
          <a:prstGeom prst="rect">
            <a:avLst/>
          </a:prstGeom>
          <a:solidFill>
            <a:srgbClr val="F4F6FA"/>
          </a:solidFill>
          <a:ln w="110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9" name="drawio:L4:hdr"/>
          <p:cNvSpPr/>
          <p:nvPr/>
        </p:nvSpPr>
        <p:spPr>
          <a:xfrm>
            <a:off x="1118160" y="4718880"/>
            <a:ext cx="9954720" cy="329400"/>
          </a:xfrm>
          <a:prstGeom prst="rect">
            <a:avLst/>
          </a:prstGeom>
          <a:solidFill>
            <a:srgbClr val="F4F6FA"/>
          </a:solidFill>
          <a:ln w="110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1" u="none" strike="noStrike">
                <a:solidFill>
                  <a:srgbClr val="16213E"/>
                </a:solidFill>
                <a:effectLst/>
                <a:uFillTx/>
                <a:latin typeface="BIZ UDPゴシック"/>
                <a:ea typeface="BIZ UDPゴシック"/>
              </a:rPr>
              <a:t>経費精算サービス・会計システム</a:t>
            </a:r>
            <a:endParaRPr lang="en-US" sz="1210" b="0" u="none" strike="noStrike">
              <a:solidFill>
                <a:srgbClr val="000000"/>
              </a:solidFill>
              <a:effectLst/>
              <a:uFillTx/>
              <a:latin typeface="Arial"/>
            </a:endParaRPr>
          </a:p>
        </p:txBody>
      </p:sp>
      <p:sp>
        <p:nvSpPr>
          <p:cNvPr id="560" name="drawio:s5"/>
          <p:cNvSpPr/>
          <p:nvPr/>
        </p:nvSpPr>
        <p:spPr>
          <a:xfrm>
            <a:off x="4033440" y="5103720"/>
            <a:ext cx="1715400" cy="472320"/>
          </a:xfrm>
          <a:prstGeom prst="roundRect">
            <a:avLst>
              <a:gd name="adj" fmla="val 16667"/>
            </a:avLst>
          </a:prstGeom>
          <a:solidFill>
            <a:srgbClr val="FFFFFF"/>
          </a:solidFill>
          <a:ln w="110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仕訳自動連携</a:t>
            </a:r>
            <a:endParaRPr lang="en-US" sz="1210" b="0" u="none" strike="noStrike">
              <a:solidFill>
                <a:srgbClr val="000000"/>
              </a:solidFill>
              <a:effectLst/>
              <a:uFillTx/>
              <a:latin typeface="Arial"/>
            </a:endParaRPr>
          </a:p>
          <a:p>
            <a:pPr algn="ctr" defTabSz="457200">
              <a:lnSpc>
                <a:spcPct val="110000"/>
              </a:lnSpc>
            </a:pPr>
            <a:r>
              <a:rPr lang="ja-JP" sz="1210" b="0" u="none" strike="noStrike">
                <a:solidFill>
                  <a:srgbClr val="1F2937"/>
                </a:solidFill>
                <a:effectLst/>
                <a:uFillTx/>
                <a:latin typeface="BIZ UDPゴシック"/>
                <a:ea typeface="BIZ UDPゴシック"/>
              </a:rPr>
              <a:t>会計システムへ</a:t>
            </a:r>
            <a:endParaRPr lang="en-US" sz="1210" b="0" u="none" strike="noStrike">
              <a:solidFill>
                <a:srgbClr val="000000"/>
              </a:solidFill>
              <a:effectLst/>
              <a:uFillTx/>
              <a:latin typeface="Arial"/>
            </a:endParaRPr>
          </a:p>
        </p:txBody>
      </p:sp>
      <p:sp>
        <p:nvSpPr>
          <p:cNvPr id="561" name="drawio:s6"/>
          <p:cNvSpPr/>
          <p:nvPr/>
        </p:nvSpPr>
        <p:spPr>
          <a:xfrm>
            <a:off x="6178320" y="5103720"/>
            <a:ext cx="1539360" cy="472320"/>
          </a:xfrm>
          <a:prstGeom prst="roundRect">
            <a:avLst>
              <a:gd name="adj" fmla="val 16667"/>
            </a:avLst>
          </a:prstGeom>
          <a:solidFill>
            <a:srgbClr val="FFFFFF"/>
          </a:solidFill>
          <a:ln w="1100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0" u="none" strike="noStrike">
                <a:solidFill>
                  <a:srgbClr val="1F2937"/>
                </a:solidFill>
                <a:effectLst/>
                <a:uFillTx/>
                <a:latin typeface="BIZ UDPゴシック"/>
                <a:ea typeface="BIZ UDPゴシック"/>
              </a:rPr>
              <a:t>支払</a:t>
            </a:r>
            <a:endParaRPr lang="en-US" sz="1210" b="0" u="none" strike="noStrike">
              <a:solidFill>
                <a:srgbClr val="000000"/>
              </a:solidFill>
              <a:effectLst/>
              <a:uFillTx/>
              <a:latin typeface="Arial"/>
            </a:endParaRPr>
          </a:p>
          <a:p>
            <a:pPr algn="ctr" defTabSz="457200">
              <a:lnSpc>
                <a:spcPct val="110000"/>
              </a:lnSpc>
            </a:pPr>
            <a:r>
              <a:rPr lang="en-US" sz="1210" b="0" u="none" strike="noStrike">
                <a:solidFill>
                  <a:srgbClr val="1F2937"/>
                </a:solidFill>
                <a:effectLst/>
                <a:uFillTx/>
                <a:latin typeface="BIZ UDPゴシック"/>
                <a:ea typeface="BIZ UDPゴシック"/>
              </a:rPr>
              <a:t>FB</a:t>
            </a:r>
            <a:r>
              <a:rPr lang="ja-JP" sz="1210" b="0" u="none" strike="noStrike">
                <a:solidFill>
                  <a:srgbClr val="1F2937"/>
                </a:solidFill>
                <a:effectLst/>
                <a:uFillTx/>
                <a:latin typeface="BIZ UDPゴシック"/>
                <a:ea typeface="BIZ UDPゴシック"/>
              </a:rPr>
              <a:t>データ</a:t>
            </a:r>
            <a:endParaRPr lang="en-US" sz="1210" b="0" u="none" strike="noStrike">
              <a:solidFill>
                <a:srgbClr val="000000"/>
              </a:solidFill>
              <a:effectLst/>
              <a:uFillTx/>
              <a:latin typeface="Arial"/>
            </a:endParaRPr>
          </a:p>
        </p:txBody>
      </p:sp>
      <p:sp>
        <p:nvSpPr>
          <p:cNvPr id="562" name="drawio:s7"/>
          <p:cNvSpPr/>
          <p:nvPr/>
        </p:nvSpPr>
        <p:spPr>
          <a:xfrm>
            <a:off x="8158320" y="5103720"/>
            <a:ext cx="1968480" cy="472320"/>
          </a:xfrm>
          <a:prstGeom prst="roundRect">
            <a:avLst>
              <a:gd name="adj" fmla="val 16667"/>
            </a:avLst>
          </a:prstGeom>
          <a:solidFill>
            <a:srgbClr val="059669"/>
          </a:solidFill>
          <a:ln w="11000">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10" b="1" u="none" strike="noStrike">
                <a:solidFill>
                  <a:srgbClr val="FFFFFF"/>
                </a:solidFill>
                <a:effectLst/>
                <a:uFillTx/>
                <a:latin typeface="BIZ UDPゴシック"/>
                <a:ea typeface="BIZ UDPゴシック"/>
              </a:rPr>
              <a:t>電子保存</a:t>
            </a:r>
            <a:endParaRPr lang="en-US" sz="1210" b="0" u="none" strike="noStrike">
              <a:solidFill>
                <a:srgbClr val="FFFFFF"/>
              </a:solidFill>
              <a:effectLst/>
              <a:uFillTx/>
              <a:latin typeface="Arial"/>
            </a:endParaRPr>
          </a:p>
          <a:p>
            <a:pPr algn="ctr" defTabSz="457200">
              <a:lnSpc>
                <a:spcPct val="110000"/>
              </a:lnSpc>
            </a:pPr>
            <a:r>
              <a:rPr lang="ja-JP" sz="1210" b="1" u="none" strike="noStrike">
                <a:solidFill>
                  <a:srgbClr val="FFFFFF"/>
                </a:solidFill>
                <a:effectLst/>
                <a:uFillTx/>
                <a:latin typeface="BIZ UDPゴシック"/>
                <a:ea typeface="BIZ UDPゴシック"/>
              </a:rPr>
              <a:t>電帳法対応</a:t>
            </a:r>
            <a:endParaRPr lang="en-US" sz="1210" b="0" u="none" strike="noStrike">
              <a:solidFill>
                <a:srgbClr val="FFFFFF"/>
              </a:solidFill>
              <a:effectLst/>
              <a:uFillTx/>
              <a:latin typeface="Arial"/>
            </a:endParaRPr>
          </a:p>
        </p:txBody>
      </p:sp>
      <p:sp>
        <p:nvSpPr>
          <p:cNvPr id="563" name="drawio:n1"/>
          <p:cNvSpPr/>
          <p:nvPr/>
        </p:nvSpPr>
        <p:spPr>
          <a:xfrm>
            <a:off x="1118160" y="5763600"/>
            <a:ext cx="9954720" cy="252360"/>
          </a:xfrm>
          <a:prstGeom prst="rect">
            <a:avLst/>
          </a:prstGeom>
          <a:noFill/>
          <a:ln w="0">
            <a:noFill/>
          </a:ln>
        </p:spPr>
        <p:style>
          <a:lnRef idx="0"/>
          <a:fillRef idx="0"/>
          <a:effectRef idx="0"/>
          <a:fontRef idx="minor"/>
        </p:style>
        <p:txBody>
          <a:bodyPr lIns="36720" tIns="18360" rIns="36720" bIns="18360" anchor="ctr">
            <a:spAutoFit/>
          </a:bodyPr>
          <a:p>
            <a:pPr algn="ctr" defTabSz="457200">
              <a:lnSpc>
                <a:spcPct val="110000"/>
              </a:lnSpc>
            </a:pPr>
            <a:r>
              <a:rPr lang="ja-JP" sz="1210" b="0" u="none" strike="noStrike">
                <a:solidFill>
                  <a:srgbClr val="6B7280"/>
                </a:solidFill>
                <a:effectLst/>
                <a:uFillTx/>
                <a:latin typeface="BIZ UDPゴシック"/>
                <a:ea typeface="BIZ UDPゴシック"/>
              </a:rPr>
              <a:t>紙の原本回付なし </a:t>
            </a:r>
            <a:r>
              <a:rPr lang="en-US" sz="1210" b="0" u="none" strike="noStrike">
                <a:solidFill>
                  <a:srgbClr val="6B7280"/>
                </a:solidFill>
                <a:effectLst/>
                <a:uFillTx/>
                <a:latin typeface="BIZ UDPゴシック"/>
                <a:ea typeface="BIZ UDPゴシック"/>
              </a:rPr>
              <a:t>/ </a:t>
            </a:r>
            <a:r>
              <a:rPr lang="ja-JP" sz="1210" b="0" u="none" strike="noStrike">
                <a:solidFill>
                  <a:srgbClr val="6B7280"/>
                </a:solidFill>
                <a:effectLst/>
                <a:uFillTx/>
                <a:latin typeface="BIZ UDPゴシック"/>
                <a:ea typeface="BIZ UDPゴシック"/>
              </a:rPr>
              <a:t>申請から電子保存まで自動連携</a:t>
            </a:r>
            <a:endParaRPr lang="en-US" sz="1210" b="0" u="none" strike="noStrike">
              <a:solidFill>
                <a:srgbClr val="000000"/>
              </a:solidFill>
              <a:effectLst/>
              <a:uFillTx/>
              <a:latin typeface="Arial"/>
            </a:endParaRPr>
          </a:p>
        </p:txBody>
      </p:sp>
      <p:sp>
        <p:nvSpPr>
          <p:cNvPr id="564" name="drawio:e1"/>
          <p:cNvSpPr/>
          <p:nvPr/>
        </p:nvSpPr>
        <p:spPr>
          <a:xfrm>
            <a:off x="3572280" y="2249280"/>
            <a:ext cx="488880" cy="360"/>
          </a:xfrm>
          <a:custGeom>
            <a:avLst/>
            <a:gdLst>
              <a:gd name="textAreaLeft" fmla="*/ 0 w 488880"/>
              <a:gd name="textAreaRight" fmla="*/ 489600 w 488880"/>
              <a:gd name="textAreaTop" fmla="*/ 0 h 360"/>
              <a:gd name="textAreaBottom" fmla="*/ 1440 h 360"/>
            </a:gdLst>
            <a:ahLst/>
            <a:cxnLst/>
            <a:rect l="textAreaLeft" t="textAreaTop" r="textAreaRight" b="textAreaBottom"/>
            <a:pathLst>
              <a:path w="489568" h="0">
                <a:moveTo>
                  <a:pt x="0" y="0"/>
                </a:moveTo>
                <a:lnTo>
                  <a:pt x="183430" y="0"/>
                </a:lnTo>
                <a:lnTo>
                  <a:pt x="183430" y="0"/>
                </a:lnTo>
                <a:lnTo>
                  <a:pt x="489568" y="0"/>
                </a:lnTo>
              </a:path>
            </a:pathLst>
          </a:custGeom>
          <a:noFill/>
          <a:ln w="2200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565" name="drawio:e2"/>
          <p:cNvSpPr/>
          <p:nvPr/>
        </p:nvSpPr>
        <p:spPr>
          <a:xfrm>
            <a:off x="4979160" y="2478600"/>
            <a:ext cx="360" cy="574560"/>
          </a:xfrm>
          <a:custGeom>
            <a:avLst/>
            <a:gdLst>
              <a:gd name="textAreaLeft" fmla="*/ 0 w 360"/>
              <a:gd name="textAreaRight" fmla="*/ 1440 w 360"/>
              <a:gd name="textAreaTop" fmla="*/ 0 h 574560"/>
              <a:gd name="textAreaBottom" fmla="*/ 575280 h 574560"/>
            </a:gdLst>
            <a:ahLst/>
            <a:cxnLst/>
            <a:rect l="textAreaLeft" t="textAreaTop" r="textAreaRight" b="textAreaBottom"/>
            <a:pathLst>
              <a:path w="0" h="575205">
                <a:moveTo>
                  <a:pt x="0" y="0"/>
                </a:moveTo>
                <a:lnTo>
                  <a:pt x="0" y="287603"/>
                </a:lnTo>
                <a:lnTo>
                  <a:pt x="0" y="287603"/>
                </a:lnTo>
                <a:lnTo>
                  <a:pt x="0" y="575205"/>
                </a:lnTo>
              </a:path>
            </a:pathLst>
          </a:custGeom>
          <a:noFill/>
          <a:ln w="2200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6" name="drawio:e3"/>
          <p:cNvSpPr/>
          <p:nvPr/>
        </p:nvSpPr>
        <p:spPr>
          <a:xfrm>
            <a:off x="4979160" y="3512520"/>
            <a:ext cx="360" cy="574560"/>
          </a:xfrm>
          <a:custGeom>
            <a:avLst/>
            <a:gdLst>
              <a:gd name="textAreaLeft" fmla="*/ 0 w 360"/>
              <a:gd name="textAreaRight" fmla="*/ 1440 w 360"/>
              <a:gd name="textAreaTop" fmla="*/ 0 h 574560"/>
              <a:gd name="textAreaBottom" fmla="*/ 575280 h 574560"/>
            </a:gdLst>
            <a:ahLst/>
            <a:cxnLst/>
            <a:rect l="textAreaLeft" t="textAreaTop" r="textAreaRight" b="textAreaBottom"/>
            <a:pathLst>
              <a:path w="126504" h="575206">
                <a:moveTo>
                  <a:pt x="0" y="0"/>
                </a:moveTo>
                <a:lnTo>
                  <a:pt x="0" y="287603"/>
                </a:lnTo>
                <a:lnTo>
                  <a:pt x="126504" y="287603"/>
                </a:lnTo>
                <a:lnTo>
                  <a:pt x="126504" y="575206"/>
                </a:lnTo>
              </a:path>
            </a:pathLst>
          </a:custGeom>
          <a:noFill/>
          <a:ln w="2200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7" name="drawio:e4"/>
          <p:cNvSpPr/>
          <p:nvPr/>
        </p:nvSpPr>
        <p:spPr>
          <a:xfrm>
            <a:off x="4963680" y="4553280"/>
            <a:ext cx="360" cy="556560"/>
          </a:xfrm>
          <a:custGeom>
            <a:avLst/>
            <a:gdLst>
              <a:gd name="textAreaLeft" fmla="*/ 0 w 360"/>
              <a:gd name="textAreaRight" fmla="*/ 1440 w 360"/>
              <a:gd name="textAreaTop" fmla="*/ 0 h 556560"/>
              <a:gd name="textAreaBottom" fmla="*/ 557280 h 556560"/>
            </a:gdLst>
            <a:ahLst/>
            <a:cxnLst/>
            <a:rect l="textAreaLeft" t="textAreaTop" r="textAreaRight" b="textAreaBottom"/>
            <a:pathLst>
              <a:path w="214506" h="564206">
                <a:moveTo>
                  <a:pt x="214506" y="0"/>
                </a:moveTo>
                <a:lnTo>
                  <a:pt x="214506" y="282103"/>
                </a:lnTo>
                <a:lnTo>
                  <a:pt x="0" y="282103"/>
                </a:lnTo>
                <a:lnTo>
                  <a:pt x="0" y="564206"/>
                </a:lnTo>
              </a:path>
            </a:pathLst>
          </a:custGeom>
          <a:noFill/>
          <a:ln w="2200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8" name="drawio:e5"/>
          <p:cNvSpPr/>
          <p:nvPr/>
        </p:nvSpPr>
        <p:spPr>
          <a:xfrm>
            <a:off x="5723640" y="5340240"/>
            <a:ext cx="477000" cy="360"/>
          </a:xfrm>
          <a:custGeom>
            <a:avLst/>
            <a:gdLst>
              <a:gd name="textAreaLeft" fmla="*/ 0 w 477000"/>
              <a:gd name="textAreaRight" fmla="*/ 477720 w 477000"/>
              <a:gd name="textAreaTop" fmla="*/ 0 h 360"/>
              <a:gd name="textAreaBottom" fmla="*/ 1440 h 360"/>
            </a:gdLst>
            <a:ahLst/>
            <a:cxnLst/>
            <a:rect l="textAreaLeft" t="textAreaTop" r="textAreaRight" b="textAreaBottom"/>
            <a:pathLst>
              <a:path w="477853" h="0">
                <a:moveTo>
                  <a:pt x="0" y="0"/>
                </a:moveTo>
                <a:lnTo>
                  <a:pt x="196245" y="0"/>
                </a:lnTo>
                <a:lnTo>
                  <a:pt x="196245" y="0"/>
                </a:lnTo>
                <a:lnTo>
                  <a:pt x="477853" y="0"/>
                </a:lnTo>
              </a:path>
            </a:pathLst>
          </a:custGeom>
          <a:noFill/>
          <a:ln w="2200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569" name="drawio:e6"/>
          <p:cNvSpPr/>
          <p:nvPr/>
        </p:nvSpPr>
        <p:spPr>
          <a:xfrm>
            <a:off x="7695360" y="5340240"/>
            <a:ext cx="491760" cy="360"/>
          </a:xfrm>
          <a:custGeom>
            <a:avLst/>
            <a:gdLst>
              <a:gd name="textAreaLeft" fmla="*/ 0 w 491760"/>
              <a:gd name="textAreaRight" fmla="*/ 492480 w 491760"/>
              <a:gd name="textAreaTop" fmla="*/ 0 h 360"/>
              <a:gd name="textAreaBottom" fmla="*/ 1440 h 360"/>
            </a:gdLst>
            <a:ahLst/>
            <a:cxnLst/>
            <a:rect l="textAreaLeft" t="textAreaTop" r="textAreaRight" b="textAreaBottom"/>
            <a:pathLst>
              <a:path w="492648" h="0">
                <a:moveTo>
                  <a:pt x="0" y="0"/>
                </a:moveTo>
                <a:lnTo>
                  <a:pt x="350359" y="0"/>
                </a:lnTo>
                <a:lnTo>
                  <a:pt x="350359" y="0"/>
                </a:lnTo>
                <a:lnTo>
                  <a:pt x="492648" y="0"/>
                </a:lnTo>
              </a:path>
            </a:pathLst>
          </a:custGeom>
          <a:noFill/>
          <a:ln w="2200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570" name="blk-diagram-cap"/>
          <p:cNvSpPr/>
          <p:nvPr/>
        </p:nvSpPr>
        <p:spPr>
          <a:xfrm>
            <a:off x="502920" y="605340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en-US" sz="900" b="0" u="none" strike="noStrike">
                <a:solidFill>
                  <a:srgbClr val="6B7280"/>
                </a:solidFill>
                <a:effectLst/>
                <a:uFillTx/>
                <a:latin typeface="BIZ UDPゴシック"/>
                <a:ea typeface="BIZ UDPゴシック"/>
              </a:rPr>
              <a:t>To-Be </a:t>
            </a:r>
            <a:r>
              <a:rPr lang="ja-JP" sz="900" b="0" u="none" strike="noStrike">
                <a:solidFill>
                  <a:srgbClr val="6B7280"/>
                </a:solidFill>
                <a:effectLst/>
                <a:uFillTx/>
                <a:latin typeface="BIZ UDPゴシック"/>
                <a:ea typeface="BIZ UDPゴシック"/>
              </a:rPr>
              <a:t>業務フロー </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申請・承認・経費データ取込・仕訳連携・支払。紙の領収書はスキャナ保存、電子取引データはそのまま保存</a:t>
            </a:r>
            <a:r>
              <a:rPr lang="en-US" sz="900" b="0" u="none" strike="noStrike">
                <a:solidFill>
                  <a:srgbClr val="6B7280"/>
                </a:solidFill>
                <a:effectLst/>
                <a:uFillTx/>
                <a:latin typeface="BIZ UDPゴシック"/>
                <a:ea typeface="BIZ UDPゴシック"/>
              </a:rPr>
              <a:t>)</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57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575"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76"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77"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7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7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8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8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58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58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1.8 </a:t>
            </a:r>
            <a:r>
              <a:rPr lang="ja-JP" sz="2400" b="1" u="none" strike="noStrike">
                <a:solidFill>
                  <a:srgbClr val="16213E"/>
                </a:solidFill>
                <a:effectLst/>
                <a:uFillTx/>
                <a:latin typeface="BIZ UDPゴシック"/>
                <a:ea typeface="BIZ UDPゴシック"/>
              </a:rPr>
              <a:t>対象の概要</a:t>
            </a:r>
            <a:endParaRPr lang="en-US" sz="2400" b="0" u="none" strike="noStrike">
              <a:solidFill>
                <a:srgbClr val="000000"/>
              </a:solidFill>
              <a:effectLst/>
              <a:uFillTx/>
              <a:latin typeface="Arial"/>
            </a:endParaRPr>
          </a:p>
        </p:txBody>
      </p:sp>
      <p:sp>
        <p:nvSpPr>
          <p:cNvPr id="58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585" name="hdr-hair"/>
          <p:cNvCxnSpPr/>
          <p:nvPr/>
        </p:nvCxnSpPr>
        <p:spPr>
          <a:xfrm>
            <a:off x="502920" y="969120"/>
            <a:ext cx="11186280" cy="720"/>
          </a:xfrm>
          <a:prstGeom prst="straightConnector1">
            <a:avLst/>
          </a:prstGeom>
          <a:ln w="9525">
            <a:solidFill>
              <a:srgbClr val="D5DBE5"/>
            </a:solidFill>
            <a:round/>
          </a:ln>
        </p:spPr>
      </p:cxnSp>
      <p:cxnSp>
        <p:nvCxnSpPr>
          <p:cNvPr id="586" name="ftr-hair"/>
          <p:cNvCxnSpPr/>
          <p:nvPr/>
        </p:nvCxnSpPr>
        <p:spPr>
          <a:xfrm>
            <a:off x="502920" y="6382440"/>
            <a:ext cx="11186280" cy="720"/>
          </a:xfrm>
          <a:prstGeom prst="straightConnector1">
            <a:avLst/>
          </a:prstGeom>
          <a:ln w="9525">
            <a:solidFill>
              <a:srgbClr val="D5DBE5"/>
            </a:solidFill>
            <a:round/>
          </a:ln>
        </p:spPr>
      </p:cxnSp>
      <p:sp>
        <p:nvSpPr>
          <p:cNvPr id="58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13 / 85</a:t>
            </a:r>
            <a:endParaRPr lang="en-US" sz="1100" b="0" u="none" strike="noStrike">
              <a:solidFill>
                <a:srgbClr val="000000"/>
              </a:solidFill>
              <a:effectLst/>
              <a:uFillTx/>
              <a:latin typeface="Arial"/>
            </a:endParaRPr>
          </a:p>
        </p:txBody>
      </p:sp>
      <p:sp>
        <p:nvSpPr>
          <p:cNvPr id="58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58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59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59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対象業務・システム・組織・対象者と規模を整理し、提案の前提を明確にする</a:t>
            </a:r>
            <a:endParaRPr lang="en-US" sz="1500" b="0" u="none" strike="noStrike">
              <a:solidFill>
                <a:srgbClr val="000000"/>
              </a:solidFill>
              <a:effectLst/>
              <a:uFillTx/>
              <a:latin typeface="Arial"/>
            </a:endParaRPr>
          </a:p>
        </p:txBody>
      </p:sp>
      <p:graphicFrame>
        <p:nvGraphicFramePr>
          <p:cNvPr id="594" name="blk-table"/>
          <p:cNvGraphicFramePr/>
          <p:nvPr/>
        </p:nvGraphicFramePr>
        <p:xfrm>
          <a:off x="502920" y="1627560"/>
          <a:ext cx="11185200" cy="2981160"/>
        </p:xfrm>
        <a:graphic>
          <a:graphicData uri="http://schemas.openxmlformats.org/drawingml/2006/table">
            <a:tbl>
              <a:tblPr/>
              <a:tblGrid>
                <a:gridCol w="3132000"/>
                <a:gridCol w="8053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項目</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内容</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対象業務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経費精算業務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申請・承認・経費データ取込・支払・精算</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対象システム</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クラウド経費精算</a:t>
                      </a:r>
                      <a:r>
                        <a:rPr lang="en-US" sz="1400" b="0" u="none" strike="noStrike">
                          <a:solidFill>
                            <a:srgbClr val="1F2937"/>
                          </a:solidFill>
                          <a:effectLst/>
                          <a:uFillTx/>
                          <a:latin typeface="BIZ UDPゴシック"/>
                          <a:ea typeface="BIZ UDPゴシック"/>
                        </a:rPr>
                        <a:t>SaaS</a:t>
                      </a:r>
                      <a:r>
                        <a:rPr lang="ja-JP" sz="1400" b="0" u="none" strike="noStrike">
                          <a:solidFill>
                            <a:srgbClr val="1F2937"/>
                          </a:solidFill>
                          <a:effectLst/>
                          <a:uFillTx/>
                          <a:latin typeface="BIZ UDPゴシック"/>
                          <a:ea typeface="BIZ UDPゴシック"/>
                        </a:rPr>
                        <a:t>、基幹会計システム連携、人事・カード・交通系連携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対象組織</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経理部、情報システム部、全事業部門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対象拠点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本社および国内</a:t>
                      </a:r>
                      <a:r>
                        <a:rPr lang="en-US" sz="1400" b="0" u="none" strike="noStrike">
                          <a:solidFill>
                            <a:srgbClr val="1F2937"/>
                          </a:solidFill>
                          <a:effectLst/>
                          <a:uFillTx/>
                          <a:latin typeface="BIZ UDPゴシック"/>
                          <a:ea typeface="BIZ UDPゴシック"/>
                        </a:rPr>
                        <a:t>8</a:t>
                      </a:r>
                      <a:r>
                        <a:rPr lang="ja-JP" sz="1400" b="0" u="none" strike="noStrike">
                          <a:solidFill>
                            <a:srgbClr val="1F2937"/>
                          </a:solidFill>
                          <a:effectLst/>
                          <a:uFillTx/>
                          <a:latin typeface="BIZ UDPゴシック"/>
                          <a:ea typeface="BIZ UDPゴシック"/>
                        </a:rPr>
                        <a:t>拠点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対象者</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全社 約</a:t>
                      </a:r>
                      <a:r>
                        <a:rPr lang="en-US" sz="1400" b="0" u="none" strike="noStrike">
                          <a:solidFill>
                            <a:srgbClr val="1F2937"/>
                          </a:solidFill>
                          <a:effectLst/>
                          <a:uFillTx/>
                          <a:latin typeface="BIZ UDPゴシック"/>
                          <a:ea typeface="BIZ UDPゴシック"/>
                        </a:rPr>
                        <a:t>1,200</a:t>
                      </a:r>
                      <a:r>
                        <a:rPr lang="ja-JP" sz="1400" b="0" u="none" strike="noStrike">
                          <a:solidFill>
                            <a:srgbClr val="1F2937"/>
                          </a:solidFill>
                          <a:effectLst/>
                          <a:uFillTx/>
                          <a:latin typeface="BIZ UDPゴシック"/>
                          <a:ea typeface="BIZ UDPゴシック"/>
                        </a:rPr>
                        <a:t>名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従業員 約</a:t>
                      </a:r>
                      <a:r>
                        <a:rPr lang="en-US" sz="1400" b="0" u="none" strike="noStrike">
                          <a:solidFill>
                            <a:srgbClr val="1F2937"/>
                          </a:solidFill>
                          <a:effectLst/>
                          <a:uFillTx/>
                          <a:latin typeface="BIZ UDPゴシック"/>
                          <a:ea typeface="BIZ UDPゴシック"/>
                        </a:rPr>
                        <a:t>1,500</a:t>
                      </a:r>
                      <a:r>
                        <a:rPr lang="ja-JP" sz="1400" b="0" u="none" strike="noStrike">
                          <a:solidFill>
                            <a:srgbClr val="1F2937"/>
                          </a:solidFill>
                          <a:effectLst/>
                          <a:uFillTx/>
                          <a:latin typeface="BIZ UDPゴシック"/>
                          <a:ea typeface="BIZ UDPゴシック"/>
                        </a:rPr>
                        <a:t>名</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対象期間</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2026/12/01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2027/11/30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発注者</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サンプル商事株式会社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総合商社</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59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599"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0"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1"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2"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0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60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1.9 </a:t>
            </a:r>
            <a:r>
              <a:rPr lang="ja-JP" sz="2400" b="1" u="none" strike="noStrike">
                <a:solidFill>
                  <a:srgbClr val="16213E"/>
                </a:solidFill>
                <a:effectLst/>
                <a:uFillTx/>
                <a:latin typeface="BIZ UDPゴシック"/>
                <a:ea typeface="BIZ UDPゴシック"/>
              </a:rPr>
              <a:t>システム連携構成</a:t>
            </a:r>
            <a:endParaRPr lang="en-US" sz="2400" b="0" u="none" strike="noStrike">
              <a:solidFill>
                <a:srgbClr val="000000"/>
              </a:solidFill>
              <a:effectLst/>
              <a:uFillTx/>
              <a:latin typeface="Arial"/>
            </a:endParaRPr>
          </a:p>
        </p:txBody>
      </p:sp>
      <p:sp>
        <p:nvSpPr>
          <p:cNvPr id="60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609" name="hdr-hair"/>
          <p:cNvCxnSpPr/>
          <p:nvPr/>
        </p:nvCxnSpPr>
        <p:spPr>
          <a:xfrm>
            <a:off x="502920" y="969120"/>
            <a:ext cx="11186280" cy="720"/>
          </a:xfrm>
          <a:prstGeom prst="straightConnector1">
            <a:avLst/>
          </a:prstGeom>
          <a:ln w="9525">
            <a:solidFill>
              <a:srgbClr val="D5DBE5"/>
            </a:solidFill>
            <a:round/>
          </a:ln>
        </p:spPr>
      </p:cxnSp>
      <p:cxnSp>
        <p:nvCxnSpPr>
          <p:cNvPr id="610" name="ftr-hair"/>
          <p:cNvCxnSpPr/>
          <p:nvPr/>
        </p:nvCxnSpPr>
        <p:spPr>
          <a:xfrm>
            <a:off x="502920" y="6382440"/>
            <a:ext cx="11186280" cy="720"/>
          </a:xfrm>
          <a:prstGeom prst="straightConnector1">
            <a:avLst/>
          </a:prstGeom>
          <a:ln w="9525">
            <a:solidFill>
              <a:srgbClr val="D5DBE5"/>
            </a:solidFill>
            <a:round/>
          </a:ln>
        </p:spPr>
      </p:cxnSp>
      <p:sp>
        <p:nvSpPr>
          <p:cNvPr id="61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14 / 85</a:t>
            </a:r>
            <a:endParaRPr lang="en-US" sz="1100" b="0" u="none" strike="noStrike">
              <a:solidFill>
                <a:srgbClr val="000000"/>
              </a:solidFill>
              <a:effectLst/>
              <a:uFillTx/>
              <a:latin typeface="Arial"/>
            </a:endParaRPr>
          </a:p>
        </p:txBody>
      </p:sp>
      <p:sp>
        <p:nvSpPr>
          <p:cNvPr id="61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61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61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61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経費精算</a:t>
            </a:r>
            <a:r>
              <a:rPr lang="en-US" sz="1500" b="1" u="none" strike="noStrike">
                <a:solidFill>
                  <a:srgbClr val="16213E"/>
                </a:solidFill>
                <a:effectLst/>
                <a:uFillTx/>
                <a:latin typeface="BIZ UDPゴシック"/>
                <a:ea typeface="BIZ UDPゴシック"/>
              </a:rPr>
              <a:t>SaaS</a:t>
            </a:r>
            <a:r>
              <a:rPr lang="ja-JP" sz="1500" b="1" u="none" strike="noStrike">
                <a:solidFill>
                  <a:srgbClr val="16213E"/>
                </a:solidFill>
                <a:effectLst/>
                <a:uFillTx/>
                <a:latin typeface="BIZ UDPゴシック"/>
                <a:ea typeface="BIZ UDPゴシック"/>
              </a:rPr>
              <a:t>を中核に、会計・人事・カード等の基幹システムと連携する</a:t>
            </a:r>
            <a:endParaRPr lang="en-US" sz="1500" b="0" u="none" strike="noStrike">
              <a:solidFill>
                <a:srgbClr val="000000"/>
              </a:solidFill>
              <a:effectLst/>
              <a:uFillTx/>
              <a:latin typeface="Arial"/>
            </a:endParaRPr>
          </a:p>
        </p:txBody>
      </p:sp>
      <p:sp>
        <p:nvSpPr>
          <p:cNvPr id="618" name="drawio:IN"/>
          <p:cNvSpPr/>
          <p:nvPr/>
        </p:nvSpPr>
        <p:spPr>
          <a:xfrm>
            <a:off x="793080" y="1627560"/>
            <a:ext cx="3475080" cy="4388400"/>
          </a:xfrm>
          <a:prstGeom prst="rect">
            <a:avLst/>
          </a:prstGeom>
          <a:solidFill>
            <a:srgbClr val="F4F6FA"/>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9" name="drawio:IN:hdr"/>
          <p:cNvSpPr/>
          <p:nvPr/>
        </p:nvSpPr>
        <p:spPr>
          <a:xfrm>
            <a:off x="793080" y="1627560"/>
            <a:ext cx="3475080" cy="378000"/>
          </a:xfrm>
          <a:prstGeom prst="rect">
            <a:avLst/>
          </a:prstGeom>
          <a:solidFill>
            <a:srgbClr val="F4F6FA"/>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1" u="none" strike="noStrike">
                <a:solidFill>
                  <a:srgbClr val="16213E"/>
                </a:solidFill>
                <a:effectLst/>
                <a:uFillTx/>
                <a:latin typeface="BIZ UDPゴシック"/>
                <a:ea typeface="BIZ UDPゴシック"/>
              </a:rPr>
              <a:t>社内システム</a:t>
            </a:r>
            <a:endParaRPr lang="en-US" sz="1230" b="0" u="none" strike="noStrike">
              <a:solidFill>
                <a:srgbClr val="000000"/>
              </a:solidFill>
              <a:effectLst/>
              <a:uFillTx/>
              <a:latin typeface="Arial"/>
            </a:endParaRPr>
          </a:p>
        </p:txBody>
      </p:sp>
      <p:sp>
        <p:nvSpPr>
          <p:cNvPr id="620" name="drawio:i1"/>
          <p:cNvSpPr/>
          <p:nvPr/>
        </p:nvSpPr>
        <p:spPr>
          <a:xfrm>
            <a:off x="1339200" y="2363040"/>
            <a:ext cx="2372040" cy="634320"/>
          </a:xfrm>
          <a:prstGeom prst="roundRect">
            <a:avLst>
              <a:gd name="adj" fmla="val 16667"/>
            </a:avLst>
          </a:prstGeom>
          <a:solidFill>
            <a:srgbClr val="FFFFFF"/>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30" b="0" u="none" strike="noStrike">
                <a:solidFill>
                  <a:srgbClr val="1F2937"/>
                </a:solidFill>
                <a:effectLst/>
                <a:uFillTx/>
                <a:latin typeface="BIZ UDPゴシック"/>
                <a:ea typeface="BIZ UDPゴシック"/>
              </a:rPr>
              <a:t>SSO / IdP</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多要素認証</a:t>
            </a:r>
            <a:endParaRPr lang="en-US" sz="1230" b="0" u="none" strike="noStrike">
              <a:solidFill>
                <a:srgbClr val="000000"/>
              </a:solidFill>
              <a:effectLst/>
              <a:uFillTx/>
              <a:latin typeface="Arial"/>
            </a:endParaRPr>
          </a:p>
        </p:txBody>
      </p:sp>
      <p:sp>
        <p:nvSpPr>
          <p:cNvPr id="621" name="drawio:i2"/>
          <p:cNvSpPr/>
          <p:nvPr/>
        </p:nvSpPr>
        <p:spPr>
          <a:xfrm>
            <a:off x="1339200" y="3276360"/>
            <a:ext cx="2372040" cy="634320"/>
          </a:xfrm>
          <a:prstGeom prst="roundRect">
            <a:avLst>
              <a:gd name="adj" fmla="val 16667"/>
            </a:avLst>
          </a:prstGeom>
          <a:solidFill>
            <a:srgbClr val="FFFFFF"/>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人事マスタ</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組織・承認ルート </a:t>
            </a:r>
            <a:r>
              <a:rPr lang="en-US" sz="1230" b="0" u="none" strike="noStrike">
                <a:solidFill>
                  <a:srgbClr val="1F2937"/>
                </a:solidFill>
                <a:effectLst/>
                <a:uFillTx/>
                <a:latin typeface="BIZ UDPゴシック"/>
                <a:ea typeface="BIZ UDPゴシック"/>
              </a:rPr>
              <a:t>(</a:t>
            </a:r>
            <a:r>
              <a:rPr lang="ja-JP" sz="1230" b="0" u="none" strike="noStrike">
                <a:solidFill>
                  <a:srgbClr val="1F2937"/>
                </a:solidFill>
                <a:effectLst/>
                <a:uFillTx/>
                <a:latin typeface="BIZ UDPゴシック"/>
                <a:ea typeface="BIZ UDPゴシック"/>
              </a:rPr>
              <a:t>日次</a:t>
            </a:r>
            <a:r>
              <a:rPr lang="en-US" sz="1230" b="0" u="none" strike="noStrike">
                <a:solidFill>
                  <a:srgbClr val="1F2937"/>
                </a:solidFill>
                <a:effectLst/>
                <a:uFillTx/>
                <a:latin typeface="BIZ UDPゴシック"/>
                <a:ea typeface="BIZ UDPゴシック"/>
              </a:rPr>
              <a:t>)</a:t>
            </a:r>
            <a:endParaRPr lang="en-US" sz="1230" b="0" u="none" strike="noStrike">
              <a:solidFill>
                <a:srgbClr val="000000"/>
              </a:solidFill>
              <a:effectLst/>
              <a:uFillTx/>
              <a:latin typeface="Arial"/>
            </a:endParaRPr>
          </a:p>
        </p:txBody>
      </p:sp>
      <p:sp>
        <p:nvSpPr>
          <p:cNvPr id="622" name="drawio:i3"/>
          <p:cNvSpPr/>
          <p:nvPr/>
        </p:nvSpPr>
        <p:spPr>
          <a:xfrm>
            <a:off x="1339200" y="4189680"/>
            <a:ext cx="2372040" cy="634320"/>
          </a:xfrm>
          <a:prstGeom prst="roundRect">
            <a:avLst>
              <a:gd name="adj" fmla="val 16667"/>
            </a:avLst>
          </a:prstGeom>
          <a:solidFill>
            <a:srgbClr val="FFFFFF"/>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会計システム</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仕訳 </a:t>
            </a:r>
            <a:r>
              <a:rPr lang="en-US" sz="1230" b="0" u="none" strike="noStrike">
                <a:solidFill>
                  <a:srgbClr val="1F2937"/>
                </a:solidFill>
                <a:effectLst/>
                <a:uFillTx/>
                <a:latin typeface="BIZ UDPゴシック"/>
                <a:ea typeface="BIZ UDPゴシック"/>
              </a:rPr>
              <a:t>(</a:t>
            </a:r>
            <a:r>
              <a:rPr lang="ja-JP" sz="1230" b="0" u="none" strike="noStrike">
                <a:solidFill>
                  <a:srgbClr val="1F2937"/>
                </a:solidFill>
                <a:effectLst/>
                <a:uFillTx/>
                <a:latin typeface="BIZ UDPゴシック"/>
                <a:ea typeface="BIZ UDPゴシック"/>
              </a:rPr>
              <a:t>日次</a:t>
            </a:r>
            <a:r>
              <a:rPr lang="en-US" sz="1230" b="0" u="none" strike="noStrike">
                <a:solidFill>
                  <a:srgbClr val="1F2937"/>
                </a:solidFill>
                <a:effectLst/>
                <a:uFillTx/>
                <a:latin typeface="BIZ UDPゴシック"/>
                <a:ea typeface="BIZ UDPゴシック"/>
              </a:rPr>
              <a:t>CSV/API)</a:t>
            </a:r>
            <a:endParaRPr lang="en-US" sz="1230" b="0" u="none" strike="noStrike">
              <a:solidFill>
                <a:srgbClr val="000000"/>
              </a:solidFill>
              <a:effectLst/>
              <a:uFillTx/>
              <a:latin typeface="Arial"/>
            </a:endParaRPr>
          </a:p>
        </p:txBody>
      </p:sp>
      <p:sp>
        <p:nvSpPr>
          <p:cNvPr id="623" name="drawio:i4"/>
          <p:cNvSpPr/>
          <p:nvPr/>
        </p:nvSpPr>
        <p:spPr>
          <a:xfrm>
            <a:off x="1339200" y="5103360"/>
            <a:ext cx="2372040" cy="634320"/>
          </a:xfrm>
          <a:prstGeom prst="roundRect">
            <a:avLst>
              <a:gd name="adj" fmla="val 16667"/>
            </a:avLst>
          </a:prstGeom>
          <a:solidFill>
            <a:srgbClr val="FFFFFF"/>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銀行・</a:t>
            </a:r>
            <a:r>
              <a:rPr lang="en-US" sz="1230" b="0" u="none" strike="noStrike">
                <a:solidFill>
                  <a:srgbClr val="1F2937"/>
                </a:solidFill>
                <a:effectLst/>
                <a:uFillTx/>
                <a:latin typeface="BIZ UDPゴシック"/>
                <a:ea typeface="BIZ UDPゴシック"/>
              </a:rPr>
              <a:t>FB</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支払データ</a:t>
            </a:r>
            <a:endParaRPr lang="en-US" sz="1230" b="0" u="none" strike="noStrike">
              <a:solidFill>
                <a:srgbClr val="000000"/>
              </a:solidFill>
              <a:effectLst/>
              <a:uFillTx/>
              <a:latin typeface="Arial"/>
            </a:endParaRPr>
          </a:p>
        </p:txBody>
      </p:sp>
      <p:sp>
        <p:nvSpPr>
          <p:cNvPr id="624" name="drawio:CL"/>
          <p:cNvSpPr/>
          <p:nvPr/>
        </p:nvSpPr>
        <p:spPr>
          <a:xfrm>
            <a:off x="4636440" y="1627560"/>
            <a:ext cx="6761160" cy="4388400"/>
          </a:xfrm>
          <a:prstGeom prst="rect">
            <a:avLst/>
          </a:prstGeom>
          <a:solidFill>
            <a:srgbClr val="F4F6FA"/>
          </a:solidFill>
          <a:ln w="11139">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5" name="drawio:CL:hdr"/>
          <p:cNvSpPr/>
          <p:nvPr/>
        </p:nvSpPr>
        <p:spPr>
          <a:xfrm>
            <a:off x="4636440" y="1627560"/>
            <a:ext cx="6761160" cy="378000"/>
          </a:xfrm>
          <a:prstGeom prst="rect">
            <a:avLst/>
          </a:prstGeom>
          <a:solidFill>
            <a:srgbClr val="F4F6FA"/>
          </a:solidFill>
          <a:ln w="11139">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1" u="none" strike="noStrike">
                <a:solidFill>
                  <a:srgbClr val="16213E"/>
                </a:solidFill>
                <a:effectLst/>
                <a:uFillTx/>
                <a:latin typeface="BIZ UDPゴシック"/>
                <a:ea typeface="BIZ UDPゴシック"/>
              </a:rPr>
              <a:t>クラウド</a:t>
            </a:r>
            <a:endParaRPr lang="en-US" sz="1230" b="0" u="none" strike="noStrike">
              <a:solidFill>
                <a:srgbClr val="000000"/>
              </a:solidFill>
              <a:effectLst/>
              <a:uFillTx/>
              <a:latin typeface="Arial"/>
            </a:endParaRPr>
          </a:p>
        </p:txBody>
      </p:sp>
      <p:sp>
        <p:nvSpPr>
          <p:cNvPr id="626" name="drawio:c0"/>
          <p:cNvSpPr/>
          <p:nvPr/>
        </p:nvSpPr>
        <p:spPr>
          <a:xfrm>
            <a:off x="5182200" y="3365280"/>
            <a:ext cx="2561400" cy="1001880"/>
          </a:xfrm>
          <a:prstGeom prst="roundRect">
            <a:avLst>
              <a:gd name="adj" fmla="val 16667"/>
            </a:avLst>
          </a:prstGeom>
          <a:solidFill>
            <a:srgbClr val="16213E"/>
          </a:solidFill>
          <a:ln w="11139">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1" u="none" strike="noStrike">
                <a:solidFill>
                  <a:srgbClr val="FFFFFF"/>
                </a:solidFill>
                <a:effectLst/>
                <a:uFillTx/>
                <a:latin typeface="BIZ UDPゴシック"/>
                <a:ea typeface="BIZ UDPゴシック"/>
              </a:rPr>
              <a:t>クラウド経費精算サービス</a:t>
            </a:r>
            <a:endParaRPr lang="en-US" sz="1230" b="0" u="none" strike="noStrike">
              <a:solidFill>
                <a:srgbClr val="FFFFFF"/>
              </a:solidFill>
              <a:effectLst/>
              <a:uFillTx/>
              <a:latin typeface="Arial"/>
            </a:endParaRPr>
          </a:p>
          <a:p>
            <a:pPr algn="ctr" defTabSz="457200">
              <a:lnSpc>
                <a:spcPct val="110000"/>
              </a:lnSpc>
            </a:pPr>
            <a:r>
              <a:rPr lang="en-US" sz="1230" b="1" u="none" strike="noStrike">
                <a:solidFill>
                  <a:srgbClr val="FFFFFF"/>
                </a:solidFill>
                <a:effectLst/>
                <a:uFillTx/>
                <a:latin typeface="BIZ UDPゴシック"/>
                <a:ea typeface="BIZ UDPゴシック"/>
              </a:rPr>
              <a:t>(SaaS)</a:t>
            </a:r>
            <a:endParaRPr lang="en-US" sz="1230" b="0" u="none" strike="noStrike">
              <a:solidFill>
                <a:srgbClr val="FFFFFF"/>
              </a:solidFill>
              <a:effectLst/>
              <a:uFillTx/>
              <a:latin typeface="Arial"/>
            </a:endParaRPr>
          </a:p>
        </p:txBody>
      </p:sp>
      <p:sp>
        <p:nvSpPr>
          <p:cNvPr id="627" name="drawio:c1"/>
          <p:cNvSpPr/>
          <p:nvPr/>
        </p:nvSpPr>
        <p:spPr>
          <a:xfrm>
            <a:off x="8836200" y="2173320"/>
            <a:ext cx="2004480" cy="634320"/>
          </a:xfrm>
          <a:prstGeom prst="roundRect">
            <a:avLst>
              <a:gd name="adj" fmla="val 16667"/>
            </a:avLst>
          </a:prstGeom>
          <a:solidFill>
            <a:srgbClr val="FFFFFF"/>
          </a:solidFill>
          <a:ln w="11139">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利用者</a:t>
            </a:r>
            <a:endParaRPr lang="en-US" sz="1230" b="0" u="none" strike="noStrike">
              <a:solidFill>
                <a:srgbClr val="000000"/>
              </a:solidFill>
              <a:effectLst/>
              <a:uFillTx/>
              <a:latin typeface="Arial"/>
            </a:endParaRPr>
          </a:p>
          <a:p>
            <a:pPr algn="ctr" defTabSz="457200">
              <a:lnSpc>
                <a:spcPct val="110000"/>
              </a:lnSpc>
            </a:pPr>
            <a:r>
              <a:rPr lang="en-US" sz="1230" b="0" u="none" strike="noStrike">
                <a:solidFill>
                  <a:srgbClr val="1F2937"/>
                </a:solidFill>
                <a:effectLst/>
                <a:uFillTx/>
                <a:latin typeface="BIZ UDPゴシック"/>
                <a:ea typeface="BIZ UDPゴシック"/>
              </a:rPr>
              <a:t>PC / </a:t>
            </a:r>
            <a:r>
              <a:rPr lang="ja-JP" sz="1230" b="0" u="none" strike="noStrike">
                <a:solidFill>
                  <a:srgbClr val="1F2937"/>
                </a:solidFill>
                <a:effectLst/>
                <a:uFillTx/>
                <a:latin typeface="BIZ UDPゴシック"/>
                <a:ea typeface="BIZ UDPゴシック"/>
              </a:rPr>
              <a:t>スマートフォン</a:t>
            </a:r>
            <a:endParaRPr lang="en-US" sz="1230" b="0" u="none" strike="noStrike">
              <a:solidFill>
                <a:srgbClr val="000000"/>
              </a:solidFill>
              <a:effectLst/>
              <a:uFillTx/>
              <a:latin typeface="Arial"/>
            </a:endParaRPr>
          </a:p>
        </p:txBody>
      </p:sp>
      <p:sp>
        <p:nvSpPr>
          <p:cNvPr id="628" name="drawio:c2"/>
          <p:cNvSpPr/>
          <p:nvPr/>
        </p:nvSpPr>
        <p:spPr>
          <a:xfrm>
            <a:off x="8836200" y="3087000"/>
            <a:ext cx="2004480" cy="634320"/>
          </a:xfrm>
          <a:prstGeom prst="roundRect">
            <a:avLst>
              <a:gd name="adj" fmla="val 16667"/>
            </a:avLst>
          </a:prstGeom>
          <a:solidFill>
            <a:srgbClr val="FFFFFF"/>
          </a:solidFill>
          <a:ln w="11139">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法人カード会社</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利用明細</a:t>
            </a:r>
            <a:endParaRPr lang="en-US" sz="1230" b="0" u="none" strike="noStrike">
              <a:solidFill>
                <a:srgbClr val="000000"/>
              </a:solidFill>
              <a:effectLst/>
              <a:uFillTx/>
              <a:latin typeface="Arial"/>
            </a:endParaRPr>
          </a:p>
        </p:txBody>
      </p:sp>
      <p:sp>
        <p:nvSpPr>
          <p:cNvPr id="629" name="drawio:c3"/>
          <p:cNvSpPr/>
          <p:nvPr/>
        </p:nvSpPr>
        <p:spPr>
          <a:xfrm>
            <a:off x="8836200" y="4000320"/>
            <a:ext cx="2004480" cy="634320"/>
          </a:xfrm>
          <a:prstGeom prst="roundRect">
            <a:avLst>
              <a:gd name="adj" fmla="val 16667"/>
            </a:avLst>
          </a:prstGeom>
          <a:solidFill>
            <a:srgbClr val="FFFFFF"/>
          </a:solidFill>
          <a:ln w="11139">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交通系</a:t>
            </a:r>
            <a:r>
              <a:rPr lang="en-US" sz="1230" b="0" u="none" strike="noStrike">
                <a:solidFill>
                  <a:srgbClr val="1F2937"/>
                </a:solidFill>
                <a:effectLst/>
                <a:uFillTx/>
                <a:latin typeface="BIZ UDPゴシック"/>
                <a:ea typeface="BIZ UDPゴシック"/>
              </a:rPr>
              <a:t>IC</a:t>
            </a:r>
            <a:r>
              <a:rPr lang="ja-JP" sz="1230" b="0" u="none" strike="noStrike">
                <a:solidFill>
                  <a:srgbClr val="1F2937"/>
                </a:solidFill>
                <a:effectLst/>
                <a:uFillTx/>
                <a:latin typeface="BIZ UDPゴシック"/>
                <a:ea typeface="BIZ UDPゴシック"/>
              </a:rPr>
              <a:t>・乗換案内</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運賃データ</a:t>
            </a:r>
            <a:endParaRPr lang="en-US" sz="1230" b="0" u="none" strike="noStrike">
              <a:solidFill>
                <a:srgbClr val="000000"/>
              </a:solidFill>
              <a:effectLst/>
              <a:uFillTx/>
              <a:latin typeface="Arial"/>
            </a:endParaRPr>
          </a:p>
        </p:txBody>
      </p:sp>
      <p:sp>
        <p:nvSpPr>
          <p:cNvPr id="630" name="drawio:c4"/>
          <p:cNvSpPr/>
          <p:nvPr/>
        </p:nvSpPr>
        <p:spPr>
          <a:xfrm>
            <a:off x="8836200" y="4914000"/>
            <a:ext cx="2004480" cy="634320"/>
          </a:xfrm>
          <a:prstGeom prst="roundRect">
            <a:avLst>
              <a:gd name="adj" fmla="val 16667"/>
            </a:avLst>
          </a:prstGeom>
          <a:solidFill>
            <a:srgbClr val="FFFFFF"/>
          </a:solidFill>
          <a:ln w="11139">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30" b="0" u="none" strike="noStrike">
                <a:solidFill>
                  <a:srgbClr val="1F2937"/>
                </a:solidFill>
                <a:effectLst/>
                <a:uFillTx/>
                <a:latin typeface="BIZ UDPゴシック"/>
                <a:ea typeface="BIZ UDPゴシック"/>
              </a:rPr>
              <a:t>電子保存</a:t>
            </a:r>
            <a:endParaRPr lang="en-US" sz="1230" b="0" u="none" strike="noStrike">
              <a:solidFill>
                <a:srgbClr val="000000"/>
              </a:solidFill>
              <a:effectLst/>
              <a:uFillTx/>
              <a:latin typeface="Arial"/>
            </a:endParaRPr>
          </a:p>
          <a:p>
            <a:pPr algn="ctr" defTabSz="457200">
              <a:lnSpc>
                <a:spcPct val="110000"/>
              </a:lnSpc>
            </a:pPr>
            <a:r>
              <a:rPr lang="ja-JP" sz="1230" b="0" u="none" strike="noStrike">
                <a:solidFill>
                  <a:srgbClr val="1F2937"/>
                </a:solidFill>
                <a:effectLst/>
                <a:uFillTx/>
                <a:latin typeface="BIZ UDPゴシック"/>
                <a:ea typeface="BIZ UDPゴシック"/>
              </a:rPr>
              <a:t>タイムスタンプ・検索</a:t>
            </a:r>
            <a:endParaRPr lang="en-US" sz="1230" b="0" u="none" strike="noStrike">
              <a:solidFill>
                <a:srgbClr val="000000"/>
              </a:solidFill>
              <a:effectLst/>
              <a:uFillTx/>
              <a:latin typeface="Arial"/>
            </a:endParaRPr>
          </a:p>
        </p:txBody>
      </p:sp>
      <p:sp>
        <p:nvSpPr>
          <p:cNvPr id="631" name="drawio:e1"/>
          <p:cNvSpPr/>
          <p:nvPr/>
        </p:nvSpPr>
        <p:spPr>
          <a:xfrm>
            <a:off x="3541320" y="2988360"/>
            <a:ext cx="1678680" cy="505800"/>
          </a:xfrm>
          <a:custGeom>
            <a:avLst/>
            <a:gdLst>
              <a:gd name="textAreaLeft" fmla="*/ 0 w 1678680"/>
              <a:gd name="textAreaRight" fmla="*/ 1679400 w 1678680"/>
              <a:gd name="textAreaTop" fmla="*/ 0 h 505800"/>
              <a:gd name="textAreaBottom" fmla="*/ 506520 h 505800"/>
            </a:gdLst>
            <a:ahLst/>
            <a:cxnLst/>
            <a:rect l="textAreaLeft" t="textAreaTop" r="textAreaRight" b="textAreaBottom"/>
            <a:pathLst>
              <a:path w="1679310" h="506342">
                <a:moveTo>
                  <a:pt x="0" y="0"/>
                </a:moveTo>
                <a:lnTo>
                  <a:pt x="950204" y="288022"/>
                </a:lnTo>
                <a:lnTo>
                  <a:pt x="1679310" y="506342"/>
                </a:lnTo>
              </a:path>
            </a:pathLst>
          </a:custGeom>
          <a:noFill/>
          <a:ln w="22279">
            <a:solidFill>
              <a:srgbClr val="6B728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2" name="drawio:e1:label"/>
          <p:cNvSpPr/>
          <p:nvPr/>
        </p:nvSpPr>
        <p:spPr>
          <a:xfrm>
            <a:off x="4111200" y="3167640"/>
            <a:ext cx="76032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en-US" sz="1230" b="0" u="none" strike="noStrike">
                <a:solidFill>
                  <a:srgbClr val="1F2937"/>
                </a:solidFill>
                <a:effectLst/>
                <a:uFillTx/>
                <a:latin typeface="BIZ UDPゴシック"/>
                <a:ea typeface="BIZ UDPゴシック"/>
              </a:rPr>
              <a:t>SSO</a:t>
            </a:r>
            <a:r>
              <a:rPr lang="ja-JP" sz="1230" b="0" u="none" strike="noStrike">
                <a:solidFill>
                  <a:srgbClr val="1F2937"/>
                </a:solidFill>
                <a:effectLst/>
                <a:uFillTx/>
                <a:latin typeface="BIZ UDPゴシック"/>
                <a:ea typeface="BIZ UDPゴシック"/>
              </a:rPr>
              <a:t>認証</a:t>
            </a:r>
            <a:endParaRPr lang="en-US" sz="1230" b="0" u="none" strike="noStrike">
              <a:solidFill>
                <a:srgbClr val="000000"/>
              </a:solidFill>
              <a:effectLst/>
              <a:uFillTx/>
              <a:latin typeface="Arial"/>
            </a:endParaRPr>
          </a:p>
        </p:txBody>
      </p:sp>
      <p:sp>
        <p:nvSpPr>
          <p:cNvPr id="633" name="drawio:e2"/>
          <p:cNvSpPr/>
          <p:nvPr/>
        </p:nvSpPr>
        <p:spPr>
          <a:xfrm>
            <a:off x="3676320" y="3675240"/>
            <a:ext cx="1543680" cy="106560"/>
          </a:xfrm>
          <a:custGeom>
            <a:avLst/>
            <a:gdLst>
              <a:gd name="textAreaLeft" fmla="*/ 0 w 1543680"/>
              <a:gd name="textAreaRight" fmla="*/ 1544400 w 1543680"/>
              <a:gd name="textAreaTop" fmla="*/ 0 h 106560"/>
              <a:gd name="textAreaBottom" fmla="*/ 107280 h 106560"/>
            </a:gdLst>
            <a:ahLst/>
            <a:cxnLst/>
            <a:rect l="textAreaLeft" t="textAreaTop" r="textAreaRight" b="textAreaBottom"/>
            <a:pathLst>
              <a:path w="1544491" h="107177">
                <a:moveTo>
                  <a:pt x="0" y="0"/>
                </a:moveTo>
                <a:lnTo>
                  <a:pt x="815385" y="57746"/>
                </a:lnTo>
                <a:lnTo>
                  <a:pt x="1544491" y="107177"/>
                </a:lnTo>
              </a:path>
            </a:pathLst>
          </a:custGeom>
          <a:noFill/>
          <a:ln w="22279">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4" name="drawio:e2:label"/>
          <p:cNvSpPr/>
          <p:nvPr/>
        </p:nvSpPr>
        <p:spPr>
          <a:xfrm>
            <a:off x="4165920" y="3624120"/>
            <a:ext cx="65088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マスタ</a:t>
            </a:r>
            <a:endParaRPr lang="en-US" sz="1230" b="0" u="none" strike="noStrike">
              <a:solidFill>
                <a:srgbClr val="000000"/>
              </a:solidFill>
              <a:effectLst/>
              <a:uFillTx/>
              <a:latin typeface="Arial"/>
            </a:endParaRPr>
          </a:p>
        </p:txBody>
      </p:sp>
      <p:sp>
        <p:nvSpPr>
          <p:cNvPr id="635" name="drawio:e3"/>
          <p:cNvSpPr/>
          <p:nvPr/>
        </p:nvSpPr>
        <p:spPr>
          <a:xfrm>
            <a:off x="3676320" y="4070520"/>
            <a:ext cx="1543680" cy="250560"/>
          </a:xfrm>
          <a:custGeom>
            <a:avLst/>
            <a:gdLst>
              <a:gd name="textAreaLeft" fmla="*/ 0 w 1543680"/>
              <a:gd name="textAreaRight" fmla="*/ 1544400 w 1543680"/>
              <a:gd name="textAreaTop" fmla="*/ 0 h 250560"/>
              <a:gd name="textAreaBottom" fmla="*/ 251280 h 250560"/>
            </a:gdLst>
            <a:ahLst/>
            <a:cxnLst/>
            <a:rect l="textAreaLeft" t="textAreaTop" r="textAreaRight" b="textAreaBottom"/>
            <a:pathLst>
              <a:path w="1544491" h="251121">
                <a:moveTo>
                  <a:pt x="0" y="251121"/>
                </a:moveTo>
                <a:lnTo>
                  <a:pt x="815385" y="119458"/>
                </a:lnTo>
                <a:lnTo>
                  <a:pt x="1544491" y="0"/>
                </a:lnTo>
              </a:path>
            </a:pathLst>
          </a:custGeom>
          <a:noFill/>
          <a:ln w="22279">
            <a:solidFill>
              <a:srgbClr val="6B7280"/>
            </a:solidFill>
            <a:round/>
            <a:headEnd len="sm" type="arrow" w="sm"/>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6" name="drawio:e3:label"/>
          <p:cNvSpPr/>
          <p:nvPr/>
        </p:nvSpPr>
        <p:spPr>
          <a:xfrm>
            <a:off x="4081680" y="4080960"/>
            <a:ext cx="81936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日次連携</a:t>
            </a:r>
            <a:endParaRPr lang="en-US" sz="1230" b="0" u="none" strike="noStrike">
              <a:solidFill>
                <a:srgbClr val="000000"/>
              </a:solidFill>
              <a:effectLst/>
              <a:uFillTx/>
              <a:latin typeface="Arial"/>
            </a:endParaRPr>
          </a:p>
        </p:txBody>
      </p:sp>
      <p:sp>
        <p:nvSpPr>
          <p:cNvPr id="637" name="drawio:e4"/>
          <p:cNvSpPr/>
          <p:nvPr/>
        </p:nvSpPr>
        <p:spPr>
          <a:xfrm>
            <a:off x="3307680" y="4353120"/>
            <a:ext cx="1925640" cy="759240"/>
          </a:xfrm>
          <a:custGeom>
            <a:avLst/>
            <a:gdLst>
              <a:gd name="textAreaLeft" fmla="*/ 0 w 1925640"/>
              <a:gd name="textAreaRight" fmla="*/ 1926360 w 1925640"/>
              <a:gd name="textAreaTop" fmla="*/ 0 h 759240"/>
              <a:gd name="textAreaBottom" fmla="*/ 759960 h 759240"/>
            </a:gdLst>
            <a:ahLst/>
            <a:cxnLst/>
            <a:rect l="textAreaLeft" t="textAreaTop" r="textAreaRight" b="textAreaBottom"/>
            <a:pathLst>
              <a:path w="1926328" h="759796">
                <a:moveTo>
                  <a:pt x="0" y="759796"/>
                </a:moveTo>
                <a:lnTo>
                  <a:pt x="1184101" y="293536"/>
                </a:lnTo>
                <a:lnTo>
                  <a:pt x="1926328" y="0"/>
                </a:lnTo>
              </a:path>
            </a:pathLst>
          </a:custGeom>
          <a:noFill/>
          <a:ln w="22279">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8" name="drawio:e4:label"/>
          <p:cNvSpPr/>
          <p:nvPr/>
        </p:nvSpPr>
        <p:spPr>
          <a:xfrm>
            <a:off x="4217400" y="4537800"/>
            <a:ext cx="54792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支払</a:t>
            </a:r>
            <a:endParaRPr lang="en-US" sz="1230" b="0" u="none" strike="noStrike">
              <a:solidFill>
                <a:srgbClr val="000000"/>
              </a:solidFill>
              <a:effectLst/>
              <a:uFillTx/>
              <a:latin typeface="Arial"/>
            </a:endParaRPr>
          </a:p>
        </p:txBody>
      </p:sp>
      <p:sp>
        <p:nvSpPr>
          <p:cNvPr id="639" name="drawio:e5"/>
          <p:cNvSpPr/>
          <p:nvPr/>
        </p:nvSpPr>
        <p:spPr>
          <a:xfrm>
            <a:off x="7647840" y="2799000"/>
            <a:ext cx="1429200" cy="580680"/>
          </a:xfrm>
          <a:custGeom>
            <a:avLst/>
            <a:gdLst>
              <a:gd name="textAreaLeft" fmla="*/ 0 w 1429200"/>
              <a:gd name="textAreaRight" fmla="*/ 1429920 w 1429200"/>
              <a:gd name="textAreaTop" fmla="*/ 0 h 580680"/>
              <a:gd name="textAreaBottom" fmla="*/ 581400 h 580680"/>
            </a:gdLst>
            <a:ahLst/>
            <a:cxnLst/>
            <a:rect l="textAreaLeft" t="textAreaTop" r="textAreaRight" b="textAreaBottom"/>
            <a:pathLst>
              <a:path w="1429976" h="581559">
                <a:moveTo>
                  <a:pt x="0" y="581559"/>
                </a:moveTo>
                <a:lnTo>
                  <a:pt x="497854" y="377141"/>
                </a:lnTo>
                <a:lnTo>
                  <a:pt x="1429976" y="0"/>
                </a:lnTo>
              </a:path>
            </a:pathLst>
          </a:custGeom>
          <a:noFill/>
          <a:ln w="22279">
            <a:solidFill>
              <a:srgbClr val="6B7280"/>
            </a:solidFill>
            <a:round/>
            <a:headEnd len="sm" type="arrow" w="sm"/>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0" name="drawio:e5:label"/>
          <p:cNvSpPr/>
          <p:nvPr/>
        </p:nvSpPr>
        <p:spPr>
          <a:xfrm>
            <a:off x="7735680" y="3067200"/>
            <a:ext cx="81936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申請承認</a:t>
            </a:r>
            <a:endParaRPr lang="en-US" sz="1230" b="0" u="none" strike="noStrike">
              <a:solidFill>
                <a:srgbClr val="000000"/>
              </a:solidFill>
              <a:effectLst/>
              <a:uFillTx/>
              <a:latin typeface="Arial"/>
            </a:endParaRPr>
          </a:p>
        </p:txBody>
      </p:sp>
      <p:sp>
        <p:nvSpPr>
          <p:cNvPr id="641" name="drawio:e6"/>
          <p:cNvSpPr/>
          <p:nvPr/>
        </p:nvSpPr>
        <p:spPr>
          <a:xfrm>
            <a:off x="7706160" y="3535560"/>
            <a:ext cx="1159560" cy="157680"/>
          </a:xfrm>
          <a:custGeom>
            <a:avLst/>
            <a:gdLst>
              <a:gd name="textAreaLeft" fmla="*/ 0 w 1159560"/>
              <a:gd name="textAreaRight" fmla="*/ 1160280 w 1159560"/>
              <a:gd name="textAreaTop" fmla="*/ 0 h 157680"/>
              <a:gd name="textAreaBottom" fmla="*/ 158400 h 157680"/>
            </a:gdLst>
            <a:ahLst/>
            <a:cxnLst/>
            <a:rect l="textAreaLeft" t="textAreaTop" r="textAreaRight" b="textAreaBottom"/>
            <a:pathLst>
              <a:path w="1160221" h="158324">
                <a:moveTo>
                  <a:pt x="0" y="158324"/>
                </a:moveTo>
                <a:lnTo>
                  <a:pt x="439469" y="97206"/>
                </a:lnTo>
                <a:lnTo>
                  <a:pt x="1160221" y="0"/>
                </a:lnTo>
              </a:path>
            </a:pathLst>
          </a:custGeom>
          <a:noFill/>
          <a:ln w="22279">
            <a:solidFill>
              <a:srgbClr val="6B7280"/>
            </a:solidFill>
            <a:round/>
            <a:headEnd len="sm" type="arrow" w="sm"/>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2" name="drawio:e6:label"/>
          <p:cNvSpPr/>
          <p:nvPr/>
        </p:nvSpPr>
        <p:spPr>
          <a:xfrm>
            <a:off x="7735680" y="3524040"/>
            <a:ext cx="81936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利用明細</a:t>
            </a:r>
            <a:endParaRPr lang="en-US" sz="1230" b="0" u="none" strike="noStrike">
              <a:solidFill>
                <a:srgbClr val="000000"/>
              </a:solidFill>
              <a:effectLst/>
              <a:uFillTx/>
              <a:latin typeface="Arial"/>
            </a:endParaRPr>
          </a:p>
        </p:txBody>
      </p:sp>
      <p:sp>
        <p:nvSpPr>
          <p:cNvPr id="643" name="drawio:e7"/>
          <p:cNvSpPr/>
          <p:nvPr/>
        </p:nvSpPr>
        <p:spPr>
          <a:xfrm>
            <a:off x="7706160" y="4031280"/>
            <a:ext cx="1159560" cy="154800"/>
          </a:xfrm>
          <a:custGeom>
            <a:avLst/>
            <a:gdLst>
              <a:gd name="textAreaLeft" fmla="*/ 0 w 1159560"/>
              <a:gd name="textAreaRight" fmla="*/ 1160280 w 1159560"/>
              <a:gd name="textAreaTop" fmla="*/ 0 h 154800"/>
              <a:gd name="textAreaBottom" fmla="*/ 155520 h 154800"/>
            </a:gdLst>
            <a:ahLst/>
            <a:cxnLst/>
            <a:rect l="textAreaLeft" t="textAreaTop" r="textAreaRight" b="textAreaBottom"/>
            <a:pathLst>
              <a:path w="1160221" h="155415">
                <a:moveTo>
                  <a:pt x="0" y="0"/>
                </a:moveTo>
                <a:lnTo>
                  <a:pt x="439469" y="58208"/>
                </a:lnTo>
                <a:lnTo>
                  <a:pt x="1160221" y="155415"/>
                </a:lnTo>
              </a:path>
            </a:pathLst>
          </a:custGeom>
          <a:noFill/>
          <a:ln w="22279">
            <a:solidFill>
              <a:srgbClr val="6B7280"/>
            </a:solidFill>
            <a:round/>
            <a:headEnd len="sm" type="arrow" w="sm"/>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4" name="drawio:e7:label"/>
          <p:cNvSpPr/>
          <p:nvPr/>
        </p:nvSpPr>
        <p:spPr>
          <a:xfrm>
            <a:off x="7871400" y="3980520"/>
            <a:ext cx="54792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運賃</a:t>
            </a:r>
            <a:endParaRPr lang="en-US" sz="1230" b="0" u="none" strike="noStrike">
              <a:solidFill>
                <a:srgbClr val="000000"/>
              </a:solidFill>
              <a:effectLst/>
              <a:uFillTx/>
              <a:latin typeface="Arial"/>
            </a:endParaRPr>
          </a:p>
        </p:txBody>
      </p:sp>
      <p:sp>
        <p:nvSpPr>
          <p:cNvPr id="645" name="drawio:e8"/>
          <p:cNvSpPr/>
          <p:nvPr/>
        </p:nvSpPr>
        <p:spPr>
          <a:xfrm>
            <a:off x="7667280" y="4353120"/>
            <a:ext cx="1409760" cy="569520"/>
          </a:xfrm>
          <a:custGeom>
            <a:avLst/>
            <a:gdLst>
              <a:gd name="textAreaLeft" fmla="*/ 0 w 1409760"/>
              <a:gd name="textAreaRight" fmla="*/ 1410480 w 1409760"/>
              <a:gd name="textAreaTop" fmla="*/ 0 h 569520"/>
              <a:gd name="textAreaBottom" fmla="*/ 570240 h 569520"/>
            </a:gdLst>
            <a:ahLst/>
            <a:cxnLst/>
            <a:rect l="textAreaLeft" t="textAreaTop" r="textAreaRight" b="textAreaBottom"/>
            <a:pathLst>
              <a:path w="1410562" h="570418">
                <a:moveTo>
                  <a:pt x="0" y="0"/>
                </a:moveTo>
                <a:lnTo>
                  <a:pt x="478440" y="193277"/>
                </a:lnTo>
                <a:lnTo>
                  <a:pt x="1410562" y="570418"/>
                </a:lnTo>
              </a:path>
            </a:pathLst>
          </a:custGeom>
          <a:noFill/>
          <a:ln w="22279">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6" name="drawio:e8:label"/>
          <p:cNvSpPr/>
          <p:nvPr/>
        </p:nvSpPr>
        <p:spPr>
          <a:xfrm>
            <a:off x="7727040" y="4437360"/>
            <a:ext cx="836280" cy="24264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30" b="0" u="none" strike="noStrike">
                <a:solidFill>
                  <a:srgbClr val="1F2937"/>
                </a:solidFill>
                <a:effectLst/>
                <a:uFillTx/>
                <a:latin typeface="BIZ UDPゴシック"/>
                <a:ea typeface="BIZ UDPゴシック"/>
              </a:rPr>
              <a:t>証憑・</a:t>
            </a:r>
            <a:r>
              <a:rPr lang="en-US" sz="1230" b="0" u="none" strike="noStrike">
                <a:solidFill>
                  <a:srgbClr val="1F2937"/>
                </a:solidFill>
                <a:effectLst/>
                <a:uFillTx/>
                <a:latin typeface="BIZ UDPゴシック"/>
                <a:ea typeface="BIZ UDPゴシック"/>
              </a:rPr>
              <a:t>TS</a:t>
            </a:r>
            <a:endParaRPr lang="en-US" sz="1230" b="0" u="none" strike="noStrike">
              <a:solidFill>
                <a:srgbClr val="000000"/>
              </a:solidFill>
              <a:effectLst/>
              <a:uFillTx/>
              <a:latin typeface="Arial"/>
            </a:endParaRPr>
          </a:p>
        </p:txBody>
      </p:sp>
      <p:sp>
        <p:nvSpPr>
          <p:cNvPr id="647" name="blk-diagram-cap"/>
          <p:cNvSpPr/>
          <p:nvPr/>
        </p:nvSpPr>
        <p:spPr>
          <a:xfrm>
            <a:off x="502920" y="605340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システム連携構成 </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経費精算</a:t>
            </a:r>
            <a:r>
              <a:rPr lang="en-US" sz="900" b="0" u="none" strike="noStrike">
                <a:solidFill>
                  <a:srgbClr val="6B7280"/>
                </a:solidFill>
                <a:effectLst/>
                <a:uFillTx/>
                <a:latin typeface="BIZ UDPゴシック"/>
                <a:ea typeface="BIZ UDPゴシック"/>
              </a:rPr>
              <a:t>SaaS</a:t>
            </a:r>
            <a:r>
              <a:rPr lang="ja-JP" sz="900" b="0" u="none" strike="noStrike">
                <a:solidFill>
                  <a:srgbClr val="6B7280"/>
                </a:solidFill>
                <a:effectLst/>
                <a:uFillTx/>
                <a:latin typeface="BIZ UDPゴシック"/>
                <a:ea typeface="BIZ UDPゴシック"/>
              </a:rPr>
              <a:t>・会計・人事・カード・</a:t>
            </a:r>
            <a:r>
              <a:rPr lang="en-US" sz="900" b="0" u="none" strike="noStrike">
                <a:solidFill>
                  <a:srgbClr val="6B7280"/>
                </a:solidFill>
                <a:effectLst/>
                <a:uFillTx/>
                <a:latin typeface="BIZ UDPゴシック"/>
                <a:ea typeface="BIZ UDPゴシック"/>
              </a:rPr>
              <a:t>SSO</a:t>
            </a:r>
            <a:r>
              <a:rPr lang="ja-JP" sz="900" b="0" u="none" strike="noStrike">
                <a:solidFill>
                  <a:srgbClr val="6B7280"/>
                </a:solidFill>
                <a:effectLst/>
                <a:uFillTx/>
                <a:latin typeface="BIZ UDPゴシック"/>
                <a:ea typeface="BIZ UDPゴシック"/>
              </a:rPr>
              <a:t>。連携は標準</a:t>
            </a:r>
            <a:r>
              <a:rPr lang="en-US" sz="900" b="0" u="none" strike="noStrike">
                <a:solidFill>
                  <a:srgbClr val="6B7280"/>
                </a:solidFill>
                <a:effectLst/>
                <a:uFillTx/>
                <a:latin typeface="BIZ UDPゴシック"/>
                <a:ea typeface="BIZ UDPゴシック"/>
              </a:rPr>
              <a:t>API</a:t>
            </a:r>
            <a:r>
              <a:rPr lang="ja-JP" sz="900" b="0" u="none" strike="noStrike">
                <a:solidFill>
                  <a:srgbClr val="6B7280"/>
                </a:solidFill>
                <a:effectLst/>
                <a:uFillTx/>
                <a:latin typeface="BIZ UDPゴシック"/>
                <a:ea typeface="BIZ UDPゴシック"/>
              </a:rPr>
              <a:t>または</a:t>
            </a:r>
            <a:r>
              <a:rPr lang="en-US" sz="900" b="0" u="none" strike="noStrike">
                <a:solidFill>
                  <a:srgbClr val="6B7280"/>
                </a:solidFill>
                <a:effectLst/>
                <a:uFillTx/>
                <a:latin typeface="BIZ UDPゴシック"/>
                <a:ea typeface="BIZ UDPゴシック"/>
              </a:rPr>
              <a:t>CSV</a:t>
            </a:r>
            <a:r>
              <a:rPr lang="ja-JP" sz="900" b="0" u="none" strike="noStrike">
                <a:solidFill>
                  <a:srgbClr val="6B7280"/>
                </a:solidFill>
                <a:effectLst/>
                <a:uFillTx/>
                <a:latin typeface="BIZ UDPゴシック"/>
                <a:ea typeface="BIZ UDPゴシック"/>
              </a:rPr>
              <a:t>を基本とし、</a:t>
            </a:r>
            <a:r>
              <a:rPr lang="en-US" sz="900" b="0" u="none" strike="noStrike">
                <a:solidFill>
                  <a:srgbClr val="6B7280"/>
                </a:solidFill>
                <a:effectLst/>
                <a:uFillTx/>
                <a:latin typeface="BIZ UDPゴシック"/>
                <a:ea typeface="BIZ UDPゴシック"/>
              </a:rPr>
              <a:t>SSO</a:t>
            </a:r>
            <a:r>
              <a:rPr lang="ja-JP" sz="900" b="0" u="none" strike="noStrike">
                <a:solidFill>
                  <a:srgbClr val="6B7280"/>
                </a:solidFill>
                <a:effectLst/>
                <a:uFillTx/>
                <a:latin typeface="BIZ UDPゴシック"/>
                <a:ea typeface="BIZ UDPゴシック"/>
              </a:rPr>
              <a:t>と多要素認証で認証を統合</a:t>
            </a:r>
            <a:r>
              <a:rPr lang="en-US" sz="900" b="0" u="none" strike="noStrike">
                <a:solidFill>
                  <a:srgbClr val="6B7280"/>
                </a:solidFill>
                <a:effectLst/>
                <a:uFillTx/>
                <a:latin typeface="BIZ UDPゴシック"/>
                <a:ea typeface="BIZ UDPゴシック"/>
              </a:rPr>
              <a:t>)</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9"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50"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651"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652"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3"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4"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5"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6"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7"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8"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59"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660"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1.10 </a:t>
            </a:r>
            <a:r>
              <a:rPr lang="ja-JP" sz="2400" b="1" u="none" strike="noStrike">
                <a:solidFill>
                  <a:srgbClr val="16213E"/>
                </a:solidFill>
                <a:effectLst/>
                <a:uFillTx/>
                <a:latin typeface="BIZ UDPゴシック"/>
                <a:ea typeface="BIZ UDPゴシック"/>
              </a:rPr>
              <a:t>スコープ </a:t>
            </a:r>
            <a:r>
              <a:rPr lang="en-US" sz="2400" b="1" u="none" strike="noStrike">
                <a:solidFill>
                  <a:srgbClr val="16213E"/>
                </a:solidFill>
                <a:effectLst/>
                <a:uFillTx/>
                <a:latin typeface="BIZ UDPゴシック"/>
                <a:ea typeface="BIZ UDPゴシック"/>
              </a:rPr>
              <a:t>(</a:t>
            </a:r>
            <a:r>
              <a:rPr lang="ja-JP" sz="2400" b="1" u="none" strike="noStrike">
                <a:solidFill>
                  <a:srgbClr val="16213E"/>
                </a:solidFill>
                <a:effectLst/>
                <a:uFillTx/>
                <a:latin typeface="BIZ UDPゴシック"/>
                <a:ea typeface="BIZ UDPゴシック"/>
              </a:rPr>
              <a:t>対象・対象外</a:t>
            </a:r>
            <a:r>
              <a:rPr lang="en-US" sz="2400" b="1" u="none" strike="noStrike">
                <a:solidFill>
                  <a:srgbClr val="16213E"/>
                </a:solidFill>
                <a:effectLst/>
                <a:uFillTx/>
                <a:latin typeface="BIZ UDPゴシック"/>
                <a:ea typeface="BIZ UDPゴシック"/>
              </a:rPr>
              <a:t>) ─ </a:t>
            </a:r>
            <a:r>
              <a:rPr lang="ja-JP" sz="2400" b="1" u="none" strike="noStrike">
                <a:solidFill>
                  <a:srgbClr val="16213E"/>
                </a:solidFill>
                <a:effectLst/>
                <a:uFillTx/>
                <a:latin typeface="BIZ UDPゴシック"/>
                <a:ea typeface="BIZ UDPゴシック"/>
              </a:rPr>
              <a:t>対象</a:t>
            </a:r>
            <a:endParaRPr lang="en-US" sz="2400" b="0" u="none" strike="noStrike">
              <a:solidFill>
                <a:srgbClr val="000000"/>
              </a:solidFill>
              <a:effectLst/>
              <a:uFillTx/>
              <a:latin typeface="Arial"/>
            </a:endParaRPr>
          </a:p>
        </p:txBody>
      </p:sp>
      <p:sp>
        <p:nvSpPr>
          <p:cNvPr id="661"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662" name="hdr-hair"/>
          <p:cNvCxnSpPr/>
          <p:nvPr/>
        </p:nvCxnSpPr>
        <p:spPr>
          <a:xfrm>
            <a:off x="502920" y="969120"/>
            <a:ext cx="11186280" cy="720"/>
          </a:xfrm>
          <a:prstGeom prst="straightConnector1">
            <a:avLst/>
          </a:prstGeom>
          <a:ln w="9525">
            <a:solidFill>
              <a:srgbClr val="D5DBE5"/>
            </a:solidFill>
            <a:round/>
          </a:ln>
        </p:spPr>
      </p:cxnSp>
      <p:cxnSp>
        <p:nvCxnSpPr>
          <p:cNvPr id="663" name="ftr-hair"/>
          <p:cNvCxnSpPr/>
          <p:nvPr/>
        </p:nvCxnSpPr>
        <p:spPr>
          <a:xfrm>
            <a:off x="502920" y="6382440"/>
            <a:ext cx="11186280" cy="720"/>
          </a:xfrm>
          <a:prstGeom prst="straightConnector1">
            <a:avLst/>
          </a:prstGeom>
          <a:ln w="9525">
            <a:solidFill>
              <a:srgbClr val="D5DBE5"/>
            </a:solidFill>
            <a:round/>
          </a:ln>
        </p:spPr>
      </p:cxnSp>
      <p:sp>
        <p:nvSpPr>
          <p:cNvPr id="664"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15 / 85</a:t>
            </a:r>
            <a:endParaRPr lang="en-US" sz="1100" b="0" u="none" strike="noStrike">
              <a:solidFill>
                <a:srgbClr val="000000"/>
              </a:solidFill>
              <a:effectLst/>
              <a:uFillTx/>
              <a:latin typeface="Arial"/>
            </a:endParaRPr>
          </a:p>
        </p:txBody>
      </p:sp>
      <p:sp>
        <p:nvSpPr>
          <p:cNvPr id="665"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666"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667"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668"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9"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0"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本提案の対象を業務・システム・組織の観点で明確にする</a:t>
            </a:r>
            <a:endParaRPr lang="en-US" sz="1500" b="0" u="none" strike="noStrike">
              <a:solidFill>
                <a:srgbClr val="000000"/>
              </a:solidFill>
              <a:effectLst/>
              <a:uFillTx/>
              <a:latin typeface="Arial"/>
            </a:endParaRPr>
          </a:p>
        </p:txBody>
      </p:sp>
      <p:graphicFrame>
        <p:nvGraphicFramePr>
          <p:cNvPr id="671" name="blk-table"/>
          <p:cNvGraphicFramePr/>
          <p:nvPr/>
        </p:nvGraphicFramePr>
        <p:xfrm>
          <a:off x="502920" y="1627560"/>
          <a:ext cx="11185200" cy="2213640"/>
        </p:xfrm>
        <a:graphic>
          <a:graphicData uri="http://schemas.openxmlformats.org/drawingml/2006/table">
            <a:tbl>
              <a:tblPr/>
              <a:tblGrid>
                <a:gridCol w="3132000"/>
                <a:gridCol w="8053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項目</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対象内容</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経費精算業務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申請から承認・支払までの業務プロセス設計と運用定着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クラウド経費精算サービス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発注者が選定済みの</a:t>
                      </a:r>
                      <a:r>
                        <a:rPr lang="en-US" sz="1400" b="0" u="none" strike="noStrike">
                          <a:solidFill>
                            <a:srgbClr val="1F2937"/>
                          </a:solidFill>
                          <a:effectLst/>
                          <a:uFillTx/>
                          <a:latin typeface="BIZ UDPゴシック"/>
                          <a:ea typeface="BIZ UDPゴシック"/>
                        </a:rPr>
                        <a:t>SaaS</a:t>
                      </a:r>
                      <a:r>
                        <a:rPr lang="ja-JP" sz="1400" b="0" u="none" strike="noStrike">
                          <a:solidFill>
                            <a:srgbClr val="1F2937"/>
                          </a:solidFill>
                          <a:effectLst/>
                          <a:uFillTx/>
                          <a:latin typeface="BIZ UDPゴシック"/>
                          <a:ea typeface="BIZ UDPゴシック"/>
                        </a:rPr>
                        <a:t>の導入・設定・データ移行</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基幹システム連携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会計システムへの仕訳連携、人事・カード・交通系・</a:t>
                      </a:r>
                      <a:r>
                        <a:rPr lang="en-US" sz="1400" b="0" u="none" strike="noStrike">
                          <a:solidFill>
                            <a:srgbClr val="1F2937"/>
                          </a:solidFill>
                          <a:effectLst/>
                          <a:uFillTx/>
                          <a:latin typeface="BIZ UDPゴシック"/>
                          <a:ea typeface="BIZ UDPゴシック"/>
                        </a:rPr>
                        <a:t>SSO</a:t>
                      </a:r>
                      <a:r>
                        <a:rPr lang="ja-JP" sz="1400" b="0" u="none" strike="noStrike">
                          <a:solidFill>
                            <a:srgbClr val="1F2937"/>
                          </a:solidFill>
                          <a:effectLst/>
                          <a:uFillTx/>
                          <a:latin typeface="BIZ UDPゴシック"/>
                          <a:ea typeface="BIZ UDPゴシック"/>
                        </a:rPr>
                        <a:t>の連携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法令対応</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電子帳簿保存法・インボイス制度に対応する設定と規程整備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研修・定着化</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全対象者への研修と稼働後</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か月の運用支援</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7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67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676"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77"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78"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79"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80"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8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8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68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68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1.10 </a:t>
            </a:r>
            <a:r>
              <a:rPr lang="ja-JP" sz="2400" b="1" u="none" strike="noStrike">
                <a:solidFill>
                  <a:srgbClr val="16213E"/>
                </a:solidFill>
                <a:effectLst/>
                <a:uFillTx/>
                <a:latin typeface="BIZ UDPゴシック"/>
                <a:ea typeface="BIZ UDPゴシック"/>
              </a:rPr>
              <a:t>スコープ </a:t>
            </a:r>
            <a:r>
              <a:rPr lang="en-US" sz="2400" b="1" u="none" strike="noStrike">
                <a:solidFill>
                  <a:srgbClr val="16213E"/>
                </a:solidFill>
                <a:effectLst/>
                <a:uFillTx/>
                <a:latin typeface="BIZ UDPゴシック"/>
                <a:ea typeface="BIZ UDPゴシック"/>
              </a:rPr>
              <a:t>(</a:t>
            </a:r>
            <a:r>
              <a:rPr lang="ja-JP" sz="2400" b="1" u="none" strike="noStrike">
                <a:solidFill>
                  <a:srgbClr val="16213E"/>
                </a:solidFill>
                <a:effectLst/>
                <a:uFillTx/>
                <a:latin typeface="BIZ UDPゴシック"/>
                <a:ea typeface="BIZ UDPゴシック"/>
              </a:rPr>
              <a:t>対象・対象外</a:t>
            </a:r>
            <a:r>
              <a:rPr lang="en-US" sz="2400" b="1" u="none" strike="noStrike">
                <a:solidFill>
                  <a:srgbClr val="16213E"/>
                </a:solidFill>
                <a:effectLst/>
                <a:uFillTx/>
                <a:latin typeface="BIZ UDPゴシック"/>
                <a:ea typeface="BIZ UDPゴシック"/>
              </a:rPr>
              <a:t>) ─ </a:t>
            </a:r>
            <a:r>
              <a:rPr lang="ja-JP" sz="2400" b="1" u="none" strike="noStrike">
                <a:solidFill>
                  <a:srgbClr val="16213E"/>
                </a:solidFill>
                <a:effectLst/>
                <a:uFillTx/>
                <a:latin typeface="BIZ UDPゴシック"/>
                <a:ea typeface="BIZ UDPゴシック"/>
              </a:rPr>
              <a:t>対象外と受入基準</a:t>
            </a:r>
            <a:endParaRPr lang="en-US" sz="2400" b="0" u="none" strike="noStrike">
              <a:solidFill>
                <a:srgbClr val="000000"/>
              </a:solidFill>
              <a:effectLst/>
              <a:uFillTx/>
              <a:latin typeface="Arial"/>
            </a:endParaRPr>
          </a:p>
        </p:txBody>
      </p:sp>
      <p:sp>
        <p:nvSpPr>
          <p:cNvPr id="68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686" name="hdr-hair"/>
          <p:cNvCxnSpPr/>
          <p:nvPr/>
        </p:nvCxnSpPr>
        <p:spPr>
          <a:xfrm>
            <a:off x="502920" y="969120"/>
            <a:ext cx="11186280" cy="720"/>
          </a:xfrm>
          <a:prstGeom prst="straightConnector1">
            <a:avLst/>
          </a:prstGeom>
          <a:ln w="9525">
            <a:solidFill>
              <a:srgbClr val="D5DBE5"/>
            </a:solidFill>
            <a:round/>
          </a:ln>
        </p:spPr>
      </p:cxnSp>
      <p:cxnSp>
        <p:nvCxnSpPr>
          <p:cNvPr id="687" name="ftr-hair"/>
          <p:cNvCxnSpPr/>
          <p:nvPr/>
        </p:nvCxnSpPr>
        <p:spPr>
          <a:xfrm>
            <a:off x="502920" y="6382440"/>
            <a:ext cx="11186280" cy="720"/>
          </a:xfrm>
          <a:prstGeom prst="straightConnector1">
            <a:avLst/>
          </a:prstGeom>
          <a:ln w="9525">
            <a:solidFill>
              <a:srgbClr val="D5DBE5"/>
            </a:solidFill>
            <a:round/>
          </a:ln>
        </p:spPr>
      </p:cxnSp>
      <p:sp>
        <p:nvSpPr>
          <p:cNvPr id="68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16 / 85</a:t>
            </a:r>
            <a:endParaRPr lang="en-US" sz="1100" b="0" u="none" strike="noStrike">
              <a:solidFill>
                <a:srgbClr val="000000"/>
              </a:solidFill>
              <a:effectLst/>
              <a:uFillTx/>
              <a:latin typeface="Arial"/>
            </a:endParaRPr>
          </a:p>
        </p:txBody>
      </p:sp>
      <p:sp>
        <p:nvSpPr>
          <p:cNvPr id="68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69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69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69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対象外を明示し、標準機能外の個別開発を行わない方針を共有する</a:t>
            </a:r>
            <a:endParaRPr lang="en-US" sz="1500" b="0" u="none" strike="noStrike">
              <a:solidFill>
                <a:srgbClr val="000000"/>
              </a:solidFill>
              <a:effectLst/>
              <a:uFillTx/>
              <a:latin typeface="Arial"/>
            </a:endParaRPr>
          </a:p>
        </p:txBody>
      </p:sp>
      <p:graphicFrame>
        <p:nvGraphicFramePr>
          <p:cNvPr id="695" name="blk-table"/>
          <p:cNvGraphicFramePr/>
          <p:nvPr/>
        </p:nvGraphicFramePr>
        <p:xfrm>
          <a:off x="502920" y="1627560"/>
          <a:ext cx="11185200" cy="2213640"/>
        </p:xfrm>
        <a:graphic>
          <a:graphicData uri="http://schemas.openxmlformats.org/drawingml/2006/table">
            <a:tbl>
              <a:tblPr/>
              <a:tblGrid>
                <a:gridCol w="3132000"/>
                <a:gridCol w="8053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項目</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対象外の内容</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給与計算・年末調整</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経費精算以外の経理業務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別プロジェクトで対応</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会計システム更改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基幹システム本体の更改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本件は連携のみ</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端末・ネットワーク更改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ハードウェアの更改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既存環境を利用</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標準機能外の個別開発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大幅なカスタマイズ </a:t>
                      </a:r>
                      <a:r>
                        <a:rPr lang="en-US" sz="1400" b="0" u="none" strike="noStrike">
                          <a:solidFill>
                            <a:srgbClr val="1F2937"/>
                          </a:solidFill>
                          <a:effectLst/>
                          <a:uFillTx/>
                          <a:latin typeface="BIZ UDPゴシック"/>
                          <a:ea typeface="BIZ UDPゴシック"/>
                        </a:rPr>
                        <a:t>(Fit to Standard</a:t>
                      </a:r>
                      <a:r>
                        <a:rPr lang="ja-JP" sz="1400" b="0" u="none" strike="noStrike">
                          <a:solidFill>
                            <a:srgbClr val="1F2937"/>
                          </a:solidFill>
                          <a:effectLst/>
                          <a:uFillTx/>
                          <a:latin typeface="BIZ UDPゴシック"/>
                          <a:ea typeface="BIZ UDPゴシック"/>
                        </a:rPr>
                        <a:t>で原則行わない</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SaaS</a:t>
                      </a:r>
                      <a:r>
                        <a:rPr lang="ja-JP" sz="1400" b="0" u="none" strike="noStrike">
                          <a:solidFill>
                            <a:srgbClr val="1F2937"/>
                          </a:solidFill>
                          <a:effectLst/>
                          <a:uFillTx/>
                          <a:latin typeface="BIZ UDPゴシック"/>
                          <a:ea typeface="BIZ UDPゴシック"/>
                        </a:rPr>
                        <a:t>利用契約</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SaaS</a:t>
                      </a:r>
                      <a:r>
                        <a:rPr lang="ja-JP" sz="1400" b="0" u="none" strike="noStrike">
                          <a:solidFill>
                            <a:srgbClr val="1F2937"/>
                          </a:solidFill>
                          <a:effectLst/>
                          <a:uFillTx/>
                          <a:latin typeface="BIZ UDPゴシック"/>
                          <a:ea typeface="BIZ UDPゴシック"/>
                        </a:rPr>
                        <a:t>利用料の発注者による別途契約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本提案の対象外</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696" name="blk-callout"/>
          <p:cNvSpPr/>
          <p:nvPr/>
        </p:nvSpPr>
        <p:spPr>
          <a:xfrm>
            <a:off x="502920" y="5544360"/>
            <a:ext cx="11185200" cy="70956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受入基準</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完了検収条件</a:t>
            </a:r>
            <a:r>
              <a:rPr lang="en-US" sz="1200" b="0" u="none" strike="noStrike">
                <a:solidFill>
                  <a:srgbClr val="1F2937"/>
                </a:solidFill>
                <a:effectLst/>
                <a:uFillTx/>
                <a:latin typeface="BIZ UDPゴシック"/>
                <a:ea typeface="BIZ UDPゴシック"/>
              </a:rPr>
              <a:t>5</a:t>
            </a:r>
            <a:r>
              <a:rPr lang="ja-JP" sz="1200" b="0" u="none" strike="noStrike">
                <a:solidFill>
                  <a:srgbClr val="1F2937"/>
                </a:solidFill>
                <a:effectLst/>
                <a:uFillTx/>
                <a:latin typeface="BIZ UDPゴシック"/>
                <a:ea typeface="BIZ UDPゴシック"/>
              </a:rPr>
              <a:t>項目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全社本番稼働・移行完了・定着化支援完了・成果物承認・対象者利用率</a:t>
            </a:r>
            <a:r>
              <a:rPr lang="en-US" sz="1200" b="0" u="none" strike="noStrike">
                <a:solidFill>
                  <a:srgbClr val="1F2937"/>
                </a:solidFill>
                <a:effectLst/>
                <a:uFillTx/>
                <a:latin typeface="BIZ UDPゴシック"/>
                <a:ea typeface="BIZ UDPゴシック"/>
              </a:rPr>
              <a:t>95%</a:t>
            </a:r>
            <a:r>
              <a:rPr lang="ja-JP" sz="1200" b="0" u="none" strike="noStrike">
                <a:solidFill>
                  <a:srgbClr val="1F2937"/>
                </a:solidFill>
                <a:effectLst/>
                <a:uFillTx/>
                <a:latin typeface="BIZ UDPゴシック"/>
                <a:ea typeface="BIZ UDPゴシック"/>
              </a:rPr>
              <a:t>以上</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を</a:t>
            </a:r>
            <a:r>
              <a:rPr lang="en-US" sz="1200" b="0" u="none" strike="noStrike">
                <a:solidFill>
                  <a:srgbClr val="1F2937"/>
                </a:solidFill>
                <a:effectLst/>
                <a:uFillTx/>
                <a:latin typeface="BIZ UDPゴシック"/>
                <a:ea typeface="BIZ UDPゴシック"/>
              </a:rPr>
              <a:t>2027/11/30</a:t>
            </a:r>
            <a:r>
              <a:rPr lang="ja-JP" sz="1200" b="0" u="none" strike="noStrike">
                <a:solidFill>
                  <a:srgbClr val="1F2937"/>
                </a:solidFill>
                <a:effectLst/>
                <a:uFillTx/>
                <a:latin typeface="BIZ UDPゴシック"/>
                <a:ea typeface="BIZ UDPゴシック"/>
              </a:rPr>
              <a:t>に充足すること。対象者利用率は稼働</a:t>
            </a:r>
            <a:r>
              <a:rPr lang="en-US" sz="1200" b="0" u="none" strike="noStrike">
                <a:solidFill>
                  <a:srgbClr val="1F2937"/>
                </a:solidFill>
                <a:effectLst/>
                <a:uFillTx/>
                <a:latin typeface="BIZ UDPゴシック"/>
                <a:ea typeface="BIZ UDPゴシック"/>
              </a:rPr>
              <a:t>2</a:t>
            </a:r>
            <a:r>
              <a:rPr lang="ja-JP" sz="1200" b="0" u="none" strike="noStrike">
                <a:solidFill>
                  <a:srgbClr val="1F2937"/>
                </a:solidFill>
                <a:effectLst/>
                <a:uFillTx/>
                <a:latin typeface="BIZ UDPゴシック"/>
                <a:ea typeface="BIZ UDPゴシック"/>
              </a:rPr>
              <a:t>か月後の</a:t>
            </a:r>
            <a:r>
              <a:rPr lang="en-US" sz="1200" b="0" u="none" strike="noStrike">
                <a:solidFill>
                  <a:srgbClr val="1F2937"/>
                </a:solidFill>
                <a:effectLst/>
                <a:uFillTx/>
                <a:latin typeface="BIZ UDPゴシック"/>
                <a:ea typeface="BIZ UDPゴシック"/>
              </a:rPr>
              <a:t>2027/11/30</a:t>
            </a:r>
            <a:r>
              <a:rPr lang="ja-JP" sz="1200" b="0" u="none" strike="noStrike">
                <a:solidFill>
                  <a:srgbClr val="1F2937"/>
                </a:solidFill>
                <a:effectLst/>
                <a:uFillTx/>
                <a:latin typeface="BIZ UDPゴシック"/>
                <a:ea typeface="BIZ UDPゴシック"/>
              </a:rPr>
              <a:t>時点で判定する。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9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70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701"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2"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3"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4"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0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70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1.11 </a:t>
            </a:r>
            <a:r>
              <a:rPr lang="ja-JP" sz="2400" b="1" u="none" strike="noStrike">
                <a:solidFill>
                  <a:srgbClr val="16213E"/>
                </a:solidFill>
                <a:effectLst/>
                <a:uFillTx/>
                <a:latin typeface="BIZ UDPゴシック"/>
                <a:ea typeface="BIZ UDPゴシック"/>
              </a:rPr>
              <a:t>目標と成功基準 ─ 完了検収条件</a:t>
            </a:r>
            <a:endParaRPr lang="en-US" sz="2400" b="0" u="none" strike="noStrike">
              <a:solidFill>
                <a:srgbClr val="000000"/>
              </a:solidFill>
              <a:effectLst/>
              <a:uFillTx/>
              <a:latin typeface="Arial"/>
            </a:endParaRPr>
          </a:p>
        </p:txBody>
      </p:sp>
      <p:sp>
        <p:nvSpPr>
          <p:cNvPr id="71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711" name="hdr-hair"/>
          <p:cNvCxnSpPr/>
          <p:nvPr/>
        </p:nvCxnSpPr>
        <p:spPr>
          <a:xfrm>
            <a:off x="502920" y="969120"/>
            <a:ext cx="11186280" cy="720"/>
          </a:xfrm>
          <a:prstGeom prst="straightConnector1">
            <a:avLst/>
          </a:prstGeom>
          <a:ln w="9525">
            <a:solidFill>
              <a:srgbClr val="D5DBE5"/>
            </a:solidFill>
            <a:round/>
          </a:ln>
        </p:spPr>
      </p:cxnSp>
      <p:cxnSp>
        <p:nvCxnSpPr>
          <p:cNvPr id="712" name="ftr-hair"/>
          <p:cNvCxnSpPr/>
          <p:nvPr/>
        </p:nvCxnSpPr>
        <p:spPr>
          <a:xfrm>
            <a:off x="502920" y="6382440"/>
            <a:ext cx="11186280" cy="720"/>
          </a:xfrm>
          <a:prstGeom prst="straightConnector1">
            <a:avLst/>
          </a:prstGeom>
          <a:ln w="9525">
            <a:solidFill>
              <a:srgbClr val="D5DBE5"/>
            </a:solidFill>
            <a:round/>
          </a:ln>
        </p:spPr>
      </p:cxnSp>
      <p:sp>
        <p:nvSpPr>
          <p:cNvPr id="71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17 / 85</a:t>
            </a:r>
            <a:endParaRPr lang="en-US" sz="1100" b="0" u="none" strike="noStrike">
              <a:solidFill>
                <a:srgbClr val="000000"/>
              </a:solidFill>
              <a:effectLst/>
              <a:uFillTx/>
              <a:latin typeface="Arial"/>
            </a:endParaRPr>
          </a:p>
        </p:txBody>
      </p:sp>
      <p:sp>
        <p:nvSpPr>
          <p:cNvPr id="71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71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71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71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プロジェクト完了は</a:t>
            </a:r>
            <a:r>
              <a:rPr lang="en-US" sz="1500" b="1" u="none" strike="noStrike">
                <a:solidFill>
                  <a:srgbClr val="16213E"/>
                </a:solidFill>
                <a:effectLst/>
                <a:uFillTx/>
                <a:latin typeface="BIZ UDPゴシック"/>
                <a:ea typeface="BIZ UDPゴシック"/>
              </a:rPr>
              <a:t>5</a:t>
            </a:r>
            <a:r>
              <a:rPr lang="ja-JP" sz="1500" b="1" u="none" strike="noStrike">
                <a:solidFill>
                  <a:srgbClr val="16213E"/>
                </a:solidFill>
                <a:effectLst/>
                <a:uFillTx/>
                <a:latin typeface="BIZ UDPゴシック"/>
                <a:ea typeface="BIZ UDPゴシック"/>
              </a:rPr>
              <a:t>つの検収条件の達成で判定し、稼働後</a:t>
            </a:r>
            <a:r>
              <a:rPr lang="en-US" sz="1500" b="1" u="none" strike="noStrike">
                <a:solidFill>
                  <a:srgbClr val="16213E"/>
                </a:solidFill>
                <a:effectLst/>
                <a:uFillTx/>
                <a:latin typeface="BIZ UDPゴシック"/>
                <a:ea typeface="BIZ UDPゴシック"/>
              </a:rPr>
              <a:t>KPI</a:t>
            </a:r>
            <a:r>
              <a:rPr lang="ja-JP" sz="1500" b="1" u="none" strike="noStrike">
                <a:solidFill>
                  <a:srgbClr val="16213E"/>
                </a:solidFill>
                <a:effectLst/>
                <a:uFillTx/>
                <a:latin typeface="BIZ UDPゴシック"/>
                <a:ea typeface="BIZ UDPゴシック"/>
              </a:rPr>
              <a:t>と分けて扱う</a:t>
            </a:r>
            <a:endParaRPr lang="en-US" sz="1500" b="0" u="none" strike="noStrike">
              <a:solidFill>
                <a:srgbClr val="000000"/>
              </a:solidFill>
              <a:effectLst/>
              <a:uFillTx/>
              <a:latin typeface="Arial"/>
            </a:endParaRPr>
          </a:p>
        </p:txBody>
      </p:sp>
      <p:graphicFrame>
        <p:nvGraphicFramePr>
          <p:cNvPr id="720" name="blk-table"/>
          <p:cNvGraphicFramePr/>
          <p:nvPr/>
        </p:nvGraphicFramePr>
        <p:xfrm>
          <a:off x="502920" y="1627560"/>
          <a:ext cx="11184480" cy="2164320"/>
        </p:xfrm>
        <a:graphic>
          <a:graphicData uri="http://schemas.openxmlformats.org/drawingml/2006/table">
            <a:tbl>
              <a:tblPr/>
              <a:tblGrid>
                <a:gridCol w="2460600"/>
                <a:gridCol w="4474080"/>
                <a:gridCol w="2013120"/>
                <a:gridCol w="223704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検収条件</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判定内容</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判定日</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責任者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全社本番稼働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全社一斉稼働の開始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2027/10/01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移行完了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本番移行と移行後確認の完了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2027/10/15</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定着化支援完了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月次締め</a:t>
                      </a:r>
                      <a:r>
                        <a:rPr lang="en-US" sz="1100" b="0" u="none" strike="noStrike">
                          <a:solidFill>
                            <a:srgbClr val="1F2937"/>
                          </a:solidFill>
                          <a:effectLst/>
                          <a:uFillTx/>
                          <a:latin typeface="BIZ UDPゴシック"/>
                          <a:ea typeface="BIZ UDPゴシック"/>
                        </a:rPr>
                        <a:t>2</a:t>
                      </a:r>
                      <a:r>
                        <a:rPr lang="ja-JP" sz="1100" b="0" u="none" strike="noStrike">
                          <a:solidFill>
                            <a:srgbClr val="1F2937"/>
                          </a:solidFill>
                          <a:effectLst/>
                          <a:uFillTx/>
                          <a:latin typeface="BIZ UDPゴシック"/>
                          <a:ea typeface="BIZ UDPゴシック"/>
                        </a:rPr>
                        <a:t>回の伴走支援の完了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2027/11/30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成果物承認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定着化報告書ほか全成果物の承認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2027/11/30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対象者利用率</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全対象者約</a:t>
                      </a:r>
                      <a:r>
                        <a:rPr lang="en-US" sz="1100" b="0" u="none" strike="noStrike">
                          <a:solidFill>
                            <a:srgbClr val="1F2937"/>
                          </a:solidFill>
                          <a:effectLst/>
                          <a:uFillTx/>
                          <a:latin typeface="BIZ UDPゴシック"/>
                          <a:ea typeface="BIZ UDPゴシック"/>
                        </a:rPr>
                        <a:t>1,200</a:t>
                      </a:r>
                      <a:r>
                        <a:rPr lang="ja-JP" sz="1100" b="0" u="none" strike="noStrike">
                          <a:solidFill>
                            <a:srgbClr val="1F2937"/>
                          </a:solidFill>
                          <a:effectLst/>
                          <a:uFillTx/>
                          <a:latin typeface="BIZ UDPゴシック"/>
                          <a:ea typeface="BIZ UDPゴシック"/>
                        </a:rPr>
                        <a:t>名の</a:t>
                      </a:r>
                      <a:r>
                        <a:rPr lang="en-US" sz="1100" b="0" u="none" strike="noStrike">
                          <a:solidFill>
                            <a:srgbClr val="1F2937"/>
                          </a:solidFill>
                          <a:effectLst/>
                          <a:uFillTx/>
                          <a:latin typeface="BIZ UDPゴシック"/>
                          <a:ea typeface="BIZ UDPゴシック"/>
                        </a:rPr>
                        <a:t>95%</a:t>
                      </a:r>
                      <a:r>
                        <a:rPr lang="ja-JP" sz="1100" b="0" u="none" strike="noStrike">
                          <a:solidFill>
                            <a:srgbClr val="1F2937"/>
                          </a:solidFill>
                          <a:effectLst/>
                          <a:uFillTx/>
                          <a:latin typeface="BIZ UDPゴシック"/>
                          <a:ea typeface="BIZ UDPゴシック"/>
                        </a:rPr>
                        <a:t>以上が利用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2027/11/30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721" name="blk-callout"/>
          <p:cNvSpPr/>
          <p:nvPr/>
        </p:nvSpPr>
        <p:spPr>
          <a:xfrm>
            <a:off x="502920" y="5730120"/>
            <a:ext cx="11185200" cy="52344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上記</a:t>
            </a:r>
            <a:r>
              <a:rPr lang="en-US" sz="1200" b="0" u="none" strike="noStrike">
                <a:solidFill>
                  <a:srgbClr val="1F2937"/>
                </a:solidFill>
                <a:effectLst/>
                <a:uFillTx/>
                <a:latin typeface="BIZ UDPゴシック"/>
                <a:ea typeface="BIZ UDPゴシック"/>
              </a:rPr>
              <a:t>5</a:t>
            </a:r>
            <a:r>
              <a:rPr lang="ja-JP" sz="1200" b="0" u="none" strike="noStrike">
                <a:solidFill>
                  <a:srgbClr val="1F2937"/>
                </a:solidFill>
                <a:effectLst/>
                <a:uFillTx/>
                <a:latin typeface="BIZ UDPゴシック"/>
                <a:ea typeface="BIZ UDPゴシック"/>
              </a:rPr>
              <a:t>条件の充足をもってプロジェクト完了 </a:t>
            </a:r>
            <a:r>
              <a:rPr lang="en-US" sz="1200" b="0" u="none" strike="noStrike">
                <a:solidFill>
                  <a:srgbClr val="1F2937"/>
                </a:solidFill>
                <a:effectLst/>
                <a:uFillTx/>
                <a:latin typeface="BIZ UDPゴシック"/>
                <a:ea typeface="BIZ UDPゴシック"/>
              </a:rPr>
              <a:t>(2027/11/30) </a:t>
            </a:r>
            <a:r>
              <a:rPr lang="ja-JP" sz="1200" b="0" u="none" strike="noStrike">
                <a:solidFill>
                  <a:srgbClr val="1F2937"/>
                </a:solidFill>
                <a:effectLst/>
                <a:uFillTx/>
                <a:latin typeface="BIZ UDPゴシック"/>
                <a:ea typeface="BIZ UDPゴシック"/>
              </a:rPr>
              <a:t>とし、ステアリングコミッティが判定する。稼働後</a:t>
            </a:r>
            <a:r>
              <a:rPr lang="en-US" sz="1200" b="0" u="none" strike="noStrike">
                <a:solidFill>
                  <a:srgbClr val="1F2937"/>
                </a:solidFill>
                <a:effectLst/>
                <a:uFillTx/>
                <a:latin typeface="BIZ UDPゴシック"/>
                <a:ea typeface="BIZ UDPゴシック"/>
              </a:rPr>
              <a:t>KPI</a:t>
            </a:r>
            <a:r>
              <a:rPr lang="ja-JP" sz="1200" b="0" u="none" strike="noStrike">
                <a:solidFill>
                  <a:srgbClr val="1F2937"/>
                </a:solidFill>
                <a:effectLst/>
                <a:uFillTx/>
                <a:latin typeface="BIZ UDPゴシック"/>
                <a:ea typeface="BIZ UDPゴシック"/>
              </a:rPr>
              <a:t>は検収とは別に測定する。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72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72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726"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27"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28"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29"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30"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3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3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3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73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1.11 </a:t>
            </a:r>
            <a:r>
              <a:rPr lang="ja-JP" sz="2400" b="1" u="none" strike="noStrike">
                <a:solidFill>
                  <a:srgbClr val="16213E"/>
                </a:solidFill>
                <a:effectLst/>
                <a:uFillTx/>
                <a:latin typeface="BIZ UDPゴシック"/>
                <a:ea typeface="BIZ UDPゴシック"/>
              </a:rPr>
              <a:t>目標と成功基準 ─ 稼働後</a:t>
            </a:r>
            <a:r>
              <a:rPr lang="en-US" sz="2400" b="1" u="none" strike="noStrike">
                <a:solidFill>
                  <a:srgbClr val="16213E"/>
                </a:solidFill>
                <a:effectLst/>
                <a:uFillTx/>
                <a:latin typeface="BIZ UDPゴシック"/>
                <a:ea typeface="BIZ UDPゴシック"/>
              </a:rPr>
              <a:t>KPI</a:t>
            </a:r>
            <a:endParaRPr lang="en-US" sz="2400" b="0" u="none" strike="noStrike">
              <a:solidFill>
                <a:srgbClr val="000000"/>
              </a:solidFill>
              <a:effectLst/>
              <a:uFillTx/>
              <a:latin typeface="Arial"/>
            </a:endParaRPr>
          </a:p>
        </p:txBody>
      </p:sp>
      <p:sp>
        <p:nvSpPr>
          <p:cNvPr id="73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736" name="hdr-hair"/>
          <p:cNvCxnSpPr/>
          <p:nvPr/>
        </p:nvCxnSpPr>
        <p:spPr>
          <a:xfrm>
            <a:off x="502920" y="969120"/>
            <a:ext cx="11186280" cy="720"/>
          </a:xfrm>
          <a:prstGeom prst="straightConnector1">
            <a:avLst/>
          </a:prstGeom>
          <a:ln w="9525">
            <a:solidFill>
              <a:srgbClr val="D5DBE5"/>
            </a:solidFill>
            <a:round/>
          </a:ln>
        </p:spPr>
      </p:cxnSp>
      <p:cxnSp>
        <p:nvCxnSpPr>
          <p:cNvPr id="737" name="ftr-hair"/>
          <p:cNvCxnSpPr/>
          <p:nvPr/>
        </p:nvCxnSpPr>
        <p:spPr>
          <a:xfrm>
            <a:off x="502920" y="6382440"/>
            <a:ext cx="11186280" cy="720"/>
          </a:xfrm>
          <a:prstGeom prst="straightConnector1">
            <a:avLst/>
          </a:prstGeom>
          <a:ln w="9525">
            <a:solidFill>
              <a:srgbClr val="D5DBE5"/>
            </a:solidFill>
            <a:round/>
          </a:ln>
        </p:spPr>
      </p:cxnSp>
      <p:sp>
        <p:nvSpPr>
          <p:cNvPr id="73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18 / 85</a:t>
            </a:r>
            <a:endParaRPr lang="en-US" sz="1100" b="0" u="none" strike="noStrike">
              <a:solidFill>
                <a:srgbClr val="000000"/>
              </a:solidFill>
              <a:effectLst/>
              <a:uFillTx/>
              <a:latin typeface="Arial"/>
            </a:endParaRPr>
          </a:p>
        </p:txBody>
      </p:sp>
      <p:sp>
        <p:nvSpPr>
          <p:cNvPr id="73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74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74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74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稼働後</a:t>
            </a:r>
            <a:r>
              <a:rPr lang="en-US" sz="1500" b="1" u="none" strike="noStrike">
                <a:solidFill>
                  <a:srgbClr val="16213E"/>
                </a:solidFill>
                <a:effectLst/>
                <a:uFillTx/>
                <a:latin typeface="BIZ UDPゴシック"/>
                <a:ea typeface="BIZ UDPゴシック"/>
              </a:rPr>
              <a:t>KPI</a:t>
            </a:r>
            <a:r>
              <a:rPr lang="ja-JP" sz="1500" b="1" u="none" strike="noStrike">
                <a:solidFill>
                  <a:srgbClr val="16213E"/>
                </a:solidFill>
                <a:effectLst/>
                <a:uFillTx/>
                <a:latin typeface="BIZ UDPゴシック"/>
                <a:ea typeface="BIZ UDPゴシック"/>
              </a:rPr>
              <a:t>は貴社</a:t>
            </a:r>
            <a:r>
              <a:rPr lang="en-US" sz="1500" b="1" u="none" strike="noStrike">
                <a:solidFill>
                  <a:srgbClr val="16213E"/>
                </a:solidFill>
                <a:effectLst/>
                <a:uFillTx/>
                <a:latin typeface="BIZ UDPゴシック"/>
                <a:ea typeface="BIZ UDPゴシック"/>
              </a:rPr>
              <a:t>PM</a:t>
            </a:r>
            <a:r>
              <a:rPr lang="ja-JP" sz="1500" b="1" u="none" strike="noStrike">
                <a:solidFill>
                  <a:srgbClr val="16213E"/>
                </a:solidFill>
                <a:effectLst/>
                <a:uFillTx/>
                <a:latin typeface="BIZ UDPゴシック"/>
                <a:ea typeface="BIZ UDPゴシック"/>
              </a:rPr>
              <a:t>が判定し、当社は効果測定レポートの作成を支援する</a:t>
            </a:r>
            <a:endParaRPr lang="en-US" sz="1500" b="0" u="none" strike="noStrike">
              <a:solidFill>
                <a:srgbClr val="000000"/>
              </a:solidFill>
              <a:effectLst/>
              <a:uFillTx/>
              <a:latin typeface="Arial"/>
            </a:endParaRPr>
          </a:p>
        </p:txBody>
      </p:sp>
      <p:sp>
        <p:nvSpPr>
          <p:cNvPr id="745" name="blk-metrics"/>
          <p:cNvSpPr/>
          <p:nvPr/>
        </p:nvSpPr>
        <p:spPr>
          <a:xfrm>
            <a:off x="502920" y="1627560"/>
            <a:ext cx="2672280" cy="39740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6" name="blk-metrics-value"/>
          <p:cNvSpPr/>
          <p:nvPr/>
        </p:nvSpPr>
        <p:spPr>
          <a:xfrm>
            <a:off x="594360" y="1682640"/>
            <a:ext cx="2489400" cy="16686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B4235A"/>
                </a:solidFill>
                <a:effectLst/>
                <a:uFillTx/>
                <a:latin typeface="BIZ UDPゴシック"/>
                <a:ea typeface="BIZ UDPゴシック"/>
              </a:rPr>
              <a:t>2</a:t>
            </a:r>
            <a:r>
              <a:rPr lang="ja-JP" sz="3000" b="1" u="none" strike="noStrike">
                <a:solidFill>
                  <a:srgbClr val="B4235A"/>
                </a:solidFill>
                <a:effectLst/>
                <a:uFillTx/>
                <a:latin typeface="BIZ UDPゴシック"/>
                <a:ea typeface="BIZ UDPゴシック"/>
              </a:rPr>
              <a:t>営業日</a:t>
            </a:r>
            <a:endParaRPr lang="en-US" sz="3000" b="0" u="none" strike="noStrike">
              <a:solidFill>
                <a:srgbClr val="000000"/>
              </a:solidFill>
              <a:effectLst/>
              <a:uFillTx/>
              <a:latin typeface="Arial"/>
            </a:endParaRPr>
          </a:p>
        </p:txBody>
      </p:sp>
      <p:sp>
        <p:nvSpPr>
          <p:cNvPr id="747" name="blk-metrics-label"/>
          <p:cNvSpPr/>
          <p:nvPr/>
        </p:nvSpPr>
        <p:spPr>
          <a:xfrm>
            <a:off x="594360" y="33699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精算リードタイム</a:t>
            </a:r>
            <a:endParaRPr lang="en-US" sz="1100" b="0" u="none" strike="noStrike">
              <a:solidFill>
                <a:srgbClr val="000000"/>
              </a:solidFill>
              <a:effectLst/>
              <a:uFillTx/>
              <a:latin typeface="Arial"/>
            </a:endParaRPr>
          </a:p>
        </p:txBody>
      </p:sp>
      <p:sp>
        <p:nvSpPr>
          <p:cNvPr id="748" name="blk-metrics-note"/>
          <p:cNvSpPr/>
          <p:nvPr/>
        </p:nvSpPr>
        <p:spPr>
          <a:xfrm>
            <a:off x="594360" y="3754080"/>
            <a:ext cx="2489400" cy="17924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a:t>
            </a:r>
            <a:r>
              <a:rPr lang="en-US" sz="900" b="0" u="none" strike="noStrike">
                <a:solidFill>
                  <a:srgbClr val="6B7280"/>
                </a:solidFill>
                <a:effectLst/>
                <a:uFillTx/>
                <a:latin typeface="BIZ UDPゴシック"/>
                <a:ea typeface="BIZ UDPゴシック"/>
              </a:rPr>
              <a:t>5</a:t>
            </a:r>
            <a:r>
              <a:rPr lang="ja-JP" sz="900" b="0" u="none" strike="noStrike">
                <a:solidFill>
                  <a:srgbClr val="6B7280"/>
                </a:solidFill>
                <a:effectLst/>
                <a:uFillTx/>
                <a:latin typeface="BIZ UDPゴシック"/>
                <a:ea typeface="BIZ UDPゴシック"/>
              </a:rPr>
              <a:t>営業日から短縮</a:t>
            </a:r>
            <a:endParaRPr lang="en-US" sz="900" b="0" u="none" strike="noStrike">
              <a:solidFill>
                <a:srgbClr val="000000"/>
              </a:solidFill>
              <a:effectLst/>
              <a:uFillTx/>
              <a:latin typeface="Arial"/>
            </a:endParaRPr>
          </a:p>
        </p:txBody>
      </p:sp>
      <p:sp>
        <p:nvSpPr>
          <p:cNvPr id="749" name="blk-metrics"/>
          <p:cNvSpPr/>
          <p:nvPr/>
        </p:nvSpPr>
        <p:spPr>
          <a:xfrm>
            <a:off x="3340440" y="1627560"/>
            <a:ext cx="2672280" cy="39740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0" name="blk-metrics-value"/>
          <p:cNvSpPr/>
          <p:nvPr/>
        </p:nvSpPr>
        <p:spPr>
          <a:xfrm>
            <a:off x="3431880" y="1682640"/>
            <a:ext cx="2489400" cy="16686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ja-JP" sz="3000" b="1" u="none" strike="noStrike">
                <a:solidFill>
                  <a:srgbClr val="2563EB"/>
                </a:solidFill>
                <a:effectLst/>
                <a:uFillTx/>
                <a:latin typeface="BIZ UDPゴシック"/>
                <a:ea typeface="BIZ UDPゴシック"/>
              </a:rPr>
              <a:t>月</a:t>
            </a:r>
            <a:r>
              <a:rPr lang="en-US" sz="3000" b="1" u="none" strike="noStrike">
                <a:solidFill>
                  <a:srgbClr val="2563EB"/>
                </a:solidFill>
                <a:effectLst/>
                <a:uFillTx/>
                <a:latin typeface="BIZ UDPゴシック"/>
                <a:ea typeface="BIZ UDPゴシック"/>
              </a:rPr>
              <a:t>40</a:t>
            </a:r>
            <a:r>
              <a:rPr lang="ja-JP" sz="3000" b="1" u="none" strike="noStrike">
                <a:solidFill>
                  <a:srgbClr val="2563EB"/>
                </a:solidFill>
                <a:effectLst/>
                <a:uFillTx/>
                <a:latin typeface="BIZ UDPゴシック"/>
                <a:ea typeface="BIZ UDPゴシック"/>
              </a:rPr>
              <a:t>時間</a:t>
            </a:r>
            <a:endParaRPr lang="en-US" sz="3000" b="0" u="none" strike="noStrike">
              <a:solidFill>
                <a:srgbClr val="000000"/>
              </a:solidFill>
              <a:effectLst/>
              <a:uFillTx/>
              <a:latin typeface="Arial"/>
            </a:endParaRPr>
          </a:p>
        </p:txBody>
      </p:sp>
      <p:sp>
        <p:nvSpPr>
          <p:cNvPr id="751" name="blk-metrics-label"/>
          <p:cNvSpPr/>
          <p:nvPr/>
        </p:nvSpPr>
        <p:spPr>
          <a:xfrm>
            <a:off x="3431880" y="33699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経理手作業工数</a:t>
            </a:r>
            <a:endParaRPr lang="en-US" sz="1100" b="0" u="none" strike="noStrike">
              <a:solidFill>
                <a:srgbClr val="000000"/>
              </a:solidFill>
              <a:effectLst/>
              <a:uFillTx/>
              <a:latin typeface="Arial"/>
            </a:endParaRPr>
          </a:p>
        </p:txBody>
      </p:sp>
      <p:sp>
        <p:nvSpPr>
          <p:cNvPr id="752" name="blk-metrics-note"/>
          <p:cNvSpPr/>
          <p:nvPr/>
        </p:nvSpPr>
        <p:spPr>
          <a:xfrm>
            <a:off x="3431880" y="3754080"/>
            <a:ext cx="2489400" cy="17924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現状月</a:t>
            </a:r>
            <a:r>
              <a:rPr lang="en-US" sz="900" b="0" u="none" strike="noStrike">
                <a:solidFill>
                  <a:srgbClr val="6B7280"/>
                </a:solidFill>
                <a:effectLst/>
                <a:uFillTx/>
                <a:latin typeface="BIZ UDPゴシック"/>
                <a:ea typeface="BIZ UDPゴシック"/>
              </a:rPr>
              <a:t>120</a:t>
            </a:r>
            <a:r>
              <a:rPr lang="ja-JP" sz="900" b="0" u="none" strike="noStrike">
                <a:solidFill>
                  <a:srgbClr val="6B7280"/>
                </a:solidFill>
                <a:effectLst/>
                <a:uFillTx/>
                <a:latin typeface="BIZ UDPゴシック"/>
                <a:ea typeface="BIZ UDPゴシック"/>
              </a:rPr>
              <a:t>時間から削減</a:t>
            </a:r>
            <a:endParaRPr lang="en-US" sz="900" b="0" u="none" strike="noStrike">
              <a:solidFill>
                <a:srgbClr val="000000"/>
              </a:solidFill>
              <a:effectLst/>
              <a:uFillTx/>
              <a:latin typeface="Arial"/>
            </a:endParaRPr>
          </a:p>
        </p:txBody>
      </p:sp>
      <p:sp>
        <p:nvSpPr>
          <p:cNvPr id="753" name="blk-metrics"/>
          <p:cNvSpPr/>
          <p:nvPr/>
        </p:nvSpPr>
        <p:spPr>
          <a:xfrm>
            <a:off x="6178320" y="1627560"/>
            <a:ext cx="2672280" cy="39740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4" name="blk-metrics-value"/>
          <p:cNvSpPr/>
          <p:nvPr/>
        </p:nvSpPr>
        <p:spPr>
          <a:xfrm>
            <a:off x="6269760" y="1682640"/>
            <a:ext cx="2489400" cy="16686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D97706"/>
                </a:solidFill>
                <a:effectLst/>
                <a:uFillTx/>
                <a:latin typeface="BIZ UDPゴシック"/>
                <a:ea typeface="BIZ UDPゴシック"/>
              </a:rPr>
              <a:t>5%</a:t>
            </a:r>
            <a:r>
              <a:rPr lang="ja-JP" sz="3000" b="1" u="none" strike="noStrike">
                <a:solidFill>
                  <a:srgbClr val="D97706"/>
                </a:solidFill>
                <a:effectLst/>
                <a:uFillTx/>
                <a:latin typeface="BIZ UDPゴシック"/>
                <a:ea typeface="BIZ UDPゴシック"/>
              </a:rPr>
              <a:t>以下</a:t>
            </a:r>
            <a:endParaRPr lang="en-US" sz="3000" b="0" u="none" strike="noStrike">
              <a:solidFill>
                <a:srgbClr val="000000"/>
              </a:solidFill>
              <a:effectLst/>
              <a:uFillTx/>
              <a:latin typeface="Arial"/>
            </a:endParaRPr>
          </a:p>
        </p:txBody>
      </p:sp>
      <p:sp>
        <p:nvSpPr>
          <p:cNvPr id="755" name="blk-metrics-label"/>
          <p:cNvSpPr/>
          <p:nvPr/>
        </p:nvSpPr>
        <p:spPr>
          <a:xfrm>
            <a:off x="6269760" y="33699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申請の差戻し率</a:t>
            </a:r>
            <a:endParaRPr lang="en-US" sz="1100" b="0" u="none" strike="noStrike">
              <a:solidFill>
                <a:srgbClr val="000000"/>
              </a:solidFill>
              <a:effectLst/>
              <a:uFillTx/>
              <a:latin typeface="Arial"/>
            </a:endParaRPr>
          </a:p>
        </p:txBody>
      </p:sp>
      <p:sp>
        <p:nvSpPr>
          <p:cNvPr id="756" name="blk-metrics-note"/>
          <p:cNvSpPr/>
          <p:nvPr/>
        </p:nvSpPr>
        <p:spPr>
          <a:xfrm>
            <a:off x="6269760" y="3754080"/>
            <a:ext cx="2489400" cy="17924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a:t>
            </a:r>
            <a:r>
              <a:rPr lang="en-US" sz="900" b="0" u="none" strike="noStrike">
                <a:solidFill>
                  <a:srgbClr val="6B7280"/>
                </a:solidFill>
                <a:effectLst/>
                <a:uFillTx/>
                <a:latin typeface="BIZ UDPゴシック"/>
                <a:ea typeface="BIZ UDPゴシック"/>
              </a:rPr>
              <a:t>15%</a:t>
            </a:r>
            <a:r>
              <a:rPr lang="ja-JP" sz="900" b="0" u="none" strike="noStrike">
                <a:solidFill>
                  <a:srgbClr val="6B7280"/>
                </a:solidFill>
                <a:effectLst/>
                <a:uFillTx/>
                <a:latin typeface="BIZ UDPゴシック"/>
                <a:ea typeface="BIZ UDPゴシック"/>
              </a:rPr>
              <a:t>から低減</a:t>
            </a:r>
            <a:endParaRPr lang="en-US" sz="900" b="0" u="none" strike="noStrike">
              <a:solidFill>
                <a:srgbClr val="000000"/>
              </a:solidFill>
              <a:effectLst/>
              <a:uFillTx/>
              <a:latin typeface="Arial"/>
            </a:endParaRPr>
          </a:p>
        </p:txBody>
      </p:sp>
      <p:sp>
        <p:nvSpPr>
          <p:cNvPr id="757" name="blk-metrics"/>
          <p:cNvSpPr/>
          <p:nvPr/>
        </p:nvSpPr>
        <p:spPr>
          <a:xfrm>
            <a:off x="9015840" y="1627560"/>
            <a:ext cx="2672280" cy="39740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8" name="blk-metrics-value"/>
          <p:cNvSpPr/>
          <p:nvPr/>
        </p:nvSpPr>
        <p:spPr>
          <a:xfrm>
            <a:off x="9107280" y="1682640"/>
            <a:ext cx="2489400" cy="16686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059669"/>
                </a:solidFill>
                <a:effectLst/>
                <a:uFillTx/>
                <a:latin typeface="BIZ UDPゴシック"/>
                <a:ea typeface="BIZ UDPゴシック"/>
              </a:rPr>
              <a:t>4.0</a:t>
            </a:r>
            <a:r>
              <a:rPr lang="ja-JP" sz="3000" b="1" u="none" strike="noStrike">
                <a:solidFill>
                  <a:srgbClr val="059669"/>
                </a:solidFill>
                <a:effectLst/>
                <a:uFillTx/>
                <a:latin typeface="BIZ UDPゴシック"/>
                <a:ea typeface="BIZ UDPゴシック"/>
              </a:rPr>
              <a:t>以上</a:t>
            </a:r>
            <a:endParaRPr lang="en-US" sz="3000" b="0" u="none" strike="noStrike">
              <a:solidFill>
                <a:srgbClr val="000000"/>
              </a:solidFill>
              <a:effectLst/>
              <a:uFillTx/>
              <a:latin typeface="Arial"/>
            </a:endParaRPr>
          </a:p>
        </p:txBody>
      </p:sp>
      <p:sp>
        <p:nvSpPr>
          <p:cNvPr id="759" name="blk-metrics-label"/>
          <p:cNvSpPr/>
          <p:nvPr/>
        </p:nvSpPr>
        <p:spPr>
          <a:xfrm>
            <a:off x="9107280" y="336996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利用者満足度</a:t>
            </a:r>
            <a:endParaRPr lang="en-US" sz="1100" b="0" u="none" strike="noStrike">
              <a:solidFill>
                <a:srgbClr val="000000"/>
              </a:solidFill>
              <a:effectLst/>
              <a:uFillTx/>
              <a:latin typeface="Arial"/>
            </a:endParaRPr>
          </a:p>
        </p:txBody>
      </p:sp>
      <p:sp>
        <p:nvSpPr>
          <p:cNvPr id="760" name="blk-metrics-note"/>
          <p:cNvSpPr/>
          <p:nvPr/>
        </p:nvSpPr>
        <p:spPr>
          <a:xfrm>
            <a:off x="9107280" y="3754080"/>
            <a:ext cx="2489400" cy="17924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900" b="0" u="none" strike="noStrike">
                <a:solidFill>
                  <a:srgbClr val="6B7280"/>
                </a:solidFill>
                <a:effectLst/>
                <a:uFillTx/>
                <a:latin typeface="BIZ UDPゴシック"/>
                <a:ea typeface="BIZ UDPゴシック"/>
              </a:rPr>
              <a:t>5.0</a:t>
            </a:r>
            <a:r>
              <a:rPr lang="ja-JP" sz="900" b="0" u="none" strike="noStrike">
                <a:solidFill>
                  <a:srgbClr val="6B7280"/>
                </a:solidFill>
                <a:effectLst/>
                <a:uFillTx/>
                <a:latin typeface="BIZ UDPゴシック"/>
                <a:ea typeface="BIZ UDPゴシック"/>
              </a:rPr>
              <a:t>満点</a:t>
            </a:r>
            <a:endParaRPr lang="en-US" sz="900" b="0" u="none" strike="noStrike">
              <a:solidFill>
                <a:srgbClr val="000000"/>
              </a:solidFill>
              <a:effectLst/>
              <a:uFillTx/>
              <a:latin typeface="Arial"/>
            </a:endParaRPr>
          </a:p>
        </p:txBody>
      </p:sp>
      <p:sp>
        <p:nvSpPr>
          <p:cNvPr id="761" name="blk-callout"/>
          <p:cNvSpPr/>
          <p:nvPr/>
        </p:nvSpPr>
        <p:spPr>
          <a:xfrm>
            <a:off x="502920" y="573012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稼働後</a:t>
            </a:r>
            <a:r>
              <a:rPr lang="en-US" sz="1200" b="0" u="none" strike="noStrike">
                <a:solidFill>
                  <a:srgbClr val="1F2937"/>
                </a:solidFill>
                <a:effectLst/>
                <a:uFillTx/>
                <a:latin typeface="BIZ UDPゴシック"/>
                <a:ea typeface="BIZ UDPゴシック"/>
              </a:rPr>
              <a:t>KPI</a:t>
            </a:r>
            <a:r>
              <a:rPr lang="ja-JP" sz="1200" b="0" u="none" strike="noStrike">
                <a:solidFill>
                  <a:srgbClr val="1F2937"/>
                </a:solidFill>
                <a:effectLst/>
                <a:uFillTx/>
                <a:latin typeface="BIZ UDPゴシック"/>
                <a:ea typeface="BIZ UDPゴシック"/>
              </a:rPr>
              <a:t>はプロジェクト完了後、貴社が測定する。当社は効果測定レポートの作成を支援する。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76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76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766"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67"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68"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69"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70"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7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7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7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77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1.11 </a:t>
            </a:r>
            <a:r>
              <a:rPr lang="ja-JP" sz="2400" b="1" u="none" strike="noStrike">
                <a:solidFill>
                  <a:srgbClr val="16213E"/>
                </a:solidFill>
                <a:effectLst/>
                <a:uFillTx/>
                <a:latin typeface="BIZ UDPゴシック"/>
                <a:ea typeface="BIZ UDPゴシック"/>
              </a:rPr>
              <a:t>目標と成功基準 ─ 稼働後</a:t>
            </a:r>
            <a:r>
              <a:rPr lang="en-US" sz="2400" b="1" u="none" strike="noStrike">
                <a:solidFill>
                  <a:srgbClr val="16213E"/>
                </a:solidFill>
                <a:effectLst/>
                <a:uFillTx/>
                <a:latin typeface="BIZ UDPゴシック"/>
                <a:ea typeface="BIZ UDPゴシック"/>
              </a:rPr>
              <a:t>KPI</a:t>
            </a:r>
            <a:r>
              <a:rPr lang="ja-JP" sz="2400" b="1" u="none" strike="noStrike">
                <a:solidFill>
                  <a:srgbClr val="16213E"/>
                </a:solidFill>
                <a:effectLst/>
                <a:uFillTx/>
                <a:latin typeface="BIZ UDPゴシック"/>
                <a:ea typeface="BIZ UDPゴシック"/>
              </a:rPr>
              <a:t>の測定方法</a:t>
            </a:r>
            <a:endParaRPr lang="en-US" sz="2400" b="0" u="none" strike="noStrike">
              <a:solidFill>
                <a:srgbClr val="000000"/>
              </a:solidFill>
              <a:effectLst/>
              <a:uFillTx/>
              <a:latin typeface="Arial"/>
            </a:endParaRPr>
          </a:p>
        </p:txBody>
      </p:sp>
      <p:sp>
        <p:nvSpPr>
          <p:cNvPr id="77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776" name="hdr-hair"/>
          <p:cNvCxnSpPr/>
          <p:nvPr/>
        </p:nvCxnSpPr>
        <p:spPr>
          <a:xfrm>
            <a:off x="502920" y="969120"/>
            <a:ext cx="11186280" cy="720"/>
          </a:xfrm>
          <a:prstGeom prst="straightConnector1">
            <a:avLst/>
          </a:prstGeom>
          <a:ln w="9525">
            <a:solidFill>
              <a:srgbClr val="D5DBE5"/>
            </a:solidFill>
            <a:round/>
          </a:ln>
        </p:spPr>
      </p:cxnSp>
      <p:cxnSp>
        <p:nvCxnSpPr>
          <p:cNvPr id="777" name="ftr-hair"/>
          <p:cNvCxnSpPr/>
          <p:nvPr/>
        </p:nvCxnSpPr>
        <p:spPr>
          <a:xfrm>
            <a:off x="502920" y="6382440"/>
            <a:ext cx="11186280" cy="720"/>
          </a:xfrm>
          <a:prstGeom prst="straightConnector1">
            <a:avLst/>
          </a:prstGeom>
          <a:ln w="9525">
            <a:solidFill>
              <a:srgbClr val="D5DBE5"/>
            </a:solidFill>
            <a:round/>
          </a:ln>
        </p:spPr>
      </p:cxnSp>
      <p:sp>
        <p:nvSpPr>
          <p:cNvPr id="77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19 / 85</a:t>
            </a:r>
            <a:endParaRPr lang="en-US" sz="1100" b="0" u="none" strike="noStrike">
              <a:solidFill>
                <a:srgbClr val="000000"/>
              </a:solidFill>
              <a:effectLst/>
              <a:uFillTx/>
              <a:latin typeface="Arial"/>
            </a:endParaRPr>
          </a:p>
        </p:txBody>
      </p:sp>
      <p:sp>
        <p:nvSpPr>
          <p:cNvPr id="77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78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78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78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効果</a:t>
            </a:r>
            <a:r>
              <a:rPr lang="en-US" sz="1500" b="1" u="none" strike="noStrike">
                <a:solidFill>
                  <a:srgbClr val="16213E"/>
                </a:solidFill>
                <a:effectLst/>
                <a:uFillTx/>
                <a:latin typeface="BIZ UDPゴシック"/>
                <a:ea typeface="BIZ UDPゴシック"/>
              </a:rPr>
              <a:t>KPI</a:t>
            </a:r>
            <a:r>
              <a:rPr lang="ja-JP" sz="1500" b="1" u="none" strike="noStrike">
                <a:solidFill>
                  <a:srgbClr val="16213E"/>
                </a:solidFill>
                <a:effectLst/>
                <a:uFillTx/>
                <a:latin typeface="BIZ UDPゴシック"/>
                <a:ea typeface="BIZ UDPゴシック"/>
              </a:rPr>
              <a:t>は稼働</a:t>
            </a:r>
            <a:r>
              <a:rPr lang="en-US" sz="1500" b="1" u="none" strike="noStrike">
                <a:solidFill>
                  <a:srgbClr val="16213E"/>
                </a:solidFill>
                <a:effectLst/>
                <a:uFillTx/>
                <a:latin typeface="BIZ UDPゴシック"/>
                <a:ea typeface="BIZ UDPゴシック"/>
              </a:rPr>
              <a:t>3</a:t>
            </a:r>
            <a:r>
              <a:rPr lang="ja-JP" sz="1500" b="1" u="none" strike="noStrike">
                <a:solidFill>
                  <a:srgbClr val="16213E"/>
                </a:solidFill>
                <a:effectLst/>
                <a:uFillTx/>
                <a:latin typeface="BIZ UDPゴシック"/>
                <a:ea typeface="BIZ UDPゴシック"/>
              </a:rPr>
              <a:t>か月後の</a:t>
            </a:r>
            <a:r>
              <a:rPr lang="en-US" sz="1500" b="1" u="none" strike="noStrike">
                <a:solidFill>
                  <a:srgbClr val="16213E"/>
                </a:solidFill>
                <a:effectLst/>
                <a:uFillTx/>
                <a:latin typeface="BIZ UDPゴシック"/>
                <a:ea typeface="BIZ UDPゴシック"/>
              </a:rPr>
              <a:t>2027/12</a:t>
            </a:r>
            <a:r>
              <a:rPr lang="ja-JP" sz="1500" b="1" u="none" strike="noStrike">
                <a:solidFill>
                  <a:srgbClr val="16213E"/>
                </a:solidFill>
                <a:effectLst/>
                <a:uFillTx/>
                <a:latin typeface="BIZ UDPゴシック"/>
                <a:ea typeface="BIZ UDPゴシック"/>
              </a:rPr>
              <a:t>末、利用者満足度は</a:t>
            </a:r>
            <a:r>
              <a:rPr lang="en-US" sz="1500" b="1" u="none" strike="noStrike">
                <a:solidFill>
                  <a:srgbClr val="16213E"/>
                </a:solidFill>
                <a:effectLst/>
                <a:uFillTx/>
                <a:latin typeface="BIZ UDPゴシック"/>
                <a:ea typeface="BIZ UDPゴシック"/>
              </a:rPr>
              <a:t>2028/03</a:t>
            </a:r>
            <a:r>
              <a:rPr lang="ja-JP" sz="1500" b="1" u="none" strike="noStrike">
                <a:solidFill>
                  <a:srgbClr val="16213E"/>
                </a:solidFill>
                <a:effectLst/>
                <a:uFillTx/>
                <a:latin typeface="BIZ UDPゴシック"/>
                <a:ea typeface="BIZ UDPゴシック"/>
              </a:rPr>
              <a:t>末に貴社</a:t>
            </a:r>
            <a:r>
              <a:rPr lang="en-US" sz="1500" b="1" u="none" strike="noStrike">
                <a:solidFill>
                  <a:srgbClr val="16213E"/>
                </a:solidFill>
                <a:effectLst/>
                <a:uFillTx/>
                <a:latin typeface="BIZ UDPゴシック"/>
                <a:ea typeface="BIZ UDPゴシック"/>
              </a:rPr>
              <a:t>PM</a:t>
            </a:r>
            <a:r>
              <a:rPr lang="ja-JP" sz="1500" b="1" u="none" strike="noStrike">
                <a:solidFill>
                  <a:srgbClr val="16213E"/>
                </a:solidFill>
                <a:effectLst/>
                <a:uFillTx/>
                <a:latin typeface="BIZ UDPゴシック"/>
                <a:ea typeface="BIZ UDPゴシック"/>
              </a:rPr>
              <a:t>が判定する</a:t>
            </a:r>
            <a:endParaRPr lang="en-US" sz="1500" b="0" u="none" strike="noStrike">
              <a:solidFill>
                <a:srgbClr val="000000"/>
              </a:solidFill>
              <a:effectLst/>
              <a:uFillTx/>
              <a:latin typeface="Arial"/>
            </a:endParaRPr>
          </a:p>
        </p:txBody>
      </p:sp>
      <p:graphicFrame>
        <p:nvGraphicFramePr>
          <p:cNvPr id="785" name="blk-table"/>
          <p:cNvGraphicFramePr/>
          <p:nvPr/>
        </p:nvGraphicFramePr>
        <p:xfrm>
          <a:off x="502920" y="1627560"/>
          <a:ext cx="11184480" cy="2404800"/>
        </p:xfrm>
        <a:graphic>
          <a:graphicData uri="http://schemas.openxmlformats.org/drawingml/2006/table">
            <a:tbl>
              <a:tblPr/>
              <a:tblGrid>
                <a:gridCol w="2460600"/>
                <a:gridCol w="1789560"/>
                <a:gridCol w="3355560"/>
                <a:gridCol w="2237040"/>
                <a:gridCol w="1342080"/>
              </a:tblGrid>
              <a:tr h="286560">
                <a:tc>
                  <a:txBody>
                    <a:bodyPr lIns="45720" tIns="18000" rIns="45720" bIns="18000" anchor="t">
                      <a:noAutofit/>
                    </a:bodyPr>
                    <a:p>
                      <a:pPr defTabSz="457200">
                        <a:lnSpc>
                          <a:spcPct val="120000"/>
                        </a:lnSpc>
                      </a:pPr>
                      <a:r>
                        <a:rPr lang="ja-JP" sz="1350" b="1" u="none" strike="noStrike">
                          <a:solidFill>
                            <a:srgbClr val="FFFFFF"/>
                          </a:solidFill>
                          <a:effectLst/>
                          <a:uFillTx/>
                          <a:latin typeface="BIZ UDPゴシック"/>
                          <a:ea typeface="BIZ UDPゴシック"/>
                        </a:rPr>
                        <a:t>指標</a:t>
                      </a:r>
                      <a:endParaRPr lang="en-US" sz="13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350" b="1" u="none" strike="noStrike">
                          <a:solidFill>
                            <a:srgbClr val="FFFFFF"/>
                          </a:solidFill>
                          <a:effectLst/>
                          <a:uFillTx/>
                          <a:latin typeface="BIZ UDPゴシック"/>
                          <a:ea typeface="BIZ UDPゴシック"/>
                        </a:rPr>
                        <a:t>目標値</a:t>
                      </a:r>
                      <a:endParaRPr lang="en-US" sz="13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350" b="1" u="none" strike="noStrike">
                          <a:solidFill>
                            <a:srgbClr val="FFFFFF"/>
                          </a:solidFill>
                          <a:effectLst/>
                          <a:uFillTx/>
                          <a:latin typeface="BIZ UDPゴシック"/>
                          <a:ea typeface="BIZ UDPゴシック"/>
                        </a:rPr>
                        <a:t>測定方法</a:t>
                      </a:r>
                      <a:endParaRPr lang="en-US" sz="13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350" b="1" u="none" strike="noStrike">
                          <a:solidFill>
                            <a:srgbClr val="FFFFFF"/>
                          </a:solidFill>
                          <a:effectLst/>
                          <a:uFillTx/>
                          <a:latin typeface="BIZ UDPゴシック"/>
                          <a:ea typeface="BIZ UDPゴシック"/>
                        </a:rPr>
                        <a:t>判定日</a:t>
                      </a:r>
                      <a:endParaRPr lang="en-US" sz="13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350" b="1" u="none" strike="noStrike">
                          <a:solidFill>
                            <a:srgbClr val="FFFFFF"/>
                          </a:solidFill>
                          <a:effectLst/>
                          <a:uFillTx/>
                          <a:latin typeface="BIZ UDPゴシック"/>
                          <a:ea typeface="BIZ UDPゴシック"/>
                        </a:rPr>
                        <a:t>責任者</a:t>
                      </a:r>
                      <a:endParaRPr lang="en-US" sz="13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精算リードタイム</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2</a:t>
                      </a:r>
                      <a:r>
                        <a:rPr lang="ja-JP" sz="1350" b="0" u="none" strike="noStrike">
                          <a:solidFill>
                            <a:srgbClr val="1F2937"/>
                          </a:solidFill>
                          <a:effectLst/>
                          <a:uFillTx/>
                          <a:latin typeface="BIZ UDPゴシック"/>
                          <a:ea typeface="BIZ UDPゴシック"/>
                        </a:rPr>
                        <a:t>営業日</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申請〜支払日時のシステム集計</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2027/12</a:t>
                      </a:r>
                      <a:r>
                        <a:rPr lang="ja-JP" sz="1350" b="0" u="none" strike="noStrike">
                          <a:solidFill>
                            <a:srgbClr val="1F2937"/>
                          </a:solidFill>
                          <a:effectLst/>
                          <a:uFillTx/>
                          <a:latin typeface="BIZ UDPゴシック"/>
                          <a:ea typeface="BIZ UDPゴシック"/>
                        </a:rPr>
                        <a:t>末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稼働</a:t>
                      </a:r>
                      <a:r>
                        <a:rPr lang="en-US" sz="1350" b="0" u="none" strike="noStrike">
                          <a:solidFill>
                            <a:srgbClr val="1F2937"/>
                          </a:solidFill>
                          <a:effectLst/>
                          <a:uFillTx/>
                          <a:latin typeface="BIZ UDPゴシック"/>
                          <a:ea typeface="BIZ UDPゴシック"/>
                        </a:rPr>
                        <a:t>3</a:t>
                      </a:r>
                      <a:r>
                        <a:rPr lang="ja-JP" sz="1350" b="0" u="none" strike="noStrike">
                          <a:solidFill>
                            <a:srgbClr val="1F2937"/>
                          </a:solidFill>
                          <a:effectLst/>
                          <a:uFillTx/>
                          <a:latin typeface="BIZ UDPゴシック"/>
                          <a:ea typeface="BIZ UDPゴシック"/>
                        </a:rPr>
                        <a:t>か月後</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貴社</a:t>
                      </a:r>
                      <a:r>
                        <a:rPr lang="en-US" sz="1350" b="0" u="none" strike="noStrike">
                          <a:solidFill>
                            <a:srgbClr val="1F2937"/>
                          </a:solidFill>
                          <a:effectLst/>
                          <a:uFillTx/>
                          <a:latin typeface="BIZ UDPゴシック"/>
                          <a:ea typeface="BIZ UDPゴシック"/>
                        </a:rPr>
                        <a:t>PM</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経理の手作業工数</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月</a:t>
                      </a:r>
                      <a:r>
                        <a:rPr lang="en-US" sz="1350" b="0" u="none" strike="noStrike">
                          <a:solidFill>
                            <a:srgbClr val="1F2937"/>
                          </a:solidFill>
                          <a:effectLst/>
                          <a:uFillTx/>
                          <a:latin typeface="BIZ UDPゴシック"/>
                          <a:ea typeface="BIZ UDPゴシック"/>
                        </a:rPr>
                        <a:t>40</a:t>
                      </a:r>
                      <a:r>
                        <a:rPr lang="ja-JP" sz="1350" b="0" u="none" strike="noStrike">
                          <a:solidFill>
                            <a:srgbClr val="1F2937"/>
                          </a:solidFill>
                          <a:effectLst/>
                          <a:uFillTx/>
                          <a:latin typeface="BIZ UDPゴシック"/>
                          <a:ea typeface="BIZ UDPゴシック"/>
                        </a:rPr>
                        <a:t>時間</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タイムスタディと業務ログ</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2027/12</a:t>
                      </a:r>
                      <a:r>
                        <a:rPr lang="ja-JP" sz="1350" b="0" u="none" strike="noStrike">
                          <a:solidFill>
                            <a:srgbClr val="1F2937"/>
                          </a:solidFill>
                          <a:effectLst/>
                          <a:uFillTx/>
                          <a:latin typeface="BIZ UDPゴシック"/>
                          <a:ea typeface="BIZ UDPゴシック"/>
                        </a:rPr>
                        <a:t>末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稼働</a:t>
                      </a:r>
                      <a:r>
                        <a:rPr lang="en-US" sz="1350" b="0" u="none" strike="noStrike">
                          <a:solidFill>
                            <a:srgbClr val="1F2937"/>
                          </a:solidFill>
                          <a:effectLst/>
                          <a:uFillTx/>
                          <a:latin typeface="BIZ UDPゴシック"/>
                          <a:ea typeface="BIZ UDPゴシック"/>
                        </a:rPr>
                        <a:t>3</a:t>
                      </a:r>
                      <a:r>
                        <a:rPr lang="ja-JP" sz="1350" b="0" u="none" strike="noStrike">
                          <a:solidFill>
                            <a:srgbClr val="1F2937"/>
                          </a:solidFill>
                          <a:effectLst/>
                          <a:uFillTx/>
                          <a:latin typeface="BIZ UDPゴシック"/>
                          <a:ea typeface="BIZ UDPゴシック"/>
                        </a:rPr>
                        <a:t>か月後</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貴社</a:t>
                      </a:r>
                      <a:r>
                        <a:rPr lang="en-US" sz="1350" b="0" u="none" strike="noStrike">
                          <a:solidFill>
                            <a:srgbClr val="1F2937"/>
                          </a:solidFill>
                          <a:effectLst/>
                          <a:uFillTx/>
                          <a:latin typeface="BIZ UDPゴシック"/>
                          <a:ea typeface="BIZ UDPゴシック"/>
                        </a:rPr>
                        <a:t>PM</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申請の差戻し率</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5%</a:t>
                      </a:r>
                      <a:r>
                        <a:rPr lang="ja-JP" sz="1350" b="0" u="none" strike="noStrike">
                          <a:solidFill>
                            <a:srgbClr val="1F2937"/>
                          </a:solidFill>
                          <a:effectLst/>
                          <a:uFillTx/>
                          <a:latin typeface="BIZ UDPゴシック"/>
                          <a:ea typeface="BIZ UDPゴシック"/>
                        </a:rPr>
                        <a:t>以下</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差戻し件数 </a:t>
                      </a:r>
                      <a:r>
                        <a:rPr lang="en-US" sz="1350" b="0" u="none" strike="noStrike">
                          <a:solidFill>
                            <a:srgbClr val="1F2937"/>
                          </a:solidFill>
                          <a:effectLst/>
                          <a:uFillTx/>
                          <a:latin typeface="BIZ UDPゴシック"/>
                          <a:ea typeface="BIZ UDPゴシック"/>
                        </a:rPr>
                        <a:t>/ </a:t>
                      </a:r>
                      <a:r>
                        <a:rPr lang="ja-JP" sz="1350" b="0" u="none" strike="noStrike">
                          <a:solidFill>
                            <a:srgbClr val="1F2937"/>
                          </a:solidFill>
                          <a:effectLst/>
                          <a:uFillTx/>
                          <a:latin typeface="BIZ UDPゴシック"/>
                          <a:ea typeface="BIZ UDPゴシック"/>
                        </a:rPr>
                        <a:t>申請件数</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2027/12</a:t>
                      </a:r>
                      <a:r>
                        <a:rPr lang="ja-JP" sz="1350" b="0" u="none" strike="noStrike">
                          <a:solidFill>
                            <a:srgbClr val="1F2937"/>
                          </a:solidFill>
                          <a:effectLst/>
                          <a:uFillTx/>
                          <a:latin typeface="BIZ UDPゴシック"/>
                          <a:ea typeface="BIZ UDPゴシック"/>
                        </a:rPr>
                        <a:t>末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稼働</a:t>
                      </a:r>
                      <a:r>
                        <a:rPr lang="en-US" sz="1350" b="0" u="none" strike="noStrike">
                          <a:solidFill>
                            <a:srgbClr val="1F2937"/>
                          </a:solidFill>
                          <a:effectLst/>
                          <a:uFillTx/>
                          <a:latin typeface="BIZ UDPゴシック"/>
                          <a:ea typeface="BIZ UDPゴシック"/>
                        </a:rPr>
                        <a:t>3</a:t>
                      </a:r>
                      <a:r>
                        <a:rPr lang="ja-JP" sz="1350" b="0" u="none" strike="noStrike">
                          <a:solidFill>
                            <a:srgbClr val="1F2937"/>
                          </a:solidFill>
                          <a:effectLst/>
                          <a:uFillTx/>
                          <a:latin typeface="BIZ UDPゴシック"/>
                          <a:ea typeface="BIZ UDPゴシック"/>
                        </a:rPr>
                        <a:t>か月後</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貴社</a:t>
                      </a:r>
                      <a:r>
                        <a:rPr lang="en-US" sz="1350" b="0" u="none" strike="noStrike">
                          <a:solidFill>
                            <a:srgbClr val="1F2937"/>
                          </a:solidFill>
                          <a:effectLst/>
                          <a:uFillTx/>
                          <a:latin typeface="BIZ UDPゴシック"/>
                          <a:ea typeface="BIZ UDPゴシック"/>
                        </a:rPr>
                        <a:t>PM</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利用者満足度</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4.0/5.0</a:t>
                      </a:r>
                      <a:r>
                        <a:rPr lang="ja-JP" sz="1350" b="0" u="none" strike="noStrike">
                          <a:solidFill>
                            <a:srgbClr val="1F2937"/>
                          </a:solidFill>
                          <a:effectLst/>
                          <a:uFillTx/>
                          <a:latin typeface="BIZ UDPゴシック"/>
                          <a:ea typeface="BIZ UDPゴシック"/>
                        </a:rPr>
                        <a:t>以上</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利用者アンケート</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2028/03</a:t>
                      </a:r>
                      <a:r>
                        <a:rPr lang="ja-JP" sz="1350" b="0" u="none" strike="noStrike">
                          <a:solidFill>
                            <a:srgbClr val="1F2937"/>
                          </a:solidFill>
                          <a:effectLst/>
                          <a:uFillTx/>
                          <a:latin typeface="BIZ UDPゴシック"/>
                          <a:ea typeface="BIZ UDPゴシック"/>
                        </a:rPr>
                        <a:t>末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稼働</a:t>
                      </a:r>
                      <a:r>
                        <a:rPr lang="en-US" sz="1350" b="0" u="none" strike="noStrike">
                          <a:solidFill>
                            <a:srgbClr val="1F2937"/>
                          </a:solidFill>
                          <a:effectLst/>
                          <a:uFillTx/>
                          <a:latin typeface="BIZ UDPゴシック"/>
                          <a:ea typeface="BIZ UDPゴシック"/>
                        </a:rPr>
                        <a:t>6</a:t>
                      </a:r>
                      <a:r>
                        <a:rPr lang="ja-JP" sz="1350" b="0" u="none" strike="noStrike">
                          <a:solidFill>
                            <a:srgbClr val="1F2937"/>
                          </a:solidFill>
                          <a:effectLst/>
                          <a:uFillTx/>
                          <a:latin typeface="BIZ UDPゴシック"/>
                          <a:ea typeface="BIZ UDPゴシック"/>
                        </a:rPr>
                        <a:t>か月後</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貴社</a:t>
                      </a:r>
                      <a:r>
                        <a:rPr lang="en-US" sz="1350" b="0" u="none" strike="noStrike">
                          <a:solidFill>
                            <a:srgbClr val="1F2937"/>
                          </a:solidFill>
                          <a:effectLst/>
                          <a:uFillTx/>
                          <a:latin typeface="BIZ UDPゴシック"/>
                          <a:ea typeface="BIZ UDPゴシック"/>
                        </a:rPr>
                        <a:t>PM</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78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78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790"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1"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2"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3"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4"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5"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79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79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1.12 </a:t>
            </a:r>
            <a:r>
              <a:rPr lang="ja-JP" sz="2400" b="1" u="none" strike="noStrike">
                <a:solidFill>
                  <a:srgbClr val="16213E"/>
                </a:solidFill>
                <a:effectLst/>
                <a:uFillTx/>
                <a:latin typeface="BIZ UDPゴシック"/>
                <a:ea typeface="BIZ UDPゴシック"/>
              </a:rPr>
              <a:t>導入効果 </a:t>
            </a:r>
            <a:r>
              <a:rPr lang="en-US" sz="2400" b="1" u="none" strike="noStrike">
                <a:solidFill>
                  <a:srgbClr val="16213E"/>
                </a:solidFill>
                <a:effectLst/>
                <a:uFillTx/>
                <a:latin typeface="BIZ UDPゴシック"/>
                <a:ea typeface="BIZ UDPゴシック"/>
              </a:rPr>
              <a:t>(</a:t>
            </a:r>
            <a:r>
              <a:rPr lang="ja-JP" sz="2400" b="1" u="none" strike="noStrike">
                <a:solidFill>
                  <a:srgbClr val="16213E"/>
                </a:solidFill>
                <a:effectLst/>
                <a:uFillTx/>
                <a:latin typeface="BIZ UDPゴシック"/>
                <a:ea typeface="BIZ UDPゴシック"/>
              </a:rPr>
              <a:t>定量・定性</a:t>
            </a:r>
            <a:r>
              <a:rPr lang="en-US" sz="2400" b="1" u="none" strike="noStrike">
                <a:solidFill>
                  <a:srgbClr val="16213E"/>
                </a:solidFill>
                <a:effectLst/>
                <a:uFillTx/>
                <a:latin typeface="BIZ UDPゴシック"/>
                <a:ea typeface="BIZ UDPゴシック"/>
              </a:rPr>
              <a:t>) ─ </a:t>
            </a:r>
            <a:r>
              <a:rPr lang="ja-JP" sz="2400" b="1" u="none" strike="noStrike">
                <a:solidFill>
                  <a:srgbClr val="16213E"/>
                </a:solidFill>
                <a:effectLst/>
                <a:uFillTx/>
                <a:latin typeface="BIZ UDPゴシック"/>
                <a:ea typeface="BIZ UDPゴシック"/>
              </a:rPr>
              <a:t>定量効果</a:t>
            </a:r>
            <a:endParaRPr lang="en-US" sz="2400" b="0" u="none" strike="noStrike">
              <a:solidFill>
                <a:srgbClr val="000000"/>
              </a:solidFill>
              <a:effectLst/>
              <a:uFillTx/>
              <a:latin typeface="Arial"/>
            </a:endParaRPr>
          </a:p>
        </p:txBody>
      </p:sp>
      <p:sp>
        <p:nvSpPr>
          <p:cNvPr id="79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800" name="hdr-hair"/>
          <p:cNvCxnSpPr/>
          <p:nvPr/>
        </p:nvCxnSpPr>
        <p:spPr>
          <a:xfrm>
            <a:off x="502920" y="969120"/>
            <a:ext cx="11186280" cy="720"/>
          </a:xfrm>
          <a:prstGeom prst="straightConnector1">
            <a:avLst/>
          </a:prstGeom>
          <a:ln w="9525">
            <a:solidFill>
              <a:srgbClr val="D5DBE5"/>
            </a:solidFill>
            <a:round/>
          </a:ln>
        </p:spPr>
      </p:cxnSp>
      <p:cxnSp>
        <p:nvCxnSpPr>
          <p:cNvPr id="801" name="ftr-hair"/>
          <p:cNvCxnSpPr/>
          <p:nvPr/>
        </p:nvCxnSpPr>
        <p:spPr>
          <a:xfrm>
            <a:off x="502920" y="6382440"/>
            <a:ext cx="11186280" cy="720"/>
          </a:xfrm>
          <a:prstGeom prst="straightConnector1">
            <a:avLst/>
          </a:prstGeom>
          <a:ln w="9525">
            <a:solidFill>
              <a:srgbClr val="D5DBE5"/>
            </a:solidFill>
            <a:round/>
          </a:ln>
        </p:spPr>
      </p:cxnSp>
      <p:sp>
        <p:nvSpPr>
          <p:cNvPr id="80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20 / 85</a:t>
            </a:r>
            <a:endParaRPr lang="en-US" sz="1100" b="0" u="none" strike="noStrike">
              <a:solidFill>
                <a:srgbClr val="000000"/>
              </a:solidFill>
              <a:effectLst/>
              <a:uFillTx/>
              <a:latin typeface="Arial"/>
            </a:endParaRPr>
          </a:p>
        </p:txBody>
      </p:sp>
      <p:sp>
        <p:nvSpPr>
          <p:cNvPr id="80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80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80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80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経理工数▲</a:t>
            </a:r>
            <a:r>
              <a:rPr lang="en-US" sz="1500" b="1" u="none" strike="noStrike">
                <a:solidFill>
                  <a:srgbClr val="16213E"/>
                </a:solidFill>
                <a:effectLst/>
                <a:uFillTx/>
                <a:latin typeface="BIZ UDPゴシック"/>
                <a:ea typeface="BIZ UDPゴシック"/>
              </a:rPr>
              <a:t>67%</a:t>
            </a:r>
            <a:r>
              <a:rPr lang="ja-JP" sz="1500" b="1" u="none" strike="noStrike">
                <a:solidFill>
                  <a:srgbClr val="16213E"/>
                </a:solidFill>
                <a:effectLst/>
                <a:uFillTx/>
                <a:latin typeface="BIZ UDPゴシック"/>
                <a:ea typeface="BIZ UDPゴシック"/>
              </a:rPr>
              <a:t>と年間</a:t>
            </a:r>
            <a:r>
              <a:rPr lang="en-US" sz="1500" b="1" u="none" strike="noStrike">
                <a:solidFill>
                  <a:srgbClr val="16213E"/>
                </a:solidFill>
                <a:effectLst/>
                <a:uFillTx/>
                <a:latin typeface="BIZ UDPゴシック"/>
                <a:ea typeface="BIZ UDPゴシック"/>
              </a:rPr>
              <a:t>8</a:t>
            </a:r>
            <a:r>
              <a:rPr lang="ja-JP" sz="1500" b="1" u="none" strike="noStrike">
                <a:solidFill>
                  <a:srgbClr val="16213E"/>
                </a:solidFill>
                <a:effectLst/>
                <a:uFillTx/>
                <a:latin typeface="BIZ UDPゴシック"/>
                <a:ea typeface="BIZ UDPゴシック"/>
              </a:rPr>
              <a:t>千時間超の作業削減で、投資対効果を示す</a:t>
            </a:r>
            <a:endParaRPr lang="en-US" sz="1500" b="0" u="none" strike="noStrike">
              <a:solidFill>
                <a:srgbClr val="000000"/>
              </a:solidFill>
              <a:effectLst/>
              <a:uFillTx/>
              <a:latin typeface="Arial"/>
            </a:endParaRPr>
          </a:p>
        </p:txBody>
      </p:sp>
      <p:sp>
        <p:nvSpPr>
          <p:cNvPr id="809" name="blk-metrics"/>
          <p:cNvSpPr/>
          <p:nvPr/>
        </p:nvSpPr>
        <p:spPr>
          <a:xfrm>
            <a:off x="502920" y="1627560"/>
            <a:ext cx="3618000" cy="224856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0" name="blk-metrics-value"/>
          <p:cNvSpPr/>
          <p:nvPr/>
        </p:nvSpPr>
        <p:spPr>
          <a:xfrm>
            <a:off x="594360" y="1682640"/>
            <a:ext cx="3435120" cy="9439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B4235A"/>
                </a:solidFill>
                <a:effectLst/>
                <a:uFillTx/>
                <a:latin typeface="BIZ UDPゴシック"/>
                <a:ea typeface="BIZ UDPゴシック"/>
              </a:rPr>
              <a:t>960</a:t>
            </a:r>
            <a:r>
              <a:rPr lang="ja-JP" sz="3000" b="1" u="none" strike="noStrike">
                <a:solidFill>
                  <a:srgbClr val="B4235A"/>
                </a:solidFill>
                <a:effectLst/>
                <a:uFillTx/>
                <a:latin typeface="BIZ UDPゴシック"/>
                <a:ea typeface="BIZ UDPゴシック"/>
              </a:rPr>
              <a:t>時間</a:t>
            </a:r>
            <a:endParaRPr lang="en-US" sz="3000" b="0" u="none" strike="noStrike">
              <a:solidFill>
                <a:srgbClr val="000000"/>
              </a:solidFill>
              <a:effectLst/>
              <a:uFillTx/>
              <a:latin typeface="Arial"/>
            </a:endParaRPr>
          </a:p>
        </p:txBody>
      </p:sp>
      <p:sp>
        <p:nvSpPr>
          <p:cNvPr id="811" name="blk-metrics-label"/>
          <p:cNvSpPr/>
          <p:nvPr/>
        </p:nvSpPr>
        <p:spPr>
          <a:xfrm>
            <a:off x="594360" y="2645640"/>
            <a:ext cx="343512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経理工数の削減</a:t>
            </a:r>
            <a:r>
              <a:rPr lang="en-US" sz="1100" b="1" u="none" strike="noStrike">
                <a:solidFill>
                  <a:srgbClr val="1F2937"/>
                </a:solidFill>
                <a:effectLst/>
                <a:uFillTx/>
                <a:latin typeface="BIZ UDPゴシック"/>
                <a:ea typeface="BIZ UDPゴシック"/>
              </a:rPr>
              <a:t>/</a:t>
            </a:r>
            <a:r>
              <a:rPr lang="ja-JP" sz="1100" b="1"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p:txBody>
      </p:sp>
      <p:sp>
        <p:nvSpPr>
          <p:cNvPr id="812" name="blk-metrics-note"/>
          <p:cNvSpPr/>
          <p:nvPr/>
        </p:nvSpPr>
        <p:spPr>
          <a:xfrm>
            <a:off x="594360" y="3029760"/>
            <a:ext cx="3435120" cy="7920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月</a:t>
            </a:r>
            <a:r>
              <a:rPr lang="en-US" sz="900" b="0" u="none" strike="noStrike">
                <a:solidFill>
                  <a:srgbClr val="6B7280"/>
                </a:solidFill>
                <a:effectLst/>
                <a:uFillTx/>
                <a:latin typeface="BIZ UDPゴシック"/>
                <a:ea typeface="BIZ UDPゴシック"/>
              </a:rPr>
              <a:t>120</a:t>
            </a:r>
            <a:r>
              <a:rPr lang="ja-JP" sz="900" b="0" u="none" strike="noStrike">
                <a:solidFill>
                  <a:srgbClr val="6B7280"/>
                </a:solidFill>
                <a:effectLst/>
                <a:uFillTx/>
                <a:latin typeface="BIZ UDPゴシック"/>
                <a:ea typeface="BIZ UDPゴシック"/>
              </a:rPr>
              <a:t>時間→</a:t>
            </a:r>
            <a:r>
              <a:rPr lang="en-US" sz="900" b="0" u="none" strike="noStrike">
                <a:solidFill>
                  <a:srgbClr val="6B7280"/>
                </a:solidFill>
                <a:effectLst/>
                <a:uFillTx/>
                <a:latin typeface="BIZ UDPゴシック"/>
                <a:ea typeface="BIZ UDPゴシック"/>
              </a:rPr>
              <a:t>40</a:t>
            </a:r>
            <a:r>
              <a:rPr lang="ja-JP" sz="900" b="0" u="none" strike="noStrike">
                <a:solidFill>
                  <a:srgbClr val="6B7280"/>
                </a:solidFill>
                <a:effectLst/>
                <a:uFillTx/>
                <a:latin typeface="BIZ UDPゴシック"/>
                <a:ea typeface="BIZ UDPゴシック"/>
              </a:rPr>
              <a:t>時間</a:t>
            </a:r>
            <a:endParaRPr lang="en-US" sz="900" b="0" u="none" strike="noStrike">
              <a:solidFill>
                <a:srgbClr val="000000"/>
              </a:solidFill>
              <a:effectLst/>
              <a:uFillTx/>
              <a:latin typeface="Arial"/>
            </a:endParaRPr>
          </a:p>
        </p:txBody>
      </p:sp>
      <p:sp>
        <p:nvSpPr>
          <p:cNvPr id="813" name="blk-metrics"/>
          <p:cNvSpPr/>
          <p:nvPr/>
        </p:nvSpPr>
        <p:spPr>
          <a:xfrm>
            <a:off x="4286520" y="1627560"/>
            <a:ext cx="3618000" cy="224856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4" name="blk-metrics-value"/>
          <p:cNvSpPr/>
          <p:nvPr/>
        </p:nvSpPr>
        <p:spPr>
          <a:xfrm>
            <a:off x="4377960" y="1682640"/>
            <a:ext cx="3435120" cy="9439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2563EB"/>
                </a:solidFill>
                <a:effectLst/>
                <a:uFillTx/>
                <a:latin typeface="BIZ UDPゴシック"/>
                <a:ea typeface="BIZ UDPゴシック"/>
              </a:rPr>
              <a:t>7,200</a:t>
            </a:r>
            <a:r>
              <a:rPr lang="ja-JP" sz="3000" b="1" u="none" strike="noStrike">
                <a:solidFill>
                  <a:srgbClr val="2563EB"/>
                </a:solidFill>
                <a:effectLst/>
                <a:uFillTx/>
                <a:latin typeface="BIZ UDPゴシック"/>
                <a:ea typeface="BIZ UDPゴシック"/>
              </a:rPr>
              <a:t>時間</a:t>
            </a:r>
            <a:endParaRPr lang="en-US" sz="3000" b="0" u="none" strike="noStrike">
              <a:solidFill>
                <a:srgbClr val="000000"/>
              </a:solidFill>
              <a:effectLst/>
              <a:uFillTx/>
              <a:latin typeface="Arial"/>
            </a:endParaRPr>
          </a:p>
        </p:txBody>
      </p:sp>
      <p:sp>
        <p:nvSpPr>
          <p:cNvPr id="815" name="blk-metrics-label"/>
          <p:cNvSpPr/>
          <p:nvPr/>
        </p:nvSpPr>
        <p:spPr>
          <a:xfrm>
            <a:off x="4377960" y="2645640"/>
            <a:ext cx="343512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申請・承認作業の削減</a:t>
            </a:r>
            <a:r>
              <a:rPr lang="en-US" sz="1100" b="1" u="none" strike="noStrike">
                <a:solidFill>
                  <a:srgbClr val="1F2937"/>
                </a:solidFill>
                <a:effectLst/>
                <a:uFillTx/>
                <a:latin typeface="BIZ UDPゴシック"/>
                <a:ea typeface="BIZ UDPゴシック"/>
              </a:rPr>
              <a:t>/</a:t>
            </a:r>
            <a:r>
              <a:rPr lang="ja-JP" sz="1100" b="1"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p:txBody>
      </p:sp>
      <p:sp>
        <p:nvSpPr>
          <p:cNvPr id="816" name="blk-metrics-note"/>
          <p:cNvSpPr/>
          <p:nvPr/>
        </p:nvSpPr>
        <p:spPr>
          <a:xfrm>
            <a:off x="4377960" y="3029760"/>
            <a:ext cx="3435120" cy="7920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900" b="0" u="none" strike="noStrike">
                <a:solidFill>
                  <a:srgbClr val="6B7280"/>
                </a:solidFill>
                <a:effectLst/>
                <a:uFillTx/>
                <a:latin typeface="BIZ UDPゴシック"/>
                <a:ea typeface="BIZ UDPゴシック"/>
              </a:rPr>
              <a:t>1</a:t>
            </a:r>
            <a:r>
              <a:rPr lang="ja-JP" sz="900" b="0" u="none" strike="noStrike">
                <a:solidFill>
                  <a:srgbClr val="6B7280"/>
                </a:solidFill>
                <a:effectLst/>
                <a:uFillTx/>
                <a:latin typeface="BIZ UDPゴシック"/>
                <a:ea typeface="BIZ UDPゴシック"/>
              </a:rPr>
              <a:t>件</a:t>
            </a:r>
            <a:r>
              <a:rPr lang="en-US" sz="900" b="0" u="none" strike="noStrike">
                <a:solidFill>
                  <a:srgbClr val="6B7280"/>
                </a:solidFill>
                <a:effectLst/>
                <a:uFillTx/>
                <a:latin typeface="BIZ UDPゴシック"/>
                <a:ea typeface="BIZ UDPゴシック"/>
              </a:rPr>
              <a:t>10</a:t>
            </a:r>
            <a:r>
              <a:rPr lang="ja-JP" sz="900" b="0" u="none" strike="noStrike">
                <a:solidFill>
                  <a:srgbClr val="6B7280"/>
                </a:solidFill>
                <a:effectLst/>
                <a:uFillTx/>
                <a:latin typeface="BIZ UDPゴシック"/>
                <a:ea typeface="BIZ UDPゴシック"/>
              </a:rPr>
              <a:t>分→</a:t>
            </a:r>
            <a:r>
              <a:rPr lang="en-US" sz="900" b="0" u="none" strike="noStrike">
                <a:solidFill>
                  <a:srgbClr val="6B7280"/>
                </a:solidFill>
                <a:effectLst/>
                <a:uFillTx/>
                <a:latin typeface="BIZ UDPゴシック"/>
                <a:ea typeface="BIZ UDPゴシック"/>
              </a:rPr>
              <a:t>4</a:t>
            </a:r>
            <a:r>
              <a:rPr lang="ja-JP" sz="900" b="0" u="none" strike="noStrike">
                <a:solidFill>
                  <a:srgbClr val="6B7280"/>
                </a:solidFill>
                <a:effectLst/>
                <a:uFillTx/>
                <a:latin typeface="BIZ UDPゴシック"/>
                <a:ea typeface="BIZ UDPゴシック"/>
              </a:rPr>
              <a:t>分、</a:t>
            </a:r>
            <a:r>
              <a:rPr lang="en-US" sz="900" b="0" u="none" strike="noStrike">
                <a:solidFill>
                  <a:srgbClr val="6B7280"/>
                </a:solidFill>
                <a:effectLst/>
                <a:uFillTx/>
                <a:latin typeface="BIZ UDPゴシック"/>
                <a:ea typeface="BIZ UDPゴシック"/>
              </a:rPr>
              <a:t>72,000</a:t>
            </a:r>
            <a:r>
              <a:rPr lang="ja-JP" sz="900" b="0" u="none" strike="noStrike">
                <a:solidFill>
                  <a:srgbClr val="6B7280"/>
                </a:solidFill>
                <a:effectLst/>
                <a:uFillTx/>
                <a:latin typeface="BIZ UDPゴシック"/>
                <a:ea typeface="BIZ UDPゴシック"/>
              </a:rPr>
              <a:t>件</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年で試算</a:t>
            </a:r>
            <a:endParaRPr lang="en-US" sz="900" b="0" u="none" strike="noStrike">
              <a:solidFill>
                <a:srgbClr val="000000"/>
              </a:solidFill>
              <a:effectLst/>
              <a:uFillTx/>
              <a:latin typeface="Arial"/>
            </a:endParaRPr>
          </a:p>
        </p:txBody>
      </p:sp>
      <p:sp>
        <p:nvSpPr>
          <p:cNvPr id="817" name="blk-metrics"/>
          <p:cNvSpPr/>
          <p:nvPr/>
        </p:nvSpPr>
        <p:spPr>
          <a:xfrm>
            <a:off x="8069760" y="1627560"/>
            <a:ext cx="3618000" cy="224856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8" name="blk-metrics-value"/>
          <p:cNvSpPr/>
          <p:nvPr/>
        </p:nvSpPr>
        <p:spPr>
          <a:xfrm>
            <a:off x="8161200" y="1682640"/>
            <a:ext cx="3435120" cy="9439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ja-JP" sz="3000" b="1" u="none" strike="noStrike">
                <a:solidFill>
                  <a:srgbClr val="059669"/>
                </a:solidFill>
                <a:effectLst/>
                <a:uFillTx/>
                <a:latin typeface="BIZ UDPゴシック"/>
                <a:ea typeface="BIZ UDPゴシック"/>
              </a:rPr>
              <a:t>約</a:t>
            </a:r>
            <a:r>
              <a:rPr lang="en-US" sz="3000" b="1" u="none" strike="noStrike">
                <a:solidFill>
                  <a:srgbClr val="059669"/>
                </a:solidFill>
                <a:effectLst/>
                <a:uFillTx/>
                <a:latin typeface="BIZ UDPゴシック"/>
                <a:ea typeface="BIZ UDPゴシック"/>
              </a:rPr>
              <a:t>3,300</a:t>
            </a:r>
            <a:r>
              <a:rPr lang="ja-JP" sz="3000" b="1" u="none" strike="noStrike">
                <a:solidFill>
                  <a:srgbClr val="059669"/>
                </a:solidFill>
                <a:effectLst/>
                <a:uFillTx/>
                <a:latin typeface="BIZ UDPゴシック"/>
                <a:ea typeface="BIZ UDPゴシック"/>
              </a:rPr>
              <a:t>万円</a:t>
            </a:r>
            <a:endParaRPr lang="en-US" sz="3000" b="0" u="none" strike="noStrike">
              <a:solidFill>
                <a:srgbClr val="000000"/>
              </a:solidFill>
              <a:effectLst/>
              <a:uFillTx/>
              <a:latin typeface="Arial"/>
            </a:endParaRPr>
          </a:p>
        </p:txBody>
      </p:sp>
      <p:sp>
        <p:nvSpPr>
          <p:cNvPr id="819" name="blk-metrics-label"/>
          <p:cNvSpPr/>
          <p:nvPr/>
        </p:nvSpPr>
        <p:spPr>
          <a:xfrm>
            <a:off x="8161200" y="2645640"/>
            <a:ext cx="343512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年間効果額 </a:t>
            </a:r>
            <a:r>
              <a:rPr lang="en-US" sz="1100" b="1" u="none" strike="noStrike">
                <a:solidFill>
                  <a:srgbClr val="1F2937"/>
                </a:solidFill>
                <a:effectLst/>
                <a:uFillTx/>
                <a:latin typeface="BIZ UDPゴシック"/>
                <a:ea typeface="BIZ UDPゴシック"/>
              </a:rPr>
              <a:t>(</a:t>
            </a:r>
            <a:r>
              <a:rPr lang="ja-JP" sz="1100" b="1" u="none" strike="noStrike">
                <a:solidFill>
                  <a:srgbClr val="1F2937"/>
                </a:solidFill>
                <a:effectLst/>
                <a:uFillTx/>
                <a:latin typeface="BIZ UDPゴシック"/>
                <a:ea typeface="BIZ UDPゴシック"/>
              </a:rPr>
              <a:t>当社試算</a:t>
            </a:r>
            <a:r>
              <a:rPr lang="en-US" sz="1100" b="1"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p:txBody>
      </p:sp>
      <p:sp>
        <p:nvSpPr>
          <p:cNvPr id="820" name="blk-metrics-note"/>
          <p:cNvSpPr/>
          <p:nvPr/>
        </p:nvSpPr>
        <p:spPr>
          <a:xfrm>
            <a:off x="8161200" y="3029760"/>
            <a:ext cx="3435120" cy="7920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時間単価</a:t>
            </a:r>
            <a:r>
              <a:rPr lang="en-US" sz="900" b="0" u="none" strike="noStrike">
                <a:solidFill>
                  <a:srgbClr val="6B7280"/>
                </a:solidFill>
                <a:effectLst/>
                <a:uFillTx/>
                <a:latin typeface="BIZ UDPゴシック"/>
                <a:ea typeface="BIZ UDPゴシック"/>
              </a:rPr>
              <a:t>4,000</a:t>
            </a:r>
            <a:r>
              <a:rPr lang="ja-JP" sz="900" b="0" u="none" strike="noStrike">
                <a:solidFill>
                  <a:srgbClr val="6B7280"/>
                </a:solidFill>
                <a:effectLst/>
                <a:uFillTx/>
                <a:latin typeface="BIZ UDPゴシック"/>
                <a:ea typeface="BIZ UDPゴシック"/>
              </a:rPr>
              <a:t>円で換算</a:t>
            </a:r>
            <a:endParaRPr lang="en-US" sz="900" b="0" u="none" strike="noStrike">
              <a:solidFill>
                <a:srgbClr val="000000"/>
              </a:solidFill>
              <a:effectLst/>
              <a:uFillTx/>
              <a:latin typeface="Arial"/>
            </a:endParaRPr>
          </a:p>
        </p:txBody>
      </p:sp>
      <p:graphicFrame>
        <p:nvGraphicFramePr>
          <p:cNvPr id="821" name="blk-table"/>
          <p:cNvGraphicFramePr/>
          <p:nvPr/>
        </p:nvGraphicFramePr>
        <p:xfrm>
          <a:off x="502920" y="4005000"/>
          <a:ext cx="11184840" cy="2213640"/>
        </p:xfrm>
        <a:graphic>
          <a:graphicData uri="http://schemas.openxmlformats.org/drawingml/2006/table">
            <a:tbl>
              <a:tblPr/>
              <a:tblGrid>
                <a:gridCol w="2908080"/>
                <a:gridCol w="1789560"/>
                <a:gridCol w="1789560"/>
                <a:gridCol w="469800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指標</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現状</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目標</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効果 </a:t>
                      </a:r>
                      <a:r>
                        <a:rPr lang="en-US" sz="1400" b="1" u="none" strike="noStrike">
                          <a:solidFill>
                            <a:srgbClr val="FFFFFF"/>
                          </a:solidFill>
                          <a:effectLst/>
                          <a:uFillTx/>
                          <a:latin typeface="BIZ UDPゴシック"/>
                          <a:ea typeface="BIZ UDPゴシック"/>
                        </a:rPr>
                        <a:t>(</a:t>
                      </a:r>
                      <a:r>
                        <a:rPr lang="ja-JP" sz="1400" b="1" u="none" strike="noStrike">
                          <a:solidFill>
                            <a:srgbClr val="FFFFFF"/>
                          </a:solidFill>
                          <a:effectLst/>
                          <a:uFillTx/>
                          <a:latin typeface="BIZ UDPゴシック"/>
                          <a:ea typeface="BIZ UDPゴシック"/>
                        </a:rPr>
                        <a:t>当社試算</a:t>
                      </a:r>
                      <a:r>
                        <a:rPr lang="en-US" sz="1400" b="1" u="none" strike="noStrike">
                          <a:solidFill>
                            <a:srgbClr val="FFFFFF"/>
                          </a:solidFill>
                          <a:effectLst/>
                          <a:uFillTx/>
                          <a:latin typeface="BIZ UDPゴシック"/>
                          <a:ea typeface="BIZ UDPゴシック"/>
                        </a:rPr>
                        <a:t>)</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経理の手作業工数</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月</a:t>
                      </a:r>
                      <a:r>
                        <a:rPr lang="en-US" sz="1400" b="0" u="none" strike="noStrike">
                          <a:solidFill>
                            <a:srgbClr val="1F2937"/>
                          </a:solidFill>
                          <a:effectLst/>
                          <a:uFillTx/>
                          <a:latin typeface="BIZ UDPゴシック"/>
                          <a:ea typeface="BIZ UDPゴシック"/>
                        </a:rPr>
                        <a:t>120</a:t>
                      </a:r>
                      <a:r>
                        <a:rPr lang="ja-JP" sz="1400" b="0" u="none" strike="noStrike">
                          <a:solidFill>
                            <a:srgbClr val="1F2937"/>
                          </a:solidFill>
                          <a:effectLst/>
                          <a:uFillTx/>
                          <a:latin typeface="BIZ UDPゴシック"/>
                          <a:ea typeface="BIZ UDPゴシック"/>
                        </a:rPr>
                        <a:t>時間</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月</a:t>
                      </a:r>
                      <a:r>
                        <a:rPr lang="en-US" sz="1400" b="0" u="none" strike="noStrike">
                          <a:solidFill>
                            <a:srgbClr val="1F2937"/>
                          </a:solidFill>
                          <a:effectLst/>
                          <a:uFillTx/>
                          <a:latin typeface="BIZ UDPゴシック"/>
                          <a:ea typeface="BIZ UDPゴシック"/>
                        </a:rPr>
                        <a:t>40</a:t>
                      </a:r>
                      <a:r>
                        <a:rPr lang="ja-JP" sz="1400" b="0" u="none" strike="noStrike">
                          <a:solidFill>
                            <a:srgbClr val="1F2937"/>
                          </a:solidFill>
                          <a:effectLst/>
                          <a:uFillTx/>
                          <a:latin typeface="BIZ UDPゴシック"/>
                          <a:ea typeface="BIZ UDPゴシック"/>
                        </a:rPr>
                        <a:t>時間</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削減</a:t>
                      </a:r>
                      <a:r>
                        <a:rPr lang="en-US" sz="1400" b="0" u="none" strike="noStrike">
                          <a:solidFill>
                            <a:srgbClr val="1F2937"/>
                          </a:solidFill>
                          <a:effectLst/>
                          <a:uFillTx/>
                          <a:latin typeface="BIZ UDPゴシック"/>
                          <a:ea typeface="BIZ UDPゴシック"/>
                        </a:rPr>
                        <a:t>80</a:t>
                      </a:r>
                      <a:r>
                        <a:rPr lang="ja-JP" sz="1400" b="0" u="none" strike="noStrike">
                          <a:solidFill>
                            <a:srgbClr val="1F2937"/>
                          </a:solidFill>
                          <a:effectLst/>
                          <a:uFillTx/>
                          <a:latin typeface="BIZ UDPゴシック"/>
                          <a:ea typeface="BIZ UDPゴシック"/>
                        </a:rPr>
                        <a:t>時間</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月 </a:t>
                      </a:r>
                      <a:r>
                        <a:rPr lang="en-US" sz="1400" b="0" u="none" strike="noStrike">
                          <a:solidFill>
                            <a:srgbClr val="1F2937"/>
                          </a:solidFill>
                          <a:effectLst/>
                          <a:uFillTx/>
                          <a:latin typeface="BIZ UDPゴシック"/>
                          <a:ea typeface="BIZ UDPゴシック"/>
                        </a:rPr>
                        <a:t>(960</a:t>
                      </a:r>
                      <a:r>
                        <a:rPr lang="ja-JP" sz="1400" b="0" u="none" strike="noStrike">
                          <a:solidFill>
                            <a:srgbClr val="1F2937"/>
                          </a:solidFill>
                          <a:effectLst/>
                          <a:uFillTx/>
                          <a:latin typeface="BIZ UDPゴシック"/>
                          <a:ea typeface="BIZ UDPゴシック"/>
                        </a:rPr>
                        <a:t>時間</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年</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申請者・承認者の作業</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件</a:t>
                      </a:r>
                      <a:r>
                        <a:rPr lang="en-US" sz="1400" b="0" u="none" strike="noStrike">
                          <a:solidFill>
                            <a:srgbClr val="1F2937"/>
                          </a:solidFill>
                          <a:effectLst/>
                          <a:uFillTx/>
                          <a:latin typeface="BIZ UDPゴシック"/>
                          <a:ea typeface="BIZ UDPゴシック"/>
                        </a:rPr>
                        <a:t>10</a:t>
                      </a:r>
                      <a:r>
                        <a:rPr lang="ja-JP" sz="1400" b="0" u="none" strike="noStrike">
                          <a:solidFill>
                            <a:srgbClr val="1F2937"/>
                          </a:solidFill>
                          <a:effectLst/>
                          <a:uFillTx/>
                          <a:latin typeface="BIZ UDPゴシック"/>
                          <a:ea typeface="BIZ UDPゴシック"/>
                        </a:rPr>
                        <a:t>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件</a:t>
                      </a:r>
                      <a:r>
                        <a:rPr lang="en-US" sz="1400" b="0" u="none" strike="noStrike">
                          <a:solidFill>
                            <a:srgbClr val="1F2937"/>
                          </a:solidFill>
                          <a:effectLst/>
                          <a:uFillTx/>
                          <a:latin typeface="BIZ UDPゴシック"/>
                          <a:ea typeface="BIZ UDPゴシック"/>
                        </a:rPr>
                        <a:t>4</a:t>
                      </a:r>
                      <a:r>
                        <a:rPr lang="ja-JP" sz="1400" b="0" u="none" strike="noStrike">
                          <a:solidFill>
                            <a:srgbClr val="1F2937"/>
                          </a:solidFill>
                          <a:effectLst/>
                          <a:uFillTx/>
                          <a:latin typeface="BIZ UDPゴシック"/>
                          <a:ea typeface="BIZ UDPゴシック"/>
                        </a:rPr>
                        <a:t>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削減</a:t>
                      </a:r>
                      <a:r>
                        <a:rPr lang="en-US" sz="1400" b="0" u="none" strike="noStrike">
                          <a:solidFill>
                            <a:srgbClr val="1F2937"/>
                          </a:solidFill>
                          <a:effectLst/>
                          <a:uFillTx/>
                          <a:latin typeface="BIZ UDPゴシック"/>
                          <a:ea typeface="BIZ UDPゴシック"/>
                        </a:rPr>
                        <a:t>7,200</a:t>
                      </a:r>
                      <a:r>
                        <a:rPr lang="ja-JP" sz="1400" b="0" u="none" strike="noStrike">
                          <a:solidFill>
                            <a:srgbClr val="1F2937"/>
                          </a:solidFill>
                          <a:effectLst/>
                          <a:uFillTx/>
                          <a:latin typeface="BIZ UDPゴシック"/>
                          <a:ea typeface="BIZ UDPゴシック"/>
                        </a:rPr>
                        <a:t>時間</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年 </a:t>
                      </a:r>
                      <a:r>
                        <a:rPr lang="en-US" sz="1400" b="0" u="none" strike="noStrike">
                          <a:solidFill>
                            <a:srgbClr val="1F2937"/>
                          </a:solidFill>
                          <a:effectLst/>
                          <a:uFillTx/>
                          <a:latin typeface="BIZ UDPゴシック"/>
                          <a:ea typeface="BIZ UDPゴシック"/>
                        </a:rPr>
                        <a:t>(72,000</a:t>
                      </a:r>
                      <a:r>
                        <a:rPr lang="ja-JP" sz="1400" b="0" u="none" strike="noStrike">
                          <a:solidFill>
                            <a:srgbClr val="1F2937"/>
                          </a:solidFill>
                          <a:effectLst/>
                          <a:uFillTx/>
                          <a:latin typeface="BIZ UDPゴシック"/>
                          <a:ea typeface="BIZ UDPゴシック"/>
                        </a:rPr>
                        <a:t>件</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年で試算</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精算リードタイム</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5</a:t>
                      </a:r>
                      <a:r>
                        <a:rPr lang="ja-JP" sz="1400" b="0" u="none" strike="noStrike">
                          <a:solidFill>
                            <a:srgbClr val="1F2937"/>
                          </a:solidFill>
                          <a:effectLst/>
                          <a:uFillTx/>
                          <a:latin typeface="BIZ UDPゴシック"/>
                          <a:ea typeface="BIZ UDPゴシック"/>
                        </a:rPr>
                        <a:t>営業日</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営業日</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月次締めの早期化と経営情報の迅速化</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申請の差戻し率</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15%</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5%</a:t>
                      </a:r>
                      <a:r>
                        <a:rPr lang="ja-JP" sz="1400" b="0" u="none" strike="noStrike">
                          <a:solidFill>
                            <a:srgbClr val="1F2937"/>
                          </a:solidFill>
                          <a:effectLst/>
                          <a:uFillTx/>
                          <a:latin typeface="BIZ UDPゴシック"/>
                          <a:ea typeface="BIZ UDPゴシック"/>
                        </a:rPr>
                        <a:t>以下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再申請・問い合わせ工数の削減</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領収書原本の回付</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全件回付</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0</a:t>
                      </a:r>
                      <a:r>
                        <a:rPr lang="ja-JP" sz="1400" b="0" u="none" strike="noStrike">
                          <a:solidFill>
                            <a:srgbClr val="1F2937"/>
                          </a:solidFill>
                          <a:effectLst/>
                          <a:uFillTx/>
                          <a:latin typeface="BIZ UDPゴシック"/>
                          <a:ea typeface="BIZ UDPゴシック"/>
                        </a:rPr>
                        <a:t>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郵送・保管・検索の工数削減</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2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2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82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826"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27"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28"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29"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30"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3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3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3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83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1.12 </a:t>
            </a:r>
            <a:r>
              <a:rPr lang="ja-JP" sz="2400" b="1" u="none" strike="noStrike">
                <a:solidFill>
                  <a:srgbClr val="16213E"/>
                </a:solidFill>
                <a:effectLst/>
                <a:uFillTx/>
                <a:latin typeface="BIZ UDPゴシック"/>
                <a:ea typeface="BIZ UDPゴシック"/>
              </a:rPr>
              <a:t>導入効果 </a:t>
            </a:r>
            <a:r>
              <a:rPr lang="en-US" sz="2400" b="1" u="none" strike="noStrike">
                <a:solidFill>
                  <a:srgbClr val="16213E"/>
                </a:solidFill>
                <a:effectLst/>
                <a:uFillTx/>
                <a:latin typeface="BIZ UDPゴシック"/>
                <a:ea typeface="BIZ UDPゴシック"/>
              </a:rPr>
              <a:t>(</a:t>
            </a:r>
            <a:r>
              <a:rPr lang="ja-JP" sz="2400" b="1" u="none" strike="noStrike">
                <a:solidFill>
                  <a:srgbClr val="16213E"/>
                </a:solidFill>
                <a:effectLst/>
                <a:uFillTx/>
                <a:latin typeface="BIZ UDPゴシック"/>
                <a:ea typeface="BIZ UDPゴシック"/>
              </a:rPr>
              <a:t>定量・定性</a:t>
            </a:r>
            <a:r>
              <a:rPr lang="en-US" sz="2400" b="1" u="none" strike="noStrike">
                <a:solidFill>
                  <a:srgbClr val="16213E"/>
                </a:solidFill>
                <a:effectLst/>
                <a:uFillTx/>
                <a:latin typeface="BIZ UDPゴシック"/>
                <a:ea typeface="BIZ UDPゴシック"/>
              </a:rPr>
              <a:t>) ─ </a:t>
            </a:r>
            <a:r>
              <a:rPr lang="ja-JP" sz="2400" b="1" u="none" strike="noStrike">
                <a:solidFill>
                  <a:srgbClr val="16213E"/>
                </a:solidFill>
                <a:effectLst/>
                <a:uFillTx/>
                <a:latin typeface="BIZ UDPゴシック"/>
                <a:ea typeface="BIZ UDPゴシック"/>
              </a:rPr>
              <a:t>定性効果と試算前提</a:t>
            </a:r>
            <a:endParaRPr lang="en-US" sz="2400" b="0" u="none" strike="noStrike">
              <a:solidFill>
                <a:srgbClr val="000000"/>
              </a:solidFill>
              <a:effectLst/>
              <a:uFillTx/>
              <a:latin typeface="Arial"/>
            </a:endParaRPr>
          </a:p>
        </p:txBody>
      </p:sp>
      <p:sp>
        <p:nvSpPr>
          <p:cNvPr id="83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836" name="hdr-hair"/>
          <p:cNvCxnSpPr/>
          <p:nvPr/>
        </p:nvCxnSpPr>
        <p:spPr>
          <a:xfrm>
            <a:off x="502920" y="969120"/>
            <a:ext cx="11186280" cy="720"/>
          </a:xfrm>
          <a:prstGeom prst="straightConnector1">
            <a:avLst/>
          </a:prstGeom>
          <a:ln w="9525">
            <a:solidFill>
              <a:srgbClr val="D5DBE5"/>
            </a:solidFill>
            <a:round/>
          </a:ln>
        </p:spPr>
      </p:cxnSp>
      <p:cxnSp>
        <p:nvCxnSpPr>
          <p:cNvPr id="837" name="ftr-hair"/>
          <p:cNvCxnSpPr/>
          <p:nvPr/>
        </p:nvCxnSpPr>
        <p:spPr>
          <a:xfrm>
            <a:off x="502920" y="6382440"/>
            <a:ext cx="11186280" cy="720"/>
          </a:xfrm>
          <a:prstGeom prst="straightConnector1">
            <a:avLst/>
          </a:prstGeom>
          <a:ln w="9525">
            <a:solidFill>
              <a:srgbClr val="D5DBE5"/>
            </a:solidFill>
            <a:round/>
          </a:ln>
        </p:spPr>
      </p:cxnSp>
      <p:sp>
        <p:nvSpPr>
          <p:cNvPr id="83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21 / 85</a:t>
            </a:r>
            <a:endParaRPr lang="en-US" sz="1100" b="0" u="none" strike="noStrike">
              <a:solidFill>
                <a:srgbClr val="000000"/>
              </a:solidFill>
              <a:effectLst/>
              <a:uFillTx/>
              <a:latin typeface="Arial"/>
            </a:endParaRPr>
          </a:p>
        </p:txBody>
      </p:sp>
      <p:sp>
        <p:nvSpPr>
          <p:cNvPr id="83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84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84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84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定量効果に加え、ペーパーレスと可視化による定性効果を提示する</a:t>
            </a:r>
            <a:endParaRPr lang="en-US" sz="1500" b="0" u="none" strike="noStrike">
              <a:solidFill>
                <a:srgbClr val="000000"/>
              </a:solidFill>
              <a:effectLst/>
              <a:uFillTx/>
              <a:latin typeface="Arial"/>
            </a:endParaRPr>
          </a:p>
        </p:txBody>
      </p:sp>
      <p:sp>
        <p:nvSpPr>
          <p:cNvPr id="845" name="blk-bullets"/>
          <p:cNvSpPr/>
          <p:nvPr/>
        </p:nvSpPr>
        <p:spPr>
          <a:xfrm>
            <a:off x="502920" y="1627560"/>
            <a:ext cx="11185200" cy="179064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ペーパーレス化で領収書原本の回付・物理保管を廃止し、検索と監査対応を迅速化する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申請・承認状況の可視化により、承認滞留と後追い精算を削減する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経費データの蓄積により、予算統制と経費分析を迅速化する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規程と勘定科目の自動提示で属人判断を減らし、差戻しを低減する</a:t>
            </a:r>
            <a:endParaRPr lang="en-US" sz="1400" b="0" u="none" strike="noStrike">
              <a:solidFill>
                <a:srgbClr val="000000"/>
              </a:solidFill>
              <a:effectLst/>
              <a:uFillTx/>
              <a:latin typeface="Arial"/>
            </a:endParaRPr>
          </a:p>
        </p:txBody>
      </p:sp>
      <p:sp>
        <p:nvSpPr>
          <p:cNvPr id="846" name="blk-title"/>
          <p:cNvSpPr/>
          <p:nvPr/>
        </p:nvSpPr>
        <p:spPr>
          <a:xfrm>
            <a:off x="502920" y="354708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試算の内訳</a:t>
            </a:r>
            <a:endParaRPr lang="en-US" sz="1200" b="0" u="none" strike="noStrike">
              <a:solidFill>
                <a:srgbClr val="000000"/>
              </a:solidFill>
              <a:effectLst/>
              <a:uFillTx/>
              <a:latin typeface="Arial"/>
            </a:endParaRPr>
          </a:p>
        </p:txBody>
      </p:sp>
      <p:graphicFrame>
        <p:nvGraphicFramePr>
          <p:cNvPr id="847" name="blk-kv"/>
          <p:cNvGraphicFramePr/>
          <p:nvPr/>
        </p:nvGraphicFramePr>
        <p:xfrm>
          <a:off x="502920" y="3821400"/>
          <a:ext cx="11185200" cy="1697760"/>
        </p:xfrm>
        <a:graphic>
          <a:graphicData uri="http://schemas.openxmlformats.org/drawingml/2006/table">
            <a:tbl>
              <a:tblPr/>
              <a:tblGrid>
                <a:gridCol w="3803040"/>
                <a:gridCol w="7382520"/>
              </a:tblGrid>
              <a:tr h="265680">
                <a:tc>
                  <a:txBody>
                    <a:bodyPr lIns="45720" tIns="18000" rIns="45720" bIns="18000" anchor="t">
                      <a:noAutofit/>
                    </a:bodyPr>
                    <a:p>
                      <a:pPr defTabSz="457200">
                        <a:lnSpc>
                          <a:spcPct val="120000"/>
                        </a:lnSpc>
                      </a:pPr>
                      <a:r>
                        <a:rPr lang="ja-JP" sz="1350" b="1" u="none" strike="noStrike">
                          <a:solidFill>
                            <a:srgbClr val="16213E"/>
                          </a:solidFill>
                          <a:effectLst/>
                          <a:uFillTx/>
                          <a:latin typeface="BIZ UDPゴシック"/>
                          <a:ea typeface="BIZ UDPゴシック"/>
                        </a:rPr>
                        <a:t>対象件数</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72,000</a:t>
                      </a:r>
                      <a:r>
                        <a:rPr lang="ja-JP" sz="1350" b="0" u="none" strike="noStrike">
                          <a:solidFill>
                            <a:srgbClr val="1F2937"/>
                          </a:solidFill>
                          <a:effectLst/>
                          <a:uFillTx/>
                          <a:latin typeface="BIZ UDPゴシック"/>
                          <a:ea typeface="BIZ UDPゴシック"/>
                        </a:rPr>
                        <a:t>件</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年</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65680">
                <a:tc>
                  <a:txBody>
                    <a:bodyPr lIns="45720" tIns="18000" rIns="45720" bIns="18000" anchor="t">
                      <a:noAutofit/>
                    </a:bodyPr>
                    <a:p>
                      <a:pPr defTabSz="457200">
                        <a:lnSpc>
                          <a:spcPct val="120000"/>
                        </a:lnSpc>
                      </a:pPr>
                      <a:r>
                        <a:rPr lang="ja-JP" sz="1350" b="1" u="none" strike="noStrike">
                          <a:solidFill>
                            <a:srgbClr val="16213E"/>
                          </a:solidFill>
                          <a:effectLst/>
                          <a:uFillTx/>
                          <a:latin typeface="BIZ UDPゴシック"/>
                          <a:ea typeface="BIZ UDPゴシック"/>
                        </a:rPr>
                        <a:t>経理工数の削減</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960</a:t>
                      </a:r>
                      <a:r>
                        <a:rPr lang="ja-JP" sz="1350" b="0" u="none" strike="noStrike">
                          <a:solidFill>
                            <a:srgbClr val="1F2937"/>
                          </a:solidFill>
                          <a:effectLst/>
                          <a:uFillTx/>
                          <a:latin typeface="BIZ UDPゴシック"/>
                          <a:ea typeface="BIZ UDPゴシック"/>
                        </a:rPr>
                        <a:t>時間</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年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月</a:t>
                      </a:r>
                      <a:r>
                        <a:rPr lang="en-US" sz="1350" b="0" u="none" strike="noStrike">
                          <a:solidFill>
                            <a:srgbClr val="1F2937"/>
                          </a:solidFill>
                          <a:effectLst/>
                          <a:uFillTx/>
                          <a:latin typeface="BIZ UDPゴシック"/>
                          <a:ea typeface="BIZ UDPゴシック"/>
                        </a:rPr>
                        <a:t>120</a:t>
                      </a:r>
                      <a:r>
                        <a:rPr lang="ja-JP" sz="1350" b="0" u="none" strike="noStrike">
                          <a:solidFill>
                            <a:srgbClr val="1F2937"/>
                          </a:solidFill>
                          <a:effectLst/>
                          <a:uFillTx/>
                          <a:latin typeface="BIZ UDPゴシック"/>
                          <a:ea typeface="BIZ UDPゴシック"/>
                        </a:rPr>
                        <a:t>時間→</a:t>
                      </a:r>
                      <a:r>
                        <a:rPr lang="en-US" sz="1350" b="0" u="none" strike="noStrike">
                          <a:solidFill>
                            <a:srgbClr val="1F2937"/>
                          </a:solidFill>
                          <a:effectLst/>
                          <a:uFillTx/>
                          <a:latin typeface="BIZ UDPゴシック"/>
                          <a:ea typeface="BIZ UDPゴシック"/>
                        </a:rPr>
                        <a:t>40</a:t>
                      </a:r>
                      <a:r>
                        <a:rPr lang="ja-JP" sz="1350" b="0" u="none" strike="noStrike">
                          <a:solidFill>
                            <a:srgbClr val="1F2937"/>
                          </a:solidFill>
                          <a:effectLst/>
                          <a:uFillTx/>
                          <a:latin typeface="BIZ UDPゴシック"/>
                          <a:ea typeface="BIZ UDPゴシック"/>
                        </a:rPr>
                        <a:t>時間、▲</a:t>
                      </a:r>
                      <a:r>
                        <a:rPr lang="en-US" sz="1350" b="0" u="none" strike="noStrike">
                          <a:solidFill>
                            <a:srgbClr val="1F2937"/>
                          </a:solidFill>
                          <a:effectLst/>
                          <a:uFillTx/>
                          <a:latin typeface="BIZ UDPゴシック"/>
                          <a:ea typeface="BIZ UDPゴシック"/>
                        </a:rPr>
                        <a:t>67%)</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65680">
                <a:tc>
                  <a:txBody>
                    <a:bodyPr lIns="45720" tIns="18000" rIns="45720" bIns="18000" anchor="t">
                      <a:noAutofit/>
                    </a:bodyPr>
                    <a:p>
                      <a:pPr defTabSz="457200">
                        <a:lnSpc>
                          <a:spcPct val="120000"/>
                        </a:lnSpc>
                      </a:pPr>
                      <a:r>
                        <a:rPr lang="ja-JP" sz="1350" b="1" u="none" strike="noStrike">
                          <a:solidFill>
                            <a:srgbClr val="16213E"/>
                          </a:solidFill>
                          <a:effectLst/>
                          <a:uFillTx/>
                          <a:latin typeface="BIZ UDPゴシック"/>
                          <a:ea typeface="BIZ UDPゴシック"/>
                        </a:rPr>
                        <a:t>申請・承認作業の削減</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7,200</a:t>
                      </a:r>
                      <a:r>
                        <a:rPr lang="ja-JP" sz="1350" b="0" u="none" strike="noStrike">
                          <a:solidFill>
                            <a:srgbClr val="1F2937"/>
                          </a:solidFill>
                          <a:effectLst/>
                          <a:uFillTx/>
                          <a:latin typeface="BIZ UDPゴシック"/>
                          <a:ea typeface="BIZ UDPゴシック"/>
                        </a:rPr>
                        <a:t>時間</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年 </a:t>
                      </a:r>
                      <a:r>
                        <a:rPr lang="en-US" sz="1350" b="0" u="none" strike="noStrike">
                          <a:solidFill>
                            <a:srgbClr val="1F2937"/>
                          </a:solidFill>
                          <a:effectLst/>
                          <a:uFillTx/>
                          <a:latin typeface="BIZ UDPゴシック"/>
                          <a:ea typeface="BIZ UDPゴシック"/>
                        </a:rPr>
                        <a:t>(1</a:t>
                      </a:r>
                      <a:r>
                        <a:rPr lang="ja-JP" sz="1350" b="0" u="none" strike="noStrike">
                          <a:solidFill>
                            <a:srgbClr val="1F2937"/>
                          </a:solidFill>
                          <a:effectLst/>
                          <a:uFillTx/>
                          <a:latin typeface="BIZ UDPゴシック"/>
                          <a:ea typeface="BIZ UDPゴシック"/>
                        </a:rPr>
                        <a:t>件</a:t>
                      </a:r>
                      <a:r>
                        <a:rPr lang="en-US" sz="1350" b="0" u="none" strike="noStrike">
                          <a:solidFill>
                            <a:srgbClr val="1F2937"/>
                          </a:solidFill>
                          <a:effectLst/>
                          <a:uFillTx/>
                          <a:latin typeface="BIZ UDPゴシック"/>
                          <a:ea typeface="BIZ UDPゴシック"/>
                        </a:rPr>
                        <a:t>10</a:t>
                      </a:r>
                      <a:r>
                        <a:rPr lang="ja-JP" sz="1350" b="0" u="none" strike="noStrike">
                          <a:solidFill>
                            <a:srgbClr val="1F2937"/>
                          </a:solidFill>
                          <a:effectLst/>
                          <a:uFillTx/>
                          <a:latin typeface="BIZ UDPゴシック"/>
                          <a:ea typeface="BIZ UDPゴシック"/>
                        </a:rPr>
                        <a:t>分→</a:t>
                      </a:r>
                      <a:r>
                        <a:rPr lang="en-US" sz="1350" b="0" u="none" strike="noStrike">
                          <a:solidFill>
                            <a:srgbClr val="1F2937"/>
                          </a:solidFill>
                          <a:effectLst/>
                          <a:uFillTx/>
                          <a:latin typeface="BIZ UDPゴシック"/>
                          <a:ea typeface="BIZ UDPゴシック"/>
                        </a:rPr>
                        <a:t>4</a:t>
                      </a:r>
                      <a:r>
                        <a:rPr lang="ja-JP" sz="1350" b="0" u="none" strike="noStrike">
                          <a:solidFill>
                            <a:srgbClr val="1F2937"/>
                          </a:solidFill>
                          <a:effectLst/>
                          <a:uFillTx/>
                          <a:latin typeface="BIZ UDPゴシック"/>
                          <a:ea typeface="BIZ UDPゴシック"/>
                        </a:rPr>
                        <a:t>分</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65680">
                <a:tc>
                  <a:txBody>
                    <a:bodyPr lIns="45720" tIns="18000" rIns="45720" bIns="18000" anchor="t">
                      <a:noAutofit/>
                    </a:bodyPr>
                    <a:p>
                      <a:pPr defTabSz="457200">
                        <a:lnSpc>
                          <a:spcPct val="120000"/>
                        </a:lnSpc>
                      </a:pPr>
                      <a:r>
                        <a:rPr lang="ja-JP" sz="1350" b="1" u="none" strike="noStrike">
                          <a:solidFill>
                            <a:srgbClr val="16213E"/>
                          </a:solidFill>
                          <a:effectLst/>
                          <a:uFillTx/>
                          <a:latin typeface="BIZ UDPゴシック"/>
                          <a:ea typeface="BIZ UDPゴシック"/>
                        </a:rPr>
                        <a:t>時間単価</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350" b="0" u="none" strike="noStrike">
                          <a:solidFill>
                            <a:srgbClr val="1F2937"/>
                          </a:solidFill>
                          <a:effectLst/>
                          <a:uFillTx/>
                          <a:latin typeface="BIZ UDPゴシック"/>
                          <a:ea typeface="BIZ UDPゴシック"/>
                        </a:rPr>
                        <a:t>4,000</a:t>
                      </a:r>
                      <a:r>
                        <a:rPr lang="ja-JP" sz="1350" b="0" u="none" strike="noStrike">
                          <a:solidFill>
                            <a:srgbClr val="1F2937"/>
                          </a:solidFill>
                          <a:effectLst/>
                          <a:uFillTx/>
                          <a:latin typeface="BIZ UDPゴシック"/>
                          <a:ea typeface="BIZ UDPゴシック"/>
                        </a:rPr>
                        <a:t>円</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時間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当社基準</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65680">
                <a:tc>
                  <a:txBody>
                    <a:bodyPr lIns="45720" tIns="18000" rIns="45720" bIns="18000" anchor="t">
                      <a:noAutofit/>
                    </a:bodyPr>
                    <a:p>
                      <a:pPr defTabSz="457200">
                        <a:lnSpc>
                          <a:spcPct val="120000"/>
                        </a:lnSpc>
                      </a:pPr>
                      <a:r>
                        <a:rPr lang="ja-JP" sz="1350" b="1" u="none" strike="noStrike">
                          <a:solidFill>
                            <a:srgbClr val="16213E"/>
                          </a:solidFill>
                          <a:effectLst/>
                          <a:uFillTx/>
                          <a:latin typeface="BIZ UDPゴシック"/>
                          <a:ea typeface="BIZ UDPゴシック"/>
                        </a:rPr>
                        <a:t>年間効果額</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約</a:t>
                      </a:r>
                      <a:r>
                        <a:rPr lang="en-US" sz="1350" b="0" u="none" strike="noStrike">
                          <a:solidFill>
                            <a:srgbClr val="1F2937"/>
                          </a:solidFill>
                          <a:effectLst/>
                          <a:uFillTx/>
                          <a:latin typeface="BIZ UDPゴシック"/>
                          <a:ea typeface="BIZ UDPゴシック"/>
                        </a:rPr>
                        <a:t>3,300</a:t>
                      </a:r>
                      <a:r>
                        <a:rPr lang="ja-JP" sz="1350" b="0" u="none" strike="noStrike">
                          <a:solidFill>
                            <a:srgbClr val="1F2937"/>
                          </a:solidFill>
                          <a:effectLst/>
                          <a:uFillTx/>
                          <a:latin typeface="BIZ UDPゴシック"/>
                          <a:ea typeface="BIZ UDPゴシック"/>
                        </a:rPr>
                        <a:t>万円 </a:t>
                      </a:r>
                      <a:r>
                        <a:rPr lang="en-US" sz="1350" b="0" u="none" strike="noStrike">
                          <a:solidFill>
                            <a:srgbClr val="1F2937"/>
                          </a:solidFill>
                          <a:effectLst/>
                          <a:uFillTx/>
                          <a:latin typeface="BIZ UDPゴシック"/>
                          <a:ea typeface="BIZ UDPゴシック"/>
                        </a:rPr>
                        <a:t>(</a:t>
                      </a:r>
                      <a:r>
                        <a:rPr lang="ja-JP" sz="1350" b="0" u="none" strike="noStrike">
                          <a:solidFill>
                            <a:srgbClr val="1F2937"/>
                          </a:solidFill>
                          <a:effectLst/>
                          <a:uFillTx/>
                          <a:latin typeface="BIZ UDPゴシック"/>
                          <a:ea typeface="BIZ UDPゴシック"/>
                        </a:rPr>
                        <a:t>当社試算、税抜</a:t>
                      </a:r>
                      <a:r>
                        <a:rPr lang="en-US" sz="1350" b="0" u="none" strike="noStrike">
                          <a:solidFill>
                            <a:srgbClr val="1F2937"/>
                          </a:solidFill>
                          <a:effectLst/>
                          <a:uFillTx/>
                          <a:latin typeface="BIZ UDPゴシック"/>
                          <a:ea typeface="BIZ UDPゴシック"/>
                        </a:rPr>
                        <a:t>)</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65680">
                <a:tc>
                  <a:txBody>
                    <a:bodyPr lIns="45720" tIns="18000" rIns="45720" bIns="18000" anchor="t">
                      <a:noAutofit/>
                    </a:bodyPr>
                    <a:p>
                      <a:pPr defTabSz="457200">
                        <a:lnSpc>
                          <a:spcPct val="120000"/>
                        </a:lnSpc>
                      </a:pPr>
                      <a:r>
                        <a:rPr lang="en-US" sz="1350" b="1" u="none" strike="noStrike">
                          <a:solidFill>
                            <a:srgbClr val="16213E"/>
                          </a:solidFill>
                          <a:effectLst/>
                          <a:uFillTx/>
                          <a:latin typeface="BIZ UDPゴシック"/>
                          <a:ea typeface="BIZ UDPゴシック"/>
                        </a:rPr>
                        <a:t>SaaS</a:t>
                      </a:r>
                      <a:r>
                        <a:rPr lang="ja-JP" sz="1350" b="1" u="none" strike="noStrike">
                          <a:solidFill>
                            <a:srgbClr val="16213E"/>
                          </a:solidFill>
                          <a:effectLst/>
                          <a:uFillTx/>
                          <a:latin typeface="BIZ UDPゴシック"/>
                          <a:ea typeface="BIZ UDPゴシック"/>
                        </a:rPr>
                        <a:t>利用料</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350" b="0" u="none" strike="noStrike">
                          <a:solidFill>
                            <a:srgbClr val="1F2937"/>
                          </a:solidFill>
                          <a:effectLst/>
                          <a:uFillTx/>
                          <a:latin typeface="BIZ UDPゴシック"/>
                          <a:ea typeface="BIZ UDPゴシック"/>
                        </a:rPr>
                        <a:t>発注者契約のため含まない</a:t>
                      </a:r>
                      <a:endParaRPr lang="en-US" sz="13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848" name="blk-callout"/>
          <p:cNvSpPr/>
          <p:nvPr/>
        </p:nvSpPr>
        <p:spPr>
          <a:xfrm>
            <a:off x="502920" y="5544360"/>
            <a:ext cx="11185200" cy="70956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試算前提</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経理工数削減</a:t>
            </a:r>
            <a:r>
              <a:rPr lang="en-US" sz="1200" b="0" u="none" strike="noStrike">
                <a:solidFill>
                  <a:srgbClr val="1F2937"/>
                </a:solidFill>
                <a:effectLst/>
                <a:uFillTx/>
                <a:latin typeface="BIZ UDPゴシック"/>
                <a:ea typeface="BIZ UDPゴシック"/>
              </a:rPr>
              <a:t>960</a:t>
            </a:r>
            <a:r>
              <a:rPr lang="ja-JP" sz="1200" b="0" u="none" strike="noStrike">
                <a:solidFill>
                  <a:srgbClr val="1F2937"/>
                </a:solidFill>
                <a:effectLst/>
                <a:uFillTx/>
                <a:latin typeface="BIZ UDPゴシック"/>
                <a:ea typeface="BIZ UDPゴシック"/>
              </a:rPr>
              <a:t>時間</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年と申請者・承認者の作業削減</a:t>
            </a:r>
            <a:r>
              <a:rPr lang="en-US" sz="1200" b="0" u="none" strike="noStrike">
                <a:solidFill>
                  <a:srgbClr val="1F2937"/>
                </a:solidFill>
                <a:effectLst/>
                <a:uFillTx/>
                <a:latin typeface="BIZ UDPゴシック"/>
                <a:ea typeface="BIZ UDPゴシック"/>
              </a:rPr>
              <a:t>7,200</a:t>
            </a:r>
            <a:r>
              <a:rPr lang="ja-JP" sz="1200" b="0" u="none" strike="noStrike">
                <a:solidFill>
                  <a:srgbClr val="1F2937"/>
                </a:solidFill>
                <a:effectLst/>
                <a:uFillTx/>
                <a:latin typeface="BIZ UDPゴシック"/>
                <a:ea typeface="BIZ UDPゴシック"/>
              </a:rPr>
              <a:t>時間</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年を合算し、当社基準の時間単価</a:t>
            </a:r>
            <a:r>
              <a:rPr lang="en-US" sz="1200" b="0" u="none" strike="noStrike">
                <a:solidFill>
                  <a:srgbClr val="1F2937"/>
                </a:solidFill>
                <a:effectLst/>
                <a:uFillTx/>
                <a:latin typeface="BIZ UDPゴシック"/>
                <a:ea typeface="BIZ UDPゴシック"/>
              </a:rPr>
              <a:t>4,000</a:t>
            </a:r>
            <a:r>
              <a:rPr lang="ja-JP" sz="1200" b="0" u="none" strike="noStrike">
                <a:solidFill>
                  <a:srgbClr val="1F2937"/>
                </a:solidFill>
                <a:effectLst/>
                <a:uFillTx/>
                <a:latin typeface="BIZ UDPゴシック"/>
                <a:ea typeface="BIZ UDPゴシック"/>
              </a:rPr>
              <a:t>円で換算すると年間約</a:t>
            </a:r>
            <a:r>
              <a:rPr lang="en-US" sz="1200" b="0" u="none" strike="noStrike">
                <a:solidFill>
                  <a:srgbClr val="1F2937"/>
                </a:solidFill>
                <a:effectLst/>
                <a:uFillTx/>
                <a:latin typeface="BIZ UDPゴシック"/>
                <a:ea typeface="BIZ UDPゴシック"/>
              </a:rPr>
              <a:t>3,300</a:t>
            </a:r>
            <a:r>
              <a:rPr lang="ja-JP" sz="1200" b="0" u="none" strike="noStrike">
                <a:solidFill>
                  <a:srgbClr val="1F2937"/>
                </a:solidFill>
                <a:effectLst/>
                <a:uFillTx/>
                <a:latin typeface="BIZ UDPゴシック"/>
                <a:ea typeface="BIZ UDPゴシック"/>
              </a:rPr>
              <a:t>万円の効果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当社試算</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a:t>
            </a:r>
            <a:r>
              <a:rPr lang="en-US" sz="1200" b="0" u="none" strike="noStrike">
                <a:solidFill>
                  <a:srgbClr val="1F2937"/>
                </a:solidFill>
                <a:effectLst/>
                <a:uFillTx/>
                <a:latin typeface="BIZ UDPゴシック"/>
                <a:ea typeface="BIZ UDPゴシック"/>
              </a:rPr>
              <a:t>SaaS</a:t>
            </a:r>
            <a:r>
              <a:rPr lang="ja-JP" sz="1200" b="0" u="none" strike="noStrike">
                <a:solidFill>
                  <a:srgbClr val="1F2937"/>
                </a:solidFill>
                <a:effectLst/>
                <a:uFillTx/>
                <a:latin typeface="BIZ UDPゴシック"/>
                <a:ea typeface="BIZ UDPゴシック"/>
              </a:rPr>
              <a:t>利用料は発注者契約のため含まない。</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0"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51"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852"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853"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54"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55"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56"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57"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58"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59"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60"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861"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1.13 </a:t>
            </a:r>
            <a:r>
              <a:rPr lang="ja-JP" sz="2400" b="1" u="none" strike="noStrike">
                <a:solidFill>
                  <a:srgbClr val="16213E"/>
                </a:solidFill>
                <a:effectLst/>
                <a:uFillTx/>
                <a:latin typeface="BIZ UDPゴシック"/>
                <a:ea typeface="BIZ UDPゴシック"/>
              </a:rPr>
              <a:t>法令・制度対応方針 ─ 電子帳簿保存法</a:t>
            </a:r>
            <a:endParaRPr lang="en-US" sz="2400" b="0" u="none" strike="noStrike">
              <a:solidFill>
                <a:srgbClr val="000000"/>
              </a:solidFill>
              <a:effectLst/>
              <a:uFillTx/>
              <a:latin typeface="Arial"/>
            </a:endParaRPr>
          </a:p>
        </p:txBody>
      </p:sp>
      <p:sp>
        <p:nvSpPr>
          <p:cNvPr id="862"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863" name="hdr-hair"/>
          <p:cNvCxnSpPr/>
          <p:nvPr/>
        </p:nvCxnSpPr>
        <p:spPr>
          <a:xfrm>
            <a:off x="502920" y="969120"/>
            <a:ext cx="11186280" cy="720"/>
          </a:xfrm>
          <a:prstGeom prst="straightConnector1">
            <a:avLst/>
          </a:prstGeom>
          <a:ln w="9525">
            <a:solidFill>
              <a:srgbClr val="D5DBE5"/>
            </a:solidFill>
            <a:round/>
          </a:ln>
        </p:spPr>
      </p:cxnSp>
      <p:cxnSp>
        <p:nvCxnSpPr>
          <p:cNvPr id="864" name="ftr-hair"/>
          <p:cNvCxnSpPr/>
          <p:nvPr/>
        </p:nvCxnSpPr>
        <p:spPr>
          <a:xfrm>
            <a:off x="502920" y="6382440"/>
            <a:ext cx="11186280" cy="720"/>
          </a:xfrm>
          <a:prstGeom prst="straightConnector1">
            <a:avLst/>
          </a:prstGeom>
          <a:ln w="9525">
            <a:solidFill>
              <a:srgbClr val="D5DBE5"/>
            </a:solidFill>
            <a:round/>
          </a:ln>
        </p:spPr>
      </p:cxnSp>
      <p:sp>
        <p:nvSpPr>
          <p:cNvPr id="865"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22 / 85</a:t>
            </a:r>
            <a:endParaRPr lang="en-US" sz="1100" b="0" u="none" strike="noStrike">
              <a:solidFill>
                <a:srgbClr val="000000"/>
              </a:solidFill>
              <a:effectLst/>
              <a:uFillTx/>
              <a:latin typeface="Arial"/>
            </a:endParaRPr>
          </a:p>
        </p:txBody>
      </p:sp>
      <p:sp>
        <p:nvSpPr>
          <p:cNvPr id="866"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867"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868"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869"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0"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1"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電子帳簿保存法の主要要件を標準機能で充足し、事務処理規程で統制する</a:t>
            </a:r>
            <a:endParaRPr lang="en-US" sz="1500" b="0" u="none" strike="noStrike">
              <a:solidFill>
                <a:srgbClr val="000000"/>
              </a:solidFill>
              <a:effectLst/>
              <a:uFillTx/>
              <a:latin typeface="Arial"/>
            </a:endParaRPr>
          </a:p>
        </p:txBody>
      </p:sp>
      <p:graphicFrame>
        <p:nvGraphicFramePr>
          <p:cNvPr id="872" name="blk-table"/>
          <p:cNvGraphicFramePr/>
          <p:nvPr/>
        </p:nvGraphicFramePr>
        <p:xfrm>
          <a:off x="502920" y="1627560"/>
          <a:ext cx="11184840" cy="3189600"/>
        </p:xfrm>
        <a:graphic>
          <a:graphicData uri="http://schemas.openxmlformats.org/drawingml/2006/table">
            <a:tbl>
              <a:tblPr/>
              <a:tblGrid>
                <a:gridCol w="3355560"/>
                <a:gridCol w="4250520"/>
                <a:gridCol w="35791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要件</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制度上のポイント</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本提案での対応</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電子取引データの保存義務</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法人税の帳簿書類保存義務者は、令和</a:t>
                      </a:r>
                      <a:r>
                        <a:rPr lang="en-US" sz="1100" b="0" u="none" strike="noStrike">
                          <a:solidFill>
                            <a:srgbClr val="1F2937"/>
                          </a:solidFill>
                          <a:effectLst/>
                          <a:uFillTx/>
                          <a:latin typeface="BIZ UDPゴシック"/>
                          <a:ea typeface="BIZ UDPゴシック"/>
                        </a:rPr>
                        <a:t>6</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日以後の電子取引データの保存が必要</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電子取引データを保存対象とし、保存区分を運用に組み込む</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真実性の確保</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電子取引データは、タイムスタンプ、訂正削除履歴が残るシステム、事務処理規程による統制のいずれかで真実性を確保する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標準機能と事務処理規程を組合せて真実性を確保する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可視性の確保</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見読可能装置と、日付・金額・取引先等による検索機能が必要</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検索要件を満たす設定をサービス標準機能で行う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7441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スキャナ保存</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重要書類は帳簿との相互関連性、解像度</a:t>
                      </a:r>
                      <a:r>
                        <a:rPr lang="en-US" sz="1100" b="0" u="none" strike="noStrike">
                          <a:solidFill>
                            <a:srgbClr val="1F2937"/>
                          </a:solidFill>
                          <a:effectLst/>
                          <a:uFillTx/>
                          <a:latin typeface="BIZ UDPゴシック"/>
                          <a:ea typeface="BIZ UDPゴシック"/>
                        </a:rPr>
                        <a:t>200dpi</a:t>
                      </a:r>
                      <a:r>
                        <a:rPr lang="ja-JP" sz="1100" b="0" u="none" strike="noStrike">
                          <a:solidFill>
                            <a:srgbClr val="1F2937"/>
                          </a:solidFill>
                          <a:effectLst/>
                          <a:uFillTx/>
                          <a:latin typeface="BIZ UDPゴシック"/>
                          <a:ea typeface="BIZ UDPゴシック"/>
                        </a:rPr>
                        <a:t>以上等が必要。真実性は入力期間内のタイムスタンプ付与、または訂正削除履歴が残る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又は訂正削除できない</a:t>
                      </a:r>
                      <a:r>
                        <a:rPr lang="en-US" sz="1100" b="0" u="none" strike="noStrike">
                          <a:solidFill>
                            <a:srgbClr val="1F2937"/>
                          </a:solidFill>
                          <a:effectLst/>
                          <a:uFillTx/>
                          <a:latin typeface="BIZ UDPゴシック"/>
                          <a:ea typeface="BIZ UDPゴシック"/>
                        </a:rPr>
                        <a:t>) </a:t>
                      </a:r>
                      <a:r>
                        <a:rPr lang="ja-JP" sz="1100" b="0" u="none" strike="noStrike">
                          <a:solidFill>
                            <a:srgbClr val="1F2937"/>
                          </a:solidFill>
                          <a:effectLst/>
                          <a:uFillTx/>
                          <a:latin typeface="BIZ UDPゴシック"/>
                          <a:ea typeface="BIZ UDPゴシック"/>
                        </a:rPr>
                        <a:t>システムに入力期間内に保存し保存日時を客観的に確認できることのいずれかによる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スキャナ保存の要件を満たす設定と運用手順を整備する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7441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保存期間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帳簿書類の保存期間は原則</a:t>
                      </a:r>
                      <a:r>
                        <a:rPr lang="en-US" sz="1100" b="0" u="none" strike="noStrike">
                          <a:solidFill>
                            <a:srgbClr val="1F2937"/>
                          </a:solidFill>
                          <a:effectLst/>
                          <a:uFillTx/>
                          <a:latin typeface="BIZ UDPゴシック"/>
                          <a:ea typeface="BIZ UDPゴシック"/>
                        </a:rPr>
                        <a:t>7</a:t>
                      </a:r>
                      <a:r>
                        <a:rPr lang="ja-JP" sz="1100" b="0" u="none" strike="noStrike">
                          <a:solidFill>
                            <a:srgbClr val="1F2937"/>
                          </a:solidFill>
                          <a:effectLst/>
                          <a:uFillTx/>
                          <a:latin typeface="BIZ UDPゴシック"/>
                          <a:ea typeface="BIZ UDPゴシック"/>
                        </a:rPr>
                        <a:t>年。青色申告で欠損金額が生じた事業年度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または青色申告でない事業年度で災害損失金額が生じた事業年度</a:t>
                      </a:r>
                      <a:r>
                        <a:rPr lang="en-US" sz="1100" b="0" u="none" strike="noStrike">
                          <a:solidFill>
                            <a:srgbClr val="1F2937"/>
                          </a:solidFill>
                          <a:effectLst/>
                          <a:uFillTx/>
                          <a:latin typeface="BIZ UDPゴシック"/>
                          <a:ea typeface="BIZ UDPゴシック"/>
                        </a:rPr>
                        <a:t>) </a:t>
                      </a:r>
                      <a:r>
                        <a:rPr lang="ja-JP" sz="1100" b="0" u="none" strike="noStrike">
                          <a:solidFill>
                            <a:srgbClr val="1F2937"/>
                          </a:solidFill>
                          <a:effectLst/>
                          <a:uFillTx/>
                          <a:latin typeface="BIZ UDPゴシック"/>
                          <a:ea typeface="BIZ UDPゴシック"/>
                        </a:rPr>
                        <a:t>は</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年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平成</a:t>
                      </a:r>
                      <a:r>
                        <a:rPr lang="en-US" sz="1100" b="0" u="none" strike="noStrike">
                          <a:solidFill>
                            <a:srgbClr val="1F2937"/>
                          </a:solidFill>
                          <a:effectLst/>
                          <a:uFillTx/>
                          <a:latin typeface="BIZ UDPゴシック"/>
                          <a:ea typeface="BIZ UDPゴシック"/>
                        </a:rPr>
                        <a:t>30</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4</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日前開始の事業年度は</a:t>
                      </a:r>
                      <a:r>
                        <a:rPr lang="en-US" sz="1100" b="0" u="none" strike="noStrike">
                          <a:solidFill>
                            <a:srgbClr val="1F2937"/>
                          </a:solidFill>
                          <a:effectLst/>
                          <a:uFillTx/>
                          <a:latin typeface="BIZ UDPゴシック"/>
                          <a:ea typeface="BIZ UDPゴシック"/>
                        </a:rPr>
                        <a:t>9</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。起算日は確定申告書の提出期限の翌日</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保存期間と廃棄ルールを事務処理規程に定め、サービスに設定する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873" name="blk-callout"/>
          <p:cNvSpPr/>
          <p:nvPr/>
        </p:nvSpPr>
        <p:spPr>
          <a:xfrm>
            <a:off x="502920" y="5544360"/>
            <a:ext cx="11185200" cy="70956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en-US" sz="1200" b="0" u="none" strike="noStrike">
                <a:solidFill>
                  <a:srgbClr val="1F2937"/>
                </a:solidFill>
                <a:effectLst/>
                <a:uFillTx/>
                <a:latin typeface="BIZ UDPゴシック"/>
                <a:ea typeface="BIZ UDPゴシック"/>
              </a:rPr>
              <a:t>SaaS</a:t>
            </a:r>
            <a:r>
              <a:rPr lang="ja-JP" sz="1200" b="0" u="none" strike="noStrike">
                <a:solidFill>
                  <a:srgbClr val="1F2937"/>
                </a:solidFill>
                <a:effectLst/>
                <a:uFillTx/>
                <a:latin typeface="BIZ UDPゴシック"/>
                <a:ea typeface="BIZ UDPゴシック"/>
              </a:rPr>
              <a:t>の標準機能が法令要件を満たすことを</a:t>
            </a:r>
            <a:r>
              <a:rPr lang="en-US" sz="1200" b="0" u="none" strike="noStrike">
                <a:solidFill>
                  <a:srgbClr val="1F2937"/>
                </a:solidFill>
                <a:effectLst/>
                <a:uFillTx/>
                <a:latin typeface="BIZ UDPゴシック"/>
                <a:ea typeface="BIZ UDPゴシック"/>
              </a:rPr>
              <a:t>Fit to Standard</a:t>
            </a:r>
            <a:r>
              <a:rPr lang="ja-JP" sz="1200" b="0" u="none" strike="noStrike">
                <a:solidFill>
                  <a:srgbClr val="1F2937"/>
                </a:solidFill>
                <a:effectLst/>
                <a:uFillTx/>
                <a:latin typeface="BIZ UDPゴシック"/>
                <a:ea typeface="BIZ UDPゴシック"/>
              </a:rPr>
              <a:t>で確認し、事務処理規程を策定・文書化したうえで運用する。過去分の電子化は適用届出書の提出と事務手続関係書類の備付けを要し、対象範囲は要件定義で決定する。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7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87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878"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79"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80"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81"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82"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83"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8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88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88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1.13 </a:t>
            </a:r>
            <a:r>
              <a:rPr lang="ja-JP" sz="2400" b="1" u="none" strike="noStrike">
                <a:solidFill>
                  <a:srgbClr val="16213E"/>
                </a:solidFill>
                <a:effectLst/>
                <a:uFillTx/>
                <a:latin typeface="BIZ UDPゴシック"/>
                <a:ea typeface="BIZ UDPゴシック"/>
              </a:rPr>
              <a:t>法令・制度対応方針 ─ インボイス制度・個人情報保護</a:t>
            </a:r>
            <a:endParaRPr lang="en-US" sz="2400" b="0" u="none" strike="noStrike">
              <a:solidFill>
                <a:srgbClr val="000000"/>
              </a:solidFill>
              <a:effectLst/>
              <a:uFillTx/>
              <a:latin typeface="Arial"/>
            </a:endParaRPr>
          </a:p>
        </p:txBody>
      </p:sp>
      <p:sp>
        <p:nvSpPr>
          <p:cNvPr id="88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888" name="hdr-hair"/>
          <p:cNvCxnSpPr/>
          <p:nvPr/>
        </p:nvCxnSpPr>
        <p:spPr>
          <a:xfrm>
            <a:off x="502920" y="969120"/>
            <a:ext cx="11186280" cy="720"/>
          </a:xfrm>
          <a:prstGeom prst="straightConnector1">
            <a:avLst/>
          </a:prstGeom>
          <a:ln w="9525">
            <a:solidFill>
              <a:srgbClr val="D5DBE5"/>
            </a:solidFill>
            <a:round/>
          </a:ln>
        </p:spPr>
      </p:cxnSp>
      <p:cxnSp>
        <p:nvCxnSpPr>
          <p:cNvPr id="889" name="ftr-hair"/>
          <p:cNvCxnSpPr/>
          <p:nvPr/>
        </p:nvCxnSpPr>
        <p:spPr>
          <a:xfrm>
            <a:off x="502920" y="6382440"/>
            <a:ext cx="11186280" cy="720"/>
          </a:xfrm>
          <a:prstGeom prst="straightConnector1">
            <a:avLst/>
          </a:prstGeom>
          <a:ln w="9525">
            <a:solidFill>
              <a:srgbClr val="D5DBE5"/>
            </a:solidFill>
            <a:round/>
          </a:ln>
        </p:spPr>
      </p:cxnSp>
      <p:sp>
        <p:nvSpPr>
          <p:cNvPr id="89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23 / 85</a:t>
            </a:r>
            <a:endParaRPr lang="en-US" sz="1100" b="0" u="none" strike="noStrike">
              <a:solidFill>
                <a:srgbClr val="000000"/>
              </a:solidFill>
              <a:effectLst/>
              <a:uFillTx/>
              <a:latin typeface="Arial"/>
            </a:endParaRPr>
          </a:p>
        </p:txBody>
      </p:sp>
      <p:sp>
        <p:nvSpPr>
          <p:cNvPr id="89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89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89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89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インボイス制度と個人情報保護への対応をあらかじめ設計に組込む</a:t>
            </a:r>
            <a:endParaRPr lang="en-US" sz="1500" b="0" u="none" strike="noStrike">
              <a:solidFill>
                <a:srgbClr val="000000"/>
              </a:solidFill>
              <a:effectLst/>
              <a:uFillTx/>
              <a:latin typeface="Arial"/>
            </a:endParaRPr>
          </a:p>
        </p:txBody>
      </p:sp>
      <p:graphicFrame>
        <p:nvGraphicFramePr>
          <p:cNvPr id="897" name="blk-table"/>
          <p:cNvGraphicFramePr/>
          <p:nvPr/>
        </p:nvGraphicFramePr>
        <p:xfrm>
          <a:off x="502920" y="1627560"/>
          <a:ext cx="11184840" cy="2604600"/>
        </p:xfrm>
        <a:graphic>
          <a:graphicData uri="http://schemas.openxmlformats.org/drawingml/2006/table">
            <a:tbl>
              <a:tblPr/>
              <a:tblGrid>
                <a:gridCol w="3132000"/>
                <a:gridCol w="4474080"/>
                <a:gridCol w="35791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要件</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制度上のポイント</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本提案での対応</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登録番号の確認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仕入税額控除には、原則としてインボイスの保存が必要</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取引先の登録番号を経費データに保持し、確認を運用に組み込む</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7441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経過措置の管理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免税事業者等からの課税仕入れの控除割合は、</a:t>
                      </a:r>
                      <a:r>
                        <a:rPr lang="en-US" sz="1100" b="0" u="none" strike="noStrike">
                          <a:solidFill>
                            <a:srgbClr val="1F2937"/>
                          </a:solidFill>
                          <a:effectLst/>
                          <a:uFillTx/>
                          <a:latin typeface="BIZ UDPゴシック"/>
                          <a:ea typeface="BIZ UDPゴシック"/>
                        </a:rPr>
                        <a:t>80% </a:t>
                      </a:r>
                      <a:r>
                        <a:rPr lang="ja-JP" sz="1100" b="0" u="none" strike="noStrike">
                          <a:solidFill>
                            <a:srgbClr val="1F2937"/>
                          </a:solidFill>
                          <a:effectLst/>
                          <a:uFillTx/>
                          <a:latin typeface="BIZ UDPゴシック"/>
                          <a:ea typeface="BIZ UDPゴシック"/>
                        </a:rPr>
                        <a:t>令和</a:t>
                      </a: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日〜令和</a:t>
                      </a:r>
                      <a:r>
                        <a:rPr lang="en-US" sz="1100" b="0" u="none" strike="noStrike">
                          <a:solidFill>
                            <a:srgbClr val="1F2937"/>
                          </a:solidFill>
                          <a:effectLst/>
                          <a:uFillTx/>
                          <a:latin typeface="BIZ UDPゴシック"/>
                          <a:ea typeface="BIZ UDPゴシック"/>
                        </a:rPr>
                        <a:t>8</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9</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30</a:t>
                      </a:r>
                      <a:r>
                        <a:rPr lang="ja-JP" sz="1100" b="0" u="none" strike="noStrike">
                          <a:solidFill>
                            <a:srgbClr val="1F2937"/>
                          </a:solidFill>
                          <a:effectLst/>
                          <a:uFillTx/>
                          <a:latin typeface="BIZ UDPゴシック"/>
                          <a:ea typeface="BIZ UDPゴシック"/>
                        </a:rPr>
                        <a:t>日、</a:t>
                      </a:r>
                      <a:r>
                        <a:rPr lang="en-US" sz="1100" b="0" u="none" strike="noStrike">
                          <a:solidFill>
                            <a:srgbClr val="1F2937"/>
                          </a:solidFill>
                          <a:effectLst/>
                          <a:uFillTx/>
                          <a:latin typeface="BIZ UDPゴシック"/>
                          <a:ea typeface="BIZ UDPゴシック"/>
                        </a:rPr>
                        <a:t>70% </a:t>
                      </a:r>
                      <a:r>
                        <a:rPr lang="ja-JP" sz="1100" b="0" u="none" strike="noStrike">
                          <a:solidFill>
                            <a:srgbClr val="1F2937"/>
                          </a:solidFill>
                          <a:effectLst/>
                          <a:uFillTx/>
                          <a:latin typeface="BIZ UDPゴシック"/>
                          <a:ea typeface="BIZ UDPゴシック"/>
                        </a:rPr>
                        <a:t>令和</a:t>
                      </a:r>
                      <a:r>
                        <a:rPr lang="en-US" sz="1100" b="0" u="none" strike="noStrike">
                          <a:solidFill>
                            <a:srgbClr val="1F2937"/>
                          </a:solidFill>
                          <a:effectLst/>
                          <a:uFillTx/>
                          <a:latin typeface="BIZ UDPゴシック"/>
                          <a:ea typeface="BIZ UDPゴシック"/>
                        </a:rPr>
                        <a:t>8</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日〜令和</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9</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30</a:t>
                      </a:r>
                      <a:r>
                        <a:rPr lang="ja-JP" sz="1100" b="0" u="none" strike="noStrike">
                          <a:solidFill>
                            <a:srgbClr val="1F2937"/>
                          </a:solidFill>
                          <a:effectLst/>
                          <a:uFillTx/>
                          <a:latin typeface="BIZ UDPゴシック"/>
                          <a:ea typeface="BIZ UDPゴシック"/>
                        </a:rPr>
                        <a:t>日、</a:t>
                      </a:r>
                      <a:r>
                        <a:rPr lang="en-US" sz="1100" b="0" u="none" strike="noStrike">
                          <a:solidFill>
                            <a:srgbClr val="1F2937"/>
                          </a:solidFill>
                          <a:effectLst/>
                          <a:uFillTx/>
                          <a:latin typeface="BIZ UDPゴシック"/>
                          <a:ea typeface="BIZ UDPゴシック"/>
                        </a:rPr>
                        <a:t>50% </a:t>
                      </a:r>
                      <a:r>
                        <a:rPr lang="ja-JP" sz="1100" b="0" u="none" strike="noStrike">
                          <a:solidFill>
                            <a:srgbClr val="1F2937"/>
                          </a:solidFill>
                          <a:effectLst/>
                          <a:uFillTx/>
                          <a:latin typeface="BIZ UDPゴシック"/>
                          <a:ea typeface="BIZ UDPゴシック"/>
                        </a:rPr>
                        <a:t>令和</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日〜令和</a:t>
                      </a:r>
                      <a:r>
                        <a:rPr lang="en-US" sz="1100" b="0" u="none" strike="noStrike">
                          <a:solidFill>
                            <a:srgbClr val="1F2937"/>
                          </a:solidFill>
                          <a:effectLst/>
                          <a:uFillTx/>
                          <a:latin typeface="BIZ UDPゴシック"/>
                          <a:ea typeface="BIZ UDPゴシック"/>
                        </a:rPr>
                        <a:t>12</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9</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30</a:t>
                      </a:r>
                      <a:r>
                        <a:rPr lang="ja-JP" sz="1100" b="0" u="none" strike="noStrike">
                          <a:solidFill>
                            <a:srgbClr val="1F2937"/>
                          </a:solidFill>
                          <a:effectLst/>
                          <a:uFillTx/>
                          <a:latin typeface="BIZ UDPゴシック"/>
                          <a:ea typeface="BIZ UDPゴシック"/>
                        </a:rPr>
                        <a:t>日、</a:t>
                      </a:r>
                      <a:r>
                        <a:rPr lang="en-US" sz="1100" b="0" u="none" strike="noStrike">
                          <a:solidFill>
                            <a:srgbClr val="1F2937"/>
                          </a:solidFill>
                          <a:effectLst/>
                          <a:uFillTx/>
                          <a:latin typeface="BIZ UDPゴシック"/>
                          <a:ea typeface="BIZ UDPゴシック"/>
                        </a:rPr>
                        <a:t>30% </a:t>
                      </a:r>
                      <a:r>
                        <a:rPr lang="ja-JP" sz="1100" b="0" u="none" strike="noStrike">
                          <a:solidFill>
                            <a:srgbClr val="1F2937"/>
                          </a:solidFill>
                          <a:effectLst/>
                          <a:uFillTx/>
                          <a:latin typeface="BIZ UDPゴシック"/>
                          <a:ea typeface="BIZ UDPゴシック"/>
                        </a:rPr>
                        <a:t>令和</a:t>
                      </a:r>
                      <a:r>
                        <a:rPr lang="en-US" sz="1100" b="0" u="none" strike="noStrike">
                          <a:solidFill>
                            <a:srgbClr val="1F2937"/>
                          </a:solidFill>
                          <a:effectLst/>
                          <a:uFillTx/>
                          <a:latin typeface="BIZ UDPゴシック"/>
                          <a:ea typeface="BIZ UDPゴシック"/>
                        </a:rPr>
                        <a:t>12</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日〜令和</a:t>
                      </a:r>
                      <a:r>
                        <a:rPr lang="en-US" sz="1100" b="0" u="none" strike="noStrike">
                          <a:solidFill>
                            <a:srgbClr val="1F2937"/>
                          </a:solidFill>
                          <a:effectLst/>
                          <a:uFillTx/>
                          <a:latin typeface="BIZ UDPゴシック"/>
                          <a:ea typeface="BIZ UDPゴシック"/>
                        </a:rPr>
                        <a:t>13</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9</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30</a:t>
                      </a:r>
                      <a:r>
                        <a:rPr lang="ja-JP" sz="1100" b="0" u="none" strike="noStrike">
                          <a:solidFill>
                            <a:srgbClr val="1F2937"/>
                          </a:solidFill>
                          <a:effectLst/>
                          <a:uFillTx/>
                          <a:latin typeface="BIZ UDPゴシック"/>
                          <a:ea typeface="BIZ UDPゴシック"/>
                        </a:rPr>
                        <a:t>日</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課税仕入れの時期で控除割合を区分し、経過措置を自動判定する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56952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億円上限と集計分担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一の免税事業者等からの課税仕入れの税込年</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億円超の部分は経過措置の対象外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令和</a:t>
                      </a:r>
                      <a:r>
                        <a:rPr lang="en-US" sz="1100" b="0" u="none" strike="noStrike">
                          <a:solidFill>
                            <a:srgbClr val="1F2937"/>
                          </a:solidFill>
                          <a:effectLst/>
                          <a:uFillTx/>
                          <a:latin typeface="BIZ UDPゴシック"/>
                          <a:ea typeface="BIZ UDPゴシック"/>
                        </a:rPr>
                        <a:t>8</a:t>
                      </a:r>
                      <a:r>
                        <a:rPr lang="ja-JP" sz="1100" b="0" u="none" strike="noStrike">
                          <a:solidFill>
                            <a:srgbClr val="1F2937"/>
                          </a:solidFill>
                          <a:effectLst/>
                          <a:uFillTx/>
                          <a:latin typeface="BIZ UDPゴシック"/>
                          <a:ea typeface="BIZ UDPゴシック"/>
                        </a:rPr>
                        <a:t>年</a:t>
                      </a:r>
                      <a:r>
                        <a:rPr lang="en-US" sz="1100" b="0" u="none" strike="noStrike">
                          <a:solidFill>
                            <a:srgbClr val="1F2937"/>
                          </a:solidFill>
                          <a:effectLst/>
                          <a:uFillTx/>
                          <a:latin typeface="BIZ UDPゴシック"/>
                          <a:ea typeface="BIZ UDPゴシック"/>
                        </a:rPr>
                        <a:t>10</a:t>
                      </a:r>
                      <a:r>
                        <a:rPr lang="ja-JP" sz="1100" b="0" u="none" strike="noStrike">
                          <a:solidFill>
                            <a:srgbClr val="1F2937"/>
                          </a:solidFill>
                          <a:effectLst/>
                          <a:uFillTx/>
                          <a:latin typeface="BIZ UDPゴシック"/>
                          <a:ea typeface="BIZ UDPゴシック"/>
                        </a:rPr>
                        <a:t>月</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日以後に開始する課税期間から</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上限判定は同一取引先への課税仕入れ全体が対象。会計システム側で取引先別に集計し、経費精算側は取引先・登録有無・金額データを連携する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個人情報保護</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経費データに含まれる個人情報は、利用目的の範囲内で適正に管理する必要がある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アクセス権限・操作ログ・保存期間を設定し、個人情報を適切に管理する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9"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00"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901"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902"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3"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4"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5"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6"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7"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8"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09"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910"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1.14 </a:t>
            </a:r>
            <a:r>
              <a:rPr lang="ja-JP" sz="2400" b="1" u="none" strike="noStrike">
                <a:solidFill>
                  <a:srgbClr val="16213E"/>
                </a:solidFill>
                <a:effectLst/>
                <a:uFillTx/>
                <a:latin typeface="BIZ UDPゴシック"/>
                <a:ea typeface="BIZ UDPゴシック"/>
              </a:rPr>
              <a:t>前提条件・制約条件 ─ 前提条件</a:t>
            </a:r>
            <a:endParaRPr lang="en-US" sz="2400" b="0" u="none" strike="noStrike">
              <a:solidFill>
                <a:srgbClr val="000000"/>
              </a:solidFill>
              <a:effectLst/>
              <a:uFillTx/>
              <a:latin typeface="Arial"/>
            </a:endParaRPr>
          </a:p>
        </p:txBody>
      </p:sp>
      <p:sp>
        <p:nvSpPr>
          <p:cNvPr id="911"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912" name="hdr-hair"/>
          <p:cNvCxnSpPr/>
          <p:nvPr/>
        </p:nvCxnSpPr>
        <p:spPr>
          <a:xfrm>
            <a:off x="502920" y="969120"/>
            <a:ext cx="11186280" cy="720"/>
          </a:xfrm>
          <a:prstGeom prst="straightConnector1">
            <a:avLst/>
          </a:prstGeom>
          <a:ln w="9525">
            <a:solidFill>
              <a:srgbClr val="D5DBE5"/>
            </a:solidFill>
            <a:round/>
          </a:ln>
        </p:spPr>
      </p:cxnSp>
      <p:cxnSp>
        <p:nvCxnSpPr>
          <p:cNvPr id="913" name="ftr-hair"/>
          <p:cNvCxnSpPr/>
          <p:nvPr/>
        </p:nvCxnSpPr>
        <p:spPr>
          <a:xfrm>
            <a:off x="502920" y="6382440"/>
            <a:ext cx="11186280" cy="720"/>
          </a:xfrm>
          <a:prstGeom prst="straightConnector1">
            <a:avLst/>
          </a:prstGeom>
          <a:ln w="9525">
            <a:solidFill>
              <a:srgbClr val="D5DBE5"/>
            </a:solidFill>
            <a:round/>
          </a:ln>
        </p:spPr>
      </p:cxnSp>
      <p:sp>
        <p:nvSpPr>
          <p:cNvPr id="914"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24 / 85</a:t>
            </a:r>
            <a:endParaRPr lang="en-US" sz="1100" b="0" u="none" strike="noStrike">
              <a:solidFill>
                <a:srgbClr val="000000"/>
              </a:solidFill>
              <a:effectLst/>
              <a:uFillTx/>
              <a:latin typeface="Arial"/>
            </a:endParaRPr>
          </a:p>
        </p:txBody>
      </p:sp>
      <p:sp>
        <p:nvSpPr>
          <p:cNvPr id="915"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916"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917"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918"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9"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0"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提案が成立する前提を明示し、崩れた場合の対応をあらかじめ定める</a:t>
            </a:r>
            <a:endParaRPr lang="en-US" sz="1500" b="0" u="none" strike="noStrike">
              <a:solidFill>
                <a:srgbClr val="000000"/>
              </a:solidFill>
              <a:effectLst/>
              <a:uFillTx/>
              <a:latin typeface="Arial"/>
            </a:endParaRPr>
          </a:p>
        </p:txBody>
      </p:sp>
      <p:graphicFrame>
        <p:nvGraphicFramePr>
          <p:cNvPr id="921" name="blk-table"/>
          <p:cNvGraphicFramePr/>
          <p:nvPr/>
        </p:nvGraphicFramePr>
        <p:xfrm>
          <a:off x="502920" y="1627560"/>
          <a:ext cx="11185200" cy="1829880"/>
        </p:xfrm>
        <a:graphic>
          <a:graphicData uri="http://schemas.openxmlformats.org/drawingml/2006/table">
            <a:tbl>
              <a:tblPr/>
              <a:tblGrid>
                <a:gridCol w="6487560"/>
                <a:gridCol w="469800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前提条件</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崩れた場合の対応</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経費精算</a:t>
                      </a:r>
                      <a:r>
                        <a:rPr lang="en-US" sz="1400" b="0" u="none" strike="noStrike">
                          <a:solidFill>
                            <a:srgbClr val="1F2937"/>
                          </a:solidFill>
                          <a:effectLst/>
                          <a:uFillTx/>
                          <a:latin typeface="BIZ UDPゴシック"/>
                          <a:ea typeface="BIZ UDPゴシック"/>
                        </a:rPr>
                        <a:t>SaaS</a:t>
                      </a:r>
                      <a:r>
                        <a:rPr lang="ja-JP" sz="1400" b="0" u="none" strike="noStrike">
                          <a:solidFill>
                            <a:srgbClr val="1F2937"/>
                          </a:solidFill>
                          <a:effectLst/>
                          <a:uFillTx/>
                          <a:latin typeface="BIZ UDPゴシック"/>
                          <a:ea typeface="BIZ UDPゴシック"/>
                        </a:rPr>
                        <a:t>の標準機能で主要要件を満たす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不足機能は追加開発の要否を変更管理委員会で判断する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基幹システムのインタフェース仕様が提供される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提供遅延時は連携開発の日程を見直す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経理部と利用部門が現状分析から受入まで参画する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参画が得られない場合は日程を再調整する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3</a:t>
                      </a:r>
                      <a:r>
                        <a:rPr lang="ja-JP" sz="1400" b="0" u="none" strike="noStrike">
                          <a:solidFill>
                            <a:srgbClr val="1F2937"/>
                          </a:solidFill>
                          <a:effectLst/>
                          <a:uFillTx/>
                          <a:latin typeface="BIZ UDPゴシック"/>
                          <a:ea typeface="BIZ UDPゴシック"/>
                        </a:rPr>
                        <a:t>月決算および</a:t>
                      </a:r>
                      <a:r>
                        <a:rPr lang="en-US" sz="1400" b="0" u="none" strike="noStrike">
                          <a:solidFill>
                            <a:srgbClr val="1F2937"/>
                          </a:solidFill>
                          <a:effectLst/>
                          <a:uFillTx/>
                          <a:latin typeface="BIZ UDPゴシック"/>
                          <a:ea typeface="BIZ UDPゴシック"/>
                        </a:rPr>
                        <a:t>4</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5</a:t>
                      </a:r>
                      <a:r>
                        <a:rPr lang="ja-JP" sz="1400" b="0" u="none" strike="noStrike">
                          <a:solidFill>
                            <a:srgbClr val="1F2937"/>
                          </a:solidFill>
                          <a:effectLst/>
                          <a:uFillTx/>
                          <a:latin typeface="BIZ UDPゴシック"/>
                          <a:ea typeface="BIZ UDPゴシック"/>
                        </a:rPr>
                        <a:t>月の決算繁忙期は経理部の負荷を下げて進める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繁忙期の作業を減らし、日程に織り込む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2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92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926"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27"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28"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29"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30"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3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3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3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93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1.14 </a:t>
            </a:r>
            <a:r>
              <a:rPr lang="ja-JP" sz="2400" b="1" u="none" strike="noStrike">
                <a:solidFill>
                  <a:srgbClr val="16213E"/>
                </a:solidFill>
                <a:effectLst/>
                <a:uFillTx/>
                <a:latin typeface="BIZ UDPゴシック"/>
                <a:ea typeface="BIZ UDPゴシック"/>
              </a:rPr>
              <a:t>前提条件・制約条件 ─ 制約条件</a:t>
            </a:r>
            <a:endParaRPr lang="en-US" sz="2400" b="0" u="none" strike="noStrike">
              <a:solidFill>
                <a:srgbClr val="000000"/>
              </a:solidFill>
              <a:effectLst/>
              <a:uFillTx/>
              <a:latin typeface="Arial"/>
            </a:endParaRPr>
          </a:p>
        </p:txBody>
      </p:sp>
      <p:sp>
        <p:nvSpPr>
          <p:cNvPr id="93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936" name="hdr-hair"/>
          <p:cNvCxnSpPr/>
          <p:nvPr/>
        </p:nvCxnSpPr>
        <p:spPr>
          <a:xfrm>
            <a:off x="502920" y="969120"/>
            <a:ext cx="11186280" cy="720"/>
          </a:xfrm>
          <a:prstGeom prst="straightConnector1">
            <a:avLst/>
          </a:prstGeom>
          <a:ln w="9525">
            <a:solidFill>
              <a:srgbClr val="D5DBE5"/>
            </a:solidFill>
            <a:round/>
          </a:ln>
        </p:spPr>
      </p:cxnSp>
      <p:cxnSp>
        <p:nvCxnSpPr>
          <p:cNvPr id="937" name="ftr-hair"/>
          <p:cNvCxnSpPr/>
          <p:nvPr/>
        </p:nvCxnSpPr>
        <p:spPr>
          <a:xfrm>
            <a:off x="502920" y="6382440"/>
            <a:ext cx="11186280" cy="720"/>
          </a:xfrm>
          <a:prstGeom prst="straightConnector1">
            <a:avLst/>
          </a:prstGeom>
          <a:ln w="9525">
            <a:solidFill>
              <a:srgbClr val="D5DBE5"/>
            </a:solidFill>
            <a:round/>
          </a:ln>
        </p:spPr>
      </p:cxnSp>
      <p:sp>
        <p:nvSpPr>
          <p:cNvPr id="93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25 / 85</a:t>
            </a:r>
            <a:endParaRPr lang="en-US" sz="1100" b="0" u="none" strike="noStrike">
              <a:solidFill>
                <a:srgbClr val="000000"/>
              </a:solidFill>
              <a:effectLst/>
              <a:uFillTx/>
              <a:latin typeface="Arial"/>
            </a:endParaRPr>
          </a:p>
        </p:txBody>
      </p:sp>
      <p:sp>
        <p:nvSpPr>
          <p:cNvPr id="93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94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94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94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予算・期限・法規の制約を明示し、遵守の方法を示す</a:t>
            </a:r>
            <a:endParaRPr lang="en-US" sz="1500" b="0" u="none" strike="noStrike">
              <a:solidFill>
                <a:srgbClr val="000000"/>
              </a:solidFill>
              <a:effectLst/>
              <a:uFillTx/>
              <a:latin typeface="Arial"/>
            </a:endParaRPr>
          </a:p>
        </p:txBody>
      </p:sp>
      <p:graphicFrame>
        <p:nvGraphicFramePr>
          <p:cNvPr id="945" name="blk-table"/>
          <p:cNvGraphicFramePr/>
          <p:nvPr/>
        </p:nvGraphicFramePr>
        <p:xfrm>
          <a:off x="502920" y="1627560"/>
          <a:ext cx="11185200" cy="2314800"/>
        </p:xfrm>
        <a:graphic>
          <a:graphicData uri="http://schemas.openxmlformats.org/drawingml/2006/table">
            <a:tbl>
              <a:tblPr/>
              <a:tblGrid>
                <a:gridCol w="6487560"/>
                <a:gridCol w="4698000"/>
              </a:tblGrid>
              <a:tr h="262080">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制約条件</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遵守の方法</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426600">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予算上限は</a:t>
                      </a:r>
                      <a:r>
                        <a:rPr lang="en-US" sz="1200" b="0" u="none" strike="noStrike">
                          <a:solidFill>
                            <a:srgbClr val="1F2937"/>
                          </a:solidFill>
                          <a:effectLst/>
                          <a:uFillTx/>
                          <a:latin typeface="BIZ UDPゴシック"/>
                          <a:ea typeface="BIZ UDPゴシック"/>
                        </a:rPr>
                        <a:t>8,000</a:t>
                      </a:r>
                      <a:r>
                        <a:rPr lang="ja-JP" sz="1200" b="0" u="none" strike="noStrike">
                          <a:solidFill>
                            <a:srgbClr val="1F2937"/>
                          </a:solidFill>
                          <a:effectLst/>
                          <a:uFillTx/>
                          <a:latin typeface="BIZ UDPゴシック"/>
                          <a:ea typeface="BIZ UDPゴシック"/>
                        </a:rPr>
                        <a:t>万円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税抜</a:t>
                      </a:r>
                      <a:r>
                        <a:rPr lang="en-US" sz="1200" b="0" u="none" strike="noStrike">
                          <a:solidFill>
                            <a:srgbClr val="1F2937"/>
                          </a:solidFill>
                          <a:effectLst/>
                          <a:uFillTx/>
                          <a:latin typeface="BIZ UDPゴシック"/>
                          <a:ea typeface="BIZ UDPゴシック"/>
                        </a:rPr>
                        <a:t>)</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費目別に執行管理し、超過時はプロジェクトオーナーの承認を要する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全社本番稼働は</a:t>
                      </a:r>
                      <a:r>
                        <a:rPr lang="en-US" sz="1200" b="0" u="none" strike="noStrike">
                          <a:solidFill>
                            <a:srgbClr val="1F2937"/>
                          </a:solidFill>
                          <a:effectLst/>
                          <a:uFillTx/>
                          <a:latin typeface="BIZ UDPゴシック"/>
                          <a:ea typeface="BIZ UDPゴシック"/>
                        </a:rPr>
                        <a:t>2027/10/01</a:t>
                      </a:r>
                      <a:r>
                        <a:rPr lang="ja-JP" sz="1200" b="0" u="none" strike="noStrike">
                          <a:solidFill>
                            <a:srgbClr val="1F2937"/>
                          </a:solidFill>
                          <a:effectLst/>
                          <a:uFillTx/>
                          <a:latin typeface="BIZ UDPゴシック"/>
                          <a:ea typeface="BIZ UDPゴシック"/>
                        </a:rPr>
                        <a:t>に開始する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マイルストーンで進捗を判定し、遅延時は暫定運用を検討する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426600">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個人情報保護法と社内規程に準拠する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アクセス権限と操作ログで統制し、準拠できない場合は設計を変更する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対象者は全社約</a:t>
                      </a:r>
                      <a:r>
                        <a:rPr lang="en-US" sz="1200" b="0" u="none" strike="noStrike">
                          <a:solidFill>
                            <a:srgbClr val="1F2937"/>
                          </a:solidFill>
                          <a:effectLst/>
                          <a:uFillTx/>
                          <a:latin typeface="BIZ UDPゴシック"/>
                          <a:ea typeface="BIZ UDPゴシック"/>
                        </a:rPr>
                        <a:t>1,200</a:t>
                      </a:r>
                      <a:r>
                        <a:rPr lang="ja-JP" sz="1200" b="0" u="none" strike="noStrike">
                          <a:solidFill>
                            <a:srgbClr val="1F2937"/>
                          </a:solidFill>
                          <a:effectLst/>
                          <a:uFillTx/>
                          <a:latin typeface="BIZ UDPゴシック"/>
                          <a:ea typeface="BIZ UDPゴシック"/>
                        </a:rPr>
                        <a:t>名</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研修計画を人数と拠点に合わせて編成する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SaaS</a:t>
                      </a:r>
                      <a:r>
                        <a:rPr lang="ja-JP" sz="1200" b="0" u="none" strike="noStrike">
                          <a:solidFill>
                            <a:srgbClr val="1F2937"/>
                          </a:solidFill>
                          <a:effectLst/>
                          <a:uFillTx/>
                          <a:latin typeface="BIZ UDPゴシック"/>
                          <a:ea typeface="BIZ UDPゴシック"/>
                        </a:rPr>
                        <a:t>利用料は発注者が別途契約する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本提案の費用範囲に含めず、契約状況を前提として確認する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4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94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950"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1"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2"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3"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4"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5"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5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95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1.15 </a:t>
            </a:r>
            <a:r>
              <a:rPr lang="ja-JP" sz="2400" b="1" u="none" strike="noStrike">
                <a:solidFill>
                  <a:srgbClr val="16213E"/>
                </a:solidFill>
                <a:effectLst/>
                <a:uFillTx/>
                <a:latin typeface="BIZ UDPゴシック"/>
                <a:ea typeface="BIZ UDPゴシック"/>
              </a:rPr>
              <a:t>要求・要件の定義方針</a:t>
            </a:r>
            <a:endParaRPr lang="en-US" sz="2400" b="0" u="none" strike="noStrike">
              <a:solidFill>
                <a:srgbClr val="000000"/>
              </a:solidFill>
              <a:effectLst/>
              <a:uFillTx/>
              <a:latin typeface="Arial"/>
            </a:endParaRPr>
          </a:p>
        </p:txBody>
      </p:sp>
      <p:sp>
        <p:nvSpPr>
          <p:cNvPr id="95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960" name="hdr-hair"/>
          <p:cNvCxnSpPr/>
          <p:nvPr/>
        </p:nvCxnSpPr>
        <p:spPr>
          <a:xfrm>
            <a:off x="502920" y="969120"/>
            <a:ext cx="11186280" cy="720"/>
          </a:xfrm>
          <a:prstGeom prst="straightConnector1">
            <a:avLst/>
          </a:prstGeom>
          <a:ln w="9525">
            <a:solidFill>
              <a:srgbClr val="D5DBE5"/>
            </a:solidFill>
            <a:round/>
          </a:ln>
        </p:spPr>
      </p:cxnSp>
      <p:cxnSp>
        <p:nvCxnSpPr>
          <p:cNvPr id="961" name="ftr-hair"/>
          <p:cNvCxnSpPr/>
          <p:nvPr/>
        </p:nvCxnSpPr>
        <p:spPr>
          <a:xfrm>
            <a:off x="502920" y="6382440"/>
            <a:ext cx="11186280" cy="720"/>
          </a:xfrm>
          <a:prstGeom prst="straightConnector1">
            <a:avLst/>
          </a:prstGeom>
          <a:ln w="9525">
            <a:solidFill>
              <a:srgbClr val="D5DBE5"/>
            </a:solidFill>
            <a:round/>
          </a:ln>
        </p:spPr>
      </p:cxnSp>
      <p:sp>
        <p:nvSpPr>
          <p:cNvPr id="96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26 / 85</a:t>
            </a:r>
            <a:endParaRPr lang="en-US" sz="1100" b="0" u="none" strike="noStrike">
              <a:solidFill>
                <a:srgbClr val="000000"/>
              </a:solidFill>
              <a:effectLst/>
              <a:uFillTx/>
              <a:latin typeface="Arial"/>
            </a:endParaRPr>
          </a:p>
        </p:txBody>
      </p:sp>
      <p:sp>
        <p:nvSpPr>
          <p:cNvPr id="96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96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96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96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要求の収集から要件確定までの手順を定め、要件を一意に管理する</a:t>
            </a:r>
            <a:endParaRPr lang="en-US" sz="1500" b="0" u="none" strike="noStrike">
              <a:solidFill>
                <a:srgbClr val="000000"/>
              </a:solidFill>
              <a:effectLst/>
              <a:uFillTx/>
              <a:latin typeface="Arial"/>
            </a:endParaRPr>
          </a:p>
        </p:txBody>
      </p:sp>
      <p:sp>
        <p:nvSpPr>
          <p:cNvPr id="969" name="blk-bullets"/>
          <p:cNvSpPr/>
          <p:nvPr/>
        </p:nvSpPr>
        <p:spPr>
          <a:xfrm>
            <a:off x="502920" y="1627560"/>
            <a:ext cx="11185200" cy="22485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要求は利用部門ヒアリングと現状分析から抽出し、要求</a:t>
            </a:r>
            <a:r>
              <a:rPr lang="en-US" sz="1400" b="0" u="none" strike="noStrike">
                <a:solidFill>
                  <a:srgbClr val="1F2937"/>
                </a:solidFill>
                <a:effectLst/>
                <a:uFillTx/>
                <a:latin typeface="BIZ UDPゴシック"/>
                <a:ea typeface="BIZ UDPゴシック"/>
              </a:rPr>
              <a:t>ID</a:t>
            </a:r>
            <a:r>
              <a:rPr lang="ja-JP" sz="1400" b="0" u="none" strike="noStrike">
                <a:solidFill>
                  <a:srgbClr val="1F2937"/>
                </a:solidFill>
                <a:effectLst/>
                <a:uFillTx/>
                <a:latin typeface="BIZ UDPゴシック"/>
                <a:ea typeface="BIZ UDPゴシック"/>
              </a:rPr>
              <a:t>で管理する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要件は機能・非機能・業務の</a:t>
            </a:r>
            <a:r>
              <a:rPr lang="en-US" sz="1400" b="0" u="none" strike="noStrike">
                <a:solidFill>
                  <a:srgbClr val="1F2937"/>
                </a:solidFill>
                <a:effectLst/>
                <a:uFillTx/>
                <a:latin typeface="BIZ UDPゴシック"/>
                <a:ea typeface="BIZ UDPゴシック"/>
              </a:rPr>
              <a:t>3</a:t>
            </a:r>
            <a:r>
              <a:rPr lang="ja-JP" sz="1400" b="0" u="none" strike="noStrike">
                <a:solidFill>
                  <a:srgbClr val="1F2937"/>
                </a:solidFill>
                <a:effectLst/>
                <a:uFillTx/>
                <a:latin typeface="BIZ UDPゴシック"/>
                <a:ea typeface="BIZ UDPゴシック"/>
              </a:rPr>
              <a:t>分類とし、要件定義書に記載する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標準機能との適合を</a:t>
            </a:r>
            <a:r>
              <a:rPr lang="en-US" sz="1400" b="0" u="none" strike="noStrike">
                <a:solidFill>
                  <a:srgbClr val="1F2937"/>
                </a:solidFill>
                <a:effectLst/>
                <a:uFillTx/>
                <a:latin typeface="BIZ UDPゴシック"/>
                <a:ea typeface="BIZ UDPゴシック"/>
              </a:rPr>
              <a:t>Fit to Standard</a:t>
            </a:r>
            <a:r>
              <a:rPr lang="ja-JP" sz="1400" b="0" u="none" strike="noStrike">
                <a:solidFill>
                  <a:srgbClr val="1F2937"/>
                </a:solidFill>
                <a:effectLst/>
                <a:uFillTx/>
                <a:latin typeface="BIZ UDPゴシック"/>
                <a:ea typeface="BIZ UDPゴシック"/>
              </a:rPr>
              <a:t>で判定し、ギャップの対応方針を決める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ギャップは標準機能の活用・運用回避・追加開発の順に検討し、追加開発を最小化する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確定した要件はベースライン化し、以後の変更は重大・中・軽微の変更区分に応じて承認する</a:t>
            </a:r>
            <a:endParaRPr lang="en-US" sz="1400" b="0" u="none" strike="noStrike">
              <a:solidFill>
                <a:srgbClr val="000000"/>
              </a:solidFill>
              <a:effectLst/>
              <a:uFillTx/>
              <a:latin typeface="Arial"/>
            </a:endParaRPr>
          </a:p>
        </p:txBody>
      </p:sp>
      <p:graphicFrame>
        <p:nvGraphicFramePr>
          <p:cNvPr id="970" name="blk-table"/>
          <p:cNvGraphicFramePr/>
          <p:nvPr/>
        </p:nvGraphicFramePr>
        <p:xfrm>
          <a:off x="502920" y="4005000"/>
          <a:ext cx="11185200" cy="1446120"/>
        </p:xfrm>
        <a:graphic>
          <a:graphicData uri="http://schemas.openxmlformats.org/drawingml/2006/table">
            <a:tbl>
              <a:tblPr/>
              <a:tblGrid>
                <a:gridCol w="2684520"/>
                <a:gridCol w="850104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分類</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内容</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機能要件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業務を実現する機能・画面・帳票の要件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非機能要件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性能・可用性・セキュリティ・運用の要件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業務要件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業務プロセス・内部統制・役割の要件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7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01</a:t>
            </a:r>
            <a:endParaRPr lang="en-US" sz="1500" b="0" u="none" strike="noStrike">
              <a:solidFill>
                <a:srgbClr val="FFFFFF"/>
              </a:solidFill>
              <a:effectLst/>
              <a:uFillTx/>
              <a:latin typeface="Arial"/>
            </a:endParaRPr>
          </a:p>
        </p:txBody>
      </p:sp>
      <p:sp>
        <p:nvSpPr>
          <p:cNvPr id="97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方針</a:t>
            </a:r>
            <a:endParaRPr lang="en-US" sz="1100" b="0" u="none" strike="noStrike">
              <a:solidFill>
                <a:srgbClr val="000000"/>
              </a:solidFill>
              <a:effectLst/>
              <a:uFillTx/>
              <a:latin typeface="Arial"/>
            </a:endParaRPr>
          </a:p>
        </p:txBody>
      </p:sp>
      <p:sp>
        <p:nvSpPr>
          <p:cNvPr id="975" name="hdr-bar"/>
          <p:cNvSpPr/>
          <p:nvPr/>
        </p:nvSpPr>
        <p:spPr>
          <a:xfrm>
            <a:off x="100062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76" name="hdr-bar"/>
          <p:cNvSpPr/>
          <p:nvPr/>
        </p:nvSpPr>
        <p:spPr>
          <a:xfrm>
            <a:off x="1025316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77"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7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7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8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8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98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98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1.16 </a:t>
            </a:r>
            <a:r>
              <a:rPr lang="ja-JP" sz="2400" b="1" u="none" strike="noStrike">
                <a:solidFill>
                  <a:srgbClr val="16213E"/>
                </a:solidFill>
                <a:effectLst/>
                <a:uFillTx/>
                <a:latin typeface="BIZ UDPゴシック"/>
                <a:ea typeface="BIZ UDPゴシック"/>
              </a:rPr>
              <a:t>要求の優先順位付け</a:t>
            </a:r>
            <a:endParaRPr lang="en-US" sz="2400" b="0" u="none" strike="noStrike">
              <a:solidFill>
                <a:srgbClr val="000000"/>
              </a:solidFill>
              <a:effectLst/>
              <a:uFillTx/>
              <a:latin typeface="Arial"/>
            </a:endParaRPr>
          </a:p>
        </p:txBody>
      </p:sp>
      <p:sp>
        <p:nvSpPr>
          <p:cNvPr id="98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985" name="hdr-hair"/>
          <p:cNvCxnSpPr/>
          <p:nvPr/>
        </p:nvCxnSpPr>
        <p:spPr>
          <a:xfrm>
            <a:off x="502920" y="969120"/>
            <a:ext cx="11186280" cy="720"/>
          </a:xfrm>
          <a:prstGeom prst="straightConnector1">
            <a:avLst/>
          </a:prstGeom>
          <a:ln w="9525">
            <a:solidFill>
              <a:srgbClr val="D5DBE5"/>
            </a:solidFill>
            <a:round/>
          </a:ln>
        </p:spPr>
      </p:cxnSp>
      <p:cxnSp>
        <p:nvCxnSpPr>
          <p:cNvPr id="986" name="ftr-hair"/>
          <p:cNvCxnSpPr/>
          <p:nvPr/>
        </p:nvCxnSpPr>
        <p:spPr>
          <a:xfrm>
            <a:off x="502920" y="6382440"/>
            <a:ext cx="11186280" cy="720"/>
          </a:xfrm>
          <a:prstGeom prst="straightConnector1">
            <a:avLst/>
          </a:prstGeom>
          <a:ln w="9525">
            <a:solidFill>
              <a:srgbClr val="D5DBE5"/>
            </a:solidFill>
            <a:round/>
          </a:ln>
        </p:spPr>
      </p:cxnSp>
      <p:sp>
        <p:nvSpPr>
          <p:cNvPr id="98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27 / 85</a:t>
            </a:r>
            <a:endParaRPr lang="en-US" sz="1100" b="0" u="none" strike="noStrike">
              <a:solidFill>
                <a:srgbClr val="000000"/>
              </a:solidFill>
              <a:effectLst/>
              <a:uFillTx/>
              <a:latin typeface="Arial"/>
            </a:endParaRPr>
          </a:p>
        </p:txBody>
      </p:sp>
      <p:sp>
        <p:nvSpPr>
          <p:cNvPr id="98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98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99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99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要求を</a:t>
            </a:r>
            <a:r>
              <a:rPr lang="en-US" sz="1500" b="1" u="none" strike="noStrike">
                <a:solidFill>
                  <a:srgbClr val="16213E"/>
                </a:solidFill>
                <a:effectLst/>
                <a:uFillTx/>
                <a:latin typeface="BIZ UDPゴシック"/>
                <a:ea typeface="BIZ UDPゴシック"/>
              </a:rPr>
              <a:t>MoSCoW</a:t>
            </a:r>
            <a:r>
              <a:rPr lang="ja-JP" sz="1500" b="1" u="none" strike="noStrike">
                <a:solidFill>
                  <a:srgbClr val="16213E"/>
                </a:solidFill>
                <a:effectLst/>
                <a:uFillTx/>
                <a:latin typeface="BIZ UDPゴシック"/>
                <a:ea typeface="BIZ UDPゴシック"/>
              </a:rPr>
              <a:t>で分類し、限られた期間で優先的に実現する範囲を決める</a:t>
            </a:r>
            <a:endParaRPr lang="en-US" sz="1500" b="0" u="none" strike="noStrike">
              <a:solidFill>
                <a:srgbClr val="000000"/>
              </a:solidFill>
              <a:effectLst/>
              <a:uFillTx/>
              <a:latin typeface="Arial"/>
            </a:endParaRPr>
          </a:p>
        </p:txBody>
      </p:sp>
      <p:graphicFrame>
        <p:nvGraphicFramePr>
          <p:cNvPr id="994" name="blk-table"/>
          <p:cNvGraphicFramePr/>
          <p:nvPr/>
        </p:nvGraphicFramePr>
        <p:xfrm>
          <a:off x="502920" y="1627560"/>
          <a:ext cx="11184840" cy="1888200"/>
        </p:xfrm>
        <a:graphic>
          <a:graphicData uri="http://schemas.openxmlformats.org/drawingml/2006/table">
            <a:tbl>
              <a:tblPr/>
              <a:tblGrid>
                <a:gridCol w="1789560"/>
                <a:gridCol w="5592600"/>
                <a:gridCol w="3803040"/>
              </a:tblGrid>
              <a:tr h="262080">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区分</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定義</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扱い</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Must</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法令対応・経費精算の中核業務に必須の要求</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本番稼働までに必ず実現する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42660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Should</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効果が大きく、可能な限り実現したい要求</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本番稼働までに実現を目指し、間に合わない場合は次期対応とする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Could</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あると便利だが、なくても業務が成立する要求</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期間と費用に余裕がある場合に実現する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Won't</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今回の対象外とする要求</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対象外とし、必要に応じて次期検討とする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995" name="blk-callout"/>
          <p:cNvSpPr/>
          <p:nvPr/>
        </p:nvSpPr>
        <p:spPr>
          <a:xfrm>
            <a:off x="502920" y="5358240"/>
            <a:ext cx="11185200" cy="89532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優先順位の判断は変更管理委員会 </a:t>
            </a:r>
            <a:r>
              <a:rPr lang="en-US" sz="1200" b="0" u="none" strike="noStrike">
                <a:solidFill>
                  <a:srgbClr val="1F2937"/>
                </a:solidFill>
                <a:effectLst/>
                <a:uFillTx/>
                <a:latin typeface="BIZ UDPゴシック"/>
                <a:ea typeface="BIZ UDPゴシック"/>
              </a:rPr>
              <a:t>(CCB) </a:t>
            </a:r>
            <a:r>
              <a:rPr lang="ja-JP" sz="1200" b="0" u="none" strike="noStrike">
                <a:solidFill>
                  <a:srgbClr val="1F2937"/>
                </a:solidFill>
                <a:effectLst/>
                <a:uFillTx/>
                <a:latin typeface="BIZ UDPゴシック"/>
                <a:ea typeface="BIZ UDPゴシック"/>
              </a:rPr>
              <a:t>が行い、要件変更は重大から軽微の順に次で承認する。重大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工数</a:t>
            </a:r>
            <a:r>
              <a:rPr lang="en-US" sz="1200" b="0" u="none" strike="noStrike">
                <a:solidFill>
                  <a:srgbClr val="1F2937"/>
                </a:solidFill>
                <a:effectLst/>
                <a:uFillTx/>
                <a:latin typeface="BIZ UDPゴシック"/>
                <a:ea typeface="BIZ UDPゴシック"/>
              </a:rPr>
              <a:t>80h</a:t>
            </a:r>
            <a:r>
              <a:rPr lang="ja-JP" sz="1200" b="0" u="none" strike="noStrike">
                <a:solidFill>
                  <a:srgbClr val="1F2937"/>
                </a:solidFill>
                <a:effectLst/>
                <a:uFillTx/>
                <a:latin typeface="BIZ UDPゴシック"/>
                <a:ea typeface="BIZ UDPゴシック"/>
              </a:rPr>
              <a:t>超または費用</a:t>
            </a:r>
            <a:r>
              <a:rPr lang="en-US" sz="1200" b="0" u="none" strike="noStrike">
                <a:solidFill>
                  <a:srgbClr val="1F2937"/>
                </a:solidFill>
                <a:effectLst/>
                <a:uFillTx/>
                <a:latin typeface="BIZ UDPゴシック"/>
                <a:ea typeface="BIZ UDPゴシック"/>
              </a:rPr>
              <a:t>300</a:t>
            </a:r>
            <a:r>
              <a:rPr lang="ja-JP" sz="1200" b="0" u="none" strike="noStrike">
                <a:solidFill>
                  <a:srgbClr val="1F2937"/>
                </a:solidFill>
                <a:effectLst/>
                <a:uFillTx/>
                <a:latin typeface="BIZ UDPゴシック"/>
                <a:ea typeface="BIZ UDPゴシック"/>
              </a:rPr>
              <a:t>万円超またはマイルストーン影響あり</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はステアリングコミッティ、中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重大に該当せず工数</a:t>
            </a:r>
            <a:r>
              <a:rPr lang="en-US" sz="1200" b="0" u="none" strike="noStrike">
                <a:solidFill>
                  <a:srgbClr val="1F2937"/>
                </a:solidFill>
                <a:effectLst/>
                <a:uFillTx/>
                <a:latin typeface="BIZ UDPゴシック"/>
                <a:ea typeface="BIZ UDPゴシック"/>
              </a:rPr>
              <a:t>8h</a:t>
            </a:r>
            <a:r>
              <a:rPr lang="ja-JP" sz="1200" b="0" u="none" strike="noStrike">
                <a:solidFill>
                  <a:srgbClr val="1F2937"/>
                </a:solidFill>
                <a:effectLst/>
                <a:uFillTx/>
                <a:latin typeface="BIZ UDPゴシック"/>
                <a:ea typeface="BIZ UDPゴシック"/>
              </a:rPr>
              <a:t>超または費用影響あり</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は</a:t>
            </a:r>
            <a:r>
              <a:rPr lang="en-US" sz="1200" b="0" u="none" strike="noStrike">
                <a:solidFill>
                  <a:srgbClr val="1F2937"/>
                </a:solidFill>
                <a:effectLst/>
                <a:uFillTx/>
                <a:latin typeface="BIZ UDPゴシック"/>
                <a:ea typeface="BIZ UDPゴシック"/>
              </a:rPr>
              <a:t>CCB</a:t>
            </a:r>
            <a:r>
              <a:rPr lang="ja-JP" sz="1200" b="0" u="none" strike="noStrike">
                <a:solidFill>
                  <a:srgbClr val="1F2937"/>
                </a:solidFill>
                <a:effectLst/>
                <a:uFillTx/>
                <a:latin typeface="BIZ UDPゴシック"/>
                <a:ea typeface="BIZ UDPゴシック"/>
              </a:rPr>
              <a:t>、軽微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工数</a:t>
            </a:r>
            <a:r>
              <a:rPr lang="en-US" sz="1200" b="0" u="none" strike="noStrike">
                <a:solidFill>
                  <a:srgbClr val="1F2937"/>
                </a:solidFill>
                <a:effectLst/>
                <a:uFillTx/>
                <a:latin typeface="BIZ UDPゴシック"/>
                <a:ea typeface="BIZ UDPゴシック"/>
              </a:rPr>
              <a:t>8h</a:t>
            </a:r>
            <a:r>
              <a:rPr lang="ja-JP" sz="1200" b="0" u="none" strike="noStrike">
                <a:solidFill>
                  <a:srgbClr val="1F2937"/>
                </a:solidFill>
                <a:effectLst/>
                <a:uFillTx/>
                <a:latin typeface="BIZ UDPゴシック"/>
                <a:ea typeface="BIZ UDPゴシック"/>
              </a:rPr>
              <a:t>以内かつ費用影響なしかつマイルストーン影響なし</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は貴社</a:t>
            </a:r>
            <a:r>
              <a:rPr lang="en-US" sz="1200" b="0" u="none" strike="noStrike">
                <a:solidFill>
                  <a:srgbClr val="1F2937"/>
                </a:solidFill>
                <a:effectLst/>
                <a:uFillTx/>
                <a:latin typeface="BIZ UDPゴシック"/>
                <a:ea typeface="BIZ UDPゴシック"/>
              </a:rPr>
              <a:t>PM</a:t>
            </a:r>
            <a:r>
              <a:rPr lang="ja-JP" sz="1200" b="0" u="none" strike="noStrike">
                <a:solidFill>
                  <a:srgbClr val="1F2937"/>
                </a:solidFill>
                <a:effectLst/>
                <a:uFillTx/>
                <a:latin typeface="BIZ UDPゴシック"/>
                <a:ea typeface="BIZ UDPゴシック"/>
              </a:rPr>
              <a:t>と当社</a:t>
            </a:r>
            <a:r>
              <a:rPr lang="en-US" sz="1200" b="0" u="none" strike="noStrike">
                <a:solidFill>
                  <a:srgbClr val="1F2937"/>
                </a:solidFill>
                <a:effectLst/>
                <a:uFillTx/>
                <a:latin typeface="BIZ UDPゴシック"/>
                <a:ea typeface="BIZ UDPゴシック"/>
              </a:rPr>
              <a:t>PM</a:t>
            </a:r>
            <a:r>
              <a:rPr lang="ja-JP" sz="1200" b="0" u="none" strike="noStrike">
                <a:solidFill>
                  <a:srgbClr val="1F2937"/>
                </a:solidFill>
                <a:effectLst/>
                <a:uFillTx/>
                <a:latin typeface="BIZ UDPゴシック"/>
                <a:ea typeface="BIZ UDPゴシック"/>
              </a:rPr>
              <a:t>の合意。</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7"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8"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9"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0"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1001"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02</a:t>
            </a:r>
            <a:endParaRPr lang="en-US" sz="9600" b="0" u="none" strike="noStrike">
              <a:solidFill>
                <a:srgbClr val="000000"/>
              </a:solidFill>
              <a:effectLst/>
              <a:uFillTx/>
              <a:latin typeface="Arial"/>
            </a:endParaRPr>
          </a:p>
        </p:txBody>
      </p:sp>
      <p:sp>
        <p:nvSpPr>
          <p:cNvPr id="1002"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スケジュール</a:t>
            </a:r>
            <a:endParaRPr lang="en-US" sz="4000" b="0" u="none" strike="noStrike">
              <a:solidFill>
                <a:srgbClr val="000000"/>
              </a:solidFill>
              <a:effectLst/>
              <a:uFillTx/>
              <a:latin typeface="Arial"/>
            </a:endParaRPr>
          </a:p>
        </p:txBody>
      </p:sp>
      <p:sp>
        <p:nvSpPr>
          <p:cNvPr id="1003" name="dv-dot-2.1"/>
          <p:cNvSpPr/>
          <p:nvPr/>
        </p:nvSpPr>
        <p:spPr>
          <a:xfrm>
            <a:off x="896040" y="411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04" name="dv-sec-2.1"/>
          <p:cNvSpPr/>
          <p:nvPr/>
        </p:nvSpPr>
        <p:spPr>
          <a:xfrm>
            <a:off x="1097280" y="404172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2.1  </a:t>
            </a:r>
            <a:r>
              <a:rPr lang="ja-JP" sz="1300" b="0" u="none" strike="noStrike">
                <a:solidFill>
                  <a:srgbClr val="D2E1FC"/>
                </a:solidFill>
                <a:effectLst/>
                <a:uFillTx/>
                <a:latin typeface="BIZ UDPゴシック"/>
                <a:ea typeface="BIZ UDPゴシック"/>
              </a:rPr>
              <a:t>全体スケジュール</a:t>
            </a:r>
            <a:endParaRPr lang="en-US" sz="1300" b="0" u="none" strike="noStrike">
              <a:solidFill>
                <a:srgbClr val="000000"/>
              </a:solidFill>
              <a:effectLst/>
              <a:uFillTx/>
              <a:latin typeface="Arial"/>
            </a:endParaRPr>
          </a:p>
        </p:txBody>
      </p:sp>
      <p:sp>
        <p:nvSpPr>
          <p:cNvPr id="1005" name="dv-dot-2.2"/>
          <p:cNvSpPr/>
          <p:nvPr/>
        </p:nvSpPr>
        <p:spPr>
          <a:xfrm>
            <a:off x="896040" y="43347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06" name="dv-sec-2.2"/>
          <p:cNvSpPr/>
          <p:nvPr/>
        </p:nvSpPr>
        <p:spPr>
          <a:xfrm>
            <a:off x="1097280" y="426456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2.2  </a:t>
            </a:r>
            <a:r>
              <a:rPr lang="ja-JP" sz="1300" b="0" u="none" strike="noStrike">
                <a:solidFill>
                  <a:srgbClr val="D2E1FC"/>
                </a:solidFill>
                <a:effectLst/>
                <a:uFillTx/>
                <a:latin typeface="BIZ UDPゴシック"/>
                <a:ea typeface="BIZ UDPゴシック"/>
              </a:rPr>
              <a:t>マイルストーンと完了基準</a:t>
            </a:r>
            <a:endParaRPr lang="en-US" sz="1300" b="0" u="none" strike="noStrike">
              <a:solidFill>
                <a:srgbClr val="000000"/>
              </a:solidFill>
              <a:effectLst/>
              <a:uFillTx/>
              <a:latin typeface="Arial"/>
            </a:endParaRPr>
          </a:p>
        </p:txBody>
      </p:sp>
      <p:sp>
        <p:nvSpPr>
          <p:cNvPr id="1007" name="dv-dot-2.3"/>
          <p:cNvSpPr/>
          <p:nvPr/>
        </p:nvSpPr>
        <p:spPr>
          <a:xfrm>
            <a:off x="896040" y="45576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08" name="dv-sec-2.3"/>
          <p:cNvSpPr/>
          <p:nvPr/>
        </p:nvSpPr>
        <p:spPr>
          <a:xfrm>
            <a:off x="1097280" y="448740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2.3  </a:t>
            </a:r>
            <a:r>
              <a:rPr lang="ja-JP" sz="1300" b="0" u="none" strike="noStrike">
                <a:solidFill>
                  <a:srgbClr val="D2E1FC"/>
                </a:solidFill>
                <a:effectLst/>
                <a:uFillTx/>
                <a:latin typeface="BIZ UDPゴシック"/>
                <a:ea typeface="BIZ UDPゴシック"/>
              </a:rPr>
              <a:t>検証・テスト計画</a:t>
            </a:r>
            <a:endParaRPr lang="en-US" sz="1300" b="0" u="none" strike="noStrike">
              <a:solidFill>
                <a:srgbClr val="000000"/>
              </a:solidFill>
              <a:effectLst/>
              <a:uFillTx/>
              <a:latin typeface="Arial"/>
            </a:endParaRPr>
          </a:p>
        </p:txBody>
      </p:sp>
      <p:sp>
        <p:nvSpPr>
          <p:cNvPr id="1009" name="dv-dot-2.4"/>
          <p:cNvSpPr/>
          <p:nvPr/>
        </p:nvSpPr>
        <p:spPr>
          <a:xfrm>
            <a:off x="896040" y="478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10" name="dv-sec-2.4"/>
          <p:cNvSpPr/>
          <p:nvPr/>
        </p:nvSpPr>
        <p:spPr>
          <a:xfrm>
            <a:off x="1097280" y="471024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2.4  </a:t>
            </a:r>
            <a:r>
              <a:rPr lang="ja-JP" sz="1300" b="0" u="none" strike="noStrike">
                <a:solidFill>
                  <a:srgbClr val="D2E1FC"/>
                </a:solidFill>
                <a:effectLst/>
                <a:uFillTx/>
                <a:latin typeface="BIZ UDPゴシック"/>
                <a:ea typeface="BIZ UDPゴシック"/>
              </a:rPr>
              <a:t>フェーズ別スケジュール</a:t>
            </a:r>
            <a:endParaRPr lang="en-US" sz="1300" b="0" u="none" strike="noStrike">
              <a:solidFill>
                <a:srgbClr val="000000"/>
              </a:solidFill>
              <a:effectLst/>
              <a:uFillTx/>
              <a:latin typeface="Arial"/>
            </a:endParaRPr>
          </a:p>
        </p:txBody>
      </p:sp>
      <p:sp>
        <p:nvSpPr>
          <p:cNvPr id="1011" name="dv-dot-2.5"/>
          <p:cNvSpPr/>
          <p:nvPr/>
        </p:nvSpPr>
        <p:spPr>
          <a:xfrm>
            <a:off x="896040" y="50036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12" name="dv-sec-2.5"/>
          <p:cNvSpPr/>
          <p:nvPr/>
        </p:nvSpPr>
        <p:spPr>
          <a:xfrm>
            <a:off x="1097280" y="493308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2.5  </a:t>
            </a:r>
            <a:r>
              <a:rPr lang="ja-JP" sz="1300" b="0" u="none" strike="noStrike">
                <a:solidFill>
                  <a:srgbClr val="D2E1FC"/>
                </a:solidFill>
                <a:effectLst/>
                <a:uFillTx/>
                <a:latin typeface="BIZ UDPゴシック"/>
                <a:ea typeface="BIZ UDPゴシック"/>
              </a:rPr>
              <a:t>移行・切替計画</a:t>
            </a:r>
            <a:endParaRPr lang="en-US" sz="1300" b="0" u="none" strike="noStrike">
              <a:solidFill>
                <a:srgbClr val="000000"/>
              </a:solidFill>
              <a:effectLst/>
              <a:uFillTx/>
              <a:latin typeface="Arial"/>
            </a:endParaRPr>
          </a:p>
        </p:txBody>
      </p:sp>
      <p:sp>
        <p:nvSpPr>
          <p:cNvPr id="1013" name="dv-dot-2.6"/>
          <p:cNvSpPr/>
          <p:nvPr/>
        </p:nvSpPr>
        <p:spPr>
          <a:xfrm>
            <a:off x="896040" y="522648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014" name="dv-sec-2.6"/>
          <p:cNvSpPr/>
          <p:nvPr/>
        </p:nvSpPr>
        <p:spPr>
          <a:xfrm>
            <a:off x="1097280" y="515592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2.6  </a:t>
            </a:r>
            <a:r>
              <a:rPr lang="ja-JP" sz="1300" b="0" u="none" strike="noStrike">
                <a:solidFill>
                  <a:srgbClr val="D2E1FC"/>
                </a:solidFill>
                <a:effectLst/>
                <a:uFillTx/>
                <a:latin typeface="BIZ UDPゴシック"/>
                <a:ea typeface="BIZ UDPゴシック"/>
              </a:rPr>
              <a:t>研修・定着化計画</a:t>
            </a:r>
            <a:endParaRPr lang="en-US" sz="1300" b="0" u="none" strike="noStrike">
              <a:solidFill>
                <a:srgbClr val="000000"/>
              </a:solidFill>
              <a:effectLst/>
              <a:uFillTx/>
              <a:latin typeface="Arial"/>
            </a:endParaRPr>
          </a:p>
        </p:txBody>
      </p:sp>
      <p:sp>
        <p:nvSpPr>
          <p:cNvPr id="1015"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28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1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01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020"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1"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2"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3"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4"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5"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02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02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2.1 </a:t>
            </a:r>
            <a:r>
              <a:rPr lang="ja-JP" sz="2400" b="1" u="none" strike="noStrike">
                <a:solidFill>
                  <a:srgbClr val="16213E"/>
                </a:solidFill>
                <a:effectLst/>
                <a:uFillTx/>
                <a:latin typeface="BIZ UDPゴシック"/>
                <a:ea typeface="BIZ UDPゴシック"/>
              </a:rPr>
              <a:t>全体スケジュール </a:t>
            </a:r>
            <a:r>
              <a:rPr lang="en-US" sz="2400" b="1" u="none" strike="noStrike">
                <a:solidFill>
                  <a:srgbClr val="16213E"/>
                </a:solidFill>
                <a:effectLst/>
                <a:uFillTx/>
                <a:latin typeface="BIZ UDPゴシック"/>
                <a:ea typeface="BIZ UDPゴシック"/>
              </a:rPr>
              <a:t>(1/2)</a:t>
            </a:r>
            <a:endParaRPr lang="en-US" sz="2400" b="0" u="none" strike="noStrike">
              <a:solidFill>
                <a:srgbClr val="000000"/>
              </a:solidFill>
              <a:effectLst/>
              <a:uFillTx/>
              <a:latin typeface="Arial"/>
            </a:endParaRPr>
          </a:p>
        </p:txBody>
      </p:sp>
      <p:sp>
        <p:nvSpPr>
          <p:cNvPr id="102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030" name="hdr-hair"/>
          <p:cNvCxnSpPr/>
          <p:nvPr/>
        </p:nvCxnSpPr>
        <p:spPr>
          <a:xfrm>
            <a:off x="502920" y="969120"/>
            <a:ext cx="11186280" cy="720"/>
          </a:xfrm>
          <a:prstGeom prst="straightConnector1">
            <a:avLst/>
          </a:prstGeom>
          <a:ln w="9525">
            <a:solidFill>
              <a:srgbClr val="D5DBE5"/>
            </a:solidFill>
            <a:round/>
          </a:ln>
        </p:spPr>
      </p:cxnSp>
      <p:cxnSp>
        <p:nvCxnSpPr>
          <p:cNvPr id="1031" name="ftr-hair"/>
          <p:cNvCxnSpPr/>
          <p:nvPr/>
        </p:nvCxnSpPr>
        <p:spPr>
          <a:xfrm>
            <a:off x="502920" y="6382440"/>
            <a:ext cx="11186280" cy="720"/>
          </a:xfrm>
          <a:prstGeom prst="straightConnector1">
            <a:avLst/>
          </a:prstGeom>
          <a:ln w="9525">
            <a:solidFill>
              <a:srgbClr val="D5DBE5"/>
            </a:solidFill>
            <a:round/>
          </a:ln>
        </p:spPr>
      </p:cxnSp>
      <p:sp>
        <p:nvSpPr>
          <p:cNvPr id="103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29 / 85</a:t>
            </a:r>
            <a:endParaRPr lang="en-US" sz="1100" b="0" u="none" strike="noStrike">
              <a:solidFill>
                <a:srgbClr val="000000"/>
              </a:solidFill>
              <a:effectLst/>
              <a:uFillTx/>
              <a:latin typeface="Arial"/>
            </a:endParaRPr>
          </a:p>
        </p:txBody>
      </p:sp>
      <p:sp>
        <p:nvSpPr>
          <p:cNvPr id="103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03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03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03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12</a:t>
            </a:r>
            <a:r>
              <a:rPr lang="ja-JP" sz="1500" b="1" u="none" strike="noStrike">
                <a:solidFill>
                  <a:srgbClr val="16213E"/>
                </a:solidFill>
                <a:effectLst/>
                <a:uFillTx/>
                <a:latin typeface="BIZ UDPゴシック"/>
                <a:ea typeface="BIZ UDPゴシック"/>
              </a:rPr>
              <a:t>か月で現状分析から全社稼働・定着化まで完遂する</a:t>
            </a:r>
            <a:endParaRPr lang="en-US" sz="1500" b="0" u="none" strike="noStrike">
              <a:solidFill>
                <a:srgbClr val="000000"/>
              </a:solidFill>
              <a:effectLst/>
              <a:uFillTx/>
              <a:latin typeface="Arial"/>
            </a:endParaRPr>
          </a:p>
        </p:txBody>
      </p:sp>
      <p:sp>
        <p:nvSpPr>
          <p:cNvPr id="1039" name="TextBox 24"/>
          <p:cNvSpPr/>
          <p:nvPr/>
        </p:nvSpPr>
        <p:spPr>
          <a:xfrm>
            <a:off x="2862000" y="2084760"/>
            <a:ext cx="547920" cy="23688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50" b="0" u="none" strike="noStrike">
                <a:solidFill>
                  <a:srgbClr val="6B7280"/>
                </a:solidFill>
                <a:effectLst/>
                <a:uFillTx/>
                <a:latin typeface="BIZ UDPゴシック"/>
                <a:ea typeface="BIZ UDPゴシック"/>
              </a:rPr>
              <a:t>2026/12</a:t>
            </a:r>
            <a:endParaRPr lang="en-US" sz="850" b="0" u="none" strike="noStrike">
              <a:solidFill>
                <a:srgbClr val="000000"/>
              </a:solidFill>
              <a:effectLst/>
              <a:uFillTx/>
              <a:latin typeface="Arial"/>
            </a:endParaRPr>
          </a:p>
        </p:txBody>
      </p:sp>
      <p:cxnSp>
        <p:nvCxnSpPr>
          <p:cNvPr id="1040" name="gt-grid"/>
          <p:cNvCxnSpPr/>
          <p:nvPr/>
        </p:nvCxnSpPr>
        <p:spPr>
          <a:xfrm>
            <a:off x="3613680" y="2084760"/>
            <a:ext cx="1440" cy="720"/>
          </a:xfrm>
          <a:prstGeom prst="straightConnector1">
            <a:avLst/>
          </a:prstGeom>
          <a:ln w="6350">
            <a:solidFill>
              <a:srgbClr val="D5DBE5"/>
            </a:solidFill>
            <a:round/>
          </a:ln>
        </p:spPr>
      </p:cxnSp>
      <p:cxnSp>
        <p:nvCxnSpPr>
          <p:cNvPr id="1041" name="gt-grid"/>
          <p:cNvCxnSpPr/>
          <p:nvPr/>
        </p:nvCxnSpPr>
        <p:spPr>
          <a:xfrm>
            <a:off x="3613680" y="2084760"/>
            <a:ext cx="720" cy="238320"/>
          </a:xfrm>
          <a:prstGeom prst="straightConnector1">
            <a:avLst/>
          </a:prstGeom>
          <a:ln w="6350">
            <a:solidFill>
              <a:srgbClr val="D5DBE5"/>
            </a:solidFill>
            <a:round/>
          </a:ln>
        </p:spPr>
      </p:cxnSp>
      <p:sp>
        <p:nvSpPr>
          <p:cNvPr id="1042" name="TextBox 27"/>
          <p:cNvSpPr/>
          <p:nvPr/>
        </p:nvSpPr>
        <p:spPr>
          <a:xfrm>
            <a:off x="333936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2027/1</a:t>
            </a:r>
            <a:endParaRPr lang="en-US" sz="850" b="0" u="none" strike="noStrike">
              <a:solidFill>
                <a:srgbClr val="000000"/>
              </a:solidFill>
              <a:effectLst/>
              <a:uFillTx/>
              <a:latin typeface="Arial"/>
            </a:endParaRPr>
          </a:p>
        </p:txBody>
      </p:sp>
      <p:cxnSp>
        <p:nvCxnSpPr>
          <p:cNvPr id="1043" name="gt-grid"/>
          <p:cNvCxnSpPr/>
          <p:nvPr/>
        </p:nvCxnSpPr>
        <p:spPr>
          <a:xfrm>
            <a:off x="4365360" y="2084760"/>
            <a:ext cx="1440" cy="720"/>
          </a:xfrm>
          <a:prstGeom prst="straightConnector1">
            <a:avLst/>
          </a:prstGeom>
          <a:ln w="6350">
            <a:solidFill>
              <a:srgbClr val="D5DBE5"/>
            </a:solidFill>
            <a:round/>
          </a:ln>
        </p:spPr>
      </p:cxnSp>
      <p:cxnSp>
        <p:nvCxnSpPr>
          <p:cNvPr id="1044" name="gt-grid"/>
          <p:cNvCxnSpPr/>
          <p:nvPr/>
        </p:nvCxnSpPr>
        <p:spPr>
          <a:xfrm>
            <a:off x="4365360" y="2084760"/>
            <a:ext cx="720" cy="238320"/>
          </a:xfrm>
          <a:prstGeom prst="straightConnector1">
            <a:avLst/>
          </a:prstGeom>
          <a:ln w="6350">
            <a:solidFill>
              <a:srgbClr val="D5DBE5"/>
            </a:solidFill>
            <a:round/>
          </a:ln>
        </p:spPr>
      </p:cxnSp>
      <p:sp>
        <p:nvSpPr>
          <p:cNvPr id="1045" name="TextBox 30"/>
          <p:cNvSpPr/>
          <p:nvPr/>
        </p:nvSpPr>
        <p:spPr>
          <a:xfrm>
            <a:off x="409104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2</a:t>
            </a:r>
            <a:endParaRPr lang="en-US" sz="850" b="0" u="none" strike="noStrike">
              <a:solidFill>
                <a:srgbClr val="000000"/>
              </a:solidFill>
              <a:effectLst/>
              <a:uFillTx/>
              <a:latin typeface="Arial"/>
            </a:endParaRPr>
          </a:p>
        </p:txBody>
      </p:sp>
      <p:cxnSp>
        <p:nvCxnSpPr>
          <p:cNvPr id="1046" name="gt-grid"/>
          <p:cNvCxnSpPr/>
          <p:nvPr/>
        </p:nvCxnSpPr>
        <p:spPr>
          <a:xfrm>
            <a:off x="5044320" y="2084760"/>
            <a:ext cx="1800" cy="720"/>
          </a:xfrm>
          <a:prstGeom prst="straightConnector1">
            <a:avLst/>
          </a:prstGeom>
          <a:ln w="6350">
            <a:solidFill>
              <a:srgbClr val="D5DBE5"/>
            </a:solidFill>
            <a:round/>
          </a:ln>
        </p:spPr>
      </p:cxnSp>
      <p:cxnSp>
        <p:nvCxnSpPr>
          <p:cNvPr id="1047" name="gt-grid"/>
          <p:cNvCxnSpPr/>
          <p:nvPr/>
        </p:nvCxnSpPr>
        <p:spPr>
          <a:xfrm>
            <a:off x="5044320" y="2084760"/>
            <a:ext cx="720" cy="238320"/>
          </a:xfrm>
          <a:prstGeom prst="straightConnector1">
            <a:avLst/>
          </a:prstGeom>
          <a:ln w="6350">
            <a:solidFill>
              <a:srgbClr val="D5DBE5"/>
            </a:solidFill>
            <a:round/>
          </a:ln>
        </p:spPr>
      </p:cxnSp>
      <p:sp>
        <p:nvSpPr>
          <p:cNvPr id="1048" name="TextBox 33"/>
          <p:cNvSpPr/>
          <p:nvPr/>
        </p:nvSpPr>
        <p:spPr>
          <a:xfrm>
            <a:off x="477000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3</a:t>
            </a:r>
            <a:endParaRPr lang="en-US" sz="850" b="0" u="none" strike="noStrike">
              <a:solidFill>
                <a:srgbClr val="000000"/>
              </a:solidFill>
              <a:effectLst/>
              <a:uFillTx/>
              <a:latin typeface="Arial"/>
            </a:endParaRPr>
          </a:p>
        </p:txBody>
      </p:sp>
      <p:cxnSp>
        <p:nvCxnSpPr>
          <p:cNvPr id="1049" name="gt-grid"/>
          <p:cNvCxnSpPr/>
          <p:nvPr/>
        </p:nvCxnSpPr>
        <p:spPr>
          <a:xfrm>
            <a:off x="5796000" y="2084760"/>
            <a:ext cx="1800" cy="720"/>
          </a:xfrm>
          <a:prstGeom prst="straightConnector1">
            <a:avLst/>
          </a:prstGeom>
          <a:ln w="6350">
            <a:solidFill>
              <a:srgbClr val="D5DBE5"/>
            </a:solidFill>
            <a:round/>
          </a:ln>
        </p:spPr>
      </p:cxnSp>
      <p:cxnSp>
        <p:nvCxnSpPr>
          <p:cNvPr id="1050" name="gt-grid"/>
          <p:cNvCxnSpPr/>
          <p:nvPr/>
        </p:nvCxnSpPr>
        <p:spPr>
          <a:xfrm>
            <a:off x="5796000" y="2084760"/>
            <a:ext cx="720" cy="238320"/>
          </a:xfrm>
          <a:prstGeom prst="straightConnector1">
            <a:avLst/>
          </a:prstGeom>
          <a:ln w="6350">
            <a:solidFill>
              <a:srgbClr val="D5DBE5"/>
            </a:solidFill>
            <a:round/>
          </a:ln>
        </p:spPr>
      </p:cxnSp>
      <p:sp>
        <p:nvSpPr>
          <p:cNvPr id="1051" name="TextBox 36"/>
          <p:cNvSpPr/>
          <p:nvPr/>
        </p:nvSpPr>
        <p:spPr>
          <a:xfrm>
            <a:off x="552204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4</a:t>
            </a:r>
            <a:endParaRPr lang="en-US" sz="850" b="0" u="none" strike="noStrike">
              <a:solidFill>
                <a:srgbClr val="000000"/>
              </a:solidFill>
              <a:effectLst/>
              <a:uFillTx/>
              <a:latin typeface="Arial"/>
            </a:endParaRPr>
          </a:p>
        </p:txBody>
      </p:sp>
      <p:cxnSp>
        <p:nvCxnSpPr>
          <p:cNvPr id="1052" name="gt-grid"/>
          <p:cNvCxnSpPr/>
          <p:nvPr/>
        </p:nvCxnSpPr>
        <p:spPr>
          <a:xfrm>
            <a:off x="6523560" y="2084760"/>
            <a:ext cx="1440" cy="720"/>
          </a:xfrm>
          <a:prstGeom prst="straightConnector1">
            <a:avLst/>
          </a:prstGeom>
          <a:ln w="6350">
            <a:solidFill>
              <a:srgbClr val="D5DBE5"/>
            </a:solidFill>
            <a:round/>
          </a:ln>
        </p:spPr>
      </p:cxnSp>
      <p:cxnSp>
        <p:nvCxnSpPr>
          <p:cNvPr id="1053" name="gt-grid"/>
          <p:cNvCxnSpPr/>
          <p:nvPr/>
        </p:nvCxnSpPr>
        <p:spPr>
          <a:xfrm>
            <a:off x="6523560" y="2084760"/>
            <a:ext cx="720" cy="238320"/>
          </a:xfrm>
          <a:prstGeom prst="straightConnector1">
            <a:avLst/>
          </a:prstGeom>
          <a:ln w="6350">
            <a:solidFill>
              <a:srgbClr val="D5DBE5"/>
            </a:solidFill>
            <a:round/>
          </a:ln>
        </p:spPr>
      </p:cxnSp>
      <p:sp>
        <p:nvSpPr>
          <p:cNvPr id="1054" name="TextBox 39"/>
          <p:cNvSpPr/>
          <p:nvPr/>
        </p:nvSpPr>
        <p:spPr>
          <a:xfrm>
            <a:off x="624924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5</a:t>
            </a:r>
            <a:endParaRPr lang="en-US" sz="850" b="0" u="none" strike="noStrike">
              <a:solidFill>
                <a:srgbClr val="000000"/>
              </a:solidFill>
              <a:effectLst/>
              <a:uFillTx/>
              <a:latin typeface="Arial"/>
            </a:endParaRPr>
          </a:p>
        </p:txBody>
      </p:sp>
      <p:cxnSp>
        <p:nvCxnSpPr>
          <p:cNvPr id="1055" name="gt-grid"/>
          <p:cNvCxnSpPr/>
          <p:nvPr/>
        </p:nvCxnSpPr>
        <p:spPr>
          <a:xfrm>
            <a:off x="7275240" y="2084760"/>
            <a:ext cx="1800" cy="720"/>
          </a:xfrm>
          <a:prstGeom prst="straightConnector1">
            <a:avLst/>
          </a:prstGeom>
          <a:ln w="6350">
            <a:solidFill>
              <a:srgbClr val="D5DBE5"/>
            </a:solidFill>
            <a:round/>
          </a:ln>
        </p:spPr>
      </p:cxnSp>
      <p:cxnSp>
        <p:nvCxnSpPr>
          <p:cNvPr id="1056" name="gt-grid"/>
          <p:cNvCxnSpPr/>
          <p:nvPr/>
        </p:nvCxnSpPr>
        <p:spPr>
          <a:xfrm>
            <a:off x="7275240" y="2084760"/>
            <a:ext cx="720" cy="238320"/>
          </a:xfrm>
          <a:prstGeom prst="straightConnector1">
            <a:avLst/>
          </a:prstGeom>
          <a:ln w="6350">
            <a:solidFill>
              <a:srgbClr val="D5DBE5"/>
            </a:solidFill>
            <a:round/>
          </a:ln>
        </p:spPr>
      </p:cxnSp>
      <p:sp>
        <p:nvSpPr>
          <p:cNvPr id="1057" name="TextBox 42"/>
          <p:cNvSpPr/>
          <p:nvPr/>
        </p:nvSpPr>
        <p:spPr>
          <a:xfrm>
            <a:off x="700128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6</a:t>
            </a:r>
            <a:endParaRPr lang="en-US" sz="850" b="0" u="none" strike="noStrike">
              <a:solidFill>
                <a:srgbClr val="000000"/>
              </a:solidFill>
              <a:effectLst/>
              <a:uFillTx/>
              <a:latin typeface="Arial"/>
            </a:endParaRPr>
          </a:p>
        </p:txBody>
      </p:sp>
      <p:cxnSp>
        <p:nvCxnSpPr>
          <p:cNvPr id="1058" name="gt-grid"/>
          <p:cNvCxnSpPr/>
          <p:nvPr/>
        </p:nvCxnSpPr>
        <p:spPr>
          <a:xfrm>
            <a:off x="8002800" y="2084760"/>
            <a:ext cx="1440" cy="720"/>
          </a:xfrm>
          <a:prstGeom prst="straightConnector1">
            <a:avLst/>
          </a:prstGeom>
          <a:ln w="6350">
            <a:solidFill>
              <a:srgbClr val="D5DBE5"/>
            </a:solidFill>
            <a:round/>
          </a:ln>
        </p:spPr>
      </p:cxnSp>
      <p:cxnSp>
        <p:nvCxnSpPr>
          <p:cNvPr id="1059" name="gt-grid"/>
          <p:cNvCxnSpPr/>
          <p:nvPr/>
        </p:nvCxnSpPr>
        <p:spPr>
          <a:xfrm>
            <a:off x="8002800" y="2084760"/>
            <a:ext cx="720" cy="238320"/>
          </a:xfrm>
          <a:prstGeom prst="straightConnector1">
            <a:avLst/>
          </a:prstGeom>
          <a:ln w="6350">
            <a:solidFill>
              <a:srgbClr val="D5DBE5"/>
            </a:solidFill>
            <a:round/>
          </a:ln>
        </p:spPr>
      </p:cxnSp>
      <p:sp>
        <p:nvSpPr>
          <p:cNvPr id="1060" name="TextBox 45"/>
          <p:cNvSpPr/>
          <p:nvPr/>
        </p:nvSpPr>
        <p:spPr>
          <a:xfrm>
            <a:off x="772848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7</a:t>
            </a:r>
            <a:endParaRPr lang="en-US" sz="850" b="0" u="none" strike="noStrike">
              <a:solidFill>
                <a:srgbClr val="000000"/>
              </a:solidFill>
              <a:effectLst/>
              <a:uFillTx/>
              <a:latin typeface="Arial"/>
            </a:endParaRPr>
          </a:p>
        </p:txBody>
      </p:sp>
      <p:cxnSp>
        <p:nvCxnSpPr>
          <p:cNvPr id="1061" name="gt-grid"/>
          <p:cNvCxnSpPr/>
          <p:nvPr/>
        </p:nvCxnSpPr>
        <p:spPr>
          <a:xfrm>
            <a:off x="8754480" y="2084760"/>
            <a:ext cx="1440" cy="720"/>
          </a:xfrm>
          <a:prstGeom prst="straightConnector1">
            <a:avLst/>
          </a:prstGeom>
          <a:ln w="6350">
            <a:solidFill>
              <a:srgbClr val="D5DBE5"/>
            </a:solidFill>
            <a:round/>
          </a:ln>
        </p:spPr>
      </p:cxnSp>
      <p:cxnSp>
        <p:nvCxnSpPr>
          <p:cNvPr id="1062" name="gt-grid"/>
          <p:cNvCxnSpPr/>
          <p:nvPr/>
        </p:nvCxnSpPr>
        <p:spPr>
          <a:xfrm>
            <a:off x="8754480" y="2084760"/>
            <a:ext cx="720" cy="238320"/>
          </a:xfrm>
          <a:prstGeom prst="straightConnector1">
            <a:avLst/>
          </a:prstGeom>
          <a:ln w="6350">
            <a:solidFill>
              <a:srgbClr val="D5DBE5"/>
            </a:solidFill>
            <a:round/>
          </a:ln>
        </p:spPr>
      </p:cxnSp>
      <p:sp>
        <p:nvSpPr>
          <p:cNvPr id="1063" name="TextBox 48"/>
          <p:cNvSpPr/>
          <p:nvPr/>
        </p:nvSpPr>
        <p:spPr>
          <a:xfrm>
            <a:off x="848016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8</a:t>
            </a:r>
            <a:endParaRPr lang="en-US" sz="850" b="0" u="none" strike="noStrike">
              <a:solidFill>
                <a:srgbClr val="000000"/>
              </a:solidFill>
              <a:effectLst/>
              <a:uFillTx/>
              <a:latin typeface="Arial"/>
            </a:endParaRPr>
          </a:p>
        </p:txBody>
      </p:sp>
      <p:cxnSp>
        <p:nvCxnSpPr>
          <p:cNvPr id="1064" name="gt-grid"/>
          <p:cNvCxnSpPr/>
          <p:nvPr/>
        </p:nvCxnSpPr>
        <p:spPr>
          <a:xfrm>
            <a:off x="9506160" y="2084760"/>
            <a:ext cx="1800" cy="720"/>
          </a:xfrm>
          <a:prstGeom prst="straightConnector1">
            <a:avLst/>
          </a:prstGeom>
          <a:ln w="6350">
            <a:solidFill>
              <a:srgbClr val="D5DBE5"/>
            </a:solidFill>
            <a:round/>
          </a:ln>
        </p:spPr>
      </p:cxnSp>
      <p:cxnSp>
        <p:nvCxnSpPr>
          <p:cNvPr id="1065" name="gt-grid"/>
          <p:cNvCxnSpPr/>
          <p:nvPr/>
        </p:nvCxnSpPr>
        <p:spPr>
          <a:xfrm>
            <a:off x="9506160" y="2084760"/>
            <a:ext cx="720" cy="238320"/>
          </a:xfrm>
          <a:prstGeom prst="straightConnector1">
            <a:avLst/>
          </a:prstGeom>
          <a:ln w="6350">
            <a:solidFill>
              <a:srgbClr val="D5DBE5"/>
            </a:solidFill>
            <a:round/>
          </a:ln>
        </p:spPr>
      </p:cxnSp>
      <p:sp>
        <p:nvSpPr>
          <p:cNvPr id="1066" name="TextBox 51"/>
          <p:cNvSpPr/>
          <p:nvPr/>
        </p:nvSpPr>
        <p:spPr>
          <a:xfrm>
            <a:off x="923220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9</a:t>
            </a:r>
            <a:endParaRPr lang="en-US" sz="850" b="0" u="none" strike="noStrike">
              <a:solidFill>
                <a:srgbClr val="000000"/>
              </a:solidFill>
              <a:effectLst/>
              <a:uFillTx/>
              <a:latin typeface="Arial"/>
            </a:endParaRPr>
          </a:p>
        </p:txBody>
      </p:sp>
      <p:cxnSp>
        <p:nvCxnSpPr>
          <p:cNvPr id="1067" name="gt-grid"/>
          <p:cNvCxnSpPr/>
          <p:nvPr/>
        </p:nvCxnSpPr>
        <p:spPr>
          <a:xfrm>
            <a:off x="10233720" y="2084760"/>
            <a:ext cx="1440" cy="720"/>
          </a:xfrm>
          <a:prstGeom prst="straightConnector1">
            <a:avLst/>
          </a:prstGeom>
          <a:ln w="6350">
            <a:solidFill>
              <a:srgbClr val="D5DBE5"/>
            </a:solidFill>
            <a:round/>
          </a:ln>
        </p:spPr>
      </p:cxnSp>
      <p:cxnSp>
        <p:nvCxnSpPr>
          <p:cNvPr id="1068" name="gt-grid"/>
          <p:cNvCxnSpPr/>
          <p:nvPr/>
        </p:nvCxnSpPr>
        <p:spPr>
          <a:xfrm>
            <a:off x="10233720" y="2084760"/>
            <a:ext cx="720" cy="238320"/>
          </a:xfrm>
          <a:prstGeom prst="straightConnector1">
            <a:avLst/>
          </a:prstGeom>
          <a:ln w="6350">
            <a:solidFill>
              <a:srgbClr val="D5DBE5"/>
            </a:solidFill>
            <a:round/>
          </a:ln>
        </p:spPr>
      </p:cxnSp>
      <p:sp>
        <p:nvSpPr>
          <p:cNvPr id="1069" name="TextBox 54"/>
          <p:cNvSpPr/>
          <p:nvPr/>
        </p:nvSpPr>
        <p:spPr>
          <a:xfrm>
            <a:off x="995940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10</a:t>
            </a:r>
            <a:endParaRPr lang="en-US" sz="850" b="0" u="none" strike="noStrike">
              <a:solidFill>
                <a:srgbClr val="000000"/>
              </a:solidFill>
              <a:effectLst/>
              <a:uFillTx/>
              <a:latin typeface="Arial"/>
            </a:endParaRPr>
          </a:p>
        </p:txBody>
      </p:sp>
      <p:cxnSp>
        <p:nvCxnSpPr>
          <p:cNvPr id="1070" name="gt-grid"/>
          <p:cNvCxnSpPr/>
          <p:nvPr/>
        </p:nvCxnSpPr>
        <p:spPr>
          <a:xfrm>
            <a:off x="10985400" y="2084760"/>
            <a:ext cx="1440" cy="720"/>
          </a:xfrm>
          <a:prstGeom prst="straightConnector1">
            <a:avLst/>
          </a:prstGeom>
          <a:ln w="6350">
            <a:solidFill>
              <a:srgbClr val="D5DBE5"/>
            </a:solidFill>
            <a:round/>
          </a:ln>
        </p:spPr>
      </p:cxnSp>
      <p:cxnSp>
        <p:nvCxnSpPr>
          <p:cNvPr id="1071" name="gt-grid"/>
          <p:cNvCxnSpPr/>
          <p:nvPr/>
        </p:nvCxnSpPr>
        <p:spPr>
          <a:xfrm>
            <a:off x="10985400" y="2084760"/>
            <a:ext cx="720" cy="238320"/>
          </a:xfrm>
          <a:prstGeom prst="straightConnector1">
            <a:avLst/>
          </a:prstGeom>
          <a:ln w="6350">
            <a:solidFill>
              <a:srgbClr val="D5DBE5"/>
            </a:solidFill>
            <a:round/>
          </a:ln>
        </p:spPr>
      </p:cxnSp>
      <p:sp>
        <p:nvSpPr>
          <p:cNvPr id="1072" name="TextBox 57"/>
          <p:cNvSpPr/>
          <p:nvPr/>
        </p:nvSpPr>
        <p:spPr>
          <a:xfrm>
            <a:off x="10711080" y="208476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50" b="0" u="none" strike="noStrike">
                <a:solidFill>
                  <a:srgbClr val="6B7280"/>
                </a:solidFill>
                <a:effectLst/>
                <a:uFillTx/>
                <a:latin typeface="BIZ UDPゴシック"/>
                <a:ea typeface="BIZ UDPゴシック"/>
              </a:rPr>
              <a:t>11</a:t>
            </a:r>
            <a:endParaRPr lang="en-US" sz="850" b="0" u="none" strike="noStrike">
              <a:solidFill>
                <a:srgbClr val="000000"/>
              </a:solidFill>
              <a:effectLst/>
              <a:uFillTx/>
              <a:latin typeface="Arial"/>
            </a:endParaRPr>
          </a:p>
        </p:txBody>
      </p:sp>
      <p:cxnSp>
        <p:nvCxnSpPr>
          <p:cNvPr id="1073" name="gt-hdrline"/>
          <p:cNvCxnSpPr/>
          <p:nvPr/>
        </p:nvCxnSpPr>
        <p:spPr>
          <a:xfrm>
            <a:off x="2862000" y="2322360"/>
            <a:ext cx="8827200" cy="720"/>
          </a:xfrm>
          <a:prstGeom prst="straightConnector1">
            <a:avLst/>
          </a:prstGeom>
          <a:ln w="9525">
            <a:solidFill>
              <a:srgbClr val="D5DBE5"/>
            </a:solidFill>
            <a:round/>
          </a:ln>
        </p:spPr>
      </p:cxnSp>
      <p:sp>
        <p:nvSpPr>
          <p:cNvPr id="1074" name="gt-ms"/>
          <p:cNvSpPr/>
          <p:nvPr/>
        </p:nvSpPr>
        <p:spPr>
          <a:xfrm rot="10800000">
            <a:off x="279864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75" name="gt-ms-lab"/>
          <p:cNvSpPr/>
          <p:nvPr/>
        </p:nvSpPr>
        <p:spPr>
          <a:xfrm>
            <a:off x="217620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キックオフ</a:t>
            </a:r>
            <a:endParaRPr lang="en-US" sz="800" b="0" u="none" strike="noStrike">
              <a:solidFill>
                <a:srgbClr val="000000"/>
              </a:solidFill>
              <a:effectLst/>
              <a:uFillTx/>
              <a:latin typeface="Arial"/>
            </a:endParaRPr>
          </a:p>
        </p:txBody>
      </p:sp>
      <p:sp>
        <p:nvSpPr>
          <p:cNvPr id="1076" name="gt-ms"/>
          <p:cNvSpPr/>
          <p:nvPr/>
        </p:nvSpPr>
        <p:spPr>
          <a:xfrm rot="10800000">
            <a:off x="422928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77" name="gt-ms-lab"/>
          <p:cNvSpPr/>
          <p:nvPr/>
        </p:nvSpPr>
        <p:spPr>
          <a:xfrm>
            <a:off x="360684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現状分析完了</a:t>
            </a:r>
            <a:endParaRPr lang="en-US" sz="800" b="0" u="none" strike="noStrike">
              <a:solidFill>
                <a:srgbClr val="000000"/>
              </a:solidFill>
              <a:effectLst/>
              <a:uFillTx/>
              <a:latin typeface="Arial"/>
            </a:endParaRPr>
          </a:p>
        </p:txBody>
      </p:sp>
      <p:sp>
        <p:nvSpPr>
          <p:cNvPr id="1078" name="gt-ms"/>
          <p:cNvSpPr/>
          <p:nvPr/>
        </p:nvSpPr>
        <p:spPr>
          <a:xfrm rot="10800000">
            <a:off x="570852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79" name="gt-ms-lab"/>
          <p:cNvSpPr/>
          <p:nvPr/>
        </p:nvSpPr>
        <p:spPr>
          <a:xfrm>
            <a:off x="508608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要件確定</a:t>
            </a:r>
            <a:endParaRPr lang="en-US" sz="800" b="0" u="none" strike="noStrike">
              <a:solidFill>
                <a:srgbClr val="000000"/>
              </a:solidFill>
              <a:effectLst/>
              <a:uFillTx/>
              <a:latin typeface="Arial"/>
            </a:endParaRPr>
          </a:p>
        </p:txBody>
      </p:sp>
      <p:sp>
        <p:nvSpPr>
          <p:cNvPr id="1080" name="gt-ms"/>
          <p:cNvSpPr/>
          <p:nvPr/>
        </p:nvSpPr>
        <p:spPr>
          <a:xfrm rot="10800000">
            <a:off x="791532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81" name="gt-ms-lab"/>
          <p:cNvSpPr/>
          <p:nvPr/>
        </p:nvSpPr>
        <p:spPr>
          <a:xfrm>
            <a:off x="729288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導入・設定完了</a:t>
            </a:r>
            <a:endParaRPr lang="en-US" sz="800" b="0" u="none" strike="noStrike">
              <a:solidFill>
                <a:srgbClr val="000000"/>
              </a:solidFill>
              <a:effectLst/>
              <a:uFillTx/>
              <a:latin typeface="Arial"/>
            </a:endParaRPr>
          </a:p>
        </p:txBody>
      </p:sp>
      <p:sp>
        <p:nvSpPr>
          <p:cNvPr id="1082" name="gt-ms"/>
          <p:cNvSpPr/>
          <p:nvPr/>
        </p:nvSpPr>
        <p:spPr>
          <a:xfrm rot="10800000">
            <a:off x="864252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83" name="gt-ms-lab"/>
          <p:cNvSpPr/>
          <p:nvPr/>
        </p:nvSpPr>
        <p:spPr>
          <a:xfrm>
            <a:off x="8020440" y="193860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結合テスト完了</a:t>
            </a:r>
            <a:endParaRPr lang="en-US" sz="800" b="0" u="none" strike="noStrike">
              <a:solidFill>
                <a:srgbClr val="000000"/>
              </a:solidFill>
              <a:effectLst/>
              <a:uFillTx/>
              <a:latin typeface="Arial"/>
            </a:endParaRPr>
          </a:p>
        </p:txBody>
      </p:sp>
      <p:sp>
        <p:nvSpPr>
          <p:cNvPr id="1084" name="gt-ms"/>
          <p:cNvSpPr/>
          <p:nvPr/>
        </p:nvSpPr>
        <p:spPr>
          <a:xfrm rot="10800000">
            <a:off x="941868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85" name="gt-ms-lab"/>
          <p:cNvSpPr/>
          <p:nvPr/>
        </p:nvSpPr>
        <p:spPr>
          <a:xfrm>
            <a:off x="879624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受入テスト完了</a:t>
            </a:r>
            <a:endParaRPr lang="en-US" sz="800" b="0" u="none" strike="noStrike">
              <a:solidFill>
                <a:srgbClr val="000000"/>
              </a:solidFill>
              <a:effectLst/>
              <a:uFillTx/>
              <a:latin typeface="Arial"/>
            </a:endParaRPr>
          </a:p>
        </p:txBody>
      </p:sp>
      <p:sp>
        <p:nvSpPr>
          <p:cNvPr id="1086" name="gt-ms"/>
          <p:cNvSpPr/>
          <p:nvPr/>
        </p:nvSpPr>
        <p:spPr>
          <a:xfrm rot="10800000">
            <a:off x="1017036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87" name="gt-ms-lab"/>
          <p:cNvSpPr/>
          <p:nvPr/>
        </p:nvSpPr>
        <p:spPr>
          <a:xfrm>
            <a:off x="954792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全社本番稼働</a:t>
            </a:r>
            <a:endParaRPr lang="en-US" sz="800" b="0" u="none" strike="noStrike">
              <a:solidFill>
                <a:srgbClr val="000000"/>
              </a:solidFill>
              <a:effectLst/>
              <a:uFillTx/>
              <a:latin typeface="Arial"/>
            </a:endParaRPr>
          </a:p>
        </p:txBody>
      </p:sp>
      <p:sp>
        <p:nvSpPr>
          <p:cNvPr id="1088" name="gt-ms"/>
          <p:cNvSpPr/>
          <p:nvPr/>
        </p:nvSpPr>
        <p:spPr>
          <a:xfrm rot="10800000">
            <a:off x="1162548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089" name="gt-ms-lab"/>
          <p:cNvSpPr/>
          <p:nvPr/>
        </p:nvSpPr>
        <p:spPr>
          <a:xfrm>
            <a:off x="1100304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プロジェクト完了</a:t>
            </a:r>
            <a:endParaRPr lang="en-US" sz="800" b="0" u="none" strike="noStrike">
              <a:solidFill>
                <a:srgbClr val="000000"/>
              </a:solidFill>
              <a:effectLst/>
              <a:uFillTx/>
              <a:latin typeface="Arial"/>
            </a:endParaRPr>
          </a:p>
        </p:txBody>
      </p:sp>
      <p:sp>
        <p:nvSpPr>
          <p:cNvPr id="1090" name="gt-bar"/>
          <p:cNvSpPr/>
          <p:nvPr/>
        </p:nvSpPr>
        <p:spPr>
          <a:xfrm>
            <a:off x="2862000" y="2414160"/>
            <a:ext cx="1429920" cy="136440"/>
          </a:xfrm>
          <a:prstGeom prst="roundRect">
            <a:avLst>
              <a:gd name="adj" fmla="val 3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1" name="gt-name"/>
          <p:cNvSpPr/>
          <p:nvPr/>
        </p:nvSpPr>
        <p:spPr>
          <a:xfrm>
            <a:off x="502920" y="235908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1050" b="1" u="none" strike="noStrike">
                <a:solidFill>
                  <a:srgbClr val="1F2937"/>
                </a:solidFill>
                <a:effectLst/>
                <a:uFillTx/>
                <a:latin typeface="BIZ UDPゴシック"/>
                <a:ea typeface="BIZ UDPゴシック"/>
              </a:rPr>
              <a:t>現状分析</a:t>
            </a:r>
            <a:endParaRPr lang="en-US" sz="1050" b="0" u="none" strike="noStrike">
              <a:solidFill>
                <a:srgbClr val="000000"/>
              </a:solidFill>
              <a:effectLst/>
              <a:uFillTx/>
              <a:latin typeface="Arial"/>
            </a:endParaRPr>
          </a:p>
        </p:txBody>
      </p:sp>
      <p:cxnSp>
        <p:nvCxnSpPr>
          <p:cNvPr id="1092" name="gt-rowline"/>
          <p:cNvCxnSpPr/>
          <p:nvPr/>
        </p:nvCxnSpPr>
        <p:spPr>
          <a:xfrm>
            <a:off x="502920" y="2359080"/>
            <a:ext cx="11186280" cy="720"/>
          </a:xfrm>
          <a:prstGeom prst="straightConnector1">
            <a:avLst/>
          </a:prstGeom>
          <a:ln w="6350">
            <a:solidFill>
              <a:srgbClr val="E6E9EF"/>
            </a:solidFill>
            <a:round/>
          </a:ln>
        </p:spPr>
      </p:cxnSp>
      <p:sp>
        <p:nvSpPr>
          <p:cNvPr id="1093" name="gt-bar"/>
          <p:cNvSpPr/>
          <p:nvPr/>
        </p:nvSpPr>
        <p:spPr>
          <a:xfrm>
            <a:off x="2862000" y="2665440"/>
            <a:ext cx="142992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094" name="gt-name"/>
          <p:cNvSpPr/>
          <p:nvPr/>
        </p:nvSpPr>
        <p:spPr>
          <a:xfrm>
            <a:off x="667440" y="260604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現状業務分析・課題整理</a:t>
            </a:r>
            <a:endParaRPr lang="en-US" sz="950" b="0" u="none" strike="noStrike">
              <a:solidFill>
                <a:srgbClr val="000000"/>
              </a:solidFill>
              <a:effectLst/>
              <a:uFillTx/>
              <a:latin typeface="Arial"/>
            </a:endParaRPr>
          </a:p>
        </p:txBody>
      </p:sp>
      <p:sp>
        <p:nvSpPr>
          <p:cNvPr id="1095" name="gt-deliv"/>
          <p:cNvSpPr/>
          <p:nvPr/>
        </p:nvSpPr>
        <p:spPr>
          <a:xfrm>
            <a:off x="4347720" y="2606040"/>
            <a:ext cx="144216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現状業務分析書</a:t>
            </a:r>
            <a:r>
              <a:rPr lang="en-US" sz="800" b="0" u="none" strike="noStrike">
                <a:solidFill>
                  <a:srgbClr val="6B7280"/>
                </a:solidFill>
                <a:effectLst/>
                <a:uFillTx/>
                <a:latin typeface="BIZ UDPゴシック"/>
                <a:ea typeface="BIZ UDPゴシック"/>
              </a:rPr>
              <a:t>] [</a:t>
            </a:r>
            <a:r>
              <a:rPr lang="ja-JP" sz="800" b="0" u="none" strike="noStrike">
                <a:solidFill>
                  <a:srgbClr val="6B7280"/>
                </a:solidFill>
                <a:effectLst/>
                <a:uFillTx/>
                <a:latin typeface="BIZ UDPゴシック"/>
                <a:ea typeface="BIZ UDPゴシック"/>
              </a:rPr>
              <a:t>課題一覧</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096" name="gt-bar"/>
          <p:cNvSpPr/>
          <p:nvPr/>
        </p:nvSpPr>
        <p:spPr>
          <a:xfrm>
            <a:off x="4365360" y="2871360"/>
            <a:ext cx="1405800" cy="136440"/>
          </a:xfrm>
          <a:prstGeom prst="roundRect">
            <a:avLst>
              <a:gd name="adj" fmla="val 3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7" name="gt-name"/>
          <p:cNvSpPr/>
          <p:nvPr/>
        </p:nvSpPr>
        <p:spPr>
          <a:xfrm>
            <a:off x="502920" y="281628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1050" b="1" u="none" strike="noStrike">
                <a:solidFill>
                  <a:srgbClr val="1F2937"/>
                </a:solidFill>
                <a:effectLst/>
                <a:uFillTx/>
                <a:latin typeface="BIZ UDPゴシック"/>
                <a:ea typeface="BIZ UDPゴシック"/>
              </a:rPr>
              <a:t>To-Be</a:t>
            </a:r>
            <a:r>
              <a:rPr lang="ja-JP" sz="1050" b="1" u="none" strike="noStrike">
                <a:solidFill>
                  <a:srgbClr val="1F2937"/>
                </a:solidFill>
                <a:effectLst/>
                <a:uFillTx/>
                <a:latin typeface="BIZ UDPゴシック"/>
                <a:ea typeface="BIZ UDPゴシック"/>
              </a:rPr>
              <a:t>設計・要件定義</a:t>
            </a:r>
            <a:endParaRPr lang="en-US" sz="1050" b="0" u="none" strike="noStrike">
              <a:solidFill>
                <a:srgbClr val="000000"/>
              </a:solidFill>
              <a:effectLst/>
              <a:uFillTx/>
              <a:latin typeface="Arial"/>
            </a:endParaRPr>
          </a:p>
        </p:txBody>
      </p:sp>
      <p:cxnSp>
        <p:nvCxnSpPr>
          <p:cNvPr id="1098" name="gt-rowline"/>
          <p:cNvCxnSpPr/>
          <p:nvPr/>
        </p:nvCxnSpPr>
        <p:spPr>
          <a:xfrm>
            <a:off x="502920" y="2816280"/>
            <a:ext cx="11186280" cy="720"/>
          </a:xfrm>
          <a:prstGeom prst="straightConnector1">
            <a:avLst/>
          </a:prstGeom>
          <a:ln w="6350">
            <a:solidFill>
              <a:srgbClr val="E6E9EF"/>
            </a:solidFill>
            <a:round/>
          </a:ln>
        </p:spPr>
      </p:cxnSp>
      <p:sp>
        <p:nvSpPr>
          <p:cNvPr id="1099" name="gt-bar"/>
          <p:cNvSpPr/>
          <p:nvPr/>
        </p:nvSpPr>
        <p:spPr>
          <a:xfrm>
            <a:off x="4365360" y="3122640"/>
            <a:ext cx="77508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00" name="gt-name"/>
          <p:cNvSpPr/>
          <p:nvPr/>
        </p:nvSpPr>
        <p:spPr>
          <a:xfrm>
            <a:off x="667440" y="306324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950" b="0" u="none" strike="noStrike">
                <a:solidFill>
                  <a:srgbClr val="1F2937"/>
                </a:solidFill>
                <a:effectLst/>
                <a:uFillTx/>
                <a:latin typeface="BIZ UDPゴシック"/>
                <a:ea typeface="BIZ UDPゴシック"/>
              </a:rPr>
              <a:t>To-Be</a:t>
            </a:r>
            <a:r>
              <a:rPr lang="ja-JP" sz="950" b="0" u="none" strike="noStrike">
                <a:solidFill>
                  <a:srgbClr val="1F2937"/>
                </a:solidFill>
                <a:effectLst/>
                <a:uFillTx/>
                <a:latin typeface="BIZ UDPゴシック"/>
                <a:ea typeface="BIZ UDPゴシック"/>
              </a:rPr>
              <a:t>業務設計</a:t>
            </a:r>
            <a:endParaRPr lang="en-US" sz="950" b="0" u="none" strike="noStrike">
              <a:solidFill>
                <a:srgbClr val="000000"/>
              </a:solidFill>
              <a:effectLst/>
              <a:uFillTx/>
              <a:latin typeface="Arial"/>
            </a:endParaRPr>
          </a:p>
        </p:txBody>
      </p:sp>
      <p:sp>
        <p:nvSpPr>
          <p:cNvPr id="1101" name="gt-deliv"/>
          <p:cNvSpPr/>
          <p:nvPr/>
        </p:nvSpPr>
        <p:spPr>
          <a:xfrm>
            <a:off x="5196240" y="3063240"/>
            <a:ext cx="94428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[To-Be</a:t>
            </a:r>
            <a:r>
              <a:rPr lang="ja-JP" sz="800" b="0" u="none" strike="noStrike">
                <a:solidFill>
                  <a:srgbClr val="6B7280"/>
                </a:solidFill>
                <a:effectLst/>
                <a:uFillTx/>
                <a:latin typeface="BIZ UDPゴシック"/>
                <a:ea typeface="BIZ UDPゴシック"/>
              </a:rPr>
              <a:t>業務フロー</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02" name="gt-bar"/>
          <p:cNvSpPr/>
          <p:nvPr/>
        </p:nvSpPr>
        <p:spPr>
          <a:xfrm>
            <a:off x="5214240" y="3332880"/>
            <a:ext cx="55692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03" name="gt-name"/>
          <p:cNvSpPr/>
          <p:nvPr/>
        </p:nvSpPr>
        <p:spPr>
          <a:xfrm>
            <a:off x="667440" y="327348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要件定義</a:t>
            </a:r>
            <a:endParaRPr lang="en-US" sz="950" b="0" u="none" strike="noStrike">
              <a:solidFill>
                <a:srgbClr val="000000"/>
              </a:solidFill>
              <a:effectLst/>
              <a:uFillTx/>
              <a:latin typeface="Arial"/>
            </a:endParaRPr>
          </a:p>
        </p:txBody>
      </p:sp>
      <p:sp>
        <p:nvSpPr>
          <p:cNvPr id="1104" name="gt-deliv"/>
          <p:cNvSpPr/>
          <p:nvPr/>
        </p:nvSpPr>
        <p:spPr>
          <a:xfrm>
            <a:off x="5826960" y="3273480"/>
            <a:ext cx="6649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要件定義書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05" name="gt-bar"/>
          <p:cNvSpPr/>
          <p:nvPr/>
        </p:nvSpPr>
        <p:spPr>
          <a:xfrm>
            <a:off x="5796360" y="3538800"/>
            <a:ext cx="2181600" cy="136440"/>
          </a:xfrm>
          <a:prstGeom prst="roundRect">
            <a:avLst>
              <a:gd name="adj" fmla="val 3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6" name="gt-name"/>
          <p:cNvSpPr/>
          <p:nvPr/>
        </p:nvSpPr>
        <p:spPr>
          <a:xfrm>
            <a:off x="502920" y="348372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1050" b="1" u="none" strike="noStrike">
                <a:solidFill>
                  <a:srgbClr val="1F2937"/>
                </a:solidFill>
                <a:effectLst/>
                <a:uFillTx/>
                <a:latin typeface="BIZ UDPゴシック"/>
                <a:ea typeface="BIZ UDPゴシック"/>
              </a:rPr>
              <a:t>導入・設定・連携開発</a:t>
            </a:r>
            <a:endParaRPr lang="en-US" sz="1050" b="0" u="none" strike="noStrike">
              <a:solidFill>
                <a:srgbClr val="000000"/>
              </a:solidFill>
              <a:effectLst/>
              <a:uFillTx/>
              <a:latin typeface="Arial"/>
            </a:endParaRPr>
          </a:p>
        </p:txBody>
      </p:sp>
      <p:cxnSp>
        <p:nvCxnSpPr>
          <p:cNvPr id="1107" name="gt-rowline"/>
          <p:cNvCxnSpPr/>
          <p:nvPr/>
        </p:nvCxnSpPr>
        <p:spPr>
          <a:xfrm>
            <a:off x="502920" y="3483720"/>
            <a:ext cx="11186280" cy="720"/>
          </a:xfrm>
          <a:prstGeom prst="straightConnector1">
            <a:avLst/>
          </a:prstGeom>
          <a:ln w="6350">
            <a:solidFill>
              <a:srgbClr val="E6E9EF"/>
            </a:solidFill>
            <a:round/>
          </a:ln>
        </p:spPr>
      </p:cxnSp>
      <p:sp>
        <p:nvSpPr>
          <p:cNvPr id="1108" name="gt-bar"/>
          <p:cNvSpPr/>
          <p:nvPr/>
        </p:nvSpPr>
        <p:spPr>
          <a:xfrm>
            <a:off x="5796360" y="3790080"/>
            <a:ext cx="2181600" cy="90720"/>
          </a:xfrm>
          <a:prstGeom prst="roundRect">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09" name="gt-name"/>
          <p:cNvSpPr/>
          <p:nvPr/>
        </p:nvSpPr>
        <p:spPr>
          <a:xfrm>
            <a:off x="667440" y="373068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サービス設定・連携開発</a:t>
            </a:r>
            <a:endParaRPr lang="en-US" sz="950" b="0" u="none" strike="noStrike">
              <a:solidFill>
                <a:srgbClr val="000000"/>
              </a:solidFill>
              <a:effectLst/>
              <a:uFillTx/>
              <a:latin typeface="Arial"/>
            </a:endParaRPr>
          </a:p>
        </p:txBody>
      </p:sp>
      <p:sp>
        <p:nvSpPr>
          <p:cNvPr id="1110" name="gt-deliv"/>
          <p:cNvSpPr/>
          <p:nvPr/>
        </p:nvSpPr>
        <p:spPr>
          <a:xfrm>
            <a:off x="8033400" y="3730680"/>
            <a:ext cx="154368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設定完了報告書</a:t>
            </a:r>
            <a:r>
              <a:rPr lang="en-US" sz="800" b="0" u="none" strike="noStrike">
                <a:solidFill>
                  <a:srgbClr val="6B7280"/>
                </a:solidFill>
                <a:effectLst/>
                <a:uFillTx/>
                <a:latin typeface="BIZ UDPゴシック"/>
                <a:ea typeface="BIZ UDPゴシック"/>
              </a:rPr>
              <a:t>] [</a:t>
            </a:r>
            <a:r>
              <a:rPr lang="ja-JP" sz="800" b="0" u="none" strike="noStrike">
                <a:solidFill>
                  <a:srgbClr val="6B7280"/>
                </a:solidFill>
                <a:effectLst/>
                <a:uFillTx/>
                <a:latin typeface="BIZ UDPゴシック"/>
                <a:ea typeface="BIZ UDPゴシック"/>
              </a:rPr>
              <a:t>連携設計書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11" name="gt-bar"/>
          <p:cNvSpPr/>
          <p:nvPr/>
        </p:nvSpPr>
        <p:spPr>
          <a:xfrm>
            <a:off x="8002800" y="3996000"/>
            <a:ext cx="702360" cy="136440"/>
          </a:xfrm>
          <a:prstGeom prst="roundRect">
            <a:avLst>
              <a:gd name="adj" fmla="val 3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2" name="gt-name"/>
          <p:cNvSpPr/>
          <p:nvPr/>
        </p:nvSpPr>
        <p:spPr>
          <a:xfrm>
            <a:off x="502920" y="394092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1050" b="1" u="none" strike="noStrike">
                <a:solidFill>
                  <a:srgbClr val="1F2937"/>
                </a:solidFill>
                <a:effectLst/>
                <a:uFillTx/>
                <a:latin typeface="BIZ UDPゴシック"/>
                <a:ea typeface="BIZ UDPゴシック"/>
              </a:rPr>
              <a:t>結合テスト</a:t>
            </a:r>
            <a:endParaRPr lang="en-US" sz="1050" b="0" u="none" strike="noStrike">
              <a:solidFill>
                <a:srgbClr val="000000"/>
              </a:solidFill>
              <a:effectLst/>
              <a:uFillTx/>
              <a:latin typeface="Arial"/>
            </a:endParaRPr>
          </a:p>
        </p:txBody>
      </p:sp>
      <p:sp>
        <p:nvSpPr>
          <p:cNvPr id="1113" name="gt-deliv"/>
          <p:cNvSpPr/>
          <p:nvPr/>
        </p:nvSpPr>
        <p:spPr>
          <a:xfrm>
            <a:off x="8760960" y="3940920"/>
            <a:ext cx="96948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テスト結果報告書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cxnSp>
        <p:nvCxnSpPr>
          <p:cNvPr id="1114" name="gt-rowline"/>
          <p:cNvCxnSpPr/>
          <p:nvPr/>
        </p:nvCxnSpPr>
        <p:spPr>
          <a:xfrm>
            <a:off x="502920" y="3940920"/>
            <a:ext cx="11186280" cy="720"/>
          </a:xfrm>
          <a:prstGeom prst="straightConnector1">
            <a:avLst/>
          </a:prstGeom>
          <a:ln w="6350">
            <a:solidFill>
              <a:srgbClr val="E6E9EF"/>
            </a:solidFill>
            <a:round/>
          </a:ln>
        </p:spPr>
      </p:cxnSp>
      <p:sp>
        <p:nvSpPr>
          <p:cNvPr id="1115" name="gt-bar"/>
          <p:cNvSpPr/>
          <p:nvPr/>
        </p:nvSpPr>
        <p:spPr>
          <a:xfrm>
            <a:off x="8778960" y="4242960"/>
            <a:ext cx="1284480" cy="136440"/>
          </a:xfrm>
          <a:prstGeom prst="roundRect">
            <a:avLst>
              <a:gd name="adj" fmla="val 3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6" name="gt-name"/>
          <p:cNvSpPr/>
          <p:nvPr/>
        </p:nvSpPr>
        <p:spPr>
          <a:xfrm>
            <a:off x="502920" y="418788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1050" b="1" u="none" strike="noStrike">
                <a:solidFill>
                  <a:srgbClr val="1F2937"/>
                </a:solidFill>
                <a:effectLst/>
                <a:uFillTx/>
                <a:latin typeface="BIZ UDPゴシック"/>
                <a:ea typeface="BIZ UDPゴシック"/>
              </a:rPr>
              <a:t>受入・研修</a:t>
            </a:r>
            <a:endParaRPr lang="en-US" sz="1050" b="0" u="none" strike="noStrike">
              <a:solidFill>
                <a:srgbClr val="000000"/>
              </a:solidFill>
              <a:effectLst/>
              <a:uFillTx/>
              <a:latin typeface="Arial"/>
            </a:endParaRPr>
          </a:p>
        </p:txBody>
      </p:sp>
      <p:cxnSp>
        <p:nvCxnSpPr>
          <p:cNvPr id="1117" name="gt-rowline"/>
          <p:cNvCxnSpPr/>
          <p:nvPr/>
        </p:nvCxnSpPr>
        <p:spPr>
          <a:xfrm>
            <a:off x="502920" y="4187880"/>
            <a:ext cx="11186280" cy="720"/>
          </a:xfrm>
          <a:prstGeom prst="straightConnector1">
            <a:avLst/>
          </a:prstGeom>
          <a:ln w="6350">
            <a:solidFill>
              <a:srgbClr val="E6E9EF"/>
            </a:solidFill>
            <a:round/>
          </a:ln>
        </p:spPr>
      </p:cxnSp>
      <p:sp>
        <p:nvSpPr>
          <p:cNvPr id="1118" name="gt-bar"/>
          <p:cNvSpPr/>
          <p:nvPr/>
        </p:nvSpPr>
        <p:spPr>
          <a:xfrm>
            <a:off x="8778960" y="4494240"/>
            <a:ext cx="702360" cy="90720"/>
          </a:xfrm>
          <a:prstGeom prst="roundRect">
            <a:avLst>
              <a:gd name="adj" fmla="val 5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19" name="gt-name"/>
          <p:cNvSpPr/>
          <p:nvPr/>
        </p:nvSpPr>
        <p:spPr>
          <a:xfrm>
            <a:off x="667440" y="443484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受入テスト</a:t>
            </a:r>
            <a:endParaRPr lang="en-US" sz="950" b="0" u="none" strike="noStrike">
              <a:solidFill>
                <a:srgbClr val="000000"/>
              </a:solidFill>
              <a:effectLst/>
              <a:uFillTx/>
              <a:latin typeface="Arial"/>
            </a:endParaRPr>
          </a:p>
        </p:txBody>
      </p:sp>
      <p:sp>
        <p:nvSpPr>
          <p:cNvPr id="1120" name="gt-deliv"/>
          <p:cNvSpPr/>
          <p:nvPr/>
        </p:nvSpPr>
        <p:spPr>
          <a:xfrm>
            <a:off x="9537120" y="4434840"/>
            <a:ext cx="117288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受入テスト結果報告書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21" name="gt-bar"/>
          <p:cNvSpPr/>
          <p:nvPr/>
        </p:nvSpPr>
        <p:spPr>
          <a:xfrm>
            <a:off x="9118440" y="4704480"/>
            <a:ext cx="94500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22" name="gt-name"/>
          <p:cNvSpPr/>
          <p:nvPr/>
        </p:nvSpPr>
        <p:spPr>
          <a:xfrm>
            <a:off x="667440" y="464508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研修</a:t>
            </a:r>
            <a:endParaRPr lang="en-US" sz="950" b="0" u="none" strike="noStrike">
              <a:solidFill>
                <a:srgbClr val="000000"/>
              </a:solidFill>
              <a:effectLst/>
              <a:uFillTx/>
              <a:latin typeface="Arial"/>
            </a:endParaRPr>
          </a:p>
        </p:txBody>
      </p:sp>
      <p:sp>
        <p:nvSpPr>
          <p:cNvPr id="1123" name="gt-deliv"/>
          <p:cNvSpPr/>
          <p:nvPr/>
        </p:nvSpPr>
        <p:spPr>
          <a:xfrm>
            <a:off x="10118880" y="4645080"/>
            <a:ext cx="144216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研修資料</a:t>
            </a:r>
            <a:r>
              <a:rPr lang="en-US" sz="800" b="0" u="none" strike="noStrike">
                <a:solidFill>
                  <a:srgbClr val="6B7280"/>
                </a:solidFill>
                <a:effectLst/>
                <a:uFillTx/>
                <a:latin typeface="BIZ UDPゴシック"/>
                <a:ea typeface="BIZ UDPゴシック"/>
              </a:rPr>
              <a:t>] [</a:t>
            </a:r>
            <a:r>
              <a:rPr lang="ja-JP" sz="800" b="0" u="none" strike="noStrike">
                <a:solidFill>
                  <a:srgbClr val="6B7280"/>
                </a:solidFill>
                <a:effectLst/>
                <a:uFillTx/>
                <a:latin typeface="BIZ UDPゴシック"/>
                <a:ea typeface="BIZ UDPゴシック"/>
              </a:rPr>
              <a:t>操作マニュアル</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24" name="gt-bar"/>
          <p:cNvSpPr/>
          <p:nvPr/>
        </p:nvSpPr>
        <p:spPr>
          <a:xfrm>
            <a:off x="9506520" y="4910400"/>
            <a:ext cx="2181600" cy="136440"/>
          </a:xfrm>
          <a:prstGeom prst="roundRect">
            <a:avLst>
              <a:gd name="adj" fmla="val 3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25" name="gt-name"/>
          <p:cNvSpPr/>
          <p:nvPr/>
        </p:nvSpPr>
        <p:spPr>
          <a:xfrm>
            <a:off x="502920" y="485532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1050" b="1" u="none" strike="noStrike">
                <a:solidFill>
                  <a:srgbClr val="1F2937"/>
                </a:solidFill>
                <a:effectLst/>
                <a:uFillTx/>
                <a:latin typeface="BIZ UDPゴシック"/>
                <a:ea typeface="BIZ UDPゴシック"/>
              </a:rPr>
              <a:t>移行・定着化</a:t>
            </a:r>
            <a:endParaRPr lang="en-US" sz="1050" b="0" u="none" strike="noStrike">
              <a:solidFill>
                <a:srgbClr val="000000"/>
              </a:solidFill>
              <a:effectLst/>
              <a:uFillTx/>
              <a:latin typeface="Arial"/>
            </a:endParaRPr>
          </a:p>
        </p:txBody>
      </p:sp>
      <p:cxnSp>
        <p:nvCxnSpPr>
          <p:cNvPr id="1126" name="gt-rowline"/>
          <p:cNvCxnSpPr/>
          <p:nvPr/>
        </p:nvCxnSpPr>
        <p:spPr>
          <a:xfrm>
            <a:off x="502920" y="4855320"/>
            <a:ext cx="11186280" cy="720"/>
          </a:xfrm>
          <a:prstGeom prst="straightConnector1">
            <a:avLst/>
          </a:prstGeom>
          <a:ln w="6350">
            <a:solidFill>
              <a:srgbClr val="E6E9EF"/>
            </a:solidFill>
            <a:round/>
          </a:ln>
        </p:spPr>
      </p:cxnSp>
      <p:sp>
        <p:nvSpPr>
          <p:cNvPr id="1127" name="gt-bar"/>
          <p:cNvSpPr/>
          <p:nvPr/>
        </p:nvSpPr>
        <p:spPr>
          <a:xfrm>
            <a:off x="9506520" y="5161680"/>
            <a:ext cx="31464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28" name="gt-name"/>
          <p:cNvSpPr/>
          <p:nvPr/>
        </p:nvSpPr>
        <p:spPr>
          <a:xfrm>
            <a:off x="667440" y="510228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工程バッファ</a:t>
            </a:r>
            <a:endParaRPr lang="en-US" sz="950" b="0" u="none" strike="noStrike">
              <a:solidFill>
                <a:srgbClr val="000000"/>
              </a:solidFill>
              <a:effectLst/>
              <a:uFillTx/>
              <a:latin typeface="Arial"/>
            </a:endParaRPr>
          </a:p>
        </p:txBody>
      </p:sp>
      <p:sp>
        <p:nvSpPr>
          <p:cNvPr id="1129" name="gt-bar"/>
          <p:cNvSpPr/>
          <p:nvPr/>
        </p:nvSpPr>
        <p:spPr>
          <a:xfrm>
            <a:off x="9506520" y="5372280"/>
            <a:ext cx="106632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30" name="gt-name"/>
          <p:cNvSpPr/>
          <p:nvPr/>
        </p:nvSpPr>
        <p:spPr>
          <a:xfrm>
            <a:off x="667440" y="531252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パイロット稼働・本番移行</a:t>
            </a:r>
            <a:endParaRPr lang="en-US" sz="950" b="0" u="none" strike="noStrike">
              <a:solidFill>
                <a:srgbClr val="000000"/>
              </a:solidFill>
              <a:effectLst/>
              <a:uFillTx/>
              <a:latin typeface="Arial"/>
            </a:endParaRPr>
          </a:p>
        </p:txBody>
      </p:sp>
      <p:sp>
        <p:nvSpPr>
          <p:cNvPr id="1131" name="gt-deliv"/>
          <p:cNvSpPr/>
          <p:nvPr/>
        </p:nvSpPr>
        <p:spPr>
          <a:xfrm>
            <a:off x="10628280" y="5312520"/>
            <a:ext cx="6649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移行計画書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32" name="gt-bar"/>
          <p:cNvSpPr/>
          <p:nvPr/>
        </p:nvSpPr>
        <p:spPr>
          <a:xfrm>
            <a:off x="10597680" y="5582520"/>
            <a:ext cx="109044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33" name="gt-name"/>
          <p:cNvSpPr/>
          <p:nvPr/>
        </p:nvSpPr>
        <p:spPr>
          <a:xfrm>
            <a:off x="667440" y="552312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定着化支援</a:t>
            </a:r>
            <a:endParaRPr lang="en-US" sz="950" b="0" u="none" strike="noStrike">
              <a:solidFill>
                <a:srgbClr val="000000"/>
              </a:solidFill>
              <a:effectLst/>
              <a:uFillTx/>
              <a:latin typeface="Arial"/>
            </a:endParaRPr>
          </a:p>
        </p:txBody>
      </p:sp>
      <p:sp>
        <p:nvSpPr>
          <p:cNvPr id="1134" name="gt-deliv"/>
          <p:cNvSpPr/>
          <p:nvPr/>
        </p:nvSpPr>
        <p:spPr>
          <a:xfrm>
            <a:off x="9775440" y="5523120"/>
            <a:ext cx="766440" cy="209520"/>
          </a:xfrm>
          <a:prstGeom prst="rect">
            <a:avLst/>
          </a:prstGeom>
          <a:noFill/>
          <a:ln w="0">
            <a:noFill/>
          </a:ln>
        </p:spPr>
        <p:style>
          <a:lnRef idx="0"/>
          <a:fillRef idx="0"/>
          <a:effectRef idx="0"/>
          <a:fontRef idx="minor"/>
        </p:style>
        <p:txBody>
          <a:bodyPr wrap="none" lIns="0" tIns="0" rIns="0" bIns="0" anchor="ctr" anchorCtr="1">
            <a:spAutoFit/>
          </a:bodyPr>
          <a:p>
            <a:pPr algn="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定着化報告書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135" name="gt-leg"/>
          <p:cNvSpPr/>
          <p:nvPr/>
        </p:nvSpPr>
        <p:spPr>
          <a:xfrm>
            <a:off x="2862000" y="5779080"/>
            <a:ext cx="145440" cy="90720"/>
          </a:xfrm>
          <a:prstGeom prst="roundRect">
            <a:avLst>
              <a:gd name="adj" fmla="val 4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136" name="TextBox 121"/>
          <p:cNvSpPr/>
          <p:nvPr/>
        </p:nvSpPr>
        <p:spPr>
          <a:xfrm>
            <a:off x="3044880" y="573336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共同</a:t>
            </a:r>
            <a:endParaRPr lang="en-US" sz="900" b="0" u="none" strike="noStrike">
              <a:solidFill>
                <a:srgbClr val="000000"/>
              </a:solidFill>
              <a:effectLst/>
              <a:uFillTx/>
              <a:latin typeface="Arial"/>
            </a:endParaRPr>
          </a:p>
        </p:txBody>
      </p:sp>
      <p:sp>
        <p:nvSpPr>
          <p:cNvPr id="1137" name="gt-leg"/>
          <p:cNvSpPr/>
          <p:nvPr/>
        </p:nvSpPr>
        <p:spPr>
          <a:xfrm>
            <a:off x="3566160" y="5779080"/>
            <a:ext cx="145440" cy="90720"/>
          </a:xfrm>
          <a:prstGeom prst="roundRect">
            <a:avLst>
              <a:gd name="adj" fmla="val 4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138" name="TextBox 123"/>
          <p:cNvSpPr/>
          <p:nvPr/>
        </p:nvSpPr>
        <p:spPr>
          <a:xfrm>
            <a:off x="3749040" y="573336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当社</a:t>
            </a:r>
            <a:endParaRPr lang="en-US" sz="900" b="0" u="none" strike="noStrike">
              <a:solidFill>
                <a:srgbClr val="000000"/>
              </a:solidFill>
              <a:effectLst/>
              <a:uFillTx/>
              <a:latin typeface="Arial"/>
            </a:endParaRPr>
          </a:p>
        </p:txBody>
      </p:sp>
      <p:sp>
        <p:nvSpPr>
          <p:cNvPr id="1139" name="gt-leg"/>
          <p:cNvSpPr/>
          <p:nvPr/>
        </p:nvSpPr>
        <p:spPr>
          <a:xfrm>
            <a:off x="4270320" y="5779080"/>
            <a:ext cx="145440" cy="90720"/>
          </a:xfrm>
          <a:prstGeom prst="roundRect">
            <a:avLst>
              <a:gd name="adj" fmla="val 4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140" name="TextBox 125"/>
          <p:cNvSpPr/>
          <p:nvPr/>
        </p:nvSpPr>
        <p:spPr>
          <a:xfrm>
            <a:off x="4453200" y="573336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貴社</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4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4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14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14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46"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47"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4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4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5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5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5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15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2.1 </a:t>
            </a:r>
            <a:r>
              <a:rPr lang="ja-JP" sz="2400" b="1" u="none" strike="noStrike">
                <a:solidFill>
                  <a:srgbClr val="16213E"/>
                </a:solidFill>
                <a:effectLst/>
                <a:uFillTx/>
                <a:latin typeface="BIZ UDPゴシック"/>
                <a:ea typeface="BIZ UDPゴシック"/>
              </a:rPr>
              <a:t>全体スケジュール </a:t>
            </a:r>
            <a:r>
              <a:rPr lang="en-US" sz="2400" b="1" u="none" strike="noStrike">
                <a:solidFill>
                  <a:srgbClr val="16213E"/>
                </a:solidFill>
                <a:effectLst/>
                <a:uFillTx/>
                <a:latin typeface="BIZ UDPゴシック"/>
                <a:ea typeface="BIZ UDPゴシック"/>
              </a:rPr>
              <a:t>(2/2)</a:t>
            </a:r>
            <a:endParaRPr lang="en-US" sz="2400" b="0" u="none" strike="noStrike">
              <a:solidFill>
                <a:srgbClr val="000000"/>
              </a:solidFill>
              <a:effectLst/>
              <a:uFillTx/>
              <a:latin typeface="Arial"/>
            </a:endParaRPr>
          </a:p>
        </p:txBody>
      </p:sp>
      <p:sp>
        <p:nvSpPr>
          <p:cNvPr id="115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155" name="hdr-hair"/>
          <p:cNvCxnSpPr/>
          <p:nvPr/>
        </p:nvCxnSpPr>
        <p:spPr>
          <a:xfrm>
            <a:off x="502920" y="969120"/>
            <a:ext cx="11186280" cy="720"/>
          </a:xfrm>
          <a:prstGeom prst="straightConnector1">
            <a:avLst/>
          </a:prstGeom>
          <a:ln w="9525">
            <a:solidFill>
              <a:srgbClr val="D5DBE5"/>
            </a:solidFill>
            <a:round/>
          </a:ln>
        </p:spPr>
      </p:cxnSp>
      <p:cxnSp>
        <p:nvCxnSpPr>
          <p:cNvPr id="1156" name="ftr-hair"/>
          <p:cNvCxnSpPr/>
          <p:nvPr/>
        </p:nvCxnSpPr>
        <p:spPr>
          <a:xfrm>
            <a:off x="502920" y="6382440"/>
            <a:ext cx="11186280" cy="720"/>
          </a:xfrm>
          <a:prstGeom prst="straightConnector1">
            <a:avLst/>
          </a:prstGeom>
          <a:ln w="9525">
            <a:solidFill>
              <a:srgbClr val="D5DBE5"/>
            </a:solidFill>
            <a:round/>
          </a:ln>
        </p:spPr>
      </p:cxnSp>
      <p:sp>
        <p:nvSpPr>
          <p:cNvPr id="115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30 / 85</a:t>
            </a:r>
            <a:endParaRPr lang="en-US" sz="1100" b="0" u="none" strike="noStrike">
              <a:solidFill>
                <a:srgbClr val="000000"/>
              </a:solidFill>
              <a:effectLst/>
              <a:uFillTx/>
              <a:latin typeface="Arial"/>
            </a:endParaRPr>
          </a:p>
        </p:txBody>
      </p:sp>
      <p:sp>
        <p:nvSpPr>
          <p:cNvPr id="115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15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16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16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決算繁忙期を避け、段階導入でスケジュールリスクを抑える</a:t>
            </a:r>
            <a:endParaRPr lang="en-US" sz="1500" b="0" u="none" strike="noStrike">
              <a:solidFill>
                <a:srgbClr val="000000"/>
              </a:solidFill>
              <a:effectLst/>
              <a:uFillTx/>
              <a:latin typeface="Arial"/>
            </a:endParaRPr>
          </a:p>
        </p:txBody>
      </p:sp>
      <p:sp>
        <p:nvSpPr>
          <p:cNvPr id="1164" name="blk-title"/>
          <p:cNvSpPr/>
          <p:nvPr/>
        </p:nvSpPr>
        <p:spPr>
          <a:xfrm>
            <a:off x="502920" y="162756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スケジュール上の前提</a:t>
            </a:r>
            <a:endParaRPr lang="en-US" sz="1200" b="0" u="none" strike="noStrike">
              <a:solidFill>
                <a:srgbClr val="000000"/>
              </a:solidFill>
              <a:effectLst/>
              <a:uFillTx/>
              <a:latin typeface="Arial"/>
            </a:endParaRPr>
          </a:p>
        </p:txBody>
      </p:sp>
      <p:sp>
        <p:nvSpPr>
          <p:cNvPr id="1165" name="blk-bullets"/>
          <p:cNvSpPr/>
          <p:nvPr/>
        </p:nvSpPr>
        <p:spPr>
          <a:xfrm>
            <a:off x="502920" y="1901880"/>
            <a:ext cx="11185200" cy="36997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3</a:t>
            </a:r>
            <a:r>
              <a:rPr lang="ja-JP" sz="1400" b="0" u="none" strike="noStrike">
                <a:solidFill>
                  <a:srgbClr val="1F2937"/>
                </a:solidFill>
                <a:effectLst/>
                <a:uFillTx/>
                <a:latin typeface="BIZ UDPゴシック"/>
                <a:ea typeface="BIZ UDPゴシック"/>
              </a:rPr>
              <a:t>月決算および</a:t>
            </a:r>
            <a:r>
              <a:rPr lang="en-US" sz="1400" b="0" u="none" strike="noStrike">
                <a:solidFill>
                  <a:srgbClr val="1F2937"/>
                </a:solidFill>
                <a:effectLst/>
                <a:uFillTx/>
                <a:latin typeface="BIZ UDPゴシック"/>
                <a:ea typeface="BIZ UDPゴシック"/>
              </a:rPr>
              <a:t>4</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5</a:t>
            </a:r>
            <a:r>
              <a:rPr lang="ja-JP" sz="1400" b="0" u="none" strike="noStrike">
                <a:solidFill>
                  <a:srgbClr val="1F2937"/>
                </a:solidFill>
                <a:effectLst/>
                <a:uFillTx/>
                <a:latin typeface="BIZ UDPゴシック"/>
                <a:ea typeface="BIZ UDPゴシック"/>
              </a:rPr>
              <a:t>月の決算繁忙期は貴社経理部の参加負荷を下げる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パイロット稼働で確証を得てから全社本番稼働に進む</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連携先システムの改修時期を前提に結合テストを計画する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予備費</a:t>
            </a:r>
            <a:r>
              <a:rPr lang="en-US" sz="1400" b="0" u="none" strike="noStrike">
                <a:solidFill>
                  <a:srgbClr val="1F2937"/>
                </a:solidFill>
                <a:effectLst/>
                <a:uFillTx/>
                <a:latin typeface="BIZ UDPゴシック"/>
                <a:ea typeface="BIZ UDPゴシック"/>
              </a:rPr>
              <a:t>700</a:t>
            </a:r>
            <a:r>
              <a:rPr lang="ja-JP" sz="1400" b="0" u="none" strike="noStrike">
                <a:solidFill>
                  <a:srgbClr val="1F2937"/>
                </a:solidFill>
                <a:effectLst/>
                <a:uFillTx/>
                <a:latin typeface="BIZ UDPゴシック"/>
                <a:ea typeface="BIZ UDPゴシック"/>
              </a:rPr>
              <a:t>万円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税抜</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を確保し、費目別に執行管理する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工程バッファ</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週間は受入テスト終了後から本番移行判定前に置く</a:t>
            </a:r>
            <a:endParaRPr lang="en-US" sz="1400" b="0" u="none" strike="noStrike">
              <a:solidFill>
                <a:srgbClr val="000000"/>
              </a:solidFill>
              <a:effectLst/>
              <a:uFillTx/>
              <a:latin typeface="Arial"/>
            </a:endParaRPr>
          </a:p>
        </p:txBody>
      </p:sp>
      <p:sp>
        <p:nvSpPr>
          <p:cNvPr id="1166" name="blk-callout"/>
          <p:cNvSpPr/>
          <p:nvPr/>
        </p:nvSpPr>
        <p:spPr>
          <a:xfrm>
            <a:off x="502920" y="5730120"/>
            <a:ext cx="11185200" cy="52344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各フェーズの完了基準を満たした場合のみ次工程へ進む。未達時は是正計画を提示し、ステアリングコミッティの承認を得る。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6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17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17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2"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3"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4"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7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17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2.2 </a:t>
            </a:r>
            <a:r>
              <a:rPr lang="ja-JP" sz="2400" b="1" u="none" strike="noStrike">
                <a:solidFill>
                  <a:srgbClr val="16213E"/>
                </a:solidFill>
                <a:effectLst/>
                <a:uFillTx/>
                <a:latin typeface="BIZ UDPゴシック"/>
                <a:ea typeface="BIZ UDPゴシック"/>
              </a:rPr>
              <a:t>マイルストーンと完了基準</a:t>
            </a:r>
            <a:endParaRPr lang="en-US" sz="2400" b="0" u="none" strike="noStrike">
              <a:solidFill>
                <a:srgbClr val="000000"/>
              </a:solidFill>
              <a:effectLst/>
              <a:uFillTx/>
              <a:latin typeface="Arial"/>
            </a:endParaRPr>
          </a:p>
        </p:txBody>
      </p:sp>
      <p:sp>
        <p:nvSpPr>
          <p:cNvPr id="118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181" name="hdr-hair"/>
          <p:cNvCxnSpPr/>
          <p:nvPr/>
        </p:nvCxnSpPr>
        <p:spPr>
          <a:xfrm>
            <a:off x="502920" y="969120"/>
            <a:ext cx="11186280" cy="720"/>
          </a:xfrm>
          <a:prstGeom prst="straightConnector1">
            <a:avLst/>
          </a:prstGeom>
          <a:ln w="9525">
            <a:solidFill>
              <a:srgbClr val="D5DBE5"/>
            </a:solidFill>
            <a:round/>
          </a:ln>
        </p:spPr>
      </p:cxnSp>
      <p:cxnSp>
        <p:nvCxnSpPr>
          <p:cNvPr id="1182" name="ftr-hair"/>
          <p:cNvCxnSpPr/>
          <p:nvPr/>
        </p:nvCxnSpPr>
        <p:spPr>
          <a:xfrm>
            <a:off x="502920" y="6382440"/>
            <a:ext cx="11186280" cy="720"/>
          </a:xfrm>
          <a:prstGeom prst="straightConnector1">
            <a:avLst/>
          </a:prstGeom>
          <a:ln w="9525">
            <a:solidFill>
              <a:srgbClr val="D5DBE5"/>
            </a:solidFill>
            <a:round/>
          </a:ln>
        </p:spPr>
      </p:cxnSp>
      <p:sp>
        <p:nvSpPr>
          <p:cNvPr id="118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31 / 85</a:t>
            </a:r>
            <a:endParaRPr lang="en-US" sz="1100" b="0" u="none" strike="noStrike">
              <a:solidFill>
                <a:srgbClr val="000000"/>
              </a:solidFill>
              <a:effectLst/>
              <a:uFillTx/>
              <a:latin typeface="Arial"/>
            </a:endParaRPr>
          </a:p>
        </p:txBody>
      </p:sp>
      <p:sp>
        <p:nvSpPr>
          <p:cNvPr id="118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18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18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18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8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8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各マイルストーンの完了基準と判定者を明確にする</a:t>
            </a:r>
            <a:endParaRPr lang="en-US" sz="1500" b="0" u="none" strike="noStrike">
              <a:solidFill>
                <a:srgbClr val="000000"/>
              </a:solidFill>
              <a:effectLst/>
              <a:uFillTx/>
              <a:latin typeface="Arial"/>
            </a:endParaRPr>
          </a:p>
        </p:txBody>
      </p:sp>
      <p:graphicFrame>
        <p:nvGraphicFramePr>
          <p:cNvPr id="1190" name="blk-table"/>
          <p:cNvGraphicFramePr/>
          <p:nvPr/>
        </p:nvGraphicFramePr>
        <p:xfrm>
          <a:off x="502920" y="1627560"/>
          <a:ext cx="11184840" cy="3315600"/>
        </p:xfrm>
        <a:graphic>
          <a:graphicData uri="http://schemas.openxmlformats.org/drawingml/2006/table">
            <a:tbl>
              <a:tblPr/>
              <a:tblGrid>
                <a:gridCol w="2013120"/>
                <a:gridCol w="1566000"/>
                <a:gridCol w="4921560"/>
                <a:gridCol w="26845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マイルストーン</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予定日</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完了基準</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キックオフ</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2026/12/01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体制とプロジェクト計画書の承認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現状分析完了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2027/01/29</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現状業務フローと課題一覧のレビュー承認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要件確定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2027/03/31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To-Be</a:t>
                      </a:r>
                      <a:r>
                        <a:rPr lang="ja-JP" sz="1100" b="0" u="none" strike="noStrike">
                          <a:solidFill>
                            <a:srgbClr val="1F2937"/>
                          </a:solidFill>
                          <a:effectLst/>
                          <a:uFillTx/>
                          <a:latin typeface="BIZ UDPゴシック"/>
                          <a:ea typeface="BIZ UDPゴシック"/>
                        </a:rPr>
                        <a:t>業務フローと要件定義書の承認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導入・設定完了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2027/06/30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サービス設定・連携開発の完了と単体・設定確認の全件合格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貴社情報システム部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結合テスト完了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2027/07/30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連携シナリオ全件合格・重大不具合</a:t>
                      </a:r>
                      <a:r>
                        <a:rPr lang="en-US" sz="1100" b="0" u="none" strike="noStrike">
                          <a:solidFill>
                            <a:srgbClr val="1F2937"/>
                          </a:solidFill>
                          <a:effectLst/>
                          <a:uFillTx/>
                          <a:latin typeface="BIZ UDPゴシック"/>
                          <a:ea typeface="BIZ UDPゴシック"/>
                        </a:rPr>
                        <a:t>0</a:t>
                      </a:r>
                      <a:r>
                        <a:rPr lang="ja-JP" sz="1100" b="0" u="none" strike="noStrike">
                          <a:solidFill>
                            <a:srgbClr val="1F2937"/>
                          </a:solidFill>
                          <a:effectLst/>
                          <a:uFillTx/>
                          <a:latin typeface="BIZ UDPゴシック"/>
                          <a:ea typeface="BIZ UDPゴシック"/>
                        </a:rPr>
                        <a:t>件</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貴社情報システム部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受入テスト完了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2027/08/31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業務シナリオ合格率</a:t>
                      </a:r>
                      <a:r>
                        <a:rPr lang="en-US" sz="1100" b="0" u="none" strike="noStrike">
                          <a:solidFill>
                            <a:srgbClr val="1F2937"/>
                          </a:solidFill>
                          <a:effectLst/>
                          <a:uFillTx/>
                          <a:latin typeface="BIZ UDPゴシック"/>
                          <a:ea typeface="BIZ UDPゴシック"/>
                        </a:rPr>
                        <a:t>100%</a:t>
                      </a:r>
                      <a:r>
                        <a:rPr lang="ja-JP" sz="1100" b="0" u="none" strike="noStrike">
                          <a:solidFill>
                            <a:srgbClr val="1F2937"/>
                          </a:solidFill>
                          <a:effectLst/>
                          <a:uFillTx/>
                          <a:latin typeface="BIZ UDPゴシック"/>
                          <a:ea typeface="BIZ UDPゴシック"/>
                        </a:rPr>
                        <a:t>と検収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全社本番稼働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2027/10/01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全社一斉稼働の開始と稼働判定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2027/11/30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完了検収条件</a:t>
                      </a: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項目の充足と完了報告の承認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9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9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19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19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96"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97"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9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19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0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0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0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20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2.3 </a:t>
            </a:r>
            <a:r>
              <a:rPr lang="ja-JP" sz="2400" b="1" u="none" strike="noStrike">
                <a:solidFill>
                  <a:srgbClr val="16213E"/>
                </a:solidFill>
                <a:effectLst/>
                <a:uFillTx/>
                <a:latin typeface="BIZ UDPゴシック"/>
                <a:ea typeface="BIZ UDPゴシック"/>
              </a:rPr>
              <a:t>検証・テスト計画</a:t>
            </a:r>
            <a:endParaRPr lang="en-US" sz="2400" b="0" u="none" strike="noStrike">
              <a:solidFill>
                <a:srgbClr val="000000"/>
              </a:solidFill>
              <a:effectLst/>
              <a:uFillTx/>
              <a:latin typeface="Arial"/>
            </a:endParaRPr>
          </a:p>
        </p:txBody>
      </p:sp>
      <p:sp>
        <p:nvSpPr>
          <p:cNvPr id="120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205" name="hdr-hair"/>
          <p:cNvCxnSpPr/>
          <p:nvPr/>
        </p:nvCxnSpPr>
        <p:spPr>
          <a:xfrm>
            <a:off x="502920" y="969120"/>
            <a:ext cx="11186280" cy="720"/>
          </a:xfrm>
          <a:prstGeom prst="straightConnector1">
            <a:avLst/>
          </a:prstGeom>
          <a:ln w="9525">
            <a:solidFill>
              <a:srgbClr val="D5DBE5"/>
            </a:solidFill>
            <a:round/>
          </a:ln>
        </p:spPr>
      </p:cxnSp>
      <p:cxnSp>
        <p:nvCxnSpPr>
          <p:cNvPr id="1206" name="ftr-hair"/>
          <p:cNvCxnSpPr/>
          <p:nvPr/>
        </p:nvCxnSpPr>
        <p:spPr>
          <a:xfrm>
            <a:off x="502920" y="6382440"/>
            <a:ext cx="11186280" cy="720"/>
          </a:xfrm>
          <a:prstGeom prst="straightConnector1">
            <a:avLst/>
          </a:prstGeom>
          <a:ln w="9525">
            <a:solidFill>
              <a:srgbClr val="D5DBE5"/>
            </a:solidFill>
            <a:round/>
          </a:ln>
        </p:spPr>
      </p:cxnSp>
      <p:sp>
        <p:nvSpPr>
          <p:cNvPr id="120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32 / 85</a:t>
            </a:r>
            <a:endParaRPr lang="en-US" sz="1100" b="0" u="none" strike="noStrike">
              <a:solidFill>
                <a:srgbClr val="000000"/>
              </a:solidFill>
              <a:effectLst/>
              <a:uFillTx/>
              <a:latin typeface="Arial"/>
            </a:endParaRPr>
          </a:p>
        </p:txBody>
      </p:sp>
      <p:sp>
        <p:nvSpPr>
          <p:cNvPr id="120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20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21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21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4</a:t>
            </a:r>
            <a:r>
              <a:rPr lang="ja-JP" sz="1500" b="1" u="none" strike="noStrike">
                <a:solidFill>
                  <a:srgbClr val="16213E"/>
                </a:solidFill>
                <a:effectLst/>
                <a:uFillTx/>
                <a:latin typeface="BIZ UDPゴシック"/>
                <a:ea typeface="BIZ UDPゴシック"/>
              </a:rPr>
              <a:t>段階の検証と本番リハーサルで品質と切替リスクを低減する</a:t>
            </a:r>
            <a:endParaRPr lang="en-US" sz="1500" b="0" u="none" strike="noStrike">
              <a:solidFill>
                <a:srgbClr val="000000"/>
              </a:solidFill>
              <a:effectLst/>
              <a:uFillTx/>
              <a:latin typeface="Arial"/>
            </a:endParaRPr>
          </a:p>
        </p:txBody>
      </p:sp>
      <p:graphicFrame>
        <p:nvGraphicFramePr>
          <p:cNvPr id="1214" name="blk-table"/>
          <p:cNvGraphicFramePr/>
          <p:nvPr/>
        </p:nvGraphicFramePr>
        <p:xfrm>
          <a:off x="502920" y="1627560"/>
          <a:ext cx="11184480" cy="2274480"/>
        </p:xfrm>
        <a:graphic>
          <a:graphicData uri="http://schemas.openxmlformats.org/drawingml/2006/table">
            <a:tbl>
              <a:tblPr/>
              <a:tblGrid>
                <a:gridCol w="671040"/>
                <a:gridCol w="1566000"/>
                <a:gridCol w="2013120"/>
                <a:gridCol w="1342080"/>
                <a:gridCol w="1566000"/>
                <a:gridCol w="1342080"/>
                <a:gridCol w="2684520"/>
              </a:tblGrid>
              <a:tr h="245520">
                <a:tc>
                  <a:txBody>
                    <a:bodyPr lIns="45720" tIns="18000" rIns="45720" bIns="18000" anchor="t">
                      <a:noAutofit/>
                    </a:bodyPr>
                    <a:p>
                      <a:pPr defTabSz="457200">
                        <a:lnSpc>
                          <a:spcPct val="120000"/>
                        </a:lnSpc>
                      </a:pPr>
                      <a:r>
                        <a:rPr lang="en-US" sz="1100" b="1" u="none" strike="noStrike">
                          <a:solidFill>
                            <a:srgbClr val="FFFFFF"/>
                          </a:solidFill>
                          <a:effectLst/>
                          <a:uFillTx/>
                          <a:latin typeface="BIZ UDPゴシック"/>
                          <a:ea typeface="BIZ UDPゴシック"/>
                        </a:rPr>
                        <a:t>No</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検証名</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目的</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実施者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環境・場所</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時期</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合格基準</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9492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V1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単体・設定確認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サービス設定と連携単体の確認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当社・貴社</a:t>
                      </a:r>
                      <a:r>
                        <a:rPr lang="en-US" sz="1100" b="0" u="none" strike="noStrike">
                          <a:solidFill>
                            <a:srgbClr val="1F2937"/>
                          </a:solidFill>
                          <a:effectLst/>
                          <a:uFillTx/>
                          <a:latin typeface="BIZ UDPゴシック"/>
                          <a:ea typeface="BIZ UDPゴシック"/>
                        </a:rPr>
                        <a:t>IT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当社検証環境</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2027/04</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06</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設定項目と連携単体の全件正常終了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V2</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結合テスト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連携システムとの疎通確認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当社主導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結合テスト環境</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2027/07</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連携シナリオ全件合格・重大不具合</a:t>
                      </a:r>
                      <a:r>
                        <a:rPr lang="en-US" sz="1100" b="0" u="none" strike="noStrike">
                          <a:solidFill>
                            <a:srgbClr val="1F2937"/>
                          </a:solidFill>
                          <a:effectLst/>
                          <a:uFillTx/>
                          <a:latin typeface="BIZ UDPゴシック"/>
                          <a:ea typeface="BIZ UDPゴシック"/>
                        </a:rPr>
                        <a:t>0</a:t>
                      </a:r>
                      <a:r>
                        <a:rPr lang="ja-JP" sz="1100" b="0" u="none" strike="noStrike">
                          <a:solidFill>
                            <a:srgbClr val="1F2937"/>
                          </a:solidFill>
                          <a:effectLst/>
                          <a:uFillTx/>
                          <a:latin typeface="BIZ UDPゴシック"/>
                          <a:ea typeface="BIZ UDPゴシック"/>
                        </a:rPr>
                        <a:t>件</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V3</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受入テスト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業務シナリオでの受入確認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貴社主導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受入環境</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業務シナリオ合格率</a:t>
                      </a:r>
                      <a:r>
                        <a:rPr lang="en-US" sz="1100" b="0" u="none" strike="noStrike">
                          <a:solidFill>
                            <a:srgbClr val="1F2937"/>
                          </a:solidFill>
                          <a:effectLst/>
                          <a:uFillTx/>
                          <a:latin typeface="BIZ UDPゴシック"/>
                          <a:ea typeface="BIZ UDPゴシック"/>
                        </a:rPr>
                        <a:t>100%</a:t>
                      </a:r>
                      <a:r>
                        <a:rPr lang="ja-JP" sz="1100" b="0" u="none" strike="noStrike">
                          <a:solidFill>
                            <a:srgbClr val="1F2937"/>
                          </a:solidFill>
                          <a:effectLst/>
                          <a:uFillTx/>
                          <a:latin typeface="BIZ UDPゴシック"/>
                          <a:ea typeface="BIZ UDPゴシック"/>
                        </a:rPr>
                        <a:t>と検収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V4</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パイロット稼働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経理部と</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事業部での実運用確認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本番環境</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2027/09</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か月運用で重大障害</a:t>
                      </a:r>
                      <a:r>
                        <a:rPr lang="en-US" sz="1100" b="0" u="none" strike="noStrike">
                          <a:solidFill>
                            <a:srgbClr val="1F2937"/>
                          </a:solidFill>
                          <a:effectLst/>
                          <a:uFillTx/>
                          <a:latin typeface="BIZ UDPゴシック"/>
                          <a:ea typeface="BIZ UDPゴシック"/>
                        </a:rPr>
                        <a:t>0</a:t>
                      </a:r>
                      <a:r>
                        <a:rPr lang="ja-JP" sz="1100" b="0" u="none" strike="noStrike">
                          <a:solidFill>
                            <a:srgbClr val="1F2937"/>
                          </a:solidFill>
                          <a:effectLst/>
                          <a:uFillTx/>
                          <a:latin typeface="BIZ UDPゴシック"/>
                          <a:ea typeface="BIZ UDPゴシック"/>
                        </a:rPr>
                        <a:t>件と利用率</a:t>
                      </a:r>
                      <a:r>
                        <a:rPr lang="en-US" sz="1100" b="0" u="none" strike="noStrike">
                          <a:solidFill>
                            <a:srgbClr val="1F2937"/>
                          </a:solidFill>
                          <a:effectLst/>
                          <a:uFillTx/>
                          <a:latin typeface="BIZ UDPゴシック"/>
                          <a:ea typeface="BIZ UDPゴシック"/>
                        </a:rPr>
                        <a:t>90%</a:t>
                      </a:r>
                      <a:r>
                        <a:rPr lang="ja-JP" sz="1100" b="0" u="none" strike="noStrike">
                          <a:solidFill>
                            <a:srgbClr val="1F2937"/>
                          </a:solidFill>
                          <a:effectLst/>
                          <a:uFillTx/>
                          <a:latin typeface="BIZ UDPゴシック"/>
                          <a:ea typeface="BIZ UDPゴシック"/>
                        </a:rPr>
                        <a:t>以上</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V5</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本番リハーサル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全社切替手順と切戻しの確認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本番環境</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2027/09</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切替手順の完遂と切戻し目標時間の達成</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1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21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219"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0"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1"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2"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2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22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2.4 </a:t>
            </a:r>
            <a:r>
              <a:rPr lang="ja-JP" sz="2400" b="1" u="none" strike="noStrike">
                <a:solidFill>
                  <a:srgbClr val="16213E"/>
                </a:solidFill>
                <a:effectLst/>
                <a:uFillTx/>
                <a:latin typeface="BIZ UDPゴシック"/>
                <a:ea typeface="BIZ UDPゴシック"/>
              </a:rPr>
              <a:t>フェーズ別スケジュール ─ 要件定義フェーズ</a:t>
            </a:r>
            <a:endParaRPr lang="en-US" sz="2400" b="0" u="none" strike="noStrike">
              <a:solidFill>
                <a:srgbClr val="000000"/>
              </a:solidFill>
              <a:effectLst/>
              <a:uFillTx/>
              <a:latin typeface="Arial"/>
            </a:endParaRPr>
          </a:p>
        </p:txBody>
      </p:sp>
      <p:sp>
        <p:nvSpPr>
          <p:cNvPr id="122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229" name="hdr-hair"/>
          <p:cNvCxnSpPr/>
          <p:nvPr/>
        </p:nvCxnSpPr>
        <p:spPr>
          <a:xfrm>
            <a:off x="502920" y="969120"/>
            <a:ext cx="11186280" cy="720"/>
          </a:xfrm>
          <a:prstGeom prst="straightConnector1">
            <a:avLst/>
          </a:prstGeom>
          <a:ln w="9525">
            <a:solidFill>
              <a:srgbClr val="D5DBE5"/>
            </a:solidFill>
            <a:round/>
          </a:ln>
        </p:spPr>
      </p:cxnSp>
      <p:cxnSp>
        <p:nvCxnSpPr>
          <p:cNvPr id="1230" name="ftr-hair"/>
          <p:cNvCxnSpPr/>
          <p:nvPr/>
        </p:nvCxnSpPr>
        <p:spPr>
          <a:xfrm>
            <a:off x="502920" y="6382440"/>
            <a:ext cx="11186280" cy="720"/>
          </a:xfrm>
          <a:prstGeom prst="straightConnector1">
            <a:avLst/>
          </a:prstGeom>
          <a:ln w="9525">
            <a:solidFill>
              <a:srgbClr val="D5DBE5"/>
            </a:solidFill>
            <a:round/>
          </a:ln>
        </p:spPr>
      </p:cxnSp>
      <p:sp>
        <p:nvSpPr>
          <p:cNvPr id="123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33 / 85</a:t>
            </a:r>
            <a:endParaRPr lang="en-US" sz="1100" b="0" u="none" strike="noStrike">
              <a:solidFill>
                <a:srgbClr val="000000"/>
              </a:solidFill>
              <a:effectLst/>
              <a:uFillTx/>
              <a:latin typeface="Arial"/>
            </a:endParaRPr>
          </a:p>
        </p:txBody>
      </p:sp>
      <p:sp>
        <p:nvSpPr>
          <p:cNvPr id="123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23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23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23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3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3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Fit to Standard</a:t>
            </a:r>
            <a:r>
              <a:rPr lang="ja-JP" sz="1500" b="1" u="none" strike="noStrike">
                <a:solidFill>
                  <a:srgbClr val="16213E"/>
                </a:solidFill>
                <a:effectLst/>
                <a:uFillTx/>
                <a:latin typeface="BIZ UDPゴシック"/>
                <a:ea typeface="BIZ UDPゴシック"/>
              </a:rPr>
              <a:t>で標準機能を活かし要件を早期確定する</a:t>
            </a:r>
            <a:endParaRPr lang="en-US" sz="1500" b="0" u="none" strike="noStrike">
              <a:solidFill>
                <a:srgbClr val="000000"/>
              </a:solidFill>
              <a:effectLst/>
              <a:uFillTx/>
              <a:latin typeface="Arial"/>
            </a:endParaRPr>
          </a:p>
        </p:txBody>
      </p:sp>
      <p:sp>
        <p:nvSpPr>
          <p:cNvPr id="1238" name="TextBox 24"/>
          <p:cNvSpPr/>
          <p:nvPr/>
        </p:nvSpPr>
        <p:spPr>
          <a:xfrm>
            <a:off x="258768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2/1</a:t>
            </a:r>
            <a:endParaRPr lang="en-US" sz="800" b="0" u="none" strike="noStrike">
              <a:solidFill>
                <a:srgbClr val="000000"/>
              </a:solidFill>
              <a:effectLst/>
              <a:uFillTx/>
              <a:latin typeface="Arial"/>
            </a:endParaRPr>
          </a:p>
        </p:txBody>
      </p:sp>
      <p:cxnSp>
        <p:nvCxnSpPr>
          <p:cNvPr id="1239" name="gt-grid"/>
          <p:cNvCxnSpPr/>
          <p:nvPr/>
        </p:nvCxnSpPr>
        <p:spPr>
          <a:xfrm>
            <a:off x="3927240" y="1938240"/>
            <a:ext cx="1440" cy="720"/>
          </a:xfrm>
          <a:prstGeom prst="straightConnector1">
            <a:avLst/>
          </a:prstGeom>
          <a:ln w="6350">
            <a:solidFill>
              <a:srgbClr val="D5DBE5"/>
            </a:solidFill>
            <a:round/>
          </a:ln>
        </p:spPr>
      </p:cxnSp>
      <p:cxnSp>
        <p:nvCxnSpPr>
          <p:cNvPr id="1240" name="gt-grid"/>
          <p:cNvCxnSpPr/>
          <p:nvPr/>
        </p:nvCxnSpPr>
        <p:spPr>
          <a:xfrm>
            <a:off x="3927240" y="1938240"/>
            <a:ext cx="720" cy="238680"/>
          </a:xfrm>
          <a:prstGeom prst="straightConnector1">
            <a:avLst/>
          </a:prstGeom>
          <a:ln w="6350">
            <a:solidFill>
              <a:srgbClr val="D5DBE5"/>
            </a:solidFill>
            <a:round/>
          </a:ln>
        </p:spPr>
      </p:cxnSp>
      <p:cxnSp>
        <p:nvCxnSpPr>
          <p:cNvPr id="1241" name="gt-grid"/>
          <p:cNvCxnSpPr/>
          <p:nvPr/>
        </p:nvCxnSpPr>
        <p:spPr>
          <a:xfrm>
            <a:off x="4992480" y="1938240"/>
            <a:ext cx="1800" cy="720"/>
          </a:xfrm>
          <a:prstGeom prst="straightConnector1">
            <a:avLst/>
          </a:prstGeom>
          <a:ln w="6350">
            <a:solidFill>
              <a:srgbClr val="D5DBE5"/>
            </a:solidFill>
            <a:round/>
          </a:ln>
        </p:spPr>
      </p:cxnSp>
      <p:cxnSp>
        <p:nvCxnSpPr>
          <p:cNvPr id="1242" name="gt-grid"/>
          <p:cNvCxnSpPr/>
          <p:nvPr/>
        </p:nvCxnSpPr>
        <p:spPr>
          <a:xfrm>
            <a:off x="4992480" y="1938240"/>
            <a:ext cx="720" cy="238680"/>
          </a:xfrm>
          <a:prstGeom prst="straightConnector1">
            <a:avLst/>
          </a:prstGeom>
          <a:ln w="6350">
            <a:solidFill>
              <a:srgbClr val="D5DBE5"/>
            </a:solidFill>
            <a:round/>
          </a:ln>
        </p:spPr>
      </p:cxnSp>
      <p:sp>
        <p:nvSpPr>
          <p:cNvPr id="1243" name="TextBox 29"/>
          <p:cNvSpPr/>
          <p:nvPr/>
        </p:nvSpPr>
        <p:spPr>
          <a:xfrm>
            <a:off x="471816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2/15</a:t>
            </a:r>
            <a:endParaRPr lang="en-US" sz="800" b="0" u="none" strike="noStrike">
              <a:solidFill>
                <a:srgbClr val="000000"/>
              </a:solidFill>
              <a:effectLst/>
              <a:uFillTx/>
              <a:latin typeface="Arial"/>
            </a:endParaRPr>
          </a:p>
        </p:txBody>
      </p:sp>
      <p:cxnSp>
        <p:nvCxnSpPr>
          <p:cNvPr id="1244" name="gt-grid"/>
          <p:cNvCxnSpPr/>
          <p:nvPr/>
        </p:nvCxnSpPr>
        <p:spPr>
          <a:xfrm>
            <a:off x="6057720" y="1938240"/>
            <a:ext cx="1800" cy="720"/>
          </a:xfrm>
          <a:prstGeom prst="straightConnector1">
            <a:avLst/>
          </a:prstGeom>
          <a:ln w="6350">
            <a:solidFill>
              <a:srgbClr val="D5DBE5"/>
            </a:solidFill>
            <a:round/>
          </a:ln>
        </p:spPr>
      </p:cxnSp>
      <p:cxnSp>
        <p:nvCxnSpPr>
          <p:cNvPr id="1245" name="gt-grid"/>
          <p:cNvCxnSpPr/>
          <p:nvPr/>
        </p:nvCxnSpPr>
        <p:spPr>
          <a:xfrm>
            <a:off x="6057720" y="1938240"/>
            <a:ext cx="720" cy="238680"/>
          </a:xfrm>
          <a:prstGeom prst="straightConnector1">
            <a:avLst/>
          </a:prstGeom>
          <a:ln w="6350">
            <a:solidFill>
              <a:srgbClr val="D5DBE5"/>
            </a:solidFill>
            <a:round/>
          </a:ln>
        </p:spPr>
      </p:cxnSp>
      <p:cxnSp>
        <p:nvCxnSpPr>
          <p:cNvPr id="1246" name="gt-grid"/>
          <p:cNvCxnSpPr/>
          <p:nvPr/>
        </p:nvCxnSpPr>
        <p:spPr>
          <a:xfrm>
            <a:off x="7122960" y="1938240"/>
            <a:ext cx="1800" cy="720"/>
          </a:xfrm>
          <a:prstGeom prst="straightConnector1">
            <a:avLst/>
          </a:prstGeom>
          <a:ln w="6350">
            <a:solidFill>
              <a:srgbClr val="D5DBE5"/>
            </a:solidFill>
            <a:round/>
          </a:ln>
        </p:spPr>
      </p:cxnSp>
      <p:cxnSp>
        <p:nvCxnSpPr>
          <p:cNvPr id="1247" name="gt-grid"/>
          <p:cNvCxnSpPr/>
          <p:nvPr/>
        </p:nvCxnSpPr>
        <p:spPr>
          <a:xfrm>
            <a:off x="7122960" y="1938240"/>
            <a:ext cx="720" cy="238680"/>
          </a:xfrm>
          <a:prstGeom prst="straightConnector1">
            <a:avLst/>
          </a:prstGeom>
          <a:ln w="6350">
            <a:solidFill>
              <a:srgbClr val="D5DBE5"/>
            </a:solidFill>
            <a:round/>
          </a:ln>
        </p:spPr>
      </p:cxnSp>
      <p:sp>
        <p:nvSpPr>
          <p:cNvPr id="1248" name="TextBox 34"/>
          <p:cNvSpPr/>
          <p:nvPr/>
        </p:nvSpPr>
        <p:spPr>
          <a:xfrm>
            <a:off x="684900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3/1</a:t>
            </a:r>
            <a:endParaRPr lang="en-US" sz="800" b="0" u="none" strike="noStrike">
              <a:solidFill>
                <a:srgbClr val="000000"/>
              </a:solidFill>
              <a:effectLst/>
              <a:uFillTx/>
              <a:latin typeface="Arial"/>
            </a:endParaRPr>
          </a:p>
        </p:txBody>
      </p:sp>
      <p:cxnSp>
        <p:nvCxnSpPr>
          <p:cNvPr id="1249" name="gt-grid"/>
          <p:cNvCxnSpPr/>
          <p:nvPr/>
        </p:nvCxnSpPr>
        <p:spPr>
          <a:xfrm>
            <a:off x="8188200" y="1938240"/>
            <a:ext cx="1800" cy="720"/>
          </a:xfrm>
          <a:prstGeom prst="straightConnector1">
            <a:avLst/>
          </a:prstGeom>
          <a:ln w="6350">
            <a:solidFill>
              <a:srgbClr val="D5DBE5"/>
            </a:solidFill>
            <a:round/>
          </a:ln>
        </p:spPr>
      </p:cxnSp>
      <p:cxnSp>
        <p:nvCxnSpPr>
          <p:cNvPr id="1250" name="gt-grid"/>
          <p:cNvCxnSpPr/>
          <p:nvPr/>
        </p:nvCxnSpPr>
        <p:spPr>
          <a:xfrm>
            <a:off x="8188200" y="1938240"/>
            <a:ext cx="720" cy="238680"/>
          </a:xfrm>
          <a:prstGeom prst="straightConnector1">
            <a:avLst/>
          </a:prstGeom>
          <a:ln w="6350">
            <a:solidFill>
              <a:srgbClr val="D5DBE5"/>
            </a:solidFill>
            <a:round/>
          </a:ln>
        </p:spPr>
      </p:cxnSp>
      <p:cxnSp>
        <p:nvCxnSpPr>
          <p:cNvPr id="1251" name="gt-grid"/>
          <p:cNvCxnSpPr/>
          <p:nvPr/>
        </p:nvCxnSpPr>
        <p:spPr>
          <a:xfrm>
            <a:off x="9253800" y="1938240"/>
            <a:ext cx="1440" cy="720"/>
          </a:xfrm>
          <a:prstGeom prst="straightConnector1">
            <a:avLst/>
          </a:prstGeom>
          <a:ln w="6350">
            <a:solidFill>
              <a:srgbClr val="D5DBE5"/>
            </a:solidFill>
            <a:round/>
          </a:ln>
        </p:spPr>
      </p:cxnSp>
      <p:cxnSp>
        <p:nvCxnSpPr>
          <p:cNvPr id="1252" name="gt-grid"/>
          <p:cNvCxnSpPr/>
          <p:nvPr/>
        </p:nvCxnSpPr>
        <p:spPr>
          <a:xfrm>
            <a:off x="9253800" y="1938240"/>
            <a:ext cx="720" cy="238680"/>
          </a:xfrm>
          <a:prstGeom prst="straightConnector1">
            <a:avLst/>
          </a:prstGeom>
          <a:ln w="6350">
            <a:solidFill>
              <a:srgbClr val="D5DBE5"/>
            </a:solidFill>
            <a:round/>
          </a:ln>
        </p:spPr>
      </p:cxnSp>
      <p:sp>
        <p:nvSpPr>
          <p:cNvPr id="1253" name="TextBox 39"/>
          <p:cNvSpPr/>
          <p:nvPr/>
        </p:nvSpPr>
        <p:spPr>
          <a:xfrm>
            <a:off x="897948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3/15</a:t>
            </a:r>
            <a:endParaRPr lang="en-US" sz="800" b="0" u="none" strike="noStrike">
              <a:solidFill>
                <a:srgbClr val="000000"/>
              </a:solidFill>
              <a:effectLst/>
              <a:uFillTx/>
              <a:latin typeface="Arial"/>
            </a:endParaRPr>
          </a:p>
        </p:txBody>
      </p:sp>
      <p:cxnSp>
        <p:nvCxnSpPr>
          <p:cNvPr id="1254" name="gt-grid"/>
          <p:cNvCxnSpPr/>
          <p:nvPr/>
        </p:nvCxnSpPr>
        <p:spPr>
          <a:xfrm>
            <a:off x="10319040" y="1938240"/>
            <a:ext cx="1440" cy="720"/>
          </a:xfrm>
          <a:prstGeom prst="straightConnector1">
            <a:avLst/>
          </a:prstGeom>
          <a:ln w="6350">
            <a:solidFill>
              <a:srgbClr val="D5DBE5"/>
            </a:solidFill>
            <a:round/>
          </a:ln>
        </p:spPr>
      </p:cxnSp>
      <p:cxnSp>
        <p:nvCxnSpPr>
          <p:cNvPr id="1255" name="gt-grid"/>
          <p:cNvCxnSpPr/>
          <p:nvPr/>
        </p:nvCxnSpPr>
        <p:spPr>
          <a:xfrm>
            <a:off x="10319040" y="1938240"/>
            <a:ext cx="720" cy="238680"/>
          </a:xfrm>
          <a:prstGeom prst="straightConnector1">
            <a:avLst/>
          </a:prstGeom>
          <a:ln w="6350">
            <a:solidFill>
              <a:srgbClr val="D5DBE5"/>
            </a:solidFill>
            <a:round/>
          </a:ln>
        </p:spPr>
      </p:cxnSp>
      <p:cxnSp>
        <p:nvCxnSpPr>
          <p:cNvPr id="1256" name="gt-grid"/>
          <p:cNvCxnSpPr/>
          <p:nvPr/>
        </p:nvCxnSpPr>
        <p:spPr>
          <a:xfrm>
            <a:off x="11384280" y="1938240"/>
            <a:ext cx="1440" cy="720"/>
          </a:xfrm>
          <a:prstGeom prst="straightConnector1">
            <a:avLst/>
          </a:prstGeom>
          <a:ln w="6350">
            <a:solidFill>
              <a:srgbClr val="D5DBE5"/>
            </a:solidFill>
            <a:round/>
          </a:ln>
        </p:spPr>
      </p:cxnSp>
      <p:cxnSp>
        <p:nvCxnSpPr>
          <p:cNvPr id="1257" name="gt-grid"/>
          <p:cNvCxnSpPr/>
          <p:nvPr/>
        </p:nvCxnSpPr>
        <p:spPr>
          <a:xfrm>
            <a:off x="11384280" y="1938240"/>
            <a:ext cx="720" cy="238680"/>
          </a:xfrm>
          <a:prstGeom prst="straightConnector1">
            <a:avLst/>
          </a:prstGeom>
          <a:ln w="6350">
            <a:solidFill>
              <a:srgbClr val="D5DBE5"/>
            </a:solidFill>
            <a:round/>
          </a:ln>
        </p:spPr>
      </p:cxnSp>
      <p:sp>
        <p:nvSpPr>
          <p:cNvPr id="1258" name="TextBox 44"/>
          <p:cNvSpPr/>
          <p:nvPr/>
        </p:nvSpPr>
        <p:spPr>
          <a:xfrm>
            <a:off x="1110996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3/29</a:t>
            </a:r>
            <a:endParaRPr lang="en-US" sz="800" b="0" u="none" strike="noStrike">
              <a:solidFill>
                <a:srgbClr val="000000"/>
              </a:solidFill>
              <a:effectLst/>
              <a:uFillTx/>
              <a:latin typeface="Arial"/>
            </a:endParaRPr>
          </a:p>
        </p:txBody>
      </p:sp>
      <p:cxnSp>
        <p:nvCxnSpPr>
          <p:cNvPr id="1259" name="gt-hdrline"/>
          <p:cNvCxnSpPr/>
          <p:nvPr/>
        </p:nvCxnSpPr>
        <p:spPr>
          <a:xfrm>
            <a:off x="2862000" y="2176200"/>
            <a:ext cx="8827200" cy="720"/>
          </a:xfrm>
          <a:prstGeom prst="straightConnector1">
            <a:avLst/>
          </a:prstGeom>
          <a:ln w="9525">
            <a:solidFill>
              <a:srgbClr val="D5DBE5"/>
            </a:solidFill>
            <a:round/>
          </a:ln>
        </p:spPr>
      </p:cxnSp>
      <p:sp>
        <p:nvSpPr>
          <p:cNvPr id="1260" name="gt-ms"/>
          <p:cNvSpPr/>
          <p:nvPr/>
        </p:nvSpPr>
        <p:spPr>
          <a:xfrm rot="10800000">
            <a:off x="1162548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261" name="gt-ms-lab"/>
          <p:cNvSpPr/>
          <p:nvPr/>
        </p:nvSpPr>
        <p:spPr>
          <a:xfrm>
            <a:off x="1100304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要件確定</a:t>
            </a:r>
            <a:endParaRPr lang="en-US" sz="800" b="0" u="none" strike="noStrike">
              <a:solidFill>
                <a:srgbClr val="000000"/>
              </a:solidFill>
              <a:effectLst/>
              <a:uFillTx/>
              <a:latin typeface="Arial"/>
            </a:endParaRPr>
          </a:p>
        </p:txBody>
      </p:sp>
      <p:sp>
        <p:nvSpPr>
          <p:cNvPr id="1262" name="gt-bar"/>
          <p:cNvSpPr/>
          <p:nvPr/>
        </p:nvSpPr>
        <p:spPr>
          <a:xfrm>
            <a:off x="2862000" y="2267640"/>
            <a:ext cx="8826120" cy="136440"/>
          </a:xfrm>
          <a:prstGeom prst="roundRect">
            <a:avLst>
              <a:gd name="adj" fmla="val 3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3" name="gt-name"/>
          <p:cNvSpPr/>
          <p:nvPr/>
        </p:nvSpPr>
        <p:spPr>
          <a:xfrm>
            <a:off x="502920" y="221292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1050" b="1" u="none" strike="noStrike">
                <a:solidFill>
                  <a:srgbClr val="1F2937"/>
                </a:solidFill>
                <a:effectLst/>
                <a:uFillTx/>
                <a:latin typeface="BIZ UDPゴシック"/>
                <a:ea typeface="BIZ UDPゴシック"/>
              </a:rPr>
              <a:t>To-Be</a:t>
            </a:r>
            <a:r>
              <a:rPr lang="ja-JP" sz="1050" b="1" u="none" strike="noStrike">
                <a:solidFill>
                  <a:srgbClr val="1F2937"/>
                </a:solidFill>
                <a:effectLst/>
                <a:uFillTx/>
                <a:latin typeface="BIZ UDPゴシック"/>
                <a:ea typeface="BIZ UDPゴシック"/>
              </a:rPr>
              <a:t>設計・要件定義</a:t>
            </a:r>
            <a:endParaRPr lang="en-US" sz="1050" b="0" u="none" strike="noStrike">
              <a:solidFill>
                <a:srgbClr val="000000"/>
              </a:solidFill>
              <a:effectLst/>
              <a:uFillTx/>
              <a:latin typeface="Arial"/>
            </a:endParaRPr>
          </a:p>
        </p:txBody>
      </p:sp>
      <p:cxnSp>
        <p:nvCxnSpPr>
          <p:cNvPr id="1264" name="gt-rowline"/>
          <p:cNvCxnSpPr/>
          <p:nvPr/>
        </p:nvCxnSpPr>
        <p:spPr>
          <a:xfrm>
            <a:off x="502920" y="2212560"/>
            <a:ext cx="11186280" cy="720"/>
          </a:xfrm>
          <a:prstGeom prst="straightConnector1">
            <a:avLst/>
          </a:prstGeom>
          <a:ln w="6350">
            <a:solidFill>
              <a:srgbClr val="E6E9EF"/>
            </a:solidFill>
            <a:round/>
          </a:ln>
        </p:spPr>
      </p:cxnSp>
      <p:sp>
        <p:nvSpPr>
          <p:cNvPr id="1265" name="gt-bar"/>
          <p:cNvSpPr/>
          <p:nvPr/>
        </p:nvSpPr>
        <p:spPr>
          <a:xfrm>
            <a:off x="2862000" y="2519280"/>
            <a:ext cx="486936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266" name="gt-name"/>
          <p:cNvSpPr/>
          <p:nvPr/>
        </p:nvSpPr>
        <p:spPr>
          <a:xfrm>
            <a:off x="667440" y="245988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950" b="0" u="none" strike="noStrike">
                <a:solidFill>
                  <a:srgbClr val="1F2937"/>
                </a:solidFill>
                <a:effectLst/>
                <a:uFillTx/>
                <a:latin typeface="BIZ UDPゴシック"/>
                <a:ea typeface="BIZ UDPゴシック"/>
              </a:rPr>
              <a:t>To-Be</a:t>
            </a:r>
            <a:r>
              <a:rPr lang="ja-JP" sz="950" b="0" u="none" strike="noStrike">
                <a:solidFill>
                  <a:srgbClr val="1F2937"/>
                </a:solidFill>
                <a:effectLst/>
                <a:uFillTx/>
                <a:latin typeface="BIZ UDPゴシック"/>
                <a:ea typeface="BIZ UDPゴシック"/>
              </a:rPr>
              <a:t>業務設計</a:t>
            </a:r>
            <a:endParaRPr lang="en-US" sz="950" b="0" u="none" strike="noStrike">
              <a:solidFill>
                <a:srgbClr val="000000"/>
              </a:solidFill>
              <a:effectLst/>
              <a:uFillTx/>
              <a:latin typeface="Arial"/>
            </a:endParaRPr>
          </a:p>
        </p:txBody>
      </p:sp>
      <p:sp>
        <p:nvSpPr>
          <p:cNvPr id="1267" name="gt-deliv"/>
          <p:cNvSpPr/>
          <p:nvPr/>
        </p:nvSpPr>
        <p:spPr>
          <a:xfrm>
            <a:off x="7786800" y="2459880"/>
            <a:ext cx="94428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[To-Be</a:t>
            </a:r>
            <a:r>
              <a:rPr lang="ja-JP" sz="800" b="0" u="none" strike="noStrike">
                <a:solidFill>
                  <a:srgbClr val="6B7280"/>
                </a:solidFill>
                <a:effectLst/>
                <a:uFillTx/>
                <a:latin typeface="BIZ UDPゴシック"/>
                <a:ea typeface="BIZ UDPゴシック"/>
              </a:rPr>
              <a:t>業務フロー</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268" name="gt-bar"/>
          <p:cNvSpPr/>
          <p:nvPr/>
        </p:nvSpPr>
        <p:spPr>
          <a:xfrm>
            <a:off x="8188560" y="2729520"/>
            <a:ext cx="349956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269" name="gt-name"/>
          <p:cNvSpPr/>
          <p:nvPr/>
        </p:nvSpPr>
        <p:spPr>
          <a:xfrm>
            <a:off x="667440" y="267012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要件定義・合意</a:t>
            </a:r>
            <a:endParaRPr lang="en-US" sz="950" b="0" u="none" strike="noStrike">
              <a:solidFill>
                <a:srgbClr val="000000"/>
              </a:solidFill>
              <a:effectLst/>
              <a:uFillTx/>
              <a:latin typeface="Arial"/>
            </a:endParaRPr>
          </a:p>
        </p:txBody>
      </p:sp>
      <p:sp>
        <p:nvSpPr>
          <p:cNvPr id="1270" name="gt-deliv"/>
          <p:cNvSpPr/>
          <p:nvPr/>
        </p:nvSpPr>
        <p:spPr>
          <a:xfrm>
            <a:off x="7468200" y="2670120"/>
            <a:ext cx="664920" cy="209520"/>
          </a:xfrm>
          <a:prstGeom prst="rect">
            <a:avLst/>
          </a:prstGeom>
          <a:noFill/>
          <a:ln w="0">
            <a:noFill/>
          </a:ln>
        </p:spPr>
        <p:style>
          <a:lnRef idx="0"/>
          <a:fillRef idx="0"/>
          <a:effectRef idx="0"/>
          <a:fontRef idx="minor"/>
        </p:style>
        <p:txBody>
          <a:bodyPr wrap="none" lIns="0" tIns="0" rIns="0" bIns="0" anchor="ctr" anchorCtr="1">
            <a:spAutoFit/>
          </a:bodyPr>
          <a:p>
            <a:pPr algn="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要件定義書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271" name="gt-bar"/>
          <p:cNvSpPr/>
          <p:nvPr/>
        </p:nvSpPr>
        <p:spPr>
          <a:xfrm>
            <a:off x="11384280" y="2939760"/>
            <a:ext cx="303480" cy="90720"/>
          </a:xfrm>
          <a:prstGeom prst="roundRect">
            <a:avLst>
              <a:gd name="adj" fmla="val 5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272" name="gt-name"/>
          <p:cNvSpPr/>
          <p:nvPr/>
        </p:nvSpPr>
        <p:spPr>
          <a:xfrm>
            <a:off x="667440" y="288036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レビュー・承認</a:t>
            </a:r>
            <a:endParaRPr lang="en-US" sz="950" b="0" u="none" strike="noStrike">
              <a:solidFill>
                <a:srgbClr val="000000"/>
              </a:solidFill>
              <a:effectLst/>
              <a:uFillTx/>
              <a:latin typeface="Arial"/>
            </a:endParaRPr>
          </a:p>
        </p:txBody>
      </p:sp>
      <p:sp>
        <p:nvSpPr>
          <p:cNvPr id="1273" name="gt-leg"/>
          <p:cNvSpPr/>
          <p:nvPr/>
        </p:nvSpPr>
        <p:spPr>
          <a:xfrm>
            <a:off x="2862000" y="3136320"/>
            <a:ext cx="145440" cy="90720"/>
          </a:xfrm>
          <a:prstGeom prst="roundRect">
            <a:avLst>
              <a:gd name="adj" fmla="val 4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274" name="TextBox 60"/>
          <p:cNvSpPr/>
          <p:nvPr/>
        </p:nvSpPr>
        <p:spPr>
          <a:xfrm>
            <a:off x="3044880" y="309060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共同</a:t>
            </a:r>
            <a:endParaRPr lang="en-US" sz="900" b="0" u="none" strike="noStrike">
              <a:solidFill>
                <a:srgbClr val="000000"/>
              </a:solidFill>
              <a:effectLst/>
              <a:uFillTx/>
              <a:latin typeface="Arial"/>
            </a:endParaRPr>
          </a:p>
        </p:txBody>
      </p:sp>
      <p:sp>
        <p:nvSpPr>
          <p:cNvPr id="1275" name="gt-leg"/>
          <p:cNvSpPr/>
          <p:nvPr/>
        </p:nvSpPr>
        <p:spPr>
          <a:xfrm>
            <a:off x="3566160" y="3136320"/>
            <a:ext cx="145440" cy="90720"/>
          </a:xfrm>
          <a:prstGeom prst="roundRect">
            <a:avLst>
              <a:gd name="adj" fmla="val 4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276" name="TextBox 62"/>
          <p:cNvSpPr/>
          <p:nvPr/>
        </p:nvSpPr>
        <p:spPr>
          <a:xfrm>
            <a:off x="3749040" y="309060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当社</a:t>
            </a:r>
            <a:endParaRPr lang="en-US" sz="900" b="0" u="none" strike="noStrike">
              <a:solidFill>
                <a:srgbClr val="000000"/>
              </a:solidFill>
              <a:effectLst/>
              <a:uFillTx/>
              <a:latin typeface="Arial"/>
            </a:endParaRPr>
          </a:p>
        </p:txBody>
      </p:sp>
      <p:sp>
        <p:nvSpPr>
          <p:cNvPr id="1277" name="gt-leg"/>
          <p:cNvSpPr/>
          <p:nvPr/>
        </p:nvSpPr>
        <p:spPr>
          <a:xfrm>
            <a:off x="4270320" y="3136320"/>
            <a:ext cx="145440" cy="90720"/>
          </a:xfrm>
          <a:prstGeom prst="roundRect">
            <a:avLst>
              <a:gd name="adj" fmla="val 4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278" name="TextBox 64"/>
          <p:cNvSpPr/>
          <p:nvPr/>
        </p:nvSpPr>
        <p:spPr>
          <a:xfrm>
            <a:off x="4453200" y="309060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貴社</a:t>
            </a:r>
            <a:endParaRPr lang="en-US" sz="900" b="0" u="none" strike="noStrike">
              <a:solidFill>
                <a:srgbClr val="000000"/>
              </a:solidFill>
              <a:effectLst/>
              <a:uFillTx/>
              <a:latin typeface="Arial"/>
            </a:endParaRPr>
          </a:p>
        </p:txBody>
      </p:sp>
      <p:sp>
        <p:nvSpPr>
          <p:cNvPr id="1279" name="blk-title"/>
          <p:cNvSpPr/>
          <p:nvPr/>
        </p:nvSpPr>
        <p:spPr>
          <a:xfrm>
            <a:off x="502920" y="400500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フェーズの要点</a:t>
            </a:r>
            <a:endParaRPr lang="en-US" sz="1200" b="0" u="none" strike="noStrike">
              <a:solidFill>
                <a:srgbClr val="000000"/>
              </a:solidFill>
              <a:effectLst/>
              <a:uFillTx/>
              <a:latin typeface="Arial"/>
            </a:endParaRPr>
          </a:p>
        </p:txBody>
      </p:sp>
      <p:graphicFrame>
        <p:nvGraphicFramePr>
          <p:cNvPr id="1280" name="blk-kv"/>
          <p:cNvGraphicFramePr/>
          <p:nvPr/>
        </p:nvGraphicFramePr>
        <p:xfrm>
          <a:off x="502920" y="4279320"/>
          <a:ext cx="11185200" cy="1535040"/>
        </p:xfrm>
        <a:graphic>
          <a:graphicData uri="http://schemas.openxmlformats.org/drawingml/2006/table">
            <a:tbl>
              <a:tblPr/>
              <a:tblGrid>
                <a:gridCol w="3355560"/>
                <a:gridCol w="7830000"/>
              </a:tblGrid>
              <a:tr h="383760">
                <a:tc>
                  <a:txBody>
                    <a:bodyPr lIns="45720" tIns="18000" rIns="45720" bIns="18000" anchor="t">
                      <a:noAutofit/>
                    </a:bodyPr>
                    <a:p>
                      <a:pPr defTabSz="457200">
                        <a:lnSpc>
                          <a:spcPct val="120000"/>
                        </a:lnSpc>
                      </a:pPr>
                      <a:r>
                        <a:rPr lang="en-US" sz="1400" b="1" u="none" strike="noStrike">
                          <a:solidFill>
                            <a:srgbClr val="16213E"/>
                          </a:solidFill>
                          <a:effectLst/>
                          <a:uFillTx/>
                          <a:latin typeface="BIZ UDPゴシック"/>
                          <a:ea typeface="BIZ UDPゴシック"/>
                        </a:rPr>
                        <a:t>To-Be</a:t>
                      </a:r>
                      <a:r>
                        <a:rPr lang="ja-JP" sz="1400" b="1" u="none" strike="noStrike">
                          <a:solidFill>
                            <a:srgbClr val="16213E"/>
                          </a:solidFill>
                          <a:effectLst/>
                          <a:uFillTx/>
                          <a:latin typeface="BIZ UDPゴシック"/>
                          <a:ea typeface="BIZ UDPゴシック"/>
                        </a:rPr>
                        <a:t>業務設計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2027/02/01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2027/03/05 (To-Be</a:t>
                      </a:r>
                      <a:r>
                        <a:rPr lang="ja-JP" sz="1400" b="0" u="none" strike="noStrike">
                          <a:solidFill>
                            <a:srgbClr val="1F2937"/>
                          </a:solidFill>
                          <a:effectLst/>
                          <a:uFillTx/>
                          <a:latin typeface="BIZ UDPゴシック"/>
                          <a:ea typeface="BIZ UDPゴシック"/>
                        </a:rPr>
                        <a:t>業務フロー作成</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要件定義・合意</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2027/03/08</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2027/03/31 (</a:t>
                      </a:r>
                      <a:r>
                        <a:rPr lang="ja-JP" sz="1400" b="0" u="none" strike="noStrike">
                          <a:solidFill>
                            <a:srgbClr val="1F2937"/>
                          </a:solidFill>
                          <a:effectLst/>
                          <a:uFillTx/>
                          <a:latin typeface="BIZ UDPゴシック"/>
                          <a:ea typeface="BIZ UDPゴシック"/>
                        </a:rPr>
                        <a:t>要件定義書作成</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レビュー・承認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2027/03/29</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2027/03/31 (</a:t>
                      </a:r>
                      <a:r>
                        <a:rPr lang="ja-JP" sz="1400" b="0" u="none" strike="noStrike">
                          <a:solidFill>
                            <a:srgbClr val="1F2937"/>
                          </a:solidFill>
                          <a:effectLst/>
                          <a:uFillTx/>
                          <a:latin typeface="BIZ UDPゴシック"/>
                          <a:ea typeface="BIZ UDPゴシック"/>
                        </a:rPr>
                        <a:t>貴社レビュー</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要件確定</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2027/03/31 (</a:t>
                      </a:r>
                      <a:r>
                        <a:rPr lang="ja-JP" sz="1400" b="0" u="none" strike="noStrike">
                          <a:solidFill>
                            <a:srgbClr val="1F2937"/>
                          </a:solidFill>
                          <a:effectLst/>
                          <a:uFillTx/>
                          <a:latin typeface="BIZ UDPゴシック"/>
                          <a:ea typeface="BIZ UDPゴシック"/>
                        </a:rPr>
                        <a:t>ステアリングコミッティ判定</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8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28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28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86"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87"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8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8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9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9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29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29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2.4 </a:t>
            </a:r>
            <a:r>
              <a:rPr lang="ja-JP" sz="2400" b="1" u="none" strike="noStrike">
                <a:solidFill>
                  <a:srgbClr val="16213E"/>
                </a:solidFill>
                <a:effectLst/>
                <a:uFillTx/>
                <a:latin typeface="BIZ UDPゴシック"/>
                <a:ea typeface="BIZ UDPゴシック"/>
              </a:rPr>
              <a:t>フェーズ別スケジュール ─ 移行・定着化フェーズ</a:t>
            </a:r>
            <a:endParaRPr lang="en-US" sz="2400" b="0" u="none" strike="noStrike">
              <a:solidFill>
                <a:srgbClr val="000000"/>
              </a:solidFill>
              <a:effectLst/>
              <a:uFillTx/>
              <a:latin typeface="Arial"/>
            </a:endParaRPr>
          </a:p>
        </p:txBody>
      </p:sp>
      <p:sp>
        <p:nvSpPr>
          <p:cNvPr id="129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295" name="hdr-hair"/>
          <p:cNvCxnSpPr/>
          <p:nvPr/>
        </p:nvCxnSpPr>
        <p:spPr>
          <a:xfrm>
            <a:off x="502920" y="969120"/>
            <a:ext cx="11186280" cy="720"/>
          </a:xfrm>
          <a:prstGeom prst="straightConnector1">
            <a:avLst/>
          </a:prstGeom>
          <a:ln w="9525">
            <a:solidFill>
              <a:srgbClr val="D5DBE5"/>
            </a:solidFill>
            <a:round/>
          </a:ln>
        </p:spPr>
      </p:cxnSp>
      <p:cxnSp>
        <p:nvCxnSpPr>
          <p:cNvPr id="1296" name="ftr-hair"/>
          <p:cNvCxnSpPr/>
          <p:nvPr/>
        </p:nvCxnSpPr>
        <p:spPr>
          <a:xfrm>
            <a:off x="502920" y="6382440"/>
            <a:ext cx="11186280" cy="720"/>
          </a:xfrm>
          <a:prstGeom prst="straightConnector1">
            <a:avLst/>
          </a:prstGeom>
          <a:ln w="9525">
            <a:solidFill>
              <a:srgbClr val="D5DBE5"/>
            </a:solidFill>
            <a:round/>
          </a:ln>
        </p:spPr>
      </p:cxnSp>
      <p:sp>
        <p:nvSpPr>
          <p:cNvPr id="129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34 / 85</a:t>
            </a:r>
            <a:endParaRPr lang="en-US" sz="1100" b="0" u="none" strike="noStrike">
              <a:solidFill>
                <a:srgbClr val="000000"/>
              </a:solidFill>
              <a:effectLst/>
              <a:uFillTx/>
              <a:latin typeface="Arial"/>
            </a:endParaRPr>
          </a:p>
        </p:txBody>
      </p:sp>
      <p:sp>
        <p:nvSpPr>
          <p:cNvPr id="129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29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30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30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0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0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パイロットで確証を得て全社稼働し、伴走支援で定着させる</a:t>
            </a:r>
            <a:endParaRPr lang="en-US" sz="1500" b="0" u="none" strike="noStrike">
              <a:solidFill>
                <a:srgbClr val="000000"/>
              </a:solidFill>
              <a:effectLst/>
              <a:uFillTx/>
              <a:latin typeface="Arial"/>
            </a:endParaRPr>
          </a:p>
        </p:txBody>
      </p:sp>
      <p:sp>
        <p:nvSpPr>
          <p:cNvPr id="1304" name="TextBox 24"/>
          <p:cNvSpPr/>
          <p:nvPr/>
        </p:nvSpPr>
        <p:spPr>
          <a:xfrm>
            <a:off x="258768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8/30</a:t>
            </a:r>
            <a:endParaRPr lang="en-US" sz="800" b="0" u="none" strike="noStrike">
              <a:solidFill>
                <a:srgbClr val="000000"/>
              </a:solidFill>
              <a:effectLst/>
              <a:uFillTx/>
              <a:latin typeface="Arial"/>
            </a:endParaRPr>
          </a:p>
        </p:txBody>
      </p:sp>
      <p:cxnSp>
        <p:nvCxnSpPr>
          <p:cNvPr id="1305" name="gt-grid"/>
          <p:cNvCxnSpPr/>
          <p:nvPr/>
        </p:nvCxnSpPr>
        <p:spPr>
          <a:xfrm>
            <a:off x="3352320" y="1938240"/>
            <a:ext cx="1440" cy="720"/>
          </a:xfrm>
          <a:prstGeom prst="straightConnector1">
            <a:avLst/>
          </a:prstGeom>
          <a:ln w="6350">
            <a:solidFill>
              <a:srgbClr val="D5DBE5"/>
            </a:solidFill>
            <a:round/>
          </a:ln>
        </p:spPr>
      </p:cxnSp>
      <p:cxnSp>
        <p:nvCxnSpPr>
          <p:cNvPr id="1306" name="gt-grid"/>
          <p:cNvCxnSpPr/>
          <p:nvPr/>
        </p:nvCxnSpPr>
        <p:spPr>
          <a:xfrm>
            <a:off x="3352320" y="1938240"/>
            <a:ext cx="720" cy="238680"/>
          </a:xfrm>
          <a:prstGeom prst="straightConnector1">
            <a:avLst/>
          </a:prstGeom>
          <a:ln w="6350">
            <a:solidFill>
              <a:srgbClr val="D5DBE5"/>
            </a:solidFill>
            <a:round/>
          </a:ln>
        </p:spPr>
      </p:cxnSp>
      <p:cxnSp>
        <p:nvCxnSpPr>
          <p:cNvPr id="1307" name="gt-grid"/>
          <p:cNvCxnSpPr/>
          <p:nvPr/>
        </p:nvCxnSpPr>
        <p:spPr>
          <a:xfrm>
            <a:off x="4038840" y="1938240"/>
            <a:ext cx="1440" cy="720"/>
          </a:xfrm>
          <a:prstGeom prst="straightConnector1">
            <a:avLst/>
          </a:prstGeom>
          <a:ln w="6350">
            <a:solidFill>
              <a:srgbClr val="D5DBE5"/>
            </a:solidFill>
            <a:round/>
          </a:ln>
        </p:spPr>
      </p:cxnSp>
      <p:cxnSp>
        <p:nvCxnSpPr>
          <p:cNvPr id="1308" name="gt-grid"/>
          <p:cNvCxnSpPr/>
          <p:nvPr/>
        </p:nvCxnSpPr>
        <p:spPr>
          <a:xfrm>
            <a:off x="4038840" y="1938240"/>
            <a:ext cx="720" cy="238680"/>
          </a:xfrm>
          <a:prstGeom prst="straightConnector1">
            <a:avLst/>
          </a:prstGeom>
          <a:ln w="6350">
            <a:solidFill>
              <a:srgbClr val="D5DBE5"/>
            </a:solidFill>
            <a:round/>
          </a:ln>
        </p:spPr>
      </p:cxnSp>
      <p:sp>
        <p:nvSpPr>
          <p:cNvPr id="1309" name="TextBox 29"/>
          <p:cNvSpPr/>
          <p:nvPr/>
        </p:nvSpPr>
        <p:spPr>
          <a:xfrm>
            <a:off x="376452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9/13</a:t>
            </a:r>
            <a:endParaRPr lang="en-US" sz="800" b="0" u="none" strike="noStrike">
              <a:solidFill>
                <a:srgbClr val="000000"/>
              </a:solidFill>
              <a:effectLst/>
              <a:uFillTx/>
              <a:latin typeface="Arial"/>
            </a:endParaRPr>
          </a:p>
        </p:txBody>
      </p:sp>
      <p:cxnSp>
        <p:nvCxnSpPr>
          <p:cNvPr id="1310" name="gt-grid"/>
          <p:cNvCxnSpPr/>
          <p:nvPr/>
        </p:nvCxnSpPr>
        <p:spPr>
          <a:xfrm>
            <a:off x="4725360" y="1938240"/>
            <a:ext cx="1440" cy="720"/>
          </a:xfrm>
          <a:prstGeom prst="straightConnector1">
            <a:avLst/>
          </a:prstGeom>
          <a:ln w="6350">
            <a:solidFill>
              <a:srgbClr val="D5DBE5"/>
            </a:solidFill>
            <a:round/>
          </a:ln>
        </p:spPr>
      </p:cxnSp>
      <p:cxnSp>
        <p:nvCxnSpPr>
          <p:cNvPr id="1311" name="gt-grid"/>
          <p:cNvCxnSpPr/>
          <p:nvPr/>
        </p:nvCxnSpPr>
        <p:spPr>
          <a:xfrm>
            <a:off x="4725360" y="1938240"/>
            <a:ext cx="720" cy="238680"/>
          </a:xfrm>
          <a:prstGeom prst="straightConnector1">
            <a:avLst/>
          </a:prstGeom>
          <a:ln w="6350">
            <a:solidFill>
              <a:srgbClr val="D5DBE5"/>
            </a:solidFill>
            <a:round/>
          </a:ln>
        </p:spPr>
      </p:cxnSp>
      <p:cxnSp>
        <p:nvCxnSpPr>
          <p:cNvPr id="1312" name="gt-grid"/>
          <p:cNvCxnSpPr/>
          <p:nvPr/>
        </p:nvCxnSpPr>
        <p:spPr>
          <a:xfrm>
            <a:off x="5411880" y="1938240"/>
            <a:ext cx="1440" cy="720"/>
          </a:xfrm>
          <a:prstGeom prst="straightConnector1">
            <a:avLst/>
          </a:prstGeom>
          <a:ln w="6350">
            <a:solidFill>
              <a:srgbClr val="D5DBE5"/>
            </a:solidFill>
            <a:round/>
          </a:ln>
        </p:spPr>
      </p:cxnSp>
      <p:cxnSp>
        <p:nvCxnSpPr>
          <p:cNvPr id="1313" name="gt-grid"/>
          <p:cNvCxnSpPr/>
          <p:nvPr/>
        </p:nvCxnSpPr>
        <p:spPr>
          <a:xfrm>
            <a:off x="5411880" y="1938240"/>
            <a:ext cx="720" cy="238680"/>
          </a:xfrm>
          <a:prstGeom prst="straightConnector1">
            <a:avLst/>
          </a:prstGeom>
          <a:ln w="6350">
            <a:solidFill>
              <a:srgbClr val="D5DBE5"/>
            </a:solidFill>
            <a:round/>
          </a:ln>
        </p:spPr>
      </p:cxnSp>
      <p:sp>
        <p:nvSpPr>
          <p:cNvPr id="1314" name="TextBox 34"/>
          <p:cNvSpPr/>
          <p:nvPr/>
        </p:nvSpPr>
        <p:spPr>
          <a:xfrm>
            <a:off x="513756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9/27</a:t>
            </a:r>
            <a:endParaRPr lang="en-US" sz="800" b="0" u="none" strike="noStrike">
              <a:solidFill>
                <a:srgbClr val="000000"/>
              </a:solidFill>
              <a:effectLst/>
              <a:uFillTx/>
              <a:latin typeface="Arial"/>
            </a:endParaRPr>
          </a:p>
        </p:txBody>
      </p:sp>
      <p:cxnSp>
        <p:nvCxnSpPr>
          <p:cNvPr id="1315" name="gt-grid"/>
          <p:cNvCxnSpPr/>
          <p:nvPr/>
        </p:nvCxnSpPr>
        <p:spPr>
          <a:xfrm>
            <a:off x="6098400" y="1938240"/>
            <a:ext cx="1440" cy="720"/>
          </a:xfrm>
          <a:prstGeom prst="straightConnector1">
            <a:avLst/>
          </a:prstGeom>
          <a:ln w="6350">
            <a:solidFill>
              <a:srgbClr val="D5DBE5"/>
            </a:solidFill>
            <a:round/>
          </a:ln>
        </p:spPr>
      </p:cxnSp>
      <p:cxnSp>
        <p:nvCxnSpPr>
          <p:cNvPr id="1316" name="gt-grid"/>
          <p:cNvCxnSpPr/>
          <p:nvPr/>
        </p:nvCxnSpPr>
        <p:spPr>
          <a:xfrm>
            <a:off x="6098400" y="1938240"/>
            <a:ext cx="720" cy="238680"/>
          </a:xfrm>
          <a:prstGeom prst="straightConnector1">
            <a:avLst/>
          </a:prstGeom>
          <a:ln w="6350">
            <a:solidFill>
              <a:srgbClr val="D5DBE5"/>
            </a:solidFill>
            <a:round/>
          </a:ln>
        </p:spPr>
      </p:cxnSp>
      <p:cxnSp>
        <p:nvCxnSpPr>
          <p:cNvPr id="1317" name="gt-grid"/>
          <p:cNvCxnSpPr/>
          <p:nvPr/>
        </p:nvCxnSpPr>
        <p:spPr>
          <a:xfrm>
            <a:off x="6784920" y="1938240"/>
            <a:ext cx="1440" cy="720"/>
          </a:xfrm>
          <a:prstGeom prst="straightConnector1">
            <a:avLst/>
          </a:prstGeom>
          <a:ln w="6350">
            <a:solidFill>
              <a:srgbClr val="D5DBE5"/>
            </a:solidFill>
            <a:round/>
          </a:ln>
        </p:spPr>
      </p:cxnSp>
      <p:cxnSp>
        <p:nvCxnSpPr>
          <p:cNvPr id="1318" name="gt-grid"/>
          <p:cNvCxnSpPr/>
          <p:nvPr/>
        </p:nvCxnSpPr>
        <p:spPr>
          <a:xfrm>
            <a:off x="6784920" y="1938240"/>
            <a:ext cx="720" cy="238680"/>
          </a:xfrm>
          <a:prstGeom prst="straightConnector1">
            <a:avLst/>
          </a:prstGeom>
          <a:ln w="6350">
            <a:solidFill>
              <a:srgbClr val="D5DBE5"/>
            </a:solidFill>
            <a:round/>
          </a:ln>
        </p:spPr>
      </p:cxnSp>
      <p:sp>
        <p:nvSpPr>
          <p:cNvPr id="1319" name="TextBox 39"/>
          <p:cNvSpPr/>
          <p:nvPr/>
        </p:nvSpPr>
        <p:spPr>
          <a:xfrm>
            <a:off x="651060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10/11</a:t>
            </a:r>
            <a:endParaRPr lang="en-US" sz="800" b="0" u="none" strike="noStrike">
              <a:solidFill>
                <a:srgbClr val="000000"/>
              </a:solidFill>
              <a:effectLst/>
              <a:uFillTx/>
              <a:latin typeface="Arial"/>
            </a:endParaRPr>
          </a:p>
        </p:txBody>
      </p:sp>
      <p:cxnSp>
        <p:nvCxnSpPr>
          <p:cNvPr id="1320" name="gt-grid"/>
          <p:cNvCxnSpPr/>
          <p:nvPr/>
        </p:nvCxnSpPr>
        <p:spPr>
          <a:xfrm>
            <a:off x="7471440" y="1938240"/>
            <a:ext cx="1440" cy="720"/>
          </a:xfrm>
          <a:prstGeom prst="straightConnector1">
            <a:avLst/>
          </a:prstGeom>
          <a:ln w="6350">
            <a:solidFill>
              <a:srgbClr val="D5DBE5"/>
            </a:solidFill>
            <a:round/>
          </a:ln>
        </p:spPr>
      </p:cxnSp>
      <p:cxnSp>
        <p:nvCxnSpPr>
          <p:cNvPr id="1321" name="gt-grid"/>
          <p:cNvCxnSpPr/>
          <p:nvPr/>
        </p:nvCxnSpPr>
        <p:spPr>
          <a:xfrm>
            <a:off x="7471440" y="1938240"/>
            <a:ext cx="720" cy="238680"/>
          </a:xfrm>
          <a:prstGeom prst="straightConnector1">
            <a:avLst/>
          </a:prstGeom>
          <a:ln w="6350">
            <a:solidFill>
              <a:srgbClr val="D5DBE5"/>
            </a:solidFill>
            <a:round/>
          </a:ln>
        </p:spPr>
      </p:cxnSp>
      <p:cxnSp>
        <p:nvCxnSpPr>
          <p:cNvPr id="1322" name="gt-grid"/>
          <p:cNvCxnSpPr/>
          <p:nvPr/>
        </p:nvCxnSpPr>
        <p:spPr>
          <a:xfrm>
            <a:off x="8157960" y="1938240"/>
            <a:ext cx="1440" cy="720"/>
          </a:xfrm>
          <a:prstGeom prst="straightConnector1">
            <a:avLst/>
          </a:prstGeom>
          <a:ln w="6350">
            <a:solidFill>
              <a:srgbClr val="D5DBE5"/>
            </a:solidFill>
            <a:round/>
          </a:ln>
        </p:spPr>
      </p:cxnSp>
      <p:cxnSp>
        <p:nvCxnSpPr>
          <p:cNvPr id="1323" name="gt-grid"/>
          <p:cNvCxnSpPr/>
          <p:nvPr/>
        </p:nvCxnSpPr>
        <p:spPr>
          <a:xfrm>
            <a:off x="8157960" y="1938240"/>
            <a:ext cx="720" cy="238680"/>
          </a:xfrm>
          <a:prstGeom prst="straightConnector1">
            <a:avLst/>
          </a:prstGeom>
          <a:ln w="6350">
            <a:solidFill>
              <a:srgbClr val="D5DBE5"/>
            </a:solidFill>
            <a:round/>
          </a:ln>
        </p:spPr>
      </p:cxnSp>
      <p:sp>
        <p:nvSpPr>
          <p:cNvPr id="1324" name="TextBox 44"/>
          <p:cNvSpPr/>
          <p:nvPr/>
        </p:nvSpPr>
        <p:spPr>
          <a:xfrm>
            <a:off x="788364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10/25</a:t>
            </a:r>
            <a:endParaRPr lang="en-US" sz="800" b="0" u="none" strike="noStrike">
              <a:solidFill>
                <a:srgbClr val="000000"/>
              </a:solidFill>
              <a:effectLst/>
              <a:uFillTx/>
              <a:latin typeface="Arial"/>
            </a:endParaRPr>
          </a:p>
        </p:txBody>
      </p:sp>
      <p:cxnSp>
        <p:nvCxnSpPr>
          <p:cNvPr id="1325" name="gt-grid"/>
          <p:cNvCxnSpPr/>
          <p:nvPr/>
        </p:nvCxnSpPr>
        <p:spPr>
          <a:xfrm>
            <a:off x="8844480" y="1938240"/>
            <a:ext cx="1440" cy="720"/>
          </a:xfrm>
          <a:prstGeom prst="straightConnector1">
            <a:avLst/>
          </a:prstGeom>
          <a:ln w="6350">
            <a:solidFill>
              <a:srgbClr val="D5DBE5"/>
            </a:solidFill>
            <a:round/>
          </a:ln>
        </p:spPr>
      </p:cxnSp>
      <p:cxnSp>
        <p:nvCxnSpPr>
          <p:cNvPr id="1326" name="gt-grid"/>
          <p:cNvCxnSpPr/>
          <p:nvPr/>
        </p:nvCxnSpPr>
        <p:spPr>
          <a:xfrm>
            <a:off x="8844480" y="1938240"/>
            <a:ext cx="720" cy="238680"/>
          </a:xfrm>
          <a:prstGeom prst="straightConnector1">
            <a:avLst/>
          </a:prstGeom>
          <a:ln w="6350">
            <a:solidFill>
              <a:srgbClr val="D5DBE5"/>
            </a:solidFill>
            <a:round/>
          </a:ln>
        </p:spPr>
      </p:cxnSp>
      <p:cxnSp>
        <p:nvCxnSpPr>
          <p:cNvPr id="1327" name="gt-grid"/>
          <p:cNvCxnSpPr/>
          <p:nvPr/>
        </p:nvCxnSpPr>
        <p:spPr>
          <a:xfrm>
            <a:off x="9531000" y="1938240"/>
            <a:ext cx="1440" cy="720"/>
          </a:xfrm>
          <a:prstGeom prst="straightConnector1">
            <a:avLst/>
          </a:prstGeom>
          <a:ln w="6350">
            <a:solidFill>
              <a:srgbClr val="D5DBE5"/>
            </a:solidFill>
            <a:round/>
          </a:ln>
        </p:spPr>
      </p:cxnSp>
      <p:cxnSp>
        <p:nvCxnSpPr>
          <p:cNvPr id="1328" name="gt-grid"/>
          <p:cNvCxnSpPr/>
          <p:nvPr/>
        </p:nvCxnSpPr>
        <p:spPr>
          <a:xfrm>
            <a:off x="9531000" y="1938240"/>
            <a:ext cx="720" cy="238680"/>
          </a:xfrm>
          <a:prstGeom prst="straightConnector1">
            <a:avLst/>
          </a:prstGeom>
          <a:ln w="6350">
            <a:solidFill>
              <a:srgbClr val="D5DBE5"/>
            </a:solidFill>
            <a:round/>
          </a:ln>
        </p:spPr>
      </p:cxnSp>
      <p:sp>
        <p:nvSpPr>
          <p:cNvPr id="1329" name="TextBox 49"/>
          <p:cNvSpPr/>
          <p:nvPr/>
        </p:nvSpPr>
        <p:spPr>
          <a:xfrm>
            <a:off x="925668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11/8</a:t>
            </a:r>
            <a:endParaRPr lang="en-US" sz="800" b="0" u="none" strike="noStrike">
              <a:solidFill>
                <a:srgbClr val="000000"/>
              </a:solidFill>
              <a:effectLst/>
              <a:uFillTx/>
              <a:latin typeface="Arial"/>
            </a:endParaRPr>
          </a:p>
        </p:txBody>
      </p:sp>
      <p:cxnSp>
        <p:nvCxnSpPr>
          <p:cNvPr id="1330" name="gt-grid"/>
          <p:cNvCxnSpPr/>
          <p:nvPr/>
        </p:nvCxnSpPr>
        <p:spPr>
          <a:xfrm>
            <a:off x="10217520" y="1938240"/>
            <a:ext cx="1440" cy="720"/>
          </a:xfrm>
          <a:prstGeom prst="straightConnector1">
            <a:avLst/>
          </a:prstGeom>
          <a:ln w="6350">
            <a:solidFill>
              <a:srgbClr val="D5DBE5"/>
            </a:solidFill>
            <a:round/>
          </a:ln>
        </p:spPr>
      </p:cxnSp>
      <p:cxnSp>
        <p:nvCxnSpPr>
          <p:cNvPr id="1331" name="gt-grid"/>
          <p:cNvCxnSpPr/>
          <p:nvPr/>
        </p:nvCxnSpPr>
        <p:spPr>
          <a:xfrm>
            <a:off x="10217520" y="1938240"/>
            <a:ext cx="720" cy="238680"/>
          </a:xfrm>
          <a:prstGeom prst="straightConnector1">
            <a:avLst/>
          </a:prstGeom>
          <a:ln w="6350">
            <a:solidFill>
              <a:srgbClr val="D5DBE5"/>
            </a:solidFill>
            <a:round/>
          </a:ln>
        </p:spPr>
      </p:cxnSp>
      <p:cxnSp>
        <p:nvCxnSpPr>
          <p:cNvPr id="1332" name="gt-grid"/>
          <p:cNvCxnSpPr/>
          <p:nvPr/>
        </p:nvCxnSpPr>
        <p:spPr>
          <a:xfrm>
            <a:off x="10904040" y="1938240"/>
            <a:ext cx="1440" cy="720"/>
          </a:xfrm>
          <a:prstGeom prst="straightConnector1">
            <a:avLst/>
          </a:prstGeom>
          <a:ln w="6350">
            <a:solidFill>
              <a:srgbClr val="D5DBE5"/>
            </a:solidFill>
            <a:round/>
          </a:ln>
        </p:spPr>
      </p:cxnSp>
      <p:cxnSp>
        <p:nvCxnSpPr>
          <p:cNvPr id="1333" name="gt-grid"/>
          <p:cNvCxnSpPr/>
          <p:nvPr/>
        </p:nvCxnSpPr>
        <p:spPr>
          <a:xfrm>
            <a:off x="10904040" y="1938240"/>
            <a:ext cx="720" cy="238680"/>
          </a:xfrm>
          <a:prstGeom prst="straightConnector1">
            <a:avLst/>
          </a:prstGeom>
          <a:ln w="6350">
            <a:solidFill>
              <a:srgbClr val="D5DBE5"/>
            </a:solidFill>
            <a:round/>
          </a:ln>
        </p:spPr>
      </p:cxnSp>
      <p:sp>
        <p:nvSpPr>
          <p:cNvPr id="1334" name="TextBox 54"/>
          <p:cNvSpPr/>
          <p:nvPr/>
        </p:nvSpPr>
        <p:spPr>
          <a:xfrm>
            <a:off x="10629720" y="1938600"/>
            <a:ext cx="547920" cy="236880"/>
          </a:xfrm>
          <a:prstGeom prst="rect">
            <a:avLst/>
          </a:prstGeom>
          <a:noFill/>
          <a:ln w="0">
            <a:noFill/>
          </a:ln>
        </p:spPr>
        <p:style>
          <a:lnRef idx="0"/>
          <a:fillRef idx="0"/>
          <a:effectRef idx="0"/>
          <a:fontRef idx="minor"/>
        </p:style>
        <p:txBody>
          <a:bodyPr wrap="none" lIns="0" tIns="0" rIns="0" bIns="0" anchor="ctr">
            <a:spAutoFit/>
          </a:bodyPr>
          <a:p>
            <a:pPr algn="ctr" defTabSz="457200">
              <a:lnSpc>
                <a:spcPct val="120000"/>
              </a:lnSpc>
            </a:pPr>
            <a:r>
              <a:rPr lang="en-US" sz="800" b="0" u="none" strike="noStrike">
                <a:solidFill>
                  <a:srgbClr val="6B7280"/>
                </a:solidFill>
                <a:effectLst/>
                <a:uFillTx/>
                <a:latin typeface="BIZ UDPゴシック"/>
                <a:ea typeface="BIZ UDPゴシック"/>
              </a:rPr>
              <a:t>11/22</a:t>
            </a:r>
            <a:endParaRPr lang="en-US" sz="800" b="0" u="none" strike="noStrike">
              <a:solidFill>
                <a:srgbClr val="000000"/>
              </a:solidFill>
              <a:effectLst/>
              <a:uFillTx/>
              <a:latin typeface="Arial"/>
            </a:endParaRPr>
          </a:p>
        </p:txBody>
      </p:sp>
      <p:cxnSp>
        <p:nvCxnSpPr>
          <p:cNvPr id="1335" name="gt-grid"/>
          <p:cNvCxnSpPr/>
          <p:nvPr/>
        </p:nvCxnSpPr>
        <p:spPr>
          <a:xfrm>
            <a:off x="11590560" y="1938240"/>
            <a:ext cx="1440" cy="720"/>
          </a:xfrm>
          <a:prstGeom prst="straightConnector1">
            <a:avLst/>
          </a:prstGeom>
          <a:ln w="6350">
            <a:solidFill>
              <a:srgbClr val="D5DBE5"/>
            </a:solidFill>
            <a:round/>
          </a:ln>
        </p:spPr>
      </p:cxnSp>
      <p:cxnSp>
        <p:nvCxnSpPr>
          <p:cNvPr id="1336" name="gt-grid"/>
          <p:cNvCxnSpPr/>
          <p:nvPr/>
        </p:nvCxnSpPr>
        <p:spPr>
          <a:xfrm>
            <a:off x="11590560" y="1938240"/>
            <a:ext cx="720" cy="238680"/>
          </a:xfrm>
          <a:prstGeom prst="straightConnector1">
            <a:avLst/>
          </a:prstGeom>
          <a:ln w="6350">
            <a:solidFill>
              <a:srgbClr val="D5DBE5"/>
            </a:solidFill>
            <a:round/>
          </a:ln>
        </p:spPr>
      </p:cxnSp>
      <p:cxnSp>
        <p:nvCxnSpPr>
          <p:cNvPr id="1337" name="gt-hdrline"/>
          <p:cNvCxnSpPr/>
          <p:nvPr/>
        </p:nvCxnSpPr>
        <p:spPr>
          <a:xfrm>
            <a:off x="2862000" y="2176200"/>
            <a:ext cx="8827200" cy="720"/>
          </a:xfrm>
          <a:prstGeom prst="straightConnector1">
            <a:avLst/>
          </a:prstGeom>
          <a:ln w="9525">
            <a:solidFill>
              <a:srgbClr val="D5DBE5"/>
            </a:solidFill>
            <a:round/>
          </a:ln>
        </p:spPr>
      </p:cxnSp>
      <p:sp>
        <p:nvSpPr>
          <p:cNvPr id="1338" name="gt-ms"/>
          <p:cNvSpPr/>
          <p:nvPr/>
        </p:nvSpPr>
        <p:spPr>
          <a:xfrm rot="10800000">
            <a:off x="574092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339" name="gt-ms-lab"/>
          <p:cNvSpPr/>
          <p:nvPr/>
        </p:nvSpPr>
        <p:spPr>
          <a:xfrm>
            <a:off x="511848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全社本番稼働</a:t>
            </a:r>
            <a:endParaRPr lang="en-US" sz="800" b="0" u="none" strike="noStrike">
              <a:solidFill>
                <a:srgbClr val="000000"/>
              </a:solidFill>
              <a:effectLst/>
              <a:uFillTx/>
              <a:latin typeface="Arial"/>
            </a:endParaRPr>
          </a:p>
        </p:txBody>
      </p:sp>
      <p:sp>
        <p:nvSpPr>
          <p:cNvPr id="1340" name="gt-ms"/>
          <p:cNvSpPr/>
          <p:nvPr/>
        </p:nvSpPr>
        <p:spPr>
          <a:xfrm rot="10800000">
            <a:off x="11625480" y="1683000"/>
            <a:ext cx="127440" cy="127440"/>
          </a:xfrm>
          <a:prstGeom prst="triangle">
            <a:avLst>
              <a:gd name="adj" fmla="val 5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endParaRPr lang="en-US" sz="1800" b="0" u="none" strike="noStrike">
              <a:solidFill>
                <a:schemeClr val="lt1"/>
              </a:solidFill>
              <a:effectLst/>
              <a:uFillTx/>
              <a:latin typeface="Calibri"/>
            </a:endParaRPr>
          </a:p>
        </p:txBody>
      </p:sp>
      <p:sp>
        <p:nvSpPr>
          <p:cNvPr id="1341" name="gt-ms-lab"/>
          <p:cNvSpPr/>
          <p:nvPr/>
        </p:nvSpPr>
        <p:spPr>
          <a:xfrm>
            <a:off x="11003040" y="1801440"/>
            <a:ext cx="1370880" cy="145440"/>
          </a:xfrm>
          <a:prstGeom prst="rect">
            <a:avLst/>
          </a:prstGeom>
          <a:noFill/>
          <a:ln w="0">
            <a:noFill/>
          </a:ln>
        </p:spPr>
        <p:style>
          <a:lnRef idx="0"/>
          <a:fillRef idx="0"/>
          <a:effectRef idx="0"/>
          <a:fontRef idx="minor"/>
        </p:style>
        <p:txBody>
          <a:bodyPr wrap="none" lIns="0" tIns="0" rIns="0" bIns="0" anchor="t">
            <a:spAutoFit/>
          </a:bodyPr>
          <a:p>
            <a:pPr algn="ctr" defTabSz="457200">
              <a:lnSpc>
                <a:spcPct val="120000"/>
              </a:lnSpc>
            </a:pPr>
            <a:r>
              <a:rPr lang="ja-JP" sz="800" b="1" u="none" strike="noStrike">
                <a:solidFill>
                  <a:srgbClr val="B4235A"/>
                </a:solidFill>
                <a:effectLst/>
                <a:uFillTx/>
                <a:latin typeface="BIZ UDPゴシック"/>
                <a:ea typeface="BIZ UDPゴシック"/>
              </a:rPr>
              <a:t>プロジェクト完了</a:t>
            </a:r>
            <a:endParaRPr lang="en-US" sz="800" b="0" u="none" strike="noStrike">
              <a:solidFill>
                <a:srgbClr val="000000"/>
              </a:solidFill>
              <a:effectLst/>
              <a:uFillTx/>
              <a:latin typeface="Arial"/>
            </a:endParaRPr>
          </a:p>
        </p:txBody>
      </p:sp>
      <p:sp>
        <p:nvSpPr>
          <p:cNvPr id="1342" name="gt-bar"/>
          <p:cNvSpPr/>
          <p:nvPr/>
        </p:nvSpPr>
        <p:spPr>
          <a:xfrm>
            <a:off x="2862000" y="2267640"/>
            <a:ext cx="8826120" cy="136440"/>
          </a:xfrm>
          <a:prstGeom prst="roundRect">
            <a:avLst>
              <a:gd name="adj" fmla="val 3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3" name="gt-name"/>
          <p:cNvSpPr/>
          <p:nvPr/>
        </p:nvSpPr>
        <p:spPr>
          <a:xfrm>
            <a:off x="502920" y="2212920"/>
            <a:ext cx="2193840" cy="24624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1050" b="1" u="none" strike="noStrike">
                <a:solidFill>
                  <a:srgbClr val="1F2937"/>
                </a:solidFill>
                <a:effectLst/>
                <a:uFillTx/>
                <a:latin typeface="BIZ UDPゴシック"/>
                <a:ea typeface="BIZ UDPゴシック"/>
              </a:rPr>
              <a:t>移行・定着化</a:t>
            </a:r>
            <a:endParaRPr lang="en-US" sz="1050" b="0" u="none" strike="noStrike">
              <a:solidFill>
                <a:srgbClr val="000000"/>
              </a:solidFill>
              <a:effectLst/>
              <a:uFillTx/>
              <a:latin typeface="Arial"/>
            </a:endParaRPr>
          </a:p>
        </p:txBody>
      </p:sp>
      <p:cxnSp>
        <p:nvCxnSpPr>
          <p:cNvPr id="1344" name="gt-rowline"/>
          <p:cNvCxnSpPr/>
          <p:nvPr/>
        </p:nvCxnSpPr>
        <p:spPr>
          <a:xfrm>
            <a:off x="502920" y="2212560"/>
            <a:ext cx="11186280" cy="720"/>
          </a:xfrm>
          <a:prstGeom prst="straightConnector1">
            <a:avLst/>
          </a:prstGeom>
          <a:ln w="6350">
            <a:solidFill>
              <a:srgbClr val="E6E9EF"/>
            </a:solidFill>
            <a:round/>
          </a:ln>
        </p:spPr>
      </p:cxnSp>
      <p:sp>
        <p:nvSpPr>
          <p:cNvPr id="1345" name="gt-bar"/>
          <p:cNvSpPr/>
          <p:nvPr/>
        </p:nvSpPr>
        <p:spPr>
          <a:xfrm>
            <a:off x="2862000" y="2519280"/>
            <a:ext cx="127440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346" name="gt-name"/>
          <p:cNvSpPr/>
          <p:nvPr/>
        </p:nvSpPr>
        <p:spPr>
          <a:xfrm>
            <a:off x="667440" y="245988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工程バッファ</a:t>
            </a:r>
            <a:endParaRPr lang="en-US" sz="950" b="0" u="none" strike="noStrike">
              <a:solidFill>
                <a:srgbClr val="000000"/>
              </a:solidFill>
              <a:effectLst/>
              <a:uFillTx/>
              <a:latin typeface="Arial"/>
            </a:endParaRPr>
          </a:p>
        </p:txBody>
      </p:sp>
      <p:sp>
        <p:nvSpPr>
          <p:cNvPr id="1347" name="gt-bar"/>
          <p:cNvSpPr/>
          <p:nvPr/>
        </p:nvSpPr>
        <p:spPr>
          <a:xfrm>
            <a:off x="2862000" y="2729520"/>
            <a:ext cx="284328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348" name="gt-name"/>
          <p:cNvSpPr/>
          <p:nvPr/>
        </p:nvSpPr>
        <p:spPr>
          <a:xfrm>
            <a:off x="667440" y="267012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パイロット稼働</a:t>
            </a:r>
            <a:endParaRPr lang="en-US" sz="950" b="0" u="none" strike="noStrike">
              <a:solidFill>
                <a:srgbClr val="000000"/>
              </a:solidFill>
              <a:effectLst/>
              <a:uFillTx/>
              <a:latin typeface="Arial"/>
            </a:endParaRPr>
          </a:p>
        </p:txBody>
      </p:sp>
      <p:sp>
        <p:nvSpPr>
          <p:cNvPr id="1349" name="gt-deliv"/>
          <p:cNvSpPr/>
          <p:nvPr/>
        </p:nvSpPr>
        <p:spPr>
          <a:xfrm>
            <a:off x="5761080" y="2670120"/>
            <a:ext cx="6649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移行計画書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350" name="gt-bar"/>
          <p:cNvSpPr/>
          <p:nvPr/>
        </p:nvSpPr>
        <p:spPr>
          <a:xfrm>
            <a:off x="5804280" y="2939760"/>
            <a:ext cx="137232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351" name="gt-name"/>
          <p:cNvSpPr/>
          <p:nvPr/>
        </p:nvSpPr>
        <p:spPr>
          <a:xfrm>
            <a:off x="667440" y="288036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全社本番移行</a:t>
            </a:r>
            <a:endParaRPr lang="en-US" sz="950" b="0" u="none" strike="noStrike">
              <a:solidFill>
                <a:srgbClr val="000000"/>
              </a:solidFill>
              <a:effectLst/>
              <a:uFillTx/>
              <a:latin typeface="Arial"/>
            </a:endParaRPr>
          </a:p>
        </p:txBody>
      </p:sp>
      <p:sp>
        <p:nvSpPr>
          <p:cNvPr id="1352" name="gt-bar"/>
          <p:cNvSpPr/>
          <p:nvPr/>
        </p:nvSpPr>
        <p:spPr>
          <a:xfrm>
            <a:off x="7275600" y="3150000"/>
            <a:ext cx="441252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353" name="gt-name"/>
          <p:cNvSpPr/>
          <p:nvPr/>
        </p:nvSpPr>
        <p:spPr>
          <a:xfrm>
            <a:off x="667440" y="309060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定着化支援</a:t>
            </a:r>
            <a:endParaRPr lang="en-US" sz="950" b="0" u="none" strike="noStrike">
              <a:solidFill>
                <a:srgbClr val="000000"/>
              </a:solidFill>
              <a:effectLst/>
              <a:uFillTx/>
              <a:latin typeface="Arial"/>
            </a:endParaRPr>
          </a:p>
        </p:txBody>
      </p:sp>
      <p:sp>
        <p:nvSpPr>
          <p:cNvPr id="1354" name="gt-deliv"/>
          <p:cNvSpPr/>
          <p:nvPr/>
        </p:nvSpPr>
        <p:spPr>
          <a:xfrm>
            <a:off x="6453360" y="3090600"/>
            <a:ext cx="766440" cy="209520"/>
          </a:xfrm>
          <a:prstGeom prst="rect">
            <a:avLst/>
          </a:prstGeom>
          <a:noFill/>
          <a:ln w="0">
            <a:noFill/>
          </a:ln>
        </p:spPr>
        <p:style>
          <a:lnRef idx="0"/>
          <a:fillRef idx="0"/>
          <a:effectRef idx="0"/>
          <a:fontRef idx="minor"/>
        </p:style>
        <p:txBody>
          <a:bodyPr wrap="none" lIns="0" tIns="0" rIns="0" bIns="0" anchor="ctr" anchorCtr="1">
            <a:spAutoFit/>
          </a:bodyPr>
          <a:p>
            <a:pPr algn="r" defTabSz="457200">
              <a:lnSpc>
                <a:spcPct val="120000"/>
              </a:lnSpc>
            </a:pPr>
            <a:r>
              <a:rPr lang="en-US" sz="800" b="0" u="none" strike="noStrike">
                <a:solidFill>
                  <a:srgbClr val="6B7280"/>
                </a:solidFill>
                <a:effectLst/>
                <a:uFillTx/>
                <a:latin typeface="BIZ UDPゴシック"/>
                <a:ea typeface="BIZ UDPゴシック"/>
              </a:rPr>
              <a:t>[</a:t>
            </a:r>
            <a:r>
              <a:rPr lang="ja-JP" sz="800" b="0" u="none" strike="noStrike">
                <a:solidFill>
                  <a:srgbClr val="6B7280"/>
                </a:solidFill>
                <a:effectLst/>
                <a:uFillTx/>
                <a:latin typeface="BIZ UDPゴシック"/>
                <a:ea typeface="BIZ UDPゴシック"/>
              </a:rPr>
              <a:t>定着化報告書</a:t>
            </a:r>
            <a:r>
              <a:rPr lang="en-US" sz="800" b="0" u="none" strike="noStrike">
                <a:solidFill>
                  <a:srgbClr val="6B7280"/>
                </a:solidFill>
                <a:effectLst/>
                <a:uFillTx/>
                <a:latin typeface="BIZ UDPゴシック"/>
                <a:ea typeface="BIZ UDPゴシック"/>
              </a:rPr>
              <a:t>]</a:t>
            </a:r>
            <a:endParaRPr lang="en-US" sz="800" b="0" u="none" strike="noStrike">
              <a:solidFill>
                <a:srgbClr val="000000"/>
              </a:solidFill>
              <a:effectLst/>
              <a:uFillTx/>
              <a:latin typeface="Arial"/>
            </a:endParaRPr>
          </a:p>
        </p:txBody>
      </p:sp>
      <p:sp>
        <p:nvSpPr>
          <p:cNvPr id="1355" name="gt-bar"/>
          <p:cNvSpPr/>
          <p:nvPr/>
        </p:nvSpPr>
        <p:spPr>
          <a:xfrm>
            <a:off x="8157960" y="3360600"/>
            <a:ext cx="3529800" cy="90720"/>
          </a:xfrm>
          <a:prstGeom prst="roundRect">
            <a:avLst>
              <a:gd name="adj" fmla="val 5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356" name="gt-name"/>
          <p:cNvSpPr/>
          <p:nvPr/>
        </p:nvSpPr>
        <p:spPr>
          <a:xfrm>
            <a:off x="667440" y="3300840"/>
            <a:ext cx="2029320" cy="20952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50" b="0" u="none" strike="noStrike">
                <a:solidFill>
                  <a:srgbClr val="1F2937"/>
                </a:solidFill>
                <a:effectLst/>
                <a:uFillTx/>
                <a:latin typeface="BIZ UDPゴシック"/>
                <a:ea typeface="BIZ UDPゴシック"/>
              </a:rPr>
              <a:t>月次締め伴走</a:t>
            </a:r>
            <a:endParaRPr lang="en-US" sz="950" b="0" u="none" strike="noStrike">
              <a:solidFill>
                <a:srgbClr val="000000"/>
              </a:solidFill>
              <a:effectLst/>
              <a:uFillTx/>
              <a:latin typeface="Arial"/>
            </a:endParaRPr>
          </a:p>
        </p:txBody>
      </p:sp>
      <p:sp>
        <p:nvSpPr>
          <p:cNvPr id="1357" name="gt-leg"/>
          <p:cNvSpPr/>
          <p:nvPr/>
        </p:nvSpPr>
        <p:spPr>
          <a:xfrm>
            <a:off x="2862000" y="3557160"/>
            <a:ext cx="145440" cy="90720"/>
          </a:xfrm>
          <a:prstGeom prst="roundRect">
            <a:avLst>
              <a:gd name="adj" fmla="val 40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358" name="TextBox 78"/>
          <p:cNvSpPr/>
          <p:nvPr/>
        </p:nvSpPr>
        <p:spPr>
          <a:xfrm>
            <a:off x="3044880" y="351144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共同</a:t>
            </a:r>
            <a:endParaRPr lang="en-US" sz="900" b="0" u="none" strike="noStrike">
              <a:solidFill>
                <a:srgbClr val="000000"/>
              </a:solidFill>
              <a:effectLst/>
              <a:uFillTx/>
              <a:latin typeface="Arial"/>
            </a:endParaRPr>
          </a:p>
        </p:txBody>
      </p:sp>
      <p:sp>
        <p:nvSpPr>
          <p:cNvPr id="1359" name="gt-leg"/>
          <p:cNvSpPr/>
          <p:nvPr/>
        </p:nvSpPr>
        <p:spPr>
          <a:xfrm>
            <a:off x="3566160" y="3557160"/>
            <a:ext cx="145440" cy="90720"/>
          </a:xfrm>
          <a:prstGeom prst="roundRect">
            <a:avLst>
              <a:gd name="adj" fmla="val 40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360" name="TextBox 80"/>
          <p:cNvSpPr/>
          <p:nvPr/>
        </p:nvSpPr>
        <p:spPr>
          <a:xfrm>
            <a:off x="3749040" y="351144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当社</a:t>
            </a:r>
            <a:endParaRPr lang="en-US" sz="900" b="0" u="none" strike="noStrike">
              <a:solidFill>
                <a:srgbClr val="000000"/>
              </a:solidFill>
              <a:effectLst/>
              <a:uFillTx/>
              <a:latin typeface="Arial"/>
            </a:endParaRPr>
          </a:p>
        </p:txBody>
      </p:sp>
      <p:sp>
        <p:nvSpPr>
          <p:cNvPr id="1361" name="gt-leg"/>
          <p:cNvSpPr/>
          <p:nvPr/>
        </p:nvSpPr>
        <p:spPr>
          <a:xfrm>
            <a:off x="4270320" y="3557160"/>
            <a:ext cx="145440" cy="90720"/>
          </a:xfrm>
          <a:prstGeom prst="roundRect">
            <a:avLst>
              <a:gd name="adj" fmla="val 4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200" rIns="90000" bIns="25200" anchor="ctr">
            <a:noAutofit/>
          </a:bodyPr>
          <a:p>
            <a:endParaRPr lang="en-US" sz="1800" b="0" u="none" strike="noStrike">
              <a:solidFill>
                <a:schemeClr val="lt1"/>
              </a:solidFill>
              <a:effectLst/>
              <a:uFillTx/>
              <a:latin typeface="Calibri"/>
            </a:endParaRPr>
          </a:p>
        </p:txBody>
      </p:sp>
      <p:sp>
        <p:nvSpPr>
          <p:cNvPr id="1362" name="TextBox 82"/>
          <p:cNvSpPr/>
          <p:nvPr/>
        </p:nvSpPr>
        <p:spPr>
          <a:xfrm>
            <a:off x="4453200" y="3511440"/>
            <a:ext cx="1005120" cy="182160"/>
          </a:xfrm>
          <a:prstGeom prst="rect">
            <a:avLst/>
          </a:prstGeom>
          <a:noFill/>
          <a:ln w="0">
            <a:noFill/>
          </a:ln>
        </p:spPr>
        <p:style>
          <a:lnRef idx="0"/>
          <a:fillRef idx="0"/>
          <a:effectRef idx="0"/>
          <a:fontRef idx="minor"/>
        </p:style>
        <p:txBody>
          <a:bodyPr wrap="none" lIns="0" tIns="0" rIns="0" bIns="0" anchor="ctr">
            <a:spAutoFit/>
          </a:bodyPr>
          <a:p>
            <a:pPr defTabSz="457200">
              <a:lnSpc>
                <a:spcPct val="120000"/>
              </a:lnSpc>
            </a:pPr>
            <a:r>
              <a:rPr lang="ja-JP" sz="900" b="0" u="none" strike="noStrike">
                <a:solidFill>
                  <a:srgbClr val="6B7280"/>
                </a:solidFill>
                <a:effectLst/>
                <a:uFillTx/>
                <a:latin typeface="BIZ UDPゴシック"/>
                <a:ea typeface="BIZ UDPゴシック"/>
              </a:rPr>
              <a:t>貴社</a:t>
            </a:r>
            <a:endParaRPr lang="en-US" sz="900" b="0" u="none" strike="noStrike">
              <a:solidFill>
                <a:srgbClr val="000000"/>
              </a:solidFill>
              <a:effectLst/>
              <a:uFillTx/>
              <a:latin typeface="Arial"/>
            </a:endParaRPr>
          </a:p>
        </p:txBody>
      </p:sp>
      <p:sp>
        <p:nvSpPr>
          <p:cNvPr id="1363" name="blk-title"/>
          <p:cNvSpPr/>
          <p:nvPr/>
        </p:nvSpPr>
        <p:spPr>
          <a:xfrm>
            <a:off x="502920" y="417492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フェーズの要点</a:t>
            </a:r>
            <a:endParaRPr lang="en-US" sz="1200" b="0" u="none" strike="noStrike">
              <a:solidFill>
                <a:srgbClr val="000000"/>
              </a:solidFill>
              <a:effectLst/>
              <a:uFillTx/>
              <a:latin typeface="Arial"/>
            </a:endParaRPr>
          </a:p>
        </p:txBody>
      </p:sp>
      <p:graphicFrame>
        <p:nvGraphicFramePr>
          <p:cNvPr id="1364" name="blk-kv"/>
          <p:cNvGraphicFramePr/>
          <p:nvPr/>
        </p:nvGraphicFramePr>
        <p:xfrm>
          <a:off x="502920" y="4449240"/>
          <a:ext cx="11185200" cy="1169280"/>
        </p:xfrm>
        <a:graphic>
          <a:graphicData uri="http://schemas.openxmlformats.org/drawingml/2006/table">
            <a:tbl>
              <a:tblPr/>
              <a:tblGrid>
                <a:gridCol w="3355560"/>
                <a:gridCol w="7830000"/>
              </a:tblGrid>
              <a:tr h="28800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パイロット稼働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2027/09/01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2027/09/30 (</a:t>
                      </a:r>
                      <a:r>
                        <a:rPr lang="ja-JP" sz="1400" b="0" u="none" strike="noStrike">
                          <a:solidFill>
                            <a:srgbClr val="1F2937"/>
                          </a:solidFill>
                          <a:effectLst/>
                          <a:uFillTx/>
                          <a:latin typeface="BIZ UDPゴシック"/>
                          <a:ea typeface="BIZ UDPゴシック"/>
                        </a:rPr>
                        <a:t>経理部と</a:t>
                      </a: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事業部で先行稼働</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8800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全社本番移行</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2027/10/01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2027/10/15 (</a:t>
                      </a:r>
                      <a:r>
                        <a:rPr lang="ja-JP" sz="1400" b="0" u="none" strike="noStrike">
                          <a:solidFill>
                            <a:srgbClr val="1F2937"/>
                          </a:solidFill>
                          <a:effectLst/>
                          <a:uFillTx/>
                          <a:latin typeface="BIZ UDPゴシック"/>
                          <a:ea typeface="BIZ UDPゴシック"/>
                        </a:rPr>
                        <a:t>移行後確認を含む</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8800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定着化支援</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2027/10/16</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2027/11/30 (</a:t>
                      </a:r>
                      <a:r>
                        <a:rPr lang="ja-JP" sz="1400" b="0" u="none" strike="noStrike">
                          <a:solidFill>
                            <a:srgbClr val="1F2937"/>
                          </a:solidFill>
                          <a:effectLst/>
                          <a:uFillTx/>
                          <a:latin typeface="BIZ UDPゴシック"/>
                          <a:ea typeface="BIZ UDPゴシック"/>
                        </a:rPr>
                        <a:t>月次締め</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回の伴走</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88000">
                <a:tc>
                  <a:txBody>
                    <a:bodyPr lIns="45720" tIns="18000" rIns="45720" bIns="18000" anchor="t">
                      <a:noAutofit/>
                    </a:bodyPr>
                    <a:p>
                      <a:pPr defTabSz="457200">
                        <a:lnSpc>
                          <a:spcPct val="120000"/>
                        </a:lnSpc>
                      </a:pPr>
                      <a:r>
                        <a:rPr lang="ja-JP" sz="1400" b="1" u="none" strike="noStrike">
                          <a:solidFill>
                            <a:srgbClr val="16213E"/>
                          </a:solidFill>
                          <a:effectLst/>
                          <a:uFillTx/>
                          <a:latin typeface="BIZ UDPゴシック"/>
                          <a:ea typeface="BIZ UDPゴシック"/>
                        </a:rPr>
                        <a:t>切替判定</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受入テスト終了後、工程バッファ</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週間を経てステアリングコミッティが判定</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1365" name="blk-callout"/>
          <p:cNvSpPr/>
          <p:nvPr/>
        </p:nvSpPr>
        <p:spPr>
          <a:xfrm>
            <a:off x="502920" y="5730120"/>
            <a:ext cx="11185200" cy="52344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移行判定は受入テスト完了とパイロット稼働の安定を条件とし、日程の前倒しはしない。</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36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36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370"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1"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2"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3"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4"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5"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37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37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2.5 </a:t>
            </a:r>
            <a:r>
              <a:rPr lang="ja-JP" sz="2400" b="1" u="none" strike="noStrike">
                <a:solidFill>
                  <a:srgbClr val="16213E"/>
                </a:solidFill>
                <a:effectLst/>
                <a:uFillTx/>
                <a:latin typeface="BIZ UDPゴシック"/>
                <a:ea typeface="BIZ UDPゴシック"/>
              </a:rPr>
              <a:t>移行・切替計画 </a:t>
            </a:r>
            <a:r>
              <a:rPr lang="en-US" sz="2400" b="1" u="none" strike="noStrike">
                <a:solidFill>
                  <a:srgbClr val="16213E"/>
                </a:solidFill>
                <a:effectLst/>
                <a:uFillTx/>
                <a:latin typeface="BIZ UDPゴシック"/>
                <a:ea typeface="BIZ UDPゴシック"/>
              </a:rPr>
              <a:t>(1/2)</a:t>
            </a:r>
            <a:endParaRPr lang="en-US" sz="2400" b="0" u="none" strike="noStrike">
              <a:solidFill>
                <a:srgbClr val="000000"/>
              </a:solidFill>
              <a:effectLst/>
              <a:uFillTx/>
              <a:latin typeface="Arial"/>
            </a:endParaRPr>
          </a:p>
        </p:txBody>
      </p:sp>
      <p:sp>
        <p:nvSpPr>
          <p:cNvPr id="137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380" name="hdr-hair"/>
          <p:cNvCxnSpPr/>
          <p:nvPr/>
        </p:nvCxnSpPr>
        <p:spPr>
          <a:xfrm>
            <a:off x="502920" y="969120"/>
            <a:ext cx="11186280" cy="720"/>
          </a:xfrm>
          <a:prstGeom prst="straightConnector1">
            <a:avLst/>
          </a:prstGeom>
          <a:ln w="9525">
            <a:solidFill>
              <a:srgbClr val="D5DBE5"/>
            </a:solidFill>
            <a:round/>
          </a:ln>
        </p:spPr>
      </p:cxnSp>
      <p:cxnSp>
        <p:nvCxnSpPr>
          <p:cNvPr id="1381" name="ftr-hair"/>
          <p:cNvCxnSpPr/>
          <p:nvPr/>
        </p:nvCxnSpPr>
        <p:spPr>
          <a:xfrm>
            <a:off x="502920" y="6382440"/>
            <a:ext cx="11186280" cy="720"/>
          </a:xfrm>
          <a:prstGeom prst="straightConnector1">
            <a:avLst/>
          </a:prstGeom>
          <a:ln w="9525">
            <a:solidFill>
              <a:srgbClr val="D5DBE5"/>
            </a:solidFill>
            <a:round/>
          </a:ln>
        </p:spPr>
      </p:cxnSp>
      <p:sp>
        <p:nvSpPr>
          <p:cNvPr id="138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35 / 85</a:t>
            </a:r>
            <a:endParaRPr lang="en-US" sz="1100" b="0" u="none" strike="noStrike">
              <a:solidFill>
                <a:srgbClr val="000000"/>
              </a:solidFill>
              <a:effectLst/>
              <a:uFillTx/>
              <a:latin typeface="Arial"/>
            </a:endParaRPr>
          </a:p>
        </p:txBody>
      </p:sp>
      <p:sp>
        <p:nvSpPr>
          <p:cNvPr id="138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38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38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38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Fit to Standard</a:t>
            </a:r>
            <a:r>
              <a:rPr lang="ja-JP" sz="1500" b="1" u="none" strike="noStrike">
                <a:solidFill>
                  <a:srgbClr val="16213E"/>
                </a:solidFill>
                <a:effectLst/>
                <a:uFillTx/>
                <a:latin typeface="BIZ UDPゴシック"/>
                <a:ea typeface="BIZ UDPゴシック"/>
              </a:rPr>
              <a:t>と段階導入で切替リスクを抑える</a:t>
            </a:r>
            <a:endParaRPr lang="en-US" sz="1500" b="0" u="none" strike="noStrike">
              <a:solidFill>
                <a:srgbClr val="000000"/>
              </a:solidFill>
              <a:effectLst/>
              <a:uFillTx/>
              <a:latin typeface="Arial"/>
            </a:endParaRPr>
          </a:p>
        </p:txBody>
      </p:sp>
      <p:sp>
        <p:nvSpPr>
          <p:cNvPr id="1389" name="drawio:tt"/>
          <p:cNvSpPr/>
          <p:nvPr/>
        </p:nvSpPr>
        <p:spPr>
          <a:xfrm>
            <a:off x="1324800" y="1627560"/>
            <a:ext cx="5998680" cy="296280"/>
          </a:xfrm>
          <a:prstGeom prst="rect">
            <a:avLst/>
          </a:prstGeom>
          <a:noFill/>
          <a:ln w="0">
            <a:noFill/>
          </a:ln>
        </p:spPr>
        <p:style>
          <a:lnRef idx="0"/>
          <a:fillRef idx="0"/>
          <a:effectRef idx="0"/>
          <a:fontRef idx="minor"/>
        </p:style>
        <p:txBody>
          <a:bodyPr lIns="36720" tIns="18360" rIns="36720" bIns="18360" anchor="ctr">
            <a:spAutoFit/>
          </a:bodyPr>
          <a:p>
            <a:pPr defTabSz="457200">
              <a:lnSpc>
                <a:spcPct val="110000"/>
              </a:lnSpc>
            </a:pPr>
            <a:r>
              <a:rPr lang="en-US" sz="1440" b="1" u="none" strike="noStrike">
                <a:solidFill>
                  <a:srgbClr val="16213E"/>
                </a:solidFill>
                <a:effectLst/>
                <a:uFillTx/>
                <a:latin typeface="BIZ UDPゴシック"/>
                <a:ea typeface="BIZ UDPゴシック"/>
              </a:rPr>
              <a:t>Fit to Standard </a:t>
            </a:r>
            <a:r>
              <a:rPr lang="ja-JP" sz="1440" b="1" u="none" strike="noStrike">
                <a:solidFill>
                  <a:srgbClr val="16213E"/>
                </a:solidFill>
                <a:effectLst/>
                <a:uFillTx/>
                <a:latin typeface="BIZ UDPゴシック"/>
                <a:ea typeface="BIZ UDPゴシック"/>
              </a:rPr>
              <a:t>反復と段階的導入 </a:t>
            </a:r>
            <a:r>
              <a:rPr lang="en-US" sz="1440" b="1" u="none" strike="noStrike">
                <a:solidFill>
                  <a:srgbClr val="16213E"/>
                </a:solidFill>
                <a:effectLst/>
                <a:uFillTx/>
                <a:latin typeface="BIZ UDPゴシック"/>
                <a:ea typeface="BIZ UDPゴシック"/>
              </a:rPr>
              <a:t>(Go/No-Go </a:t>
            </a:r>
            <a:r>
              <a:rPr lang="ja-JP" sz="1440" b="1" u="none" strike="noStrike">
                <a:solidFill>
                  <a:srgbClr val="16213E"/>
                </a:solidFill>
                <a:effectLst/>
                <a:uFillTx/>
                <a:latin typeface="BIZ UDPゴシック"/>
                <a:ea typeface="BIZ UDPゴシック"/>
              </a:rPr>
              <a:t>ゲート</a:t>
            </a:r>
            <a:r>
              <a:rPr lang="en-US" sz="1440" b="1" u="none" strike="noStrike">
                <a:solidFill>
                  <a:srgbClr val="16213E"/>
                </a:solidFill>
                <a:effectLst/>
                <a:uFillTx/>
                <a:latin typeface="BIZ UDPゴシック"/>
                <a:ea typeface="BIZ UDPゴシック"/>
              </a:rPr>
              <a:t>)</a:t>
            </a:r>
            <a:endParaRPr lang="en-US" sz="1440" b="0" u="none" strike="noStrike">
              <a:solidFill>
                <a:srgbClr val="000000"/>
              </a:solidFill>
              <a:effectLst/>
              <a:uFillTx/>
              <a:latin typeface="Arial"/>
            </a:endParaRPr>
          </a:p>
        </p:txBody>
      </p:sp>
      <p:sp>
        <p:nvSpPr>
          <p:cNvPr id="1390" name="drawio:FT"/>
          <p:cNvSpPr/>
          <p:nvPr/>
        </p:nvSpPr>
        <p:spPr>
          <a:xfrm>
            <a:off x="1404720" y="2450520"/>
            <a:ext cx="1953360" cy="2102040"/>
          </a:xfrm>
          <a:prstGeom prst="rect">
            <a:avLst/>
          </a:prstGeom>
          <a:solidFill>
            <a:srgbClr val="F4F6FA"/>
          </a:solidFill>
          <a:ln w="11427">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91" name="drawio:FT:hdr"/>
          <p:cNvSpPr/>
          <p:nvPr/>
        </p:nvSpPr>
        <p:spPr>
          <a:xfrm>
            <a:off x="1404720" y="2450520"/>
            <a:ext cx="1953360" cy="387720"/>
          </a:xfrm>
          <a:prstGeom prst="rect">
            <a:avLst/>
          </a:prstGeom>
          <a:solidFill>
            <a:srgbClr val="F4F6FA"/>
          </a:solidFill>
          <a:ln w="11427">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440" b="1" u="none" strike="noStrike">
                <a:solidFill>
                  <a:srgbClr val="16213E"/>
                </a:solidFill>
                <a:effectLst/>
                <a:uFillTx/>
                <a:latin typeface="BIZ UDPゴシック"/>
                <a:ea typeface="BIZ UDPゴシック"/>
              </a:rPr>
              <a:t>Fit to Standard</a:t>
            </a:r>
            <a:endParaRPr lang="en-US" sz="1440" b="0" u="none" strike="noStrike">
              <a:solidFill>
                <a:srgbClr val="000000"/>
              </a:solidFill>
              <a:effectLst/>
              <a:uFillTx/>
              <a:latin typeface="Arial"/>
            </a:endParaRPr>
          </a:p>
        </p:txBody>
      </p:sp>
      <p:sp>
        <p:nvSpPr>
          <p:cNvPr id="1392" name="drawio:f1"/>
          <p:cNvSpPr/>
          <p:nvPr/>
        </p:nvSpPr>
        <p:spPr>
          <a:xfrm>
            <a:off x="1633320" y="2896200"/>
            <a:ext cx="1496160" cy="376560"/>
          </a:xfrm>
          <a:prstGeom prst="roundRect">
            <a:avLst>
              <a:gd name="adj" fmla="val 16667"/>
            </a:avLst>
          </a:prstGeom>
          <a:solidFill>
            <a:srgbClr val="FFFFFF"/>
          </a:solidFill>
          <a:ln w="11427">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40" b="0" u="none" strike="noStrike">
                <a:solidFill>
                  <a:srgbClr val="1F2937"/>
                </a:solidFill>
                <a:effectLst/>
                <a:uFillTx/>
                <a:latin typeface="BIZ UDPゴシック"/>
                <a:ea typeface="BIZ UDPゴシック"/>
              </a:rPr>
              <a:t>標準機能デモ</a:t>
            </a:r>
            <a:endParaRPr lang="en-US" sz="1440" b="0" u="none" strike="noStrike">
              <a:solidFill>
                <a:srgbClr val="000000"/>
              </a:solidFill>
              <a:effectLst/>
              <a:uFillTx/>
              <a:latin typeface="Arial"/>
            </a:endParaRPr>
          </a:p>
        </p:txBody>
      </p:sp>
      <p:sp>
        <p:nvSpPr>
          <p:cNvPr id="1393" name="drawio:f2"/>
          <p:cNvSpPr/>
          <p:nvPr/>
        </p:nvSpPr>
        <p:spPr>
          <a:xfrm>
            <a:off x="1633320" y="3421800"/>
            <a:ext cx="1496160" cy="376560"/>
          </a:xfrm>
          <a:prstGeom prst="roundRect">
            <a:avLst>
              <a:gd name="adj" fmla="val 16667"/>
            </a:avLst>
          </a:prstGeom>
          <a:solidFill>
            <a:srgbClr val="FFFFFF"/>
          </a:solidFill>
          <a:ln w="11427">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40" b="0" u="none" strike="noStrike">
                <a:solidFill>
                  <a:srgbClr val="1F2937"/>
                </a:solidFill>
                <a:effectLst/>
                <a:uFillTx/>
                <a:latin typeface="BIZ UDPゴシック"/>
                <a:ea typeface="BIZ UDPゴシック"/>
              </a:rPr>
              <a:t>ギャップ判定</a:t>
            </a:r>
            <a:endParaRPr lang="en-US" sz="1440" b="0" u="none" strike="noStrike">
              <a:solidFill>
                <a:srgbClr val="000000"/>
              </a:solidFill>
              <a:effectLst/>
              <a:uFillTx/>
              <a:latin typeface="Arial"/>
            </a:endParaRPr>
          </a:p>
        </p:txBody>
      </p:sp>
      <p:sp>
        <p:nvSpPr>
          <p:cNvPr id="1394" name="drawio:f3"/>
          <p:cNvSpPr/>
          <p:nvPr/>
        </p:nvSpPr>
        <p:spPr>
          <a:xfrm>
            <a:off x="1633320" y="3947400"/>
            <a:ext cx="1496160" cy="376560"/>
          </a:xfrm>
          <a:prstGeom prst="roundRect">
            <a:avLst>
              <a:gd name="adj" fmla="val 16667"/>
            </a:avLst>
          </a:prstGeom>
          <a:solidFill>
            <a:srgbClr val="FFFFFF"/>
          </a:solidFill>
          <a:ln w="11427">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40" b="0" u="none" strike="noStrike">
                <a:solidFill>
                  <a:srgbClr val="1F2937"/>
                </a:solidFill>
                <a:effectLst/>
                <a:uFillTx/>
                <a:latin typeface="BIZ UDPゴシック"/>
                <a:ea typeface="BIZ UDPゴシック"/>
              </a:rPr>
              <a:t>設定</a:t>
            </a:r>
            <a:endParaRPr lang="en-US" sz="1440" b="0" u="none" strike="noStrike">
              <a:solidFill>
                <a:srgbClr val="000000"/>
              </a:solidFill>
              <a:effectLst/>
              <a:uFillTx/>
              <a:latin typeface="Arial"/>
            </a:endParaRPr>
          </a:p>
        </p:txBody>
      </p:sp>
      <p:sp>
        <p:nvSpPr>
          <p:cNvPr id="1395" name="drawio:g1"/>
          <p:cNvSpPr/>
          <p:nvPr/>
        </p:nvSpPr>
        <p:spPr>
          <a:xfrm>
            <a:off x="3495960" y="3341880"/>
            <a:ext cx="1256400" cy="593640"/>
          </a:xfrm>
          <a:prstGeom prst="roundRect">
            <a:avLst>
              <a:gd name="adj" fmla="val 16667"/>
            </a:avLst>
          </a:prstGeom>
          <a:solidFill>
            <a:srgbClr val="FFFFFF"/>
          </a:solidFill>
          <a:ln w="11427">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440" b="1" u="none" strike="noStrike">
                <a:solidFill>
                  <a:srgbClr val="B4235A"/>
                </a:solidFill>
                <a:effectLst/>
                <a:uFillTx/>
                <a:latin typeface="BIZ UDPゴシック"/>
                <a:ea typeface="BIZ UDPゴシック"/>
              </a:rPr>
              <a:t>Go/No-Go</a:t>
            </a:r>
            <a:endParaRPr lang="en-US" sz="1440" b="0" u="none" strike="noStrike">
              <a:solidFill>
                <a:srgbClr val="000000"/>
              </a:solidFill>
              <a:effectLst/>
              <a:uFillTx/>
              <a:latin typeface="Arial"/>
            </a:endParaRPr>
          </a:p>
          <a:p>
            <a:pPr algn="ctr" defTabSz="457200">
              <a:lnSpc>
                <a:spcPct val="110000"/>
              </a:lnSpc>
            </a:pPr>
            <a:r>
              <a:rPr lang="ja-JP" sz="1440" b="1" u="none" strike="noStrike">
                <a:solidFill>
                  <a:srgbClr val="B4235A"/>
                </a:solidFill>
                <a:effectLst/>
                <a:uFillTx/>
                <a:latin typeface="BIZ UDPゴシック"/>
                <a:ea typeface="BIZ UDPゴシック"/>
              </a:rPr>
              <a:t>判定</a:t>
            </a:r>
            <a:endParaRPr lang="en-US" sz="1440" b="0" u="none" strike="noStrike">
              <a:solidFill>
                <a:srgbClr val="000000"/>
              </a:solidFill>
              <a:effectLst/>
              <a:uFillTx/>
              <a:latin typeface="Arial"/>
            </a:endParaRPr>
          </a:p>
        </p:txBody>
      </p:sp>
      <p:sp>
        <p:nvSpPr>
          <p:cNvPr id="1396" name="drawio:p1"/>
          <p:cNvSpPr/>
          <p:nvPr/>
        </p:nvSpPr>
        <p:spPr>
          <a:xfrm>
            <a:off x="4890240" y="3044520"/>
            <a:ext cx="1496160" cy="1199160"/>
          </a:xfrm>
          <a:prstGeom prst="roundRect">
            <a:avLst>
              <a:gd name="adj" fmla="val 16667"/>
            </a:avLst>
          </a:prstGeom>
          <a:solidFill>
            <a:srgbClr val="FFFFFF"/>
          </a:solidFill>
          <a:ln w="11427">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40" b="0" u="none" strike="noStrike">
                <a:solidFill>
                  <a:srgbClr val="1F2937"/>
                </a:solidFill>
                <a:effectLst/>
                <a:uFillTx/>
                <a:latin typeface="BIZ UDPゴシック"/>
                <a:ea typeface="BIZ UDPゴシック"/>
              </a:rPr>
              <a:t>パイロット稼働</a:t>
            </a:r>
            <a:endParaRPr lang="en-US" sz="1440" b="0" u="none" strike="noStrike">
              <a:solidFill>
                <a:srgbClr val="000000"/>
              </a:solidFill>
              <a:effectLst/>
              <a:uFillTx/>
              <a:latin typeface="Arial"/>
            </a:endParaRPr>
          </a:p>
          <a:p>
            <a:pPr algn="ctr" defTabSz="457200">
              <a:lnSpc>
                <a:spcPct val="110000"/>
              </a:lnSpc>
            </a:pPr>
            <a:r>
              <a:rPr lang="ja-JP" sz="1440" b="0" u="none" strike="noStrike">
                <a:solidFill>
                  <a:srgbClr val="1F2937"/>
                </a:solidFill>
                <a:effectLst/>
                <a:uFillTx/>
                <a:latin typeface="BIZ UDPゴシック"/>
                <a:ea typeface="BIZ UDPゴシック"/>
              </a:rPr>
              <a:t>経理部</a:t>
            </a:r>
            <a:r>
              <a:rPr lang="en-US" sz="1440" b="0" u="none" strike="noStrike">
                <a:solidFill>
                  <a:srgbClr val="1F2937"/>
                </a:solidFill>
                <a:effectLst/>
                <a:uFillTx/>
                <a:latin typeface="BIZ UDPゴシック"/>
                <a:ea typeface="BIZ UDPゴシック"/>
              </a:rPr>
              <a:t>+1</a:t>
            </a:r>
            <a:r>
              <a:rPr lang="ja-JP" sz="1440" b="0" u="none" strike="noStrike">
                <a:solidFill>
                  <a:srgbClr val="1F2937"/>
                </a:solidFill>
                <a:effectLst/>
                <a:uFillTx/>
                <a:latin typeface="BIZ UDPゴシック"/>
                <a:ea typeface="BIZ UDPゴシック"/>
              </a:rPr>
              <a:t>部門</a:t>
            </a:r>
            <a:endParaRPr lang="en-US" sz="1440" b="0" u="none" strike="noStrike">
              <a:solidFill>
                <a:srgbClr val="000000"/>
              </a:solidFill>
              <a:effectLst/>
              <a:uFillTx/>
              <a:latin typeface="Arial"/>
            </a:endParaRPr>
          </a:p>
          <a:p>
            <a:pPr algn="ctr" defTabSz="457200">
              <a:lnSpc>
                <a:spcPct val="110000"/>
              </a:lnSpc>
            </a:pPr>
            <a:r>
              <a:rPr lang="en-US" sz="1440" b="0" u="none" strike="noStrike">
                <a:solidFill>
                  <a:srgbClr val="1F2937"/>
                </a:solidFill>
                <a:effectLst/>
                <a:uFillTx/>
                <a:latin typeface="BIZ UDPゴシック"/>
                <a:ea typeface="BIZ UDPゴシック"/>
              </a:rPr>
              <a:t>2027/09</a:t>
            </a:r>
            <a:endParaRPr lang="en-US" sz="1440" b="0" u="none" strike="noStrike">
              <a:solidFill>
                <a:srgbClr val="000000"/>
              </a:solidFill>
              <a:effectLst/>
              <a:uFillTx/>
              <a:latin typeface="Arial"/>
            </a:endParaRPr>
          </a:p>
        </p:txBody>
      </p:sp>
      <p:sp>
        <p:nvSpPr>
          <p:cNvPr id="1397" name="drawio:g2"/>
          <p:cNvSpPr/>
          <p:nvPr/>
        </p:nvSpPr>
        <p:spPr>
          <a:xfrm>
            <a:off x="6524280" y="3341880"/>
            <a:ext cx="1256400" cy="593640"/>
          </a:xfrm>
          <a:prstGeom prst="roundRect">
            <a:avLst>
              <a:gd name="adj" fmla="val 16667"/>
            </a:avLst>
          </a:prstGeom>
          <a:solidFill>
            <a:srgbClr val="FFFFFF"/>
          </a:solidFill>
          <a:ln w="11427">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440" b="1" u="none" strike="noStrike">
                <a:solidFill>
                  <a:srgbClr val="B4235A"/>
                </a:solidFill>
                <a:effectLst/>
                <a:uFillTx/>
                <a:latin typeface="BIZ UDPゴシック"/>
                <a:ea typeface="BIZ UDPゴシック"/>
              </a:rPr>
              <a:t>Go/No-Go</a:t>
            </a:r>
            <a:endParaRPr lang="en-US" sz="1440" b="0" u="none" strike="noStrike">
              <a:solidFill>
                <a:srgbClr val="000000"/>
              </a:solidFill>
              <a:effectLst/>
              <a:uFillTx/>
              <a:latin typeface="Arial"/>
            </a:endParaRPr>
          </a:p>
          <a:p>
            <a:pPr algn="ctr" defTabSz="457200">
              <a:lnSpc>
                <a:spcPct val="110000"/>
              </a:lnSpc>
            </a:pPr>
            <a:r>
              <a:rPr lang="ja-JP" sz="1440" b="1" u="none" strike="noStrike">
                <a:solidFill>
                  <a:srgbClr val="B4235A"/>
                </a:solidFill>
                <a:effectLst/>
                <a:uFillTx/>
                <a:latin typeface="BIZ UDPゴシック"/>
                <a:ea typeface="BIZ UDPゴシック"/>
              </a:rPr>
              <a:t>判定</a:t>
            </a:r>
            <a:endParaRPr lang="en-US" sz="1440" b="0" u="none" strike="noStrike">
              <a:solidFill>
                <a:srgbClr val="000000"/>
              </a:solidFill>
              <a:effectLst/>
              <a:uFillTx/>
              <a:latin typeface="Arial"/>
            </a:endParaRPr>
          </a:p>
        </p:txBody>
      </p:sp>
      <p:sp>
        <p:nvSpPr>
          <p:cNvPr id="1398" name="drawio:pr1"/>
          <p:cNvSpPr/>
          <p:nvPr/>
        </p:nvSpPr>
        <p:spPr>
          <a:xfrm>
            <a:off x="7918560" y="3238920"/>
            <a:ext cx="1599120" cy="822240"/>
          </a:xfrm>
          <a:prstGeom prst="roundRect">
            <a:avLst>
              <a:gd name="adj" fmla="val 16667"/>
            </a:avLst>
          </a:prstGeom>
          <a:solidFill>
            <a:srgbClr val="059669"/>
          </a:solidFill>
          <a:ln w="11427">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40" b="1" u="none" strike="noStrike">
                <a:solidFill>
                  <a:srgbClr val="FFFFFF"/>
                </a:solidFill>
                <a:effectLst/>
                <a:uFillTx/>
                <a:latin typeface="BIZ UDPゴシック"/>
                <a:ea typeface="BIZ UDPゴシック"/>
              </a:rPr>
              <a:t>全社本番稼働</a:t>
            </a:r>
            <a:endParaRPr lang="en-US" sz="1440" b="0" u="none" strike="noStrike">
              <a:solidFill>
                <a:srgbClr val="FFFFFF"/>
              </a:solidFill>
              <a:effectLst/>
              <a:uFillTx/>
              <a:latin typeface="Arial"/>
            </a:endParaRPr>
          </a:p>
          <a:p>
            <a:pPr algn="ctr" defTabSz="457200">
              <a:lnSpc>
                <a:spcPct val="110000"/>
              </a:lnSpc>
            </a:pPr>
            <a:r>
              <a:rPr lang="en-US" sz="1440" b="1" u="none" strike="noStrike">
                <a:solidFill>
                  <a:srgbClr val="FFFFFF"/>
                </a:solidFill>
                <a:effectLst/>
                <a:uFillTx/>
                <a:latin typeface="BIZ UDPゴシック"/>
                <a:ea typeface="BIZ UDPゴシック"/>
              </a:rPr>
              <a:t>2027-10-01</a:t>
            </a:r>
            <a:endParaRPr lang="en-US" sz="1440" b="0" u="none" strike="noStrike">
              <a:solidFill>
                <a:srgbClr val="FFFFFF"/>
              </a:solidFill>
              <a:effectLst/>
              <a:uFillTx/>
              <a:latin typeface="Arial"/>
            </a:endParaRPr>
          </a:p>
        </p:txBody>
      </p:sp>
      <p:sp>
        <p:nvSpPr>
          <p:cNvPr id="1399" name="drawio:st1"/>
          <p:cNvSpPr/>
          <p:nvPr/>
        </p:nvSpPr>
        <p:spPr>
          <a:xfrm>
            <a:off x="9655560" y="3238920"/>
            <a:ext cx="1644840" cy="822240"/>
          </a:xfrm>
          <a:prstGeom prst="roundRect">
            <a:avLst>
              <a:gd name="adj" fmla="val 16667"/>
            </a:avLst>
          </a:prstGeom>
          <a:solidFill>
            <a:srgbClr val="FFFFFF"/>
          </a:solidFill>
          <a:ln w="11427">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40" b="0" u="none" strike="noStrike">
                <a:solidFill>
                  <a:srgbClr val="1F2937"/>
                </a:solidFill>
                <a:effectLst/>
                <a:uFillTx/>
                <a:latin typeface="BIZ UDPゴシック"/>
                <a:ea typeface="BIZ UDPゴシック"/>
              </a:rPr>
              <a:t>定着化支援</a:t>
            </a:r>
            <a:endParaRPr lang="en-US" sz="1440" b="0" u="none" strike="noStrike">
              <a:solidFill>
                <a:srgbClr val="000000"/>
              </a:solidFill>
              <a:effectLst/>
              <a:uFillTx/>
              <a:latin typeface="Arial"/>
            </a:endParaRPr>
          </a:p>
          <a:p>
            <a:pPr algn="ctr" defTabSz="457200">
              <a:lnSpc>
                <a:spcPct val="110000"/>
              </a:lnSpc>
            </a:pPr>
            <a:r>
              <a:rPr lang="en-US" sz="1440" b="0" u="none" strike="noStrike">
                <a:solidFill>
                  <a:srgbClr val="1F2937"/>
                </a:solidFill>
                <a:effectLst/>
                <a:uFillTx/>
                <a:latin typeface="BIZ UDPゴシック"/>
                <a:ea typeface="BIZ UDPゴシック"/>
              </a:rPr>
              <a:t>10/16</a:t>
            </a:r>
            <a:r>
              <a:rPr lang="ja-JP" sz="1440" b="0" u="none" strike="noStrike">
                <a:solidFill>
                  <a:srgbClr val="1F2937"/>
                </a:solidFill>
                <a:effectLst/>
                <a:uFillTx/>
                <a:latin typeface="BIZ UDPゴシック"/>
                <a:ea typeface="BIZ UDPゴシック"/>
              </a:rPr>
              <a:t>〜</a:t>
            </a:r>
            <a:r>
              <a:rPr lang="en-US" sz="1440" b="0" u="none" strike="noStrike">
                <a:solidFill>
                  <a:srgbClr val="1F2937"/>
                </a:solidFill>
                <a:effectLst/>
                <a:uFillTx/>
                <a:latin typeface="BIZ UDPゴシック"/>
                <a:ea typeface="BIZ UDPゴシック"/>
              </a:rPr>
              <a:t>11/30</a:t>
            </a:r>
            <a:endParaRPr lang="en-US" sz="1440" b="0" u="none" strike="noStrike">
              <a:solidFill>
                <a:srgbClr val="000000"/>
              </a:solidFill>
              <a:effectLst/>
              <a:uFillTx/>
              <a:latin typeface="Arial"/>
            </a:endParaRPr>
          </a:p>
          <a:p>
            <a:pPr algn="ctr" defTabSz="457200">
              <a:lnSpc>
                <a:spcPct val="110000"/>
              </a:lnSpc>
            </a:pPr>
            <a:r>
              <a:rPr lang="ja-JP" sz="1440" b="0" u="none" strike="noStrike">
                <a:solidFill>
                  <a:srgbClr val="1F2937"/>
                </a:solidFill>
                <a:effectLst/>
                <a:uFillTx/>
                <a:latin typeface="BIZ UDPゴシック"/>
                <a:ea typeface="BIZ UDPゴシック"/>
              </a:rPr>
              <a:t>月次締めに伴走</a:t>
            </a:r>
            <a:endParaRPr lang="en-US" sz="1440" b="0" u="none" strike="noStrike">
              <a:solidFill>
                <a:srgbClr val="000000"/>
              </a:solidFill>
              <a:effectLst/>
              <a:uFillTx/>
              <a:latin typeface="Arial"/>
            </a:endParaRPr>
          </a:p>
        </p:txBody>
      </p:sp>
      <p:sp>
        <p:nvSpPr>
          <p:cNvPr id="1400" name="drawio:n1"/>
          <p:cNvSpPr/>
          <p:nvPr/>
        </p:nvSpPr>
        <p:spPr>
          <a:xfrm>
            <a:off x="1404720" y="5076000"/>
            <a:ext cx="8547120" cy="278640"/>
          </a:xfrm>
          <a:prstGeom prst="rect">
            <a:avLst/>
          </a:prstGeom>
          <a:noFill/>
          <a:ln w="0">
            <a:noFill/>
          </a:ln>
        </p:spPr>
        <p:style>
          <a:lnRef idx="0"/>
          <a:fillRef idx="0"/>
          <a:effectRef idx="0"/>
          <a:fontRef idx="minor"/>
        </p:style>
        <p:txBody>
          <a:bodyPr lIns="36720" tIns="18360" rIns="36720" bIns="18360" anchor="ctr">
            <a:spAutoFit/>
          </a:bodyPr>
          <a:p>
            <a:pPr algn="ctr" defTabSz="457200">
              <a:lnSpc>
                <a:spcPct val="110000"/>
              </a:lnSpc>
            </a:pPr>
            <a:r>
              <a:rPr lang="ja-JP" sz="1440" b="0" u="none" strike="noStrike">
                <a:solidFill>
                  <a:srgbClr val="6B7280"/>
                </a:solidFill>
                <a:effectLst/>
                <a:uFillTx/>
                <a:latin typeface="BIZ UDPゴシック"/>
                <a:ea typeface="BIZ UDPゴシック"/>
              </a:rPr>
              <a:t>各ゲート</a:t>
            </a:r>
            <a:r>
              <a:rPr lang="en-US" sz="1440" b="0" u="none" strike="noStrike">
                <a:solidFill>
                  <a:srgbClr val="6B7280"/>
                </a:solidFill>
                <a:effectLst/>
                <a:uFillTx/>
                <a:latin typeface="BIZ UDPゴシック"/>
                <a:ea typeface="BIZ UDPゴシック"/>
              </a:rPr>
              <a:t>: </a:t>
            </a:r>
            <a:r>
              <a:rPr lang="ja-JP" sz="1440" b="0" u="none" strike="noStrike">
                <a:solidFill>
                  <a:srgbClr val="6B7280"/>
                </a:solidFill>
                <a:effectLst/>
                <a:uFillTx/>
                <a:latin typeface="BIZ UDPゴシック"/>
                <a:ea typeface="BIZ UDPゴシック"/>
              </a:rPr>
              <a:t>完了基準をステアリングコミッティで判定 </a:t>
            </a:r>
            <a:r>
              <a:rPr lang="en-US" sz="1440" b="0" u="none" strike="noStrike">
                <a:solidFill>
                  <a:srgbClr val="6B7280"/>
                </a:solidFill>
                <a:effectLst/>
                <a:uFillTx/>
                <a:latin typeface="BIZ UDPゴシック"/>
                <a:ea typeface="BIZ UDPゴシック"/>
              </a:rPr>
              <a:t>(No-Go</a:t>
            </a:r>
            <a:r>
              <a:rPr lang="ja-JP" sz="1440" b="0" u="none" strike="noStrike">
                <a:solidFill>
                  <a:srgbClr val="6B7280"/>
                </a:solidFill>
                <a:effectLst/>
                <a:uFillTx/>
                <a:latin typeface="BIZ UDPゴシック"/>
                <a:ea typeface="BIZ UDPゴシック"/>
              </a:rPr>
              <a:t>は前工程へロールバック</a:t>
            </a:r>
            <a:r>
              <a:rPr lang="en-US" sz="1440" b="0" u="none" strike="noStrike">
                <a:solidFill>
                  <a:srgbClr val="6B7280"/>
                </a:solidFill>
                <a:effectLst/>
                <a:uFillTx/>
                <a:latin typeface="BIZ UDPゴシック"/>
                <a:ea typeface="BIZ UDPゴシック"/>
              </a:rPr>
              <a:t>)</a:t>
            </a:r>
            <a:endParaRPr lang="en-US" sz="1440" b="0" u="none" strike="noStrike">
              <a:solidFill>
                <a:srgbClr val="000000"/>
              </a:solidFill>
              <a:effectLst/>
              <a:uFillTx/>
              <a:latin typeface="Arial"/>
            </a:endParaRPr>
          </a:p>
        </p:txBody>
      </p:sp>
      <p:sp>
        <p:nvSpPr>
          <p:cNvPr id="1401" name="drawio:ef1"/>
          <p:cNvSpPr/>
          <p:nvPr/>
        </p:nvSpPr>
        <p:spPr>
          <a:xfrm>
            <a:off x="2381760" y="3267720"/>
            <a:ext cx="360" cy="159120"/>
          </a:xfrm>
          <a:custGeom>
            <a:avLst/>
            <a:gdLst>
              <a:gd name="textAreaLeft" fmla="*/ 0 w 360"/>
              <a:gd name="textAreaRight" fmla="*/ 1440 w 360"/>
              <a:gd name="textAreaTop" fmla="*/ 0 h 159120"/>
              <a:gd name="textAreaBottom" fmla="*/ 159840 h 159120"/>
            </a:gdLst>
            <a:ahLst/>
            <a:cxnLst/>
            <a:rect l="textAreaLeft" t="textAreaTop" r="textAreaRight" b="textAreaBottom"/>
            <a:pathLst>
              <a:path w="0" h="159873">
                <a:moveTo>
                  <a:pt x="0" y="0"/>
                </a:moveTo>
                <a:lnTo>
                  <a:pt x="0" y="79937"/>
                </a:lnTo>
                <a:lnTo>
                  <a:pt x="0" y="79937"/>
                </a:lnTo>
                <a:lnTo>
                  <a:pt x="0" y="159873"/>
                </a:lnTo>
              </a:path>
            </a:pathLst>
          </a:custGeom>
          <a:noFill/>
          <a:ln w="22855">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2" name="drawio:ef2"/>
          <p:cNvSpPr/>
          <p:nvPr/>
        </p:nvSpPr>
        <p:spPr>
          <a:xfrm>
            <a:off x="2381760" y="3793320"/>
            <a:ext cx="360" cy="159120"/>
          </a:xfrm>
          <a:custGeom>
            <a:avLst/>
            <a:gdLst>
              <a:gd name="textAreaLeft" fmla="*/ 0 w 360"/>
              <a:gd name="textAreaRight" fmla="*/ 1440 w 360"/>
              <a:gd name="textAreaTop" fmla="*/ 0 h 159120"/>
              <a:gd name="textAreaBottom" fmla="*/ 159840 h 159120"/>
            </a:gdLst>
            <a:ahLst/>
            <a:cxnLst/>
            <a:rect l="textAreaLeft" t="textAreaTop" r="textAreaRight" b="textAreaBottom"/>
            <a:pathLst>
              <a:path w="0" h="159873">
                <a:moveTo>
                  <a:pt x="0" y="0"/>
                </a:moveTo>
                <a:lnTo>
                  <a:pt x="0" y="79937"/>
                </a:lnTo>
                <a:lnTo>
                  <a:pt x="0" y="79937"/>
                </a:lnTo>
                <a:lnTo>
                  <a:pt x="0" y="159873"/>
                </a:lnTo>
              </a:path>
            </a:pathLst>
          </a:custGeom>
          <a:noFill/>
          <a:ln w="22855">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3" name="drawio:ef3"/>
          <p:cNvSpPr/>
          <p:nvPr/>
        </p:nvSpPr>
        <p:spPr>
          <a:xfrm>
            <a:off x="890640" y="3079080"/>
            <a:ext cx="764640" cy="1053720"/>
          </a:xfrm>
          <a:custGeom>
            <a:avLst/>
            <a:gdLst>
              <a:gd name="textAreaLeft" fmla="*/ 0 w 764640"/>
              <a:gd name="textAreaRight" fmla="*/ 765360 w 764640"/>
              <a:gd name="textAreaTop" fmla="*/ 0 h 1053720"/>
              <a:gd name="textAreaBottom" fmla="*/ 1054440 h 1053720"/>
            </a:gdLst>
            <a:ahLst/>
            <a:cxnLst/>
            <a:rect l="textAreaLeft" t="textAreaTop" r="textAreaRight" b="textAreaBottom"/>
            <a:pathLst>
              <a:path w="765254" h="1054277">
                <a:moveTo>
                  <a:pt x="765254" y="1054277"/>
                </a:moveTo>
                <a:lnTo>
                  <a:pt x="0" y="1051345"/>
                </a:lnTo>
                <a:lnTo>
                  <a:pt x="0" y="0"/>
                </a:lnTo>
                <a:lnTo>
                  <a:pt x="765254" y="2932"/>
                </a:lnTo>
              </a:path>
            </a:pathLst>
          </a:custGeom>
          <a:noFill/>
          <a:ln w="22855">
            <a:solidFill>
              <a:srgbClr val="0E749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4" name="drawio:ef3:label"/>
          <p:cNvSpPr/>
          <p:nvPr/>
        </p:nvSpPr>
        <p:spPr>
          <a:xfrm>
            <a:off x="616320" y="2953800"/>
            <a:ext cx="547920" cy="27792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440" b="0" u="none" strike="noStrike">
                <a:solidFill>
                  <a:srgbClr val="1F2937"/>
                </a:solidFill>
                <a:effectLst/>
                <a:uFillTx/>
                <a:latin typeface="BIZ UDPゴシック"/>
                <a:ea typeface="BIZ UDPゴシック"/>
              </a:rPr>
              <a:t>反復</a:t>
            </a:r>
            <a:endParaRPr lang="en-US" sz="1440" b="0" u="none" strike="noStrike">
              <a:solidFill>
                <a:srgbClr val="000000"/>
              </a:solidFill>
              <a:effectLst/>
              <a:uFillTx/>
              <a:latin typeface="Arial"/>
            </a:endParaRPr>
          </a:p>
        </p:txBody>
      </p:sp>
      <p:sp>
        <p:nvSpPr>
          <p:cNvPr id="1405" name="drawio:eg1"/>
          <p:cNvSpPr/>
          <p:nvPr/>
        </p:nvSpPr>
        <p:spPr>
          <a:xfrm>
            <a:off x="3107880" y="3638880"/>
            <a:ext cx="406440" cy="496440"/>
          </a:xfrm>
          <a:custGeom>
            <a:avLst/>
            <a:gdLst>
              <a:gd name="textAreaLeft" fmla="*/ 0 w 406440"/>
              <a:gd name="textAreaRight" fmla="*/ 407160 w 406440"/>
              <a:gd name="textAreaTop" fmla="*/ 0 h 496440"/>
              <a:gd name="textAreaBottom" fmla="*/ 497160 h 496440"/>
            </a:gdLst>
            <a:ahLst/>
            <a:cxnLst/>
            <a:rect l="textAreaLeft" t="textAreaTop" r="textAreaRight" b="textAreaBottom"/>
            <a:pathLst>
              <a:path w="406997" h="497104">
                <a:moveTo>
                  <a:pt x="0" y="497104"/>
                </a:moveTo>
                <a:lnTo>
                  <a:pt x="145303" y="497104"/>
                </a:lnTo>
                <a:lnTo>
                  <a:pt x="145303" y="0"/>
                </a:lnTo>
                <a:lnTo>
                  <a:pt x="406997" y="0"/>
                </a:lnTo>
              </a:path>
            </a:pathLst>
          </a:custGeom>
          <a:noFill/>
          <a:ln w="22855">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6" name="drawio:ep1"/>
          <p:cNvSpPr/>
          <p:nvPr/>
        </p:nvSpPr>
        <p:spPr>
          <a:xfrm>
            <a:off x="4734360" y="3638880"/>
            <a:ext cx="177840" cy="5040"/>
          </a:xfrm>
          <a:custGeom>
            <a:avLst/>
            <a:gdLst>
              <a:gd name="textAreaLeft" fmla="*/ 0 w 177840"/>
              <a:gd name="textAreaRight" fmla="*/ 178560 w 177840"/>
              <a:gd name="textAreaTop" fmla="*/ 0 h 5040"/>
              <a:gd name="textAreaBottom" fmla="*/ 5760 h 5040"/>
            </a:gdLst>
            <a:ahLst/>
            <a:cxnLst/>
            <a:rect l="textAreaLeft" t="textAreaTop" r="textAreaRight" b="textAreaBottom"/>
            <a:pathLst>
              <a:path w="178443" h="5714">
                <a:moveTo>
                  <a:pt x="0" y="0"/>
                </a:moveTo>
                <a:lnTo>
                  <a:pt x="147417" y="0"/>
                </a:lnTo>
                <a:lnTo>
                  <a:pt x="147417" y="5714"/>
                </a:lnTo>
                <a:lnTo>
                  <a:pt x="178443" y="5714"/>
                </a:lnTo>
              </a:path>
            </a:pathLst>
          </a:custGeom>
          <a:noFill/>
          <a:ln w="22855">
            <a:solidFill>
              <a:srgbClr val="059669"/>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240" rIns="90000" bIns="-39240" anchor="ctr">
            <a:noAutofit/>
          </a:bodyPr>
          <a:p>
            <a:endParaRPr lang="en-US" sz="1800" b="0" u="none" strike="noStrike">
              <a:solidFill>
                <a:schemeClr val="lt1"/>
              </a:solidFill>
              <a:effectLst/>
              <a:uFillTx/>
              <a:latin typeface="Calibri"/>
            </a:endParaRPr>
          </a:p>
        </p:txBody>
      </p:sp>
      <p:sp>
        <p:nvSpPr>
          <p:cNvPr id="1407" name="drawio:ep1:label"/>
          <p:cNvSpPr/>
          <p:nvPr/>
        </p:nvSpPr>
        <p:spPr>
          <a:xfrm>
            <a:off x="4607280" y="3051360"/>
            <a:ext cx="547920" cy="27792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en-US" sz="1440" b="0" u="none" strike="noStrike">
                <a:solidFill>
                  <a:srgbClr val="059669"/>
                </a:solidFill>
                <a:effectLst/>
                <a:uFillTx/>
                <a:latin typeface="BIZ UDPゴシック"/>
                <a:ea typeface="BIZ UDPゴシック"/>
              </a:rPr>
              <a:t>Go</a:t>
            </a:r>
            <a:endParaRPr lang="en-US" sz="1440" b="0" u="none" strike="noStrike">
              <a:solidFill>
                <a:srgbClr val="000000"/>
              </a:solidFill>
              <a:effectLst/>
              <a:uFillTx/>
              <a:latin typeface="Arial"/>
            </a:endParaRPr>
          </a:p>
        </p:txBody>
      </p:sp>
      <p:sp>
        <p:nvSpPr>
          <p:cNvPr id="1408" name="drawio:ep2"/>
          <p:cNvSpPr/>
          <p:nvPr/>
        </p:nvSpPr>
        <p:spPr>
          <a:xfrm>
            <a:off x="6364800" y="3638880"/>
            <a:ext cx="177840" cy="5040"/>
          </a:xfrm>
          <a:custGeom>
            <a:avLst/>
            <a:gdLst>
              <a:gd name="textAreaLeft" fmla="*/ 0 w 177840"/>
              <a:gd name="textAreaRight" fmla="*/ 178560 w 177840"/>
              <a:gd name="textAreaTop" fmla="*/ 0 h 5040"/>
              <a:gd name="textAreaBottom" fmla="*/ 5760 h 5040"/>
            </a:gdLst>
            <a:ahLst/>
            <a:cxnLst/>
            <a:rect l="textAreaLeft" t="textAreaTop" r="textAreaRight" b="textAreaBottom"/>
            <a:pathLst>
              <a:path w="178443" h="5714">
                <a:moveTo>
                  <a:pt x="0" y="5714"/>
                </a:moveTo>
                <a:lnTo>
                  <a:pt x="31026" y="5714"/>
                </a:lnTo>
                <a:lnTo>
                  <a:pt x="31026" y="0"/>
                </a:lnTo>
                <a:lnTo>
                  <a:pt x="178443" y="0"/>
                </a:lnTo>
              </a:path>
            </a:pathLst>
          </a:custGeom>
          <a:noFill/>
          <a:ln w="22855">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240" rIns="90000" bIns="-39240" anchor="ctr">
            <a:noAutofit/>
          </a:bodyPr>
          <a:p>
            <a:endParaRPr lang="en-US" sz="1800" b="0" u="none" strike="noStrike">
              <a:solidFill>
                <a:schemeClr val="lt1"/>
              </a:solidFill>
              <a:effectLst/>
              <a:uFillTx/>
              <a:latin typeface="Calibri"/>
            </a:endParaRPr>
          </a:p>
        </p:txBody>
      </p:sp>
      <p:sp>
        <p:nvSpPr>
          <p:cNvPr id="1409" name="drawio:epr"/>
          <p:cNvSpPr/>
          <p:nvPr/>
        </p:nvSpPr>
        <p:spPr>
          <a:xfrm>
            <a:off x="7762680" y="3638880"/>
            <a:ext cx="195840" cy="10800"/>
          </a:xfrm>
          <a:custGeom>
            <a:avLst/>
            <a:gdLst>
              <a:gd name="textAreaLeft" fmla="*/ 0 w 195840"/>
              <a:gd name="textAreaRight" fmla="*/ 196560 w 195840"/>
              <a:gd name="textAreaTop" fmla="*/ 0 h 10800"/>
              <a:gd name="textAreaBottom" fmla="*/ 11520 h 10800"/>
            </a:gdLst>
            <a:ahLst/>
            <a:cxnLst/>
            <a:rect l="textAreaLeft" t="textAreaTop" r="textAreaRight" b="textAreaBottom"/>
            <a:pathLst>
              <a:path w="196613" h="11428">
                <a:moveTo>
                  <a:pt x="0" y="0"/>
                </a:moveTo>
                <a:lnTo>
                  <a:pt x="173129" y="0"/>
                </a:lnTo>
                <a:lnTo>
                  <a:pt x="173129" y="11428"/>
                </a:lnTo>
                <a:lnTo>
                  <a:pt x="196613" y="11428"/>
                </a:lnTo>
              </a:path>
            </a:pathLst>
          </a:custGeom>
          <a:noFill/>
          <a:ln w="22855">
            <a:solidFill>
              <a:srgbClr val="059669"/>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3480" rIns="90000" bIns="-33480" anchor="ctr">
            <a:noAutofit/>
          </a:bodyPr>
          <a:p>
            <a:endParaRPr lang="en-US" sz="1800" b="0" u="none" strike="noStrike">
              <a:solidFill>
                <a:schemeClr val="lt1"/>
              </a:solidFill>
              <a:effectLst/>
              <a:uFillTx/>
              <a:latin typeface="Calibri"/>
            </a:endParaRPr>
          </a:p>
        </p:txBody>
      </p:sp>
      <p:sp>
        <p:nvSpPr>
          <p:cNvPr id="1410" name="drawio:epr:label"/>
          <p:cNvSpPr/>
          <p:nvPr/>
        </p:nvSpPr>
        <p:spPr>
          <a:xfrm>
            <a:off x="7587720" y="3205800"/>
            <a:ext cx="547920" cy="27792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en-US" sz="1440" b="0" u="none" strike="noStrike">
                <a:solidFill>
                  <a:srgbClr val="059669"/>
                </a:solidFill>
                <a:effectLst/>
                <a:uFillTx/>
                <a:latin typeface="BIZ UDPゴシック"/>
                <a:ea typeface="BIZ UDPゴシック"/>
              </a:rPr>
              <a:t>Go</a:t>
            </a:r>
            <a:endParaRPr lang="en-US" sz="1440" b="0" u="none" strike="noStrike">
              <a:solidFill>
                <a:srgbClr val="000000"/>
              </a:solidFill>
              <a:effectLst/>
              <a:uFillTx/>
              <a:latin typeface="Arial"/>
            </a:endParaRPr>
          </a:p>
        </p:txBody>
      </p:sp>
      <p:sp>
        <p:nvSpPr>
          <p:cNvPr id="1411" name="drawio:est"/>
          <p:cNvSpPr/>
          <p:nvPr/>
        </p:nvSpPr>
        <p:spPr>
          <a:xfrm>
            <a:off x="9494280" y="3650400"/>
            <a:ext cx="185040" cy="360"/>
          </a:xfrm>
          <a:custGeom>
            <a:avLst/>
            <a:gdLst>
              <a:gd name="textAreaLeft" fmla="*/ 0 w 185040"/>
              <a:gd name="textAreaRight" fmla="*/ 185760 w 185040"/>
              <a:gd name="textAreaTop" fmla="*/ 0 h 360"/>
              <a:gd name="textAreaBottom" fmla="*/ 1440 h 360"/>
            </a:gdLst>
            <a:ahLst/>
            <a:cxnLst/>
            <a:rect l="textAreaLeft" t="textAreaTop" r="textAreaRight" b="textAreaBottom"/>
            <a:pathLst>
              <a:path w="185814" h="0">
                <a:moveTo>
                  <a:pt x="0" y="0"/>
                </a:moveTo>
                <a:lnTo>
                  <a:pt x="103992" y="0"/>
                </a:lnTo>
                <a:lnTo>
                  <a:pt x="103992" y="0"/>
                </a:lnTo>
                <a:lnTo>
                  <a:pt x="185814" y="0"/>
                </a:lnTo>
              </a:path>
            </a:pathLst>
          </a:custGeom>
          <a:noFill/>
          <a:ln w="22855">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1412" name="blk-diagram-cap"/>
          <p:cNvSpPr/>
          <p:nvPr/>
        </p:nvSpPr>
        <p:spPr>
          <a:xfrm>
            <a:off x="502920" y="540108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導入アプローチ </a:t>
            </a:r>
            <a:r>
              <a:rPr lang="en-US" sz="900" b="0" u="none" strike="noStrike">
                <a:solidFill>
                  <a:srgbClr val="6B7280"/>
                </a:solidFill>
                <a:effectLst/>
                <a:uFillTx/>
                <a:latin typeface="BIZ UDPゴシック"/>
                <a:ea typeface="BIZ UDPゴシック"/>
              </a:rPr>
              <a:t>(Fit to Standard</a:t>
            </a:r>
            <a:r>
              <a:rPr lang="ja-JP" sz="900" b="0" u="none" strike="noStrike">
                <a:solidFill>
                  <a:srgbClr val="6B7280"/>
                </a:solidFill>
                <a:effectLst/>
                <a:uFillTx/>
                <a:latin typeface="BIZ UDPゴシック"/>
                <a:ea typeface="BIZ UDPゴシック"/>
              </a:rPr>
              <a:t>と段階導入</a:t>
            </a:r>
            <a:r>
              <a:rPr lang="en-US" sz="900" b="0" u="none" strike="noStrike">
                <a:solidFill>
                  <a:srgbClr val="6B7280"/>
                </a:solidFill>
                <a:effectLst/>
                <a:uFillTx/>
                <a:latin typeface="BIZ UDPゴシック"/>
                <a:ea typeface="BIZ UDPゴシック"/>
              </a:rPr>
              <a:t>)</a:t>
            </a:r>
            <a:endParaRPr lang="en-US" sz="900" b="0" u="none" strike="noStrike">
              <a:solidFill>
                <a:srgbClr val="000000"/>
              </a:solidFill>
              <a:effectLst/>
              <a:uFillTx/>
              <a:latin typeface="Arial"/>
            </a:endParaRPr>
          </a:p>
        </p:txBody>
      </p:sp>
      <p:sp>
        <p:nvSpPr>
          <p:cNvPr id="1413" name="blk-callout"/>
          <p:cNvSpPr/>
          <p:nvPr/>
        </p:nvSpPr>
        <p:spPr>
          <a:xfrm>
            <a:off x="502920" y="5730120"/>
            <a:ext cx="11185200" cy="52344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標準機能を最大活用し業務を標準に合わせ、改修は最小化する。パイロット稼働で確証を得てから全社本番稼働へ進む。</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1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41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41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41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19"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20"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21"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22"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23"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2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2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42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2.5 </a:t>
            </a:r>
            <a:r>
              <a:rPr lang="ja-JP" sz="2400" b="1" u="none" strike="noStrike">
                <a:solidFill>
                  <a:srgbClr val="16213E"/>
                </a:solidFill>
                <a:effectLst/>
                <a:uFillTx/>
                <a:latin typeface="BIZ UDPゴシック"/>
                <a:ea typeface="BIZ UDPゴシック"/>
              </a:rPr>
              <a:t>移行・切替計画 </a:t>
            </a:r>
            <a:r>
              <a:rPr lang="en-US" sz="2400" b="1" u="none" strike="noStrike">
                <a:solidFill>
                  <a:srgbClr val="16213E"/>
                </a:solidFill>
                <a:effectLst/>
                <a:uFillTx/>
                <a:latin typeface="BIZ UDPゴシック"/>
                <a:ea typeface="BIZ UDPゴシック"/>
              </a:rPr>
              <a:t>(2/2)</a:t>
            </a:r>
            <a:endParaRPr lang="en-US" sz="2400" b="0" u="none" strike="noStrike">
              <a:solidFill>
                <a:srgbClr val="000000"/>
              </a:solidFill>
              <a:effectLst/>
              <a:uFillTx/>
              <a:latin typeface="Arial"/>
            </a:endParaRPr>
          </a:p>
        </p:txBody>
      </p:sp>
      <p:sp>
        <p:nvSpPr>
          <p:cNvPr id="142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428" name="hdr-hair"/>
          <p:cNvCxnSpPr/>
          <p:nvPr/>
        </p:nvCxnSpPr>
        <p:spPr>
          <a:xfrm>
            <a:off x="502920" y="969120"/>
            <a:ext cx="11186280" cy="720"/>
          </a:xfrm>
          <a:prstGeom prst="straightConnector1">
            <a:avLst/>
          </a:prstGeom>
          <a:ln w="9525">
            <a:solidFill>
              <a:srgbClr val="D5DBE5"/>
            </a:solidFill>
            <a:round/>
          </a:ln>
        </p:spPr>
      </p:cxnSp>
      <p:cxnSp>
        <p:nvCxnSpPr>
          <p:cNvPr id="1429" name="ftr-hair"/>
          <p:cNvCxnSpPr/>
          <p:nvPr/>
        </p:nvCxnSpPr>
        <p:spPr>
          <a:xfrm>
            <a:off x="502920" y="6382440"/>
            <a:ext cx="11186280" cy="720"/>
          </a:xfrm>
          <a:prstGeom prst="straightConnector1">
            <a:avLst/>
          </a:prstGeom>
          <a:ln w="9525">
            <a:solidFill>
              <a:srgbClr val="D5DBE5"/>
            </a:solidFill>
            <a:round/>
          </a:ln>
        </p:spPr>
      </p:cxnSp>
      <p:sp>
        <p:nvSpPr>
          <p:cNvPr id="143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36 / 85</a:t>
            </a:r>
            <a:endParaRPr lang="en-US" sz="1100" b="0" u="none" strike="noStrike">
              <a:solidFill>
                <a:srgbClr val="000000"/>
              </a:solidFill>
              <a:effectLst/>
              <a:uFillTx/>
              <a:latin typeface="Arial"/>
            </a:endParaRPr>
          </a:p>
        </p:txBody>
      </p:sp>
      <p:sp>
        <p:nvSpPr>
          <p:cNvPr id="143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43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43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43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切替可否は</a:t>
            </a:r>
            <a:r>
              <a:rPr lang="en-US" sz="1500" b="1" u="none" strike="noStrike">
                <a:solidFill>
                  <a:srgbClr val="16213E"/>
                </a:solidFill>
                <a:effectLst/>
                <a:uFillTx/>
                <a:latin typeface="BIZ UDPゴシック"/>
                <a:ea typeface="BIZ UDPゴシック"/>
              </a:rPr>
              <a:t>5</a:t>
            </a:r>
            <a:r>
              <a:rPr lang="ja-JP" sz="1500" b="1" u="none" strike="noStrike">
                <a:solidFill>
                  <a:srgbClr val="16213E"/>
                </a:solidFill>
                <a:effectLst/>
                <a:uFillTx/>
                <a:latin typeface="BIZ UDPゴシック"/>
                <a:ea typeface="BIZ UDPゴシック"/>
              </a:rPr>
              <a:t>つの判定基準で客観的に判断する</a:t>
            </a:r>
            <a:endParaRPr lang="en-US" sz="1500" b="0" u="none" strike="noStrike">
              <a:solidFill>
                <a:srgbClr val="000000"/>
              </a:solidFill>
              <a:effectLst/>
              <a:uFillTx/>
              <a:latin typeface="Arial"/>
            </a:endParaRPr>
          </a:p>
        </p:txBody>
      </p:sp>
      <p:graphicFrame>
        <p:nvGraphicFramePr>
          <p:cNvPr id="1437" name="blk-table"/>
          <p:cNvGraphicFramePr/>
          <p:nvPr/>
        </p:nvGraphicFramePr>
        <p:xfrm>
          <a:off x="502920" y="1627560"/>
          <a:ext cx="11184840" cy="2164320"/>
        </p:xfrm>
        <a:graphic>
          <a:graphicData uri="http://schemas.openxmlformats.org/drawingml/2006/table">
            <a:tbl>
              <a:tblPr/>
              <a:tblGrid>
                <a:gridCol w="2237040"/>
                <a:gridCol w="4026600"/>
                <a:gridCol w="2237040"/>
                <a:gridCol w="26845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判定項目</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判定基準</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判定時期</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受入テスト合格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業務シナリオ合格率</a:t>
                      </a:r>
                      <a:r>
                        <a:rPr lang="en-US" sz="1100" b="0" u="none" strike="noStrike">
                          <a:solidFill>
                            <a:srgbClr val="1F2937"/>
                          </a:solidFill>
                          <a:effectLst/>
                          <a:uFillTx/>
                          <a:latin typeface="BIZ UDPゴシック"/>
                          <a:ea typeface="BIZ UDPゴシック"/>
                        </a:rPr>
                        <a:t>100%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r>
                        <a:rPr lang="ja-JP" sz="1100" b="0" u="none" strike="noStrike">
                          <a:solidFill>
                            <a:srgbClr val="1F2937"/>
                          </a:solidFill>
                          <a:effectLst/>
                          <a:uFillTx/>
                          <a:latin typeface="BIZ UDPゴシック"/>
                          <a:ea typeface="BIZ UDPゴシック"/>
                        </a:rPr>
                        <a:t>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連携疎通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会計・人事等の連携全件正常</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r>
                        <a:rPr lang="ja-JP" sz="1100" b="0" u="none" strike="noStrike">
                          <a:solidFill>
                            <a:srgbClr val="1F2937"/>
                          </a:solidFill>
                          <a:effectLst/>
                          <a:uFillTx/>
                          <a:latin typeface="BIZ UDPゴシック"/>
                          <a:ea typeface="BIZ UDPゴシック"/>
                        </a:rPr>
                        <a:t>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移行リハーサル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切替手順の完遂と切戻し確認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IT</a:t>
                      </a: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2027/09</a:t>
                      </a:r>
                      <a:r>
                        <a:rPr lang="ja-JP" sz="1100" b="0" u="none" strike="noStrike">
                          <a:solidFill>
                            <a:srgbClr val="1F2937"/>
                          </a:solidFill>
                          <a:effectLst/>
                          <a:uFillTx/>
                          <a:latin typeface="BIZ UDPゴシック"/>
                          <a:ea typeface="BIZ UDPゴシック"/>
                        </a:rPr>
                        <a:t>中</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運用準備</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問合せ窓口と運用体制の確定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2027/09</a:t>
                      </a:r>
                      <a:r>
                        <a:rPr lang="ja-JP" sz="1100" b="0" u="none" strike="noStrike">
                          <a:solidFill>
                            <a:srgbClr val="1F2937"/>
                          </a:solidFill>
                          <a:effectLst/>
                          <a:uFillTx/>
                          <a:latin typeface="BIZ UDPゴシック"/>
                          <a:ea typeface="BIZ UDPゴシック"/>
                        </a:rPr>
                        <a:t>中</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教育完了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対象者の研修受講率</a:t>
                      </a:r>
                      <a:r>
                        <a:rPr lang="en-US" sz="1100" b="0" u="none" strike="noStrike">
                          <a:solidFill>
                            <a:srgbClr val="1F2937"/>
                          </a:solidFill>
                          <a:effectLst/>
                          <a:uFillTx/>
                          <a:latin typeface="BIZ UDPゴシック"/>
                          <a:ea typeface="BIZ UDPゴシック"/>
                        </a:rPr>
                        <a:t>95%</a:t>
                      </a:r>
                      <a:r>
                        <a:rPr lang="ja-JP" sz="1100" b="0" u="none" strike="noStrike">
                          <a:solidFill>
                            <a:srgbClr val="1F2937"/>
                          </a:solidFill>
                          <a:effectLst/>
                          <a:uFillTx/>
                          <a:latin typeface="BIZ UDPゴシック"/>
                          <a:ea typeface="BIZ UDPゴシック"/>
                        </a:rPr>
                        <a:t>以上</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2027/09</a:t>
                      </a:r>
                      <a:r>
                        <a:rPr lang="ja-JP" sz="1100" b="0" u="none" strike="noStrike">
                          <a:solidFill>
                            <a:srgbClr val="1F2937"/>
                          </a:solidFill>
                          <a:effectLst/>
                          <a:uFillTx/>
                          <a:latin typeface="BIZ UDPゴシック"/>
                          <a:ea typeface="BIZ UDPゴシック"/>
                        </a:rPr>
                        <a:t>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8"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9"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440"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441"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442"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3"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4"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5"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6"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7"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8"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49"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450"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2.6 </a:t>
            </a:r>
            <a:r>
              <a:rPr lang="ja-JP" sz="2400" b="1" u="none" strike="noStrike">
                <a:solidFill>
                  <a:srgbClr val="16213E"/>
                </a:solidFill>
                <a:effectLst/>
                <a:uFillTx/>
                <a:latin typeface="BIZ UDPゴシック"/>
                <a:ea typeface="BIZ UDPゴシック"/>
              </a:rPr>
              <a:t>研修・定着化計画 </a:t>
            </a:r>
            <a:r>
              <a:rPr lang="en-US" sz="2400" b="1" u="none" strike="noStrike">
                <a:solidFill>
                  <a:srgbClr val="16213E"/>
                </a:solidFill>
                <a:effectLst/>
                <a:uFillTx/>
                <a:latin typeface="BIZ UDPゴシック"/>
                <a:ea typeface="BIZ UDPゴシック"/>
              </a:rPr>
              <a:t>(1/2)</a:t>
            </a:r>
            <a:endParaRPr lang="en-US" sz="2400" b="0" u="none" strike="noStrike">
              <a:solidFill>
                <a:srgbClr val="000000"/>
              </a:solidFill>
              <a:effectLst/>
              <a:uFillTx/>
              <a:latin typeface="Arial"/>
            </a:endParaRPr>
          </a:p>
        </p:txBody>
      </p:sp>
      <p:sp>
        <p:nvSpPr>
          <p:cNvPr id="1451"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452" name="hdr-hair"/>
          <p:cNvCxnSpPr/>
          <p:nvPr/>
        </p:nvCxnSpPr>
        <p:spPr>
          <a:xfrm>
            <a:off x="502920" y="969120"/>
            <a:ext cx="11186280" cy="720"/>
          </a:xfrm>
          <a:prstGeom prst="straightConnector1">
            <a:avLst/>
          </a:prstGeom>
          <a:ln w="9525">
            <a:solidFill>
              <a:srgbClr val="D5DBE5"/>
            </a:solidFill>
            <a:round/>
          </a:ln>
        </p:spPr>
      </p:cxnSp>
      <p:cxnSp>
        <p:nvCxnSpPr>
          <p:cNvPr id="1453" name="ftr-hair"/>
          <p:cNvCxnSpPr/>
          <p:nvPr/>
        </p:nvCxnSpPr>
        <p:spPr>
          <a:xfrm>
            <a:off x="502920" y="6382440"/>
            <a:ext cx="11186280" cy="720"/>
          </a:xfrm>
          <a:prstGeom prst="straightConnector1">
            <a:avLst/>
          </a:prstGeom>
          <a:ln w="9525">
            <a:solidFill>
              <a:srgbClr val="D5DBE5"/>
            </a:solidFill>
            <a:round/>
          </a:ln>
        </p:spPr>
      </p:cxnSp>
      <p:sp>
        <p:nvSpPr>
          <p:cNvPr id="1454"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37 / 85</a:t>
            </a:r>
            <a:endParaRPr lang="en-US" sz="1100" b="0" u="none" strike="noStrike">
              <a:solidFill>
                <a:srgbClr val="000000"/>
              </a:solidFill>
              <a:effectLst/>
              <a:uFillTx/>
              <a:latin typeface="Arial"/>
            </a:endParaRPr>
          </a:p>
        </p:txBody>
      </p:sp>
      <p:sp>
        <p:nvSpPr>
          <p:cNvPr id="1455"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456"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457"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458"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59"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0"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役割別の研修と段階的な定着化支援で利用率</a:t>
            </a:r>
            <a:r>
              <a:rPr lang="en-US" sz="1500" b="1" u="none" strike="noStrike">
                <a:solidFill>
                  <a:srgbClr val="16213E"/>
                </a:solidFill>
                <a:effectLst/>
                <a:uFillTx/>
                <a:latin typeface="BIZ UDPゴシック"/>
                <a:ea typeface="BIZ UDPゴシック"/>
              </a:rPr>
              <a:t>95%</a:t>
            </a:r>
            <a:r>
              <a:rPr lang="ja-JP" sz="1500" b="1" u="none" strike="noStrike">
                <a:solidFill>
                  <a:srgbClr val="16213E"/>
                </a:solidFill>
                <a:effectLst/>
                <a:uFillTx/>
                <a:latin typeface="BIZ UDPゴシック"/>
                <a:ea typeface="BIZ UDPゴシック"/>
              </a:rPr>
              <a:t>を狙う</a:t>
            </a:r>
            <a:endParaRPr lang="en-US" sz="1500" b="0" u="none" strike="noStrike">
              <a:solidFill>
                <a:srgbClr val="000000"/>
              </a:solidFill>
              <a:effectLst/>
              <a:uFillTx/>
              <a:latin typeface="Arial"/>
            </a:endParaRPr>
          </a:p>
        </p:txBody>
      </p:sp>
      <p:graphicFrame>
        <p:nvGraphicFramePr>
          <p:cNvPr id="1461" name="blk-table"/>
          <p:cNvGraphicFramePr/>
          <p:nvPr/>
        </p:nvGraphicFramePr>
        <p:xfrm>
          <a:off x="502920" y="1627560"/>
          <a:ext cx="11184840" cy="2164320"/>
        </p:xfrm>
        <a:graphic>
          <a:graphicData uri="http://schemas.openxmlformats.org/drawingml/2006/table">
            <a:tbl>
              <a:tblPr/>
              <a:tblGrid>
                <a:gridCol w="2684520"/>
                <a:gridCol w="2237040"/>
                <a:gridCol w="2013120"/>
                <a:gridCol w="1118520"/>
                <a:gridCol w="313200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研修メニュー</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対象</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形式</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時間</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時期</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管理職向け説明会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貴社管理職</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e</a:t>
                      </a:r>
                      <a:r>
                        <a:rPr lang="ja-JP" sz="1100" b="0" u="none" strike="noStrike">
                          <a:solidFill>
                            <a:srgbClr val="1F2937"/>
                          </a:solidFill>
                          <a:effectLst/>
                          <a:uFillTx/>
                          <a:latin typeface="BIZ UDPゴシック"/>
                          <a:ea typeface="BIZ UDPゴシック"/>
                        </a:rPr>
                        <a:t>ラーニング</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時間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経理部向け運用研修</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集合研修</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6</a:t>
                      </a:r>
                      <a:r>
                        <a:rPr lang="ja-JP" sz="1100" b="0" u="none" strike="noStrike">
                          <a:solidFill>
                            <a:srgbClr val="1F2937"/>
                          </a:solidFill>
                          <a:effectLst/>
                          <a:uFillTx/>
                          <a:latin typeface="BIZ UDPゴシック"/>
                          <a:ea typeface="BIZ UDPゴシック"/>
                        </a:rPr>
                        <a:t>時間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申請・承認者向け操作研修</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全対象者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e</a:t>
                      </a:r>
                      <a:r>
                        <a:rPr lang="ja-JP" sz="1100" b="0" u="none" strike="noStrike">
                          <a:solidFill>
                            <a:srgbClr val="1F2937"/>
                          </a:solidFill>
                          <a:effectLst/>
                          <a:uFillTx/>
                          <a:latin typeface="BIZ UDPゴシック"/>
                          <a:ea typeface="BIZ UDPゴシック"/>
                        </a:rPr>
                        <a:t>ラーニング・動画</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時間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09</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推進リーダー研修</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各事業部リーダー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集合研修</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3</a:t>
                      </a:r>
                      <a:r>
                        <a:rPr lang="ja-JP" sz="1100" b="0" u="none" strike="noStrike">
                          <a:solidFill>
                            <a:srgbClr val="1F2937"/>
                          </a:solidFill>
                          <a:effectLst/>
                          <a:uFillTx/>
                          <a:latin typeface="BIZ UDPゴシック"/>
                          <a:ea typeface="BIZ UDPゴシック"/>
                        </a:rPr>
                        <a:t>時間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2027/08</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ヘルプデスク運用研修</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貴社情報システム部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ハンズオン</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a:t>
                      </a:r>
                      <a:r>
                        <a:rPr lang="ja-JP" sz="1100" b="0" u="none" strike="noStrike">
                          <a:solidFill>
                            <a:srgbClr val="1F2937"/>
                          </a:solidFill>
                          <a:effectLst/>
                          <a:uFillTx/>
                          <a:latin typeface="BIZ UDPゴシック"/>
                          <a:ea typeface="BIZ UDPゴシック"/>
                        </a:rPr>
                        <a:t>時間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2027/09</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46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02</a:t>
            </a:r>
            <a:endParaRPr lang="en-US" sz="1500" b="0" u="none" strike="noStrike">
              <a:solidFill>
                <a:srgbClr val="FFFFFF"/>
              </a:solidFill>
              <a:effectLst/>
              <a:uFillTx/>
              <a:latin typeface="Arial"/>
            </a:endParaRPr>
          </a:p>
        </p:txBody>
      </p:sp>
      <p:sp>
        <p:nvSpPr>
          <p:cNvPr id="146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スケジュール</a:t>
            </a:r>
            <a:endParaRPr lang="en-US" sz="1100" b="0" u="none" strike="noStrike">
              <a:solidFill>
                <a:srgbClr val="000000"/>
              </a:solidFill>
              <a:effectLst/>
              <a:uFillTx/>
              <a:latin typeface="Arial"/>
            </a:endParaRPr>
          </a:p>
        </p:txBody>
      </p:sp>
      <p:sp>
        <p:nvSpPr>
          <p:cNvPr id="1466"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67" name="hdr-bar"/>
          <p:cNvSpPr/>
          <p:nvPr/>
        </p:nvSpPr>
        <p:spPr>
          <a:xfrm>
            <a:off x="1025316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68" name="hdr-bar"/>
          <p:cNvSpPr/>
          <p:nvPr/>
        </p:nvSpPr>
        <p:spPr>
          <a:xfrm>
            <a:off x="1050012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69"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70"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7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7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47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47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2.6 </a:t>
            </a:r>
            <a:r>
              <a:rPr lang="ja-JP" sz="2400" b="1" u="none" strike="noStrike">
                <a:solidFill>
                  <a:srgbClr val="16213E"/>
                </a:solidFill>
                <a:effectLst/>
                <a:uFillTx/>
                <a:latin typeface="BIZ UDPゴシック"/>
                <a:ea typeface="BIZ UDPゴシック"/>
              </a:rPr>
              <a:t>研修・定着化計画 </a:t>
            </a:r>
            <a:r>
              <a:rPr lang="en-US" sz="2400" b="1" u="none" strike="noStrike">
                <a:solidFill>
                  <a:srgbClr val="16213E"/>
                </a:solidFill>
                <a:effectLst/>
                <a:uFillTx/>
                <a:latin typeface="BIZ UDPゴシック"/>
                <a:ea typeface="BIZ UDPゴシック"/>
              </a:rPr>
              <a:t>(2/2)</a:t>
            </a:r>
            <a:endParaRPr lang="en-US" sz="2400" b="0" u="none" strike="noStrike">
              <a:solidFill>
                <a:srgbClr val="000000"/>
              </a:solidFill>
              <a:effectLst/>
              <a:uFillTx/>
              <a:latin typeface="Arial"/>
            </a:endParaRPr>
          </a:p>
        </p:txBody>
      </p:sp>
      <p:sp>
        <p:nvSpPr>
          <p:cNvPr id="147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476" name="hdr-hair"/>
          <p:cNvCxnSpPr/>
          <p:nvPr/>
        </p:nvCxnSpPr>
        <p:spPr>
          <a:xfrm>
            <a:off x="502920" y="969120"/>
            <a:ext cx="11186280" cy="720"/>
          </a:xfrm>
          <a:prstGeom prst="straightConnector1">
            <a:avLst/>
          </a:prstGeom>
          <a:ln w="9525">
            <a:solidFill>
              <a:srgbClr val="D5DBE5"/>
            </a:solidFill>
            <a:round/>
          </a:ln>
        </p:spPr>
      </p:cxnSp>
      <p:cxnSp>
        <p:nvCxnSpPr>
          <p:cNvPr id="1477" name="ftr-hair"/>
          <p:cNvCxnSpPr/>
          <p:nvPr/>
        </p:nvCxnSpPr>
        <p:spPr>
          <a:xfrm>
            <a:off x="502920" y="6382440"/>
            <a:ext cx="11186280" cy="720"/>
          </a:xfrm>
          <a:prstGeom prst="straightConnector1">
            <a:avLst/>
          </a:prstGeom>
          <a:ln w="9525">
            <a:solidFill>
              <a:srgbClr val="D5DBE5"/>
            </a:solidFill>
            <a:round/>
          </a:ln>
        </p:spPr>
      </p:cxnSp>
      <p:sp>
        <p:nvSpPr>
          <p:cNvPr id="147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38 / 85</a:t>
            </a:r>
            <a:endParaRPr lang="en-US" sz="1100" b="0" u="none" strike="noStrike">
              <a:solidFill>
                <a:srgbClr val="000000"/>
              </a:solidFill>
              <a:effectLst/>
              <a:uFillTx/>
              <a:latin typeface="Arial"/>
            </a:endParaRPr>
          </a:p>
        </p:txBody>
      </p:sp>
      <p:sp>
        <p:nvSpPr>
          <p:cNvPr id="147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48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48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48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定着化</a:t>
            </a:r>
            <a:r>
              <a:rPr lang="en-US" sz="1500" b="1" u="none" strike="noStrike">
                <a:solidFill>
                  <a:srgbClr val="16213E"/>
                </a:solidFill>
                <a:effectLst/>
                <a:uFillTx/>
                <a:latin typeface="BIZ UDPゴシック"/>
                <a:ea typeface="BIZ UDPゴシック"/>
              </a:rPr>
              <a:t>KPI</a:t>
            </a:r>
            <a:r>
              <a:rPr lang="ja-JP" sz="1500" b="1" u="none" strike="noStrike">
                <a:solidFill>
                  <a:srgbClr val="16213E"/>
                </a:solidFill>
                <a:effectLst/>
                <a:uFillTx/>
                <a:latin typeface="BIZ UDPゴシック"/>
                <a:ea typeface="BIZ UDPゴシック"/>
              </a:rPr>
              <a:t>を月次でモニタリングし改革効果を可視化する</a:t>
            </a:r>
            <a:endParaRPr lang="en-US" sz="1500" b="0" u="none" strike="noStrike">
              <a:solidFill>
                <a:srgbClr val="000000"/>
              </a:solidFill>
              <a:effectLst/>
              <a:uFillTx/>
              <a:latin typeface="Arial"/>
            </a:endParaRPr>
          </a:p>
        </p:txBody>
      </p:sp>
      <p:sp>
        <p:nvSpPr>
          <p:cNvPr id="1485" name="blk-title"/>
          <p:cNvSpPr/>
          <p:nvPr/>
        </p:nvSpPr>
        <p:spPr>
          <a:xfrm>
            <a:off x="502920" y="162756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定着化</a:t>
            </a:r>
            <a:r>
              <a:rPr lang="en-US" sz="1200" b="1" u="none" strike="noStrike">
                <a:solidFill>
                  <a:srgbClr val="B4235A"/>
                </a:solidFill>
                <a:effectLst/>
                <a:uFillTx/>
                <a:latin typeface="BIZ UDPゴシック"/>
                <a:ea typeface="BIZ UDPゴシック"/>
              </a:rPr>
              <a:t>KPI (</a:t>
            </a:r>
            <a:r>
              <a:rPr lang="ja-JP" sz="1200" b="1" u="none" strike="noStrike">
                <a:solidFill>
                  <a:srgbClr val="B4235A"/>
                </a:solidFill>
                <a:effectLst/>
                <a:uFillTx/>
                <a:latin typeface="BIZ UDPゴシック"/>
                <a:ea typeface="BIZ UDPゴシック"/>
              </a:rPr>
              <a:t>本番後の目標</a:t>
            </a:r>
            <a:r>
              <a:rPr lang="en-US" sz="1200" b="1" u="none" strike="noStrike">
                <a:solidFill>
                  <a:srgbClr val="B4235A"/>
                </a:solidFill>
                <a:effectLst/>
                <a:uFillTx/>
                <a:latin typeface="BIZ UDPゴシック"/>
                <a:ea typeface="BIZ UDPゴシック"/>
              </a:rPr>
              <a:t>)</a:t>
            </a:r>
            <a:endParaRPr lang="en-US" sz="1200" b="0" u="none" strike="noStrike">
              <a:solidFill>
                <a:srgbClr val="000000"/>
              </a:solidFill>
              <a:effectLst/>
              <a:uFillTx/>
              <a:latin typeface="Arial"/>
            </a:endParaRPr>
          </a:p>
        </p:txBody>
      </p:sp>
      <p:sp>
        <p:nvSpPr>
          <p:cNvPr id="1486" name="blk-metrics"/>
          <p:cNvSpPr/>
          <p:nvPr/>
        </p:nvSpPr>
        <p:spPr>
          <a:xfrm>
            <a:off x="502920" y="1901880"/>
            <a:ext cx="2672280" cy="369972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7" name="blk-metrics-value"/>
          <p:cNvSpPr/>
          <p:nvPr/>
        </p:nvSpPr>
        <p:spPr>
          <a:xfrm>
            <a:off x="594360" y="1956960"/>
            <a:ext cx="2489400" cy="15534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059669"/>
                </a:solidFill>
                <a:effectLst/>
                <a:uFillTx/>
                <a:latin typeface="BIZ UDPゴシック"/>
                <a:ea typeface="BIZ UDPゴシック"/>
              </a:rPr>
              <a:t>95%</a:t>
            </a:r>
            <a:r>
              <a:rPr lang="ja-JP" sz="3000" b="1" u="none" strike="noStrike">
                <a:solidFill>
                  <a:srgbClr val="059669"/>
                </a:solidFill>
                <a:effectLst/>
                <a:uFillTx/>
                <a:latin typeface="BIZ UDPゴシック"/>
                <a:ea typeface="BIZ UDPゴシック"/>
              </a:rPr>
              <a:t>以上</a:t>
            </a:r>
            <a:endParaRPr lang="en-US" sz="3000" b="0" u="none" strike="noStrike">
              <a:solidFill>
                <a:srgbClr val="000000"/>
              </a:solidFill>
              <a:effectLst/>
              <a:uFillTx/>
              <a:latin typeface="Arial"/>
            </a:endParaRPr>
          </a:p>
        </p:txBody>
      </p:sp>
      <p:sp>
        <p:nvSpPr>
          <p:cNvPr id="1488" name="blk-metrics-label"/>
          <p:cNvSpPr/>
          <p:nvPr/>
        </p:nvSpPr>
        <p:spPr>
          <a:xfrm>
            <a:off x="594360" y="352908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利用率</a:t>
            </a:r>
            <a:endParaRPr lang="en-US" sz="1100" b="0" u="none" strike="noStrike">
              <a:solidFill>
                <a:srgbClr val="000000"/>
              </a:solidFill>
              <a:effectLst/>
              <a:uFillTx/>
              <a:latin typeface="Arial"/>
            </a:endParaRPr>
          </a:p>
        </p:txBody>
      </p:sp>
      <p:sp>
        <p:nvSpPr>
          <p:cNvPr id="1489" name="blk-metrics-note"/>
          <p:cNvSpPr/>
          <p:nvPr/>
        </p:nvSpPr>
        <p:spPr>
          <a:xfrm>
            <a:off x="594360" y="3913200"/>
            <a:ext cx="2489400" cy="16333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全対象者の月次利用</a:t>
            </a:r>
            <a:endParaRPr lang="en-US" sz="900" b="0" u="none" strike="noStrike">
              <a:solidFill>
                <a:srgbClr val="000000"/>
              </a:solidFill>
              <a:effectLst/>
              <a:uFillTx/>
              <a:latin typeface="Arial"/>
            </a:endParaRPr>
          </a:p>
        </p:txBody>
      </p:sp>
      <p:sp>
        <p:nvSpPr>
          <p:cNvPr id="1490" name="blk-metrics"/>
          <p:cNvSpPr/>
          <p:nvPr/>
        </p:nvSpPr>
        <p:spPr>
          <a:xfrm>
            <a:off x="3340440" y="1901880"/>
            <a:ext cx="2672280" cy="369972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1" name="blk-metrics-value"/>
          <p:cNvSpPr/>
          <p:nvPr/>
        </p:nvSpPr>
        <p:spPr>
          <a:xfrm>
            <a:off x="3431880" y="1956960"/>
            <a:ext cx="2489400" cy="15534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2563EB"/>
                </a:solidFill>
                <a:effectLst/>
                <a:uFillTx/>
                <a:latin typeface="BIZ UDPゴシック"/>
                <a:ea typeface="BIZ UDPゴシック"/>
              </a:rPr>
              <a:t>2</a:t>
            </a:r>
            <a:r>
              <a:rPr lang="ja-JP" sz="3000" b="1" u="none" strike="noStrike">
                <a:solidFill>
                  <a:srgbClr val="2563EB"/>
                </a:solidFill>
                <a:effectLst/>
                <a:uFillTx/>
                <a:latin typeface="BIZ UDPゴシック"/>
                <a:ea typeface="BIZ UDPゴシック"/>
              </a:rPr>
              <a:t>営業日</a:t>
            </a:r>
            <a:endParaRPr lang="en-US" sz="3000" b="0" u="none" strike="noStrike">
              <a:solidFill>
                <a:srgbClr val="000000"/>
              </a:solidFill>
              <a:effectLst/>
              <a:uFillTx/>
              <a:latin typeface="Arial"/>
            </a:endParaRPr>
          </a:p>
        </p:txBody>
      </p:sp>
      <p:sp>
        <p:nvSpPr>
          <p:cNvPr id="1492" name="blk-metrics-label"/>
          <p:cNvSpPr/>
          <p:nvPr/>
        </p:nvSpPr>
        <p:spPr>
          <a:xfrm>
            <a:off x="3431880" y="352908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申請から支払まで</a:t>
            </a:r>
            <a:endParaRPr lang="en-US" sz="1100" b="0" u="none" strike="noStrike">
              <a:solidFill>
                <a:srgbClr val="000000"/>
              </a:solidFill>
              <a:effectLst/>
              <a:uFillTx/>
              <a:latin typeface="Arial"/>
            </a:endParaRPr>
          </a:p>
        </p:txBody>
      </p:sp>
      <p:sp>
        <p:nvSpPr>
          <p:cNvPr id="1493" name="blk-metrics-note"/>
          <p:cNvSpPr/>
          <p:nvPr/>
        </p:nvSpPr>
        <p:spPr>
          <a:xfrm>
            <a:off x="3431880" y="3913200"/>
            <a:ext cx="2489400" cy="16333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a:t>
            </a:r>
            <a:r>
              <a:rPr lang="en-US" sz="900" b="0" u="none" strike="noStrike">
                <a:solidFill>
                  <a:srgbClr val="6B7280"/>
                </a:solidFill>
                <a:effectLst/>
                <a:uFillTx/>
                <a:latin typeface="BIZ UDPゴシック"/>
                <a:ea typeface="BIZ UDPゴシック"/>
              </a:rPr>
              <a:t>5</a:t>
            </a:r>
            <a:r>
              <a:rPr lang="ja-JP" sz="900" b="0" u="none" strike="noStrike">
                <a:solidFill>
                  <a:srgbClr val="6B7280"/>
                </a:solidFill>
                <a:effectLst/>
                <a:uFillTx/>
                <a:latin typeface="BIZ UDPゴシック"/>
                <a:ea typeface="BIZ UDPゴシック"/>
              </a:rPr>
              <a:t>営業日</a:t>
            </a:r>
            <a:endParaRPr lang="en-US" sz="900" b="0" u="none" strike="noStrike">
              <a:solidFill>
                <a:srgbClr val="000000"/>
              </a:solidFill>
              <a:effectLst/>
              <a:uFillTx/>
              <a:latin typeface="Arial"/>
            </a:endParaRPr>
          </a:p>
        </p:txBody>
      </p:sp>
      <p:sp>
        <p:nvSpPr>
          <p:cNvPr id="1494" name="blk-metrics"/>
          <p:cNvSpPr/>
          <p:nvPr/>
        </p:nvSpPr>
        <p:spPr>
          <a:xfrm>
            <a:off x="6178320" y="1901880"/>
            <a:ext cx="2672280" cy="369972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5" name="blk-metrics-value"/>
          <p:cNvSpPr/>
          <p:nvPr/>
        </p:nvSpPr>
        <p:spPr>
          <a:xfrm>
            <a:off x="6269760" y="1956960"/>
            <a:ext cx="2489400" cy="15534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D97706"/>
                </a:solidFill>
                <a:effectLst/>
                <a:uFillTx/>
                <a:latin typeface="BIZ UDPゴシック"/>
                <a:ea typeface="BIZ UDPゴシック"/>
              </a:rPr>
              <a:t>40</a:t>
            </a:r>
            <a:r>
              <a:rPr lang="ja-JP" sz="3000" b="1" u="none" strike="noStrike">
                <a:solidFill>
                  <a:srgbClr val="D97706"/>
                </a:solidFill>
                <a:effectLst/>
                <a:uFillTx/>
                <a:latin typeface="BIZ UDPゴシック"/>
                <a:ea typeface="BIZ UDPゴシック"/>
              </a:rPr>
              <a:t>時間</a:t>
            </a:r>
            <a:endParaRPr lang="en-US" sz="3000" b="0" u="none" strike="noStrike">
              <a:solidFill>
                <a:srgbClr val="000000"/>
              </a:solidFill>
              <a:effectLst/>
              <a:uFillTx/>
              <a:latin typeface="Arial"/>
            </a:endParaRPr>
          </a:p>
        </p:txBody>
      </p:sp>
      <p:sp>
        <p:nvSpPr>
          <p:cNvPr id="1496" name="blk-metrics-label"/>
          <p:cNvSpPr/>
          <p:nvPr/>
        </p:nvSpPr>
        <p:spPr>
          <a:xfrm>
            <a:off x="6269760" y="352908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経理手作業 </a:t>
            </a:r>
            <a:r>
              <a:rPr lang="en-US" sz="1100" b="1" u="none" strike="noStrike">
                <a:solidFill>
                  <a:srgbClr val="1F2937"/>
                </a:solidFill>
                <a:effectLst/>
                <a:uFillTx/>
                <a:latin typeface="BIZ UDPゴシック"/>
                <a:ea typeface="BIZ UDPゴシック"/>
              </a:rPr>
              <a:t>(</a:t>
            </a:r>
            <a:r>
              <a:rPr lang="ja-JP" sz="1100" b="1" u="none" strike="noStrike">
                <a:solidFill>
                  <a:srgbClr val="1F2937"/>
                </a:solidFill>
                <a:effectLst/>
                <a:uFillTx/>
                <a:latin typeface="BIZ UDPゴシック"/>
                <a:ea typeface="BIZ UDPゴシック"/>
              </a:rPr>
              <a:t>月</a:t>
            </a:r>
            <a:r>
              <a:rPr lang="en-US" sz="1100" b="1"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p:txBody>
      </p:sp>
      <p:sp>
        <p:nvSpPr>
          <p:cNvPr id="1497" name="blk-metrics-note"/>
          <p:cNvSpPr/>
          <p:nvPr/>
        </p:nvSpPr>
        <p:spPr>
          <a:xfrm>
            <a:off x="6269760" y="3913200"/>
            <a:ext cx="2489400" cy="16333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a:t>
            </a:r>
            <a:r>
              <a:rPr lang="en-US" sz="900" b="0" u="none" strike="noStrike">
                <a:solidFill>
                  <a:srgbClr val="6B7280"/>
                </a:solidFill>
                <a:effectLst/>
                <a:uFillTx/>
                <a:latin typeface="BIZ UDPゴシック"/>
                <a:ea typeface="BIZ UDPゴシック"/>
              </a:rPr>
              <a:t>120</a:t>
            </a:r>
            <a:r>
              <a:rPr lang="ja-JP" sz="900" b="0" u="none" strike="noStrike">
                <a:solidFill>
                  <a:srgbClr val="6B7280"/>
                </a:solidFill>
                <a:effectLst/>
                <a:uFillTx/>
                <a:latin typeface="BIZ UDPゴシック"/>
                <a:ea typeface="BIZ UDPゴシック"/>
              </a:rPr>
              <a:t>時間</a:t>
            </a:r>
            <a:endParaRPr lang="en-US" sz="900" b="0" u="none" strike="noStrike">
              <a:solidFill>
                <a:srgbClr val="000000"/>
              </a:solidFill>
              <a:effectLst/>
              <a:uFillTx/>
              <a:latin typeface="Arial"/>
            </a:endParaRPr>
          </a:p>
        </p:txBody>
      </p:sp>
      <p:sp>
        <p:nvSpPr>
          <p:cNvPr id="1498" name="blk-metrics"/>
          <p:cNvSpPr/>
          <p:nvPr/>
        </p:nvSpPr>
        <p:spPr>
          <a:xfrm>
            <a:off x="9015840" y="1901880"/>
            <a:ext cx="2672280" cy="369972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9" name="blk-metrics-value"/>
          <p:cNvSpPr/>
          <p:nvPr/>
        </p:nvSpPr>
        <p:spPr>
          <a:xfrm>
            <a:off x="9107280" y="1956960"/>
            <a:ext cx="2489400" cy="15534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B4235A"/>
                </a:solidFill>
                <a:effectLst/>
                <a:uFillTx/>
                <a:latin typeface="BIZ UDPゴシック"/>
                <a:ea typeface="BIZ UDPゴシック"/>
              </a:rPr>
              <a:t>5%</a:t>
            </a:r>
            <a:r>
              <a:rPr lang="ja-JP" sz="3000" b="1" u="none" strike="noStrike">
                <a:solidFill>
                  <a:srgbClr val="B4235A"/>
                </a:solidFill>
                <a:effectLst/>
                <a:uFillTx/>
                <a:latin typeface="BIZ UDPゴシック"/>
                <a:ea typeface="BIZ UDPゴシック"/>
              </a:rPr>
              <a:t>以下</a:t>
            </a:r>
            <a:endParaRPr lang="en-US" sz="3000" b="0" u="none" strike="noStrike">
              <a:solidFill>
                <a:srgbClr val="000000"/>
              </a:solidFill>
              <a:effectLst/>
              <a:uFillTx/>
              <a:latin typeface="Arial"/>
            </a:endParaRPr>
          </a:p>
        </p:txBody>
      </p:sp>
      <p:sp>
        <p:nvSpPr>
          <p:cNvPr id="1500" name="blk-metrics-label"/>
          <p:cNvSpPr/>
          <p:nvPr/>
        </p:nvSpPr>
        <p:spPr>
          <a:xfrm>
            <a:off x="9107280" y="3529080"/>
            <a:ext cx="248940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差戻し率</a:t>
            </a:r>
            <a:endParaRPr lang="en-US" sz="1100" b="0" u="none" strike="noStrike">
              <a:solidFill>
                <a:srgbClr val="000000"/>
              </a:solidFill>
              <a:effectLst/>
              <a:uFillTx/>
              <a:latin typeface="Arial"/>
            </a:endParaRPr>
          </a:p>
        </p:txBody>
      </p:sp>
      <p:sp>
        <p:nvSpPr>
          <p:cNvPr id="1501" name="blk-metrics-note"/>
          <p:cNvSpPr/>
          <p:nvPr/>
        </p:nvSpPr>
        <p:spPr>
          <a:xfrm>
            <a:off x="9107280" y="3913200"/>
            <a:ext cx="2489400" cy="16333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現状</a:t>
            </a:r>
            <a:r>
              <a:rPr lang="en-US" sz="900" b="0" u="none" strike="noStrike">
                <a:solidFill>
                  <a:srgbClr val="6B7280"/>
                </a:solidFill>
                <a:effectLst/>
                <a:uFillTx/>
                <a:latin typeface="BIZ UDPゴシック"/>
                <a:ea typeface="BIZ UDPゴシック"/>
              </a:rPr>
              <a:t>15%</a:t>
            </a:r>
            <a:endParaRPr lang="en-US" sz="900" b="0" u="none" strike="noStrike">
              <a:solidFill>
                <a:srgbClr val="000000"/>
              </a:solidFill>
              <a:effectLst/>
              <a:uFillTx/>
              <a:latin typeface="Arial"/>
            </a:endParaRPr>
          </a:p>
        </p:txBody>
      </p:sp>
      <p:sp>
        <p:nvSpPr>
          <p:cNvPr id="1502" name="blk-callout"/>
          <p:cNvSpPr/>
          <p:nvPr/>
        </p:nvSpPr>
        <p:spPr>
          <a:xfrm>
            <a:off x="502920" y="573012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月次締め</a:t>
            </a:r>
            <a:r>
              <a:rPr lang="en-US" sz="1200" b="0" u="none" strike="noStrike">
                <a:solidFill>
                  <a:srgbClr val="1F2937"/>
                </a:solidFill>
                <a:effectLst/>
                <a:uFillTx/>
                <a:latin typeface="BIZ UDPゴシック"/>
                <a:ea typeface="BIZ UDPゴシック"/>
              </a:rPr>
              <a:t>2</a:t>
            </a:r>
            <a:r>
              <a:rPr lang="ja-JP" sz="1200" b="0" u="none" strike="noStrike">
                <a:solidFill>
                  <a:srgbClr val="1F2937"/>
                </a:solidFill>
                <a:effectLst/>
                <a:uFillTx/>
                <a:latin typeface="BIZ UDPゴシック"/>
                <a:ea typeface="BIZ UDPゴシック"/>
              </a:rPr>
              <a:t>回の伴走支援を行い、</a:t>
            </a:r>
            <a:r>
              <a:rPr lang="en-US" sz="1200" b="0" u="none" strike="noStrike">
                <a:solidFill>
                  <a:srgbClr val="1F2937"/>
                </a:solidFill>
                <a:effectLst/>
                <a:uFillTx/>
                <a:latin typeface="BIZ UDPゴシック"/>
                <a:ea typeface="BIZ UDPゴシック"/>
              </a:rPr>
              <a:t>KPI</a:t>
            </a:r>
            <a:r>
              <a:rPr lang="ja-JP" sz="1200" b="0" u="none" strike="noStrike">
                <a:solidFill>
                  <a:srgbClr val="1F2937"/>
                </a:solidFill>
                <a:effectLst/>
                <a:uFillTx/>
                <a:latin typeface="BIZ UDPゴシック"/>
                <a:ea typeface="BIZ UDPゴシック"/>
              </a:rPr>
              <a:t>未達時は運用改善を提案する。効果測定は本番稼働後</a:t>
            </a:r>
            <a:r>
              <a:rPr lang="en-US" sz="1200" b="0" u="none" strike="noStrike">
                <a:solidFill>
                  <a:srgbClr val="1F2937"/>
                </a:solidFill>
                <a:effectLst/>
                <a:uFillTx/>
                <a:latin typeface="BIZ UDPゴシック"/>
                <a:ea typeface="BIZ UDPゴシック"/>
              </a:rPr>
              <a:t>3</a:t>
            </a:r>
            <a:r>
              <a:rPr lang="ja-JP" sz="1200" b="0" u="none" strike="noStrike">
                <a:solidFill>
                  <a:srgbClr val="1F2937"/>
                </a:solidFill>
                <a:effectLst/>
                <a:uFillTx/>
                <a:latin typeface="BIZ UDPゴシック"/>
                <a:ea typeface="BIZ UDPゴシック"/>
              </a:rPr>
              <a:t>か月間で実施する。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3"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4"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5"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6"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7"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1508"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03</a:t>
            </a:r>
            <a:endParaRPr lang="en-US" sz="9600" b="0" u="none" strike="noStrike">
              <a:solidFill>
                <a:srgbClr val="000000"/>
              </a:solidFill>
              <a:effectLst/>
              <a:uFillTx/>
              <a:latin typeface="Arial"/>
            </a:endParaRPr>
          </a:p>
        </p:txBody>
      </p:sp>
      <p:sp>
        <p:nvSpPr>
          <p:cNvPr id="1509"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体制</a:t>
            </a:r>
            <a:endParaRPr lang="en-US" sz="4000" b="0" u="none" strike="noStrike">
              <a:solidFill>
                <a:srgbClr val="000000"/>
              </a:solidFill>
              <a:effectLst/>
              <a:uFillTx/>
              <a:latin typeface="Arial"/>
            </a:endParaRPr>
          </a:p>
        </p:txBody>
      </p:sp>
      <p:sp>
        <p:nvSpPr>
          <p:cNvPr id="1510" name="dv-dot-3.1"/>
          <p:cNvSpPr/>
          <p:nvPr/>
        </p:nvSpPr>
        <p:spPr>
          <a:xfrm>
            <a:off x="896040" y="411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511" name="dv-sec-3.1"/>
          <p:cNvSpPr/>
          <p:nvPr/>
        </p:nvSpPr>
        <p:spPr>
          <a:xfrm>
            <a:off x="1097280" y="404172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3.1  </a:t>
            </a:r>
            <a:r>
              <a:rPr lang="ja-JP" sz="1300" b="0" u="none" strike="noStrike">
                <a:solidFill>
                  <a:srgbClr val="D2E1FC"/>
                </a:solidFill>
                <a:effectLst/>
                <a:uFillTx/>
                <a:latin typeface="BIZ UDPゴシック"/>
                <a:ea typeface="BIZ UDPゴシック"/>
              </a:rPr>
              <a:t>オーナー側体制</a:t>
            </a:r>
            <a:endParaRPr lang="en-US" sz="1300" b="0" u="none" strike="noStrike">
              <a:solidFill>
                <a:srgbClr val="000000"/>
              </a:solidFill>
              <a:effectLst/>
              <a:uFillTx/>
              <a:latin typeface="Arial"/>
            </a:endParaRPr>
          </a:p>
        </p:txBody>
      </p:sp>
      <p:sp>
        <p:nvSpPr>
          <p:cNvPr id="1512" name="dv-dot-3.2"/>
          <p:cNvSpPr/>
          <p:nvPr/>
        </p:nvSpPr>
        <p:spPr>
          <a:xfrm>
            <a:off x="896040" y="43347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513" name="dv-sec-3.2"/>
          <p:cNvSpPr/>
          <p:nvPr/>
        </p:nvSpPr>
        <p:spPr>
          <a:xfrm>
            <a:off x="1097280" y="426456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3.2  </a:t>
            </a:r>
            <a:r>
              <a:rPr lang="ja-JP" sz="1300" b="0" u="none" strike="noStrike">
                <a:solidFill>
                  <a:srgbClr val="D2E1FC"/>
                </a:solidFill>
                <a:effectLst/>
                <a:uFillTx/>
                <a:latin typeface="BIZ UDPゴシック"/>
                <a:ea typeface="BIZ UDPゴシック"/>
              </a:rPr>
              <a:t>実施側体制</a:t>
            </a:r>
            <a:endParaRPr lang="en-US" sz="1300" b="0" u="none" strike="noStrike">
              <a:solidFill>
                <a:srgbClr val="000000"/>
              </a:solidFill>
              <a:effectLst/>
              <a:uFillTx/>
              <a:latin typeface="Arial"/>
            </a:endParaRPr>
          </a:p>
        </p:txBody>
      </p:sp>
      <p:sp>
        <p:nvSpPr>
          <p:cNvPr id="1514" name="dv-dot-3.3"/>
          <p:cNvSpPr/>
          <p:nvPr/>
        </p:nvSpPr>
        <p:spPr>
          <a:xfrm>
            <a:off x="896040" y="45576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515" name="dv-sec-3.3"/>
          <p:cNvSpPr/>
          <p:nvPr/>
        </p:nvSpPr>
        <p:spPr>
          <a:xfrm>
            <a:off x="1097280" y="448740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3.3  </a:t>
            </a:r>
            <a:r>
              <a:rPr lang="ja-JP" sz="1300" b="0" u="none" strike="noStrike">
                <a:solidFill>
                  <a:srgbClr val="D2E1FC"/>
                </a:solidFill>
                <a:effectLst/>
                <a:uFillTx/>
                <a:latin typeface="BIZ UDPゴシック"/>
                <a:ea typeface="BIZ UDPゴシック"/>
              </a:rPr>
              <a:t>主要メンバー</a:t>
            </a:r>
            <a:endParaRPr lang="en-US" sz="1300" b="0" u="none" strike="noStrike">
              <a:solidFill>
                <a:srgbClr val="000000"/>
              </a:solidFill>
              <a:effectLst/>
              <a:uFillTx/>
              <a:latin typeface="Arial"/>
            </a:endParaRPr>
          </a:p>
        </p:txBody>
      </p:sp>
      <p:sp>
        <p:nvSpPr>
          <p:cNvPr id="1516" name="dv-dot-3.4"/>
          <p:cNvSpPr/>
          <p:nvPr/>
        </p:nvSpPr>
        <p:spPr>
          <a:xfrm>
            <a:off x="896040" y="478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517" name="dv-sec-3.4"/>
          <p:cNvSpPr/>
          <p:nvPr/>
        </p:nvSpPr>
        <p:spPr>
          <a:xfrm>
            <a:off x="1097280" y="471024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3.4  </a:t>
            </a:r>
            <a:r>
              <a:rPr lang="ja-JP" sz="1300" b="0" u="none" strike="noStrike">
                <a:solidFill>
                  <a:srgbClr val="D2E1FC"/>
                </a:solidFill>
                <a:effectLst/>
                <a:uFillTx/>
                <a:latin typeface="BIZ UDPゴシック"/>
                <a:ea typeface="BIZ UDPゴシック"/>
              </a:rPr>
              <a:t>役割と責任</a:t>
            </a:r>
            <a:endParaRPr lang="en-US" sz="1300" b="0" u="none" strike="noStrike">
              <a:solidFill>
                <a:srgbClr val="000000"/>
              </a:solidFill>
              <a:effectLst/>
              <a:uFillTx/>
              <a:latin typeface="Arial"/>
            </a:endParaRPr>
          </a:p>
        </p:txBody>
      </p:sp>
      <p:sp>
        <p:nvSpPr>
          <p:cNvPr id="1518" name="dv-dot-3.5"/>
          <p:cNvSpPr/>
          <p:nvPr/>
        </p:nvSpPr>
        <p:spPr>
          <a:xfrm>
            <a:off x="896040" y="50036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519" name="dv-sec-3.5"/>
          <p:cNvSpPr/>
          <p:nvPr/>
        </p:nvSpPr>
        <p:spPr>
          <a:xfrm>
            <a:off x="1097280" y="493308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3.5  </a:t>
            </a:r>
            <a:r>
              <a:rPr lang="ja-JP" sz="1300" b="0" u="none" strike="noStrike">
                <a:solidFill>
                  <a:srgbClr val="D2E1FC"/>
                </a:solidFill>
                <a:effectLst/>
                <a:uFillTx/>
                <a:latin typeface="BIZ UDPゴシック"/>
                <a:ea typeface="BIZ UDPゴシック"/>
              </a:rPr>
              <a:t>ステークホルダー</a:t>
            </a:r>
            <a:endParaRPr lang="en-US" sz="1300" b="0" u="none" strike="noStrike">
              <a:solidFill>
                <a:srgbClr val="000000"/>
              </a:solidFill>
              <a:effectLst/>
              <a:uFillTx/>
              <a:latin typeface="Arial"/>
            </a:endParaRPr>
          </a:p>
        </p:txBody>
      </p:sp>
      <p:sp>
        <p:nvSpPr>
          <p:cNvPr id="1520"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39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2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52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52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52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2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27"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2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2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3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3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3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53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3.1 </a:t>
            </a:r>
            <a:r>
              <a:rPr lang="ja-JP" sz="2400" b="1" u="none" strike="noStrike">
                <a:solidFill>
                  <a:srgbClr val="16213E"/>
                </a:solidFill>
                <a:effectLst/>
                <a:uFillTx/>
                <a:latin typeface="BIZ UDPゴシック"/>
                <a:ea typeface="BIZ UDPゴシック"/>
              </a:rPr>
              <a:t>オーナー側体制</a:t>
            </a:r>
            <a:endParaRPr lang="en-US" sz="2400" b="0" u="none" strike="noStrike">
              <a:solidFill>
                <a:srgbClr val="000000"/>
              </a:solidFill>
              <a:effectLst/>
              <a:uFillTx/>
              <a:latin typeface="Arial"/>
            </a:endParaRPr>
          </a:p>
        </p:txBody>
      </p:sp>
      <p:sp>
        <p:nvSpPr>
          <p:cNvPr id="153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535" name="hdr-hair"/>
          <p:cNvCxnSpPr/>
          <p:nvPr/>
        </p:nvCxnSpPr>
        <p:spPr>
          <a:xfrm>
            <a:off x="502920" y="969120"/>
            <a:ext cx="11186280" cy="720"/>
          </a:xfrm>
          <a:prstGeom prst="straightConnector1">
            <a:avLst/>
          </a:prstGeom>
          <a:ln w="9525">
            <a:solidFill>
              <a:srgbClr val="D5DBE5"/>
            </a:solidFill>
            <a:round/>
          </a:ln>
        </p:spPr>
      </p:cxnSp>
      <p:cxnSp>
        <p:nvCxnSpPr>
          <p:cNvPr id="1536" name="ftr-hair"/>
          <p:cNvCxnSpPr/>
          <p:nvPr/>
        </p:nvCxnSpPr>
        <p:spPr>
          <a:xfrm>
            <a:off x="502920" y="6382440"/>
            <a:ext cx="11186280" cy="720"/>
          </a:xfrm>
          <a:prstGeom prst="straightConnector1">
            <a:avLst/>
          </a:prstGeom>
          <a:ln w="9525">
            <a:solidFill>
              <a:srgbClr val="D5DBE5"/>
            </a:solidFill>
            <a:round/>
          </a:ln>
        </p:spPr>
      </p:cxnSp>
      <p:sp>
        <p:nvSpPr>
          <p:cNvPr id="153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40 / 85</a:t>
            </a:r>
            <a:endParaRPr lang="en-US" sz="1100" b="0" u="none" strike="noStrike">
              <a:solidFill>
                <a:srgbClr val="000000"/>
              </a:solidFill>
              <a:effectLst/>
              <a:uFillTx/>
              <a:latin typeface="Arial"/>
            </a:endParaRPr>
          </a:p>
        </p:txBody>
      </p:sp>
      <p:sp>
        <p:nvSpPr>
          <p:cNvPr id="153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53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54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54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4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4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意思決定層と実行チームを分けた貴社体制で改革を推進する</a:t>
            </a:r>
            <a:endParaRPr lang="en-US" sz="1500" b="0" u="none" strike="noStrike">
              <a:solidFill>
                <a:srgbClr val="000000"/>
              </a:solidFill>
              <a:effectLst/>
              <a:uFillTx/>
              <a:latin typeface="Arial"/>
            </a:endParaRPr>
          </a:p>
        </p:txBody>
      </p:sp>
      <p:sp>
        <p:nvSpPr>
          <p:cNvPr id="1544" name="drawio:sc"/>
          <p:cNvSpPr/>
          <p:nvPr/>
        </p:nvSpPr>
        <p:spPr>
          <a:xfrm>
            <a:off x="5054400" y="1699560"/>
            <a:ext cx="2059560" cy="338760"/>
          </a:xfrm>
          <a:prstGeom prst="roundRect">
            <a:avLst>
              <a:gd name="adj" fmla="val 16667"/>
            </a:avLst>
          </a:prstGeom>
          <a:solidFill>
            <a:srgbClr val="16213E"/>
          </a:solidFill>
          <a:ln w="12118">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40" b="1" u="none" strike="noStrike">
                <a:solidFill>
                  <a:srgbClr val="FFFFFF"/>
                </a:solidFill>
                <a:effectLst/>
                <a:uFillTx/>
                <a:latin typeface="BIZ UDPゴシック"/>
                <a:ea typeface="BIZ UDPゴシック"/>
              </a:rPr>
              <a:t>ステアリングコミッティ</a:t>
            </a:r>
            <a:endParaRPr lang="en-US" sz="1340" b="0" u="none" strike="noStrike">
              <a:solidFill>
                <a:srgbClr val="FFFFFF"/>
              </a:solidFill>
              <a:effectLst/>
              <a:uFillTx/>
              <a:latin typeface="Arial"/>
            </a:endParaRPr>
          </a:p>
        </p:txBody>
      </p:sp>
      <p:sp>
        <p:nvSpPr>
          <p:cNvPr id="1545" name="drawio:own"/>
          <p:cNvSpPr/>
          <p:nvPr/>
        </p:nvSpPr>
        <p:spPr>
          <a:xfrm>
            <a:off x="4556880" y="2328480"/>
            <a:ext cx="3077280" cy="338760"/>
          </a:xfrm>
          <a:prstGeom prst="roundRect">
            <a:avLst>
              <a:gd name="adj" fmla="val 16667"/>
            </a:avLst>
          </a:prstGeom>
          <a:solidFill>
            <a:srgbClr val="16213E"/>
          </a:solidFill>
          <a:ln w="12118">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40" b="0" u="none" strike="noStrike">
                <a:solidFill>
                  <a:srgbClr val="FFFFFF"/>
                </a:solidFill>
                <a:effectLst/>
                <a:uFillTx/>
                <a:latin typeface="BIZ UDPゴシック"/>
                <a:ea typeface="BIZ UDPゴシック"/>
              </a:rPr>
              <a:t>プロジェクトオーナー </a:t>
            </a:r>
            <a:r>
              <a:rPr lang="en-US" sz="1340" b="0" u="none" strike="noStrike">
                <a:solidFill>
                  <a:srgbClr val="FFFFFF"/>
                </a:solidFill>
                <a:effectLst/>
                <a:uFillTx/>
                <a:latin typeface="BIZ UDPゴシック"/>
                <a:ea typeface="BIZ UDPゴシック"/>
              </a:rPr>
              <a:t>(</a:t>
            </a:r>
            <a:r>
              <a:rPr lang="ja-JP" sz="1340" b="0" u="none" strike="noStrike">
                <a:solidFill>
                  <a:srgbClr val="FFFFFF"/>
                </a:solidFill>
                <a:effectLst/>
                <a:uFillTx/>
                <a:latin typeface="BIZ UDPゴシック"/>
                <a:ea typeface="BIZ UDPゴシック"/>
              </a:rPr>
              <a:t>管理本部長</a:t>
            </a:r>
            <a:r>
              <a:rPr lang="en-US" sz="1340" b="0" u="none" strike="noStrike">
                <a:solidFill>
                  <a:srgbClr val="FFFFFF"/>
                </a:solidFill>
                <a:effectLst/>
                <a:uFillTx/>
                <a:latin typeface="BIZ UDPゴシック"/>
                <a:ea typeface="BIZ UDPゴシック"/>
              </a:rPr>
              <a:t>)</a:t>
            </a:r>
            <a:endParaRPr lang="en-US" sz="1340" b="0" u="none" strike="noStrike">
              <a:solidFill>
                <a:srgbClr val="FFFFFF"/>
              </a:solidFill>
              <a:effectLst/>
              <a:uFillTx/>
              <a:latin typeface="Arial"/>
            </a:endParaRPr>
          </a:p>
        </p:txBody>
      </p:sp>
      <p:sp>
        <p:nvSpPr>
          <p:cNvPr id="1546" name="drawio:ofc"/>
          <p:cNvSpPr/>
          <p:nvPr/>
        </p:nvSpPr>
        <p:spPr>
          <a:xfrm>
            <a:off x="4520520" y="2957040"/>
            <a:ext cx="3150000" cy="556560"/>
          </a:xfrm>
          <a:prstGeom prst="roundRect">
            <a:avLst>
              <a:gd name="adj" fmla="val 16667"/>
            </a:avLst>
          </a:prstGeom>
          <a:solidFill>
            <a:srgbClr val="FFFFFF"/>
          </a:solidFill>
          <a:ln w="12118">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40" b="0" u="none" strike="noStrike">
                <a:solidFill>
                  <a:srgbClr val="1F2937"/>
                </a:solidFill>
                <a:effectLst/>
                <a:uFillTx/>
                <a:latin typeface="BIZ UDPゴシック"/>
                <a:ea typeface="BIZ UDPゴシック"/>
              </a:rPr>
              <a:t>業務改革推進部</a:t>
            </a:r>
            <a:endParaRPr lang="en-US" sz="1340" b="0" u="none" strike="noStrike">
              <a:solidFill>
                <a:srgbClr val="000000"/>
              </a:solidFill>
              <a:effectLst/>
              <a:uFillTx/>
              <a:latin typeface="Arial"/>
            </a:endParaRPr>
          </a:p>
          <a:p>
            <a:pPr algn="ctr" defTabSz="457200">
              <a:lnSpc>
                <a:spcPct val="110000"/>
              </a:lnSpc>
            </a:pPr>
            <a:r>
              <a:rPr lang="en-US" sz="1340" b="0" u="none" strike="noStrike">
                <a:solidFill>
                  <a:srgbClr val="1F2937"/>
                </a:solidFill>
                <a:effectLst/>
                <a:uFillTx/>
                <a:latin typeface="BIZ UDPゴシック"/>
                <a:ea typeface="BIZ UDPゴシック"/>
              </a:rPr>
              <a:t>(</a:t>
            </a:r>
            <a:r>
              <a:rPr lang="ja-JP" sz="1340" b="0" u="none" strike="noStrike">
                <a:solidFill>
                  <a:srgbClr val="1F2937"/>
                </a:solidFill>
                <a:effectLst/>
                <a:uFillTx/>
                <a:latin typeface="BIZ UDPゴシック"/>
                <a:ea typeface="BIZ UDPゴシック"/>
              </a:rPr>
              <a:t>事務局・貴社</a:t>
            </a:r>
            <a:r>
              <a:rPr lang="en-US" sz="1340" b="0" u="none" strike="noStrike">
                <a:solidFill>
                  <a:srgbClr val="1F2937"/>
                </a:solidFill>
                <a:effectLst/>
                <a:uFillTx/>
                <a:latin typeface="BIZ UDPゴシック"/>
                <a:ea typeface="BIZ UDPゴシック"/>
              </a:rPr>
              <a:t>PM=</a:t>
            </a:r>
            <a:r>
              <a:rPr lang="ja-JP" sz="1340" b="0" u="none" strike="noStrike">
                <a:solidFill>
                  <a:srgbClr val="1F2937"/>
                </a:solidFill>
                <a:effectLst/>
                <a:uFillTx/>
                <a:latin typeface="BIZ UDPゴシック"/>
                <a:ea typeface="BIZ UDPゴシック"/>
              </a:rPr>
              <a:t>経理部長</a:t>
            </a:r>
            <a:r>
              <a:rPr lang="en-US" sz="1340" b="0" u="none" strike="noStrike">
                <a:solidFill>
                  <a:srgbClr val="1F2937"/>
                </a:solidFill>
                <a:effectLst/>
                <a:uFillTx/>
                <a:latin typeface="BIZ UDPゴシック"/>
                <a:ea typeface="BIZ UDPゴシック"/>
              </a:rPr>
              <a:t>)</a:t>
            </a:r>
            <a:endParaRPr lang="en-US" sz="1340" b="0" u="none" strike="noStrike">
              <a:solidFill>
                <a:srgbClr val="000000"/>
              </a:solidFill>
              <a:effectLst/>
              <a:uFillTx/>
              <a:latin typeface="Arial"/>
            </a:endParaRPr>
          </a:p>
        </p:txBody>
      </p:sp>
      <p:sp>
        <p:nvSpPr>
          <p:cNvPr id="1547" name="drawio:t1"/>
          <p:cNvSpPr/>
          <p:nvPr/>
        </p:nvSpPr>
        <p:spPr>
          <a:xfrm>
            <a:off x="3732840" y="3912120"/>
            <a:ext cx="1211040" cy="338760"/>
          </a:xfrm>
          <a:prstGeom prst="roundRect">
            <a:avLst>
              <a:gd name="adj" fmla="val 16667"/>
            </a:avLst>
          </a:prstGeom>
          <a:solidFill>
            <a:srgbClr val="FFFFFF"/>
          </a:solidFill>
          <a:ln w="12118">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40" b="0" u="none" strike="noStrike">
                <a:solidFill>
                  <a:srgbClr val="1F2937"/>
                </a:solidFill>
                <a:effectLst/>
                <a:uFillTx/>
                <a:latin typeface="BIZ UDPゴシック"/>
                <a:ea typeface="BIZ UDPゴシック"/>
              </a:rPr>
              <a:t>業務チーム</a:t>
            </a:r>
            <a:endParaRPr lang="en-US" sz="1340" b="0" u="none" strike="noStrike">
              <a:solidFill>
                <a:srgbClr val="000000"/>
              </a:solidFill>
              <a:effectLst/>
              <a:uFillTx/>
              <a:latin typeface="Arial"/>
            </a:endParaRPr>
          </a:p>
        </p:txBody>
      </p:sp>
      <p:sp>
        <p:nvSpPr>
          <p:cNvPr id="1548" name="drawio:t2"/>
          <p:cNvSpPr/>
          <p:nvPr/>
        </p:nvSpPr>
        <p:spPr>
          <a:xfrm>
            <a:off x="5490000" y="3912120"/>
            <a:ext cx="1211040" cy="338760"/>
          </a:xfrm>
          <a:prstGeom prst="roundRect">
            <a:avLst>
              <a:gd name="adj" fmla="val 16667"/>
            </a:avLst>
          </a:prstGeom>
          <a:solidFill>
            <a:srgbClr val="FFFFFF"/>
          </a:solidFill>
          <a:ln w="12118">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340" b="0" u="none" strike="noStrike">
                <a:solidFill>
                  <a:srgbClr val="1F2937"/>
                </a:solidFill>
                <a:effectLst/>
                <a:uFillTx/>
                <a:latin typeface="BIZ UDPゴシック"/>
                <a:ea typeface="BIZ UDPゴシック"/>
              </a:rPr>
              <a:t>IT</a:t>
            </a:r>
            <a:r>
              <a:rPr lang="ja-JP" sz="1340" b="0" u="none" strike="noStrike">
                <a:solidFill>
                  <a:srgbClr val="1F2937"/>
                </a:solidFill>
                <a:effectLst/>
                <a:uFillTx/>
                <a:latin typeface="BIZ UDPゴシック"/>
                <a:ea typeface="BIZ UDPゴシック"/>
              </a:rPr>
              <a:t>チーム</a:t>
            </a:r>
            <a:endParaRPr lang="en-US" sz="1340" b="0" u="none" strike="noStrike">
              <a:solidFill>
                <a:srgbClr val="000000"/>
              </a:solidFill>
              <a:effectLst/>
              <a:uFillTx/>
              <a:latin typeface="Arial"/>
            </a:endParaRPr>
          </a:p>
        </p:txBody>
      </p:sp>
      <p:sp>
        <p:nvSpPr>
          <p:cNvPr id="1549" name="drawio:t3"/>
          <p:cNvSpPr/>
          <p:nvPr/>
        </p:nvSpPr>
        <p:spPr>
          <a:xfrm>
            <a:off x="7247160" y="3912120"/>
            <a:ext cx="1211040" cy="338760"/>
          </a:xfrm>
          <a:prstGeom prst="roundRect">
            <a:avLst>
              <a:gd name="adj" fmla="val 16667"/>
            </a:avLst>
          </a:prstGeom>
          <a:solidFill>
            <a:srgbClr val="FFFFFF"/>
          </a:solidFill>
          <a:ln w="12118">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40" b="0" u="none" strike="noStrike">
                <a:solidFill>
                  <a:srgbClr val="1F2937"/>
                </a:solidFill>
                <a:effectLst/>
                <a:uFillTx/>
                <a:latin typeface="BIZ UDPゴシック"/>
                <a:ea typeface="BIZ UDPゴシック"/>
              </a:rPr>
              <a:t>事業部推進</a:t>
            </a:r>
            <a:endParaRPr lang="en-US" sz="1340" b="0" u="none" strike="noStrike">
              <a:solidFill>
                <a:srgbClr val="000000"/>
              </a:solidFill>
              <a:effectLst/>
              <a:uFillTx/>
              <a:latin typeface="Arial"/>
            </a:endParaRPr>
          </a:p>
        </p:txBody>
      </p:sp>
      <p:sp>
        <p:nvSpPr>
          <p:cNvPr id="1550" name="drawio:e1"/>
          <p:cNvSpPr/>
          <p:nvPr/>
        </p:nvSpPr>
        <p:spPr>
          <a:xfrm>
            <a:off x="6095880" y="2038320"/>
            <a:ext cx="360" cy="301680"/>
          </a:xfrm>
          <a:custGeom>
            <a:avLst/>
            <a:gdLst>
              <a:gd name="textAreaLeft" fmla="*/ 0 w 360"/>
              <a:gd name="textAreaRight" fmla="*/ 1440 w 360"/>
              <a:gd name="textAreaTop" fmla="*/ 0 h 301680"/>
              <a:gd name="textAreaBottom" fmla="*/ 302760 h 301680"/>
            </a:gdLst>
            <a:ahLst/>
            <a:cxnLst/>
            <a:rect l="textAreaLeft" t="textAreaTop" r="textAreaRight" b="textAreaBottom"/>
            <a:pathLst>
              <a:path w="60593" h="155602">
                <a:moveTo>
                  <a:pt x="60593" y="0"/>
                </a:moveTo>
                <a:lnTo>
                  <a:pt x="60593" y="77801"/>
                </a:lnTo>
                <a:lnTo>
                  <a:pt x="0" y="77801"/>
                </a:lnTo>
                <a:lnTo>
                  <a:pt x="0" y="155602"/>
                </a:lnTo>
              </a:path>
            </a:pathLst>
          </a:custGeom>
          <a:noFill/>
          <a:ln w="24237">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1" name="drawio:e2"/>
          <p:cNvSpPr/>
          <p:nvPr/>
        </p:nvSpPr>
        <p:spPr>
          <a:xfrm>
            <a:off x="6095880" y="2667240"/>
            <a:ext cx="360" cy="289800"/>
          </a:xfrm>
          <a:custGeom>
            <a:avLst/>
            <a:gdLst>
              <a:gd name="textAreaLeft" fmla="*/ 0 w 360"/>
              <a:gd name="textAreaRight" fmla="*/ 1440 w 360"/>
              <a:gd name="textAreaTop" fmla="*/ 0 h 289800"/>
              <a:gd name="textAreaBottom" fmla="*/ 290520 h 289800"/>
            </a:gdLst>
            <a:ahLst/>
            <a:cxnLst/>
            <a:rect l="textAreaLeft" t="textAreaTop" r="textAreaRight" b="textAreaBottom"/>
            <a:pathLst>
              <a:path w="0" h="158875">
                <a:moveTo>
                  <a:pt x="0" y="0"/>
                </a:moveTo>
                <a:lnTo>
                  <a:pt x="0" y="132335"/>
                </a:lnTo>
                <a:lnTo>
                  <a:pt x="0" y="132335"/>
                </a:lnTo>
                <a:lnTo>
                  <a:pt x="0" y="158875"/>
                </a:lnTo>
              </a:path>
            </a:pathLst>
          </a:custGeom>
          <a:noFill/>
          <a:ln w="24237">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2" name="drawio:e3"/>
          <p:cNvSpPr/>
          <p:nvPr/>
        </p:nvSpPr>
        <p:spPr>
          <a:xfrm>
            <a:off x="4320000" y="3513960"/>
            <a:ext cx="1775520" cy="398160"/>
          </a:xfrm>
          <a:custGeom>
            <a:avLst/>
            <a:gdLst>
              <a:gd name="textAreaLeft" fmla="*/ 0 w 1775520"/>
              <a:gd name="textAreaRight" fmla="*/ 1776240 w 1775520"/>
              <a:gd name="textAreaTop" fmla="*/ 0 h 398160"/>
              <a:gd name="textAreaBottom" fmla="*/ 398880 h 398160"/>
            </a:gdLst>
            <a:ahLst/>
            <a:cxnLst/>
            <a:rect l="textAreaLeft" t="textAreaTop" r="textAreaRight" b="textAreaBottom"/>
            <a:pathLst>
              <a:path w="1757190" h="158874">
                <a:moveTo>
                  <a:pt x="1757190" y="0"/>
                </a:moveTo>
                <a:lnTo>
                  <a:pt x="1757190" y="81073"/>
                </a:lnTo>
                <a:lnTo>
                  <a:pt x="0" y="81073"/>
                </a:lnTo>
                <a:lnTo>
                  <a:pt x="0" y="158874"/>
                </a:lnTo>
              </a:path>
            </a:pathLst>
          </a:custGeom>
          <a:noFill/>
          <a:ln w="24237">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3" name="drawio:e4"/>
          <p:cNvSpPr/>
          <p:nvPr/>
        </p:nvSpPr>
        <p:spPr>
          <a:xfrm>
            <a:off x="6095880" y="3513960"/>
            <a:ext cx="360" cy="398160"/>
          </a:xfrm>
          <a:custGeom>
            <a:avLst/>
            <a:gdLst>
              <a:gd name="textAreaLeft" fmla="*/ 0 w 360"/>
              <a:gd name="textAreaRight" fmla="*/ 1440 w 360"/>
              <a:gd name="textAreaTop" fmla="*/ 0 h 398160"/>
              <a:gd name="textAreaBottom" fmla="*/ 398880 h 398160"/>
            </a:gdLst>
            <a:ahLst/>
            <a:cxnLst/>
            <a:rect l="textAreaLeft" t="textAreaTop" r="textAreaRight" b="textAreaBottom"/>
            <a:pathLst>
              <a:path w="0" h="158874">
                <a:moveTo>
                  <a:pt x="0" y="0"/>
                </a:moveTo>
                <a:lnTo>
                  <a:pt x="0" y="81073"/>
                </a:lnTo>
                <a:lnTo>
                  <a:pt x="0" y="158874"/>
                </a:lnTo>
              </a:path>
            </a:pathLst>
          </a:custGeom>
          <a:noFill/>
          <a:ln w="24237">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4" name="drawio:e5"/>
          <p:cNvSpPr/>
          <p:nvPr/>
        </p:nvSpPr>
        <p:spPr>
          <a:xfrm>
            <a:off x="6095880" y="3513960"/>
            <a:ext cx="1824120" cy="398160"/>
          </a:xfrm>
          <a:custGeom>
            <a:avLst/>
            <a:gdLst>
              <a:gd name="textAreaLeft" fmla="*/ 0 w 1824120"/>
              <a:gd name="textAreaRight" fmla="*/ 1824840 w 1824120"/>
              <a:gd name="textAreaTop" fmla="*/ 0 h 398160"/>
              <a:gd name="textAreaBottom" fmla="*/ 398880 h 398160"/>
            </a:gdLst>
            <a:ahLst/>
            <a:cxnLst/>
            <a:rect l="textAreaLeft" t="textAreaTop" r="textAreaRight" b="textAreaBottom"/>
            <a:pathLst>
              <a:path w="1757190" h="158874">
                <a:moveTo>
                  <a:pt x="0" y="0"/>
                </a:moveTo>
                <a:lnTo>
                  <a:pt x="0" y="81073"/>
                </a:lnTo>
                <a:lnTo>
                  <a:pt x="1757190" y="81073"/>
                </a:lnTo>
                <a:lnTo>
                  <a:pt x="1757190" y="158874"/>
                </a:lnTo>
              </a:path>
            </a:pathLst>
          </a:custGeom>
          <a:noFill/>
          <a:ln w="24237">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5" name="blk-diagram-cap"/>
          <p:cNvSpPr/>
          <p:nvPr/>
        </p:nvSpPr>
        <p:spPr>
          <a:xfrm>
            <a:off x="502920" y="435996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オーナー側体制 </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サンプル商事株式会社</a:t>
            </a:r>
            <a:r>
              <a:rPr lang="en-US" sz="900" b="0" u="none" strike="noStrike">
                <a:solidFill>
                  <a:srgbClr val="6B7280"/>
                </a:solidFill>
                <a:effectLst/>
                <a:uFillTx/>
                <a:latin typeface="BIZ UDPゴシック"/>
                <a:ea typeface="BIZ UDPゴシック"/>
              </a:rPr>
              <a:t>)</a:t>
            </a:r>
            <a:endParaRPr lang="en-US" sz="900" b="0" u="none" strike="noStrike">
              <a:solidFill>
                <a:srgbClr val="000000"/>
              </a:solidFill>
              <a:effectLst/>
              <a:uFillTx/>
              <a:latin typeface="Arial"/>
            </a:endParaRPr>
          </a:p>
        </p:txBody>
      </p:sp>
      <p:sp>
        <p:nvSpPr>
          <p:cNvPr id="1556" name="blk-bullets"/>
          <p:cNvSpPr/>
          <p:nvPr/>
        </p:nvSpPr>
        <p:spPr>
          <a:xfrm>
            <a:off x="502920" y="4653000"/>
            <a:ext cx="11185200" cy="150444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プロジェクトオーナー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管理本部長</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が最終責任と予算を承認する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貴社</a:t>
            </a:r>
            <a:r>
              <a:rPr lang="en-US" sz="1400" b="0" u="none" strike="noStrike">
                <a:solidFill>
                  <a:srgbClr val="1F2937"/>
                </a:solidFill>
                <a:effectLst/>
                <a:uFillTx/>
                <a:latin typeface="BIZ UDPゴシック"/>
                <a:ea typeface="BIZ UDPゴシック"/>
              </a:rPr>
              <a:t>PM (</a:t>
            </a:r>
            <a:r>
              <a:rPr lang="ja-JP" sz="1400" b="0" u="none" strike="noStrike">
                <a:solidFill>
                  <a:srgbClr val="1F2937"/>
                </a:solidFill>
                <a:effectLst/>
                <a:uFillTx/>
                <a:latin typeface="BIZ UDPゴシック"/>
                <a:ea typeface="BIZ UDPゴシック"/>
              </a:rPr>
              <a:t>経理部長</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が業務改革推進部を兼務して事務局を指揮し、業務要件と受入を統括する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業務改革推進部がプロジェクト事務局として計画・連絡・課題・変更の実務を担い、貴社</a:t>
            </a:r>
            <a:r>
              <a:rPr lang="en-US" sz="1400" b="0" u="none" strike="noStrike">
                <a:solidFill>
                  <a:srgbClr val="1F2937"/>
                </a:solidFill>
                <a:effectLst/>
                <a:uFillTx/>
                <a:latin typeface="BIZ UDPゴシック"/>
                <a:ea typeface="BIZ UDPゴシック"/>
              </a:rPr>
              <a:t>PM</a:t>
            </a:r>
            <a:r>
              <a:rPr lang="ja-JP" sz="1400" b="0" u="none" strike="noStrike">
                <a:solidFill>
                  <a:srgbClr val="1F2937"/>
                </a:solidFill>
                <a:effectLst/>
                <a:uFillTx/>
                <a:latin typeface="BIZ UDPゴシック"/>
                <a:ea typeface="BIZ UDPゴシック"/>
              </a:rPr>
              <a:t>が兼務して指揮する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情報システム部が連携とセキュリティの技術要件を担う</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各事業部の推進リーダーが現場の定着を支援する</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5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55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56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56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3"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4"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6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56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3.2 </a:t>
            </a:r>
            <a:r>
              <a:rPr lang="ja-JP" sz="2400" b="1" u="none" strike="noStrike">
                <a:solidFill>
                  <a:srgbClr val="16213E"/>
                </a:solidFill>
                <a:effectLst/>
                <a:uFillTx/>
                <a:latin typeface="BIZ UDPゴシック"/>
                <a:ea typeface="BIZ UDPゴシック"/>
              </a:rPr>
              <a:t>実施側体制</a:t>
            </a:r>
            <a:endParaRPr lang="en-US" sz="2400" b="0" u="none" strike="noStrike">
              <a:solidFill>
                <a:srgbClr val="000000"/>
              </a:solidFill>
              <a:effectLst/>
              <a:uFillTx/>
              <a:latin typeface="Arial"/>
            </a:endParaRPr>
          </a:p>
        </p:txBody>
      </p:sp>
      <p:sp>
        <p:nvSpPr>
          <p:cNvPr id="157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571" name="hdr-hair"/>
          <p:cNvCxnSpPr/>
          <p:nvPr/>
        </p:nvCxnSpPr>
        <p:spPr>
          <a:xfrm>
            <a:off x="502920" y="969120"/>
            <a:ext cx="11186280" cy="720"/>
          </a:xfrm>
          <a:prstGeom prst="straightConnector1">
            <a:avLst/>
          </a:prstGeom>
          <a:ln w="9525">
            <a:solidFill>
              <a:srgbClr val="D5DBE5"/>
            </a:solidFill>
            <a:round/>
          </a:ln>
        </p:spPr>
      </p:cxnSp>
      <p:cxnSp>
        <p:nvCxnSpPr>
          <p:cNvPr id="1572" name="ftr-hair"/>
          <p:cNvCxnSpPr/>
          <p:nvPr/>
        </p:nvCxnSpPr>
        <p:spPr>
          <a:xfrm>
            <a:off x="502920" y="6382440"/>
            <a:ext cx="11186280" cy="720"/>
          </a:xfrm>
          <a:prstGeom prst="straightConnector1">
            <a:avLst/>
          </a:prstGeom>
          <a:ln w="9525">
            <a:solidFill>
              <a:srgbClr val="D5DBE5"/>
            </a:solidFill>
            <a:round/>
          </a:ln>
        </p:spPr>
      </p:cxnSp>
      <p:sp>
        <p:nvSpPr>
          <p:cNvPr id="157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41 / 85</a:t>
            </a:r>
            <a:endParaRPr lang="en-US" sz="1100" b="0" u="none" strike="noStrike">
              <a:solidFill>
                <a:srgbClr val="000000"/>
              </a:solidFill>
              <a:effectLst/>
              <a:uFillTx/>
              <a:latin typeface="Arial"/>
            </a:endParaRPr>
          </a:p>
        </p:txBody>
      </p:sp>
      <p:sp>
        <p:nvSpPr>
          <p:cNvPr id="157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57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57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57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7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7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業務改革・導入・定着化を当社が一気通貫で支援する</a:t>
            </a:r>
            <a:endParaRPr lang="en-US" sz="1500" b="0" u="none" strike="noStrike">
              <a:solidFill>
                <a:srgbClr val="000000"/>
              </a:solidFill>
              <a:effectLst/>
              <a:uFillTx/>
              <a:latin typeface="Arial"/>
            </a:endParaRPr>
          </a:p>
        </p:txBody>
      </p:sp>
      <p:sp>
        <p:nvSpPr>
          <p:cNvPr id="1580" name="drawio:qa"/>
          <p:cNvSpPr/>
          <p:nvPr/>
        </p:nvSpPr>
        <p:spPr>
          <a:xfrm>
            <a:off x="7572240" y="2420640"/>
            <a:ext cx="1913760" cy="713160"/>
          </a:xfrm>
          <a:prstGeom prst="roundRect">
            <a:avLst>
              <a:gd name="adj" fmla="val 16667"/>
            </a:avLst>
          </a:prstGeom>
          <a:solidFill>
            <a:srgbClr val="FFFFFF"/>
          </a:solidFill>
          <a:ln w="16223">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790" b="0" u="none" strike="noStrike">
                <a:solidFill>
                  <a:srgbClr val="1F2937"/>
                </a:solidFill>
                <a:effectLst/>
                <a:uFillTx/>
                <a:latin typeface="BIZ UDPゴシック"/>
                <a:ea typeface="BIZ UDPゴシック"/>
              </a:rPr>
              <a:t>品質保証</a:t>
            </a:r>
            <a:endParaRPr lang="en-US" sz="1790" b="0" u="none" strike="noStrike">
              <a:solidFill>
                <a:srgbClr val="000000"/>
              </a:solidFill>
              <a:effectLst/>
              <a:uFillTx/>
              <a:latin typeface="Arial"/>
            </a:endParaRPr>
          </a:p>
          <a:p>
            <a:pPr algn="ctr" defTabSz="457200">
              <a:lnSpc>
                <a:spcPct val="110000"/>
              </a:lnSpc>
            </a:pPr>
            <a:r>
              <a:rPr lang="ja-JP" sz="1790" b="0" u="none" strike="noStrike">
                <a:solidFill>
                  <a:srgbClr val="1F2937"/>
                </a:solidFill>
                <a:effectLst/>
                <a:uFillTx/>
                <a:latin typeface="BIZ UDPゴシック"/>
                <a:ea typeface="BIZ UDPゴシック"/>
              </a:rPr>
              <a:t>第三者レビュー</a:t>
            </a:r>
            <a:endParaRPr lang="en-US" sz="1790" b="0" u="none" strike="noStrike">
              <a:solidFill>
                <a:srgbClr val="000000"/>
              </a:solidFill>
              <a:effectLst/>
              <a:uFillTx/>
              <a:latin typeface="Arial"/>
            </a:endParaRPr>
          </a:p>
        </p:txBody>
      </p:sp>
      <p:sp>
        <p:nvSpPr>
          <p:cNvPr id="1581" name="drawio:t1"/>
          <p:cNvSpPr/>
          <p:nvPr/>
        </p:nvSpPr>
        <p:spPr>
          <a:xfrm>
            <a:off x="2705040" y="3544920"/>
            <a:ext cx="1816200" cy="453600"/>
          </a:xfrm>
          <a:prstGeom prst="roundRect">
            <a:avLst>
              <a:gd name="adj" fmla="val 16667"/>
            </a:avLst>
          </a:prstGeom>
          <a:solidFill>
            <a:srgbClr val="FFFFFF"/>
          </a:solidFill>
          <a:ln w="1622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790" b="0" u="none" strike="noStrike">
                <a:solidFill>
                  <a:srgbClr val="1F2937"/>
                </a:solidFill>
                <a:effectLst/>
                <a:uFillTx/>
                <a:latin typeface="BIZ UDPゴシック"/>
                <a:ea typeface="BIZ UDPゴシック"/>
              </a:rPr>
              <a:t>業務改革チーム</a:t>
            </a:r>
            <a:endParaRPr lang="en-US" sz="1790" b="0" u="none" strike="noStrike">
              <a:solidFill>
                <a:srgbClr val="000000"/>
              </a:solidFill>
              <a:effectLst/>
              <a:uFillTx/>
              <a:latin typeface="Arial"/>
            </a:endParaRPr>
          </a:p>
        </p:txBody>
      </p:sp>
      <p:sp>
        <p:nvSpPr>
          <p:cNvPr id="1582" name="drawio:t2"/>
          <p:cNvSpPr/>
          <p:nvPr/>
        </p:nvSpPr>
        <p:spPr>
          <a:xfrm>
            <a:off x="4814280" y="3544920"/>
            <a:ext cx="1816200" cy="453600"/>
          </a:xfrm>
          <a:prstGeom prst="roundRect">
            <a:avLst>
              <a:gd name="adj" fmla="val 16667"/>
            </a:avLst>
          </a:prstGeom>
          <a:solidFill>
            <a:srgbClr val="FFFFFF"/>
          </a:solidFill>
          <a:ln w="1622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790" b="0" u="none" strike="noStrike">
                <a:solidFill>
                  <a:srgbClr val="1F2937"/>
                </a:solidFill>
                <a:effectLst/>
                <a:uFillTx/>
                <a:latin typeface="BIZ UDPゴシック"/>
                <a:ea typeface="BIZ UDPゴシック"/>
              </a:rPr>
              <a:t>導入・連携</a:t>
            </a:r>
            <a:endParaRPr lang="en-US" sz="1790" b="0" u="none" strike="noStrike">
              <a:solidFill>
                <a:srgbClr val="000000"/>
              </a:solidFill>
              <a:effectLst/>
              <a:uFillTx/>
              <a:latin typeface="Arial"/>
            </a:endParaRPr>
          </a:p>
        </p:txBody>
      </p:sp>
      <p:sp>
        <p:nvSpPr>
          <p:cNvPr id="1583" name="drawio:t3"/>
          <p:cNvSpPr/>
          <p:nvPr/>
        </p:nvSpPr>
        <p:spPr>
          <a:xfrm>
            <a:off x="6923160" y="3544920"/>
            <a:ext cx="1816200" cy="453600"/>
          </a:xfrm>
          <a:prstGeom prst="roundRect">
            <a:avLst>
              <a:gd name="adj" fmla="val 16667"/>
            </a:avLst>
          </a:prstGeom>
          <a:solidFill>
            <a:srgbClr val="FFFFFF"/>
          </a:solidFill>
          <a:ln w="1622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790" b="0" u="none" strike="noStrike">
                <a:solidFill>
                  <a:srgbClr val="1F2937"/>
                </a:solidFill>
                <a:effectLst/>
                <a:uFillTx/>
                <a:latin typeface="BIZ UDPゴシック"/>
                <a:ea typeface="BIZ UDPゴシック"/>
              </a:rPr>
              <a:t>定着化・研修</a:t>
            </a:r>
            <a:endParaRPr lang="en-US" sz="1790" b="0" u="none" strike="noStrike">
              <a:solidFill>
                <a:srgbClr val="000000"/>
              </a:solidFill>
              <a:effectLst/>
              <a:uFillTx/>
              <a:latin typeface="Arial"/>
            </a:endParaRPr>
          </a:p>
        </p:txBody>
      </p:sp>
      <p:sp>
        <p:nvSpPr>
          <p:cNvPr id="1584" name="drawio:e1"/>
          <p:cNvSpPr/>
          <p:nvPr/>
        </p:nvSpPr>
        <p:spPr>
          <a:xfrm>
            <a:off x="5760000" y="2075040"/>
            <a:ext cx="360" cy="345240"/>
          </a:xfrm>
          <a:custGeom>
            <a:avLst/>
            <a:gdLst>
              <a:gd name="textAreaLeft" fmla="*/ 0 w 360"/>
              <a:gd name="textAreaRight" fmla="*/ 1440 w 360"/>
              <a:gd name="textAreaTop" fmla="*/ 0 h 345240"/>
              <a:gd name="textAreaBottom" fmla="*/ 345960 h 345240"/>
            </a:gdLst>
            <a:ahLst/>
            <a:cxnLst/>
            <a:rect l="textAreaLeft" t="textAreaTop" r="textAreaRight" b="textAreaBottom"/>
            <a:pathLst>
              <a:path w="162232" h="212200">
                <a:moveTo>
                  <a:pt x="162232" y="0"/>
                </a:moveTo>
                <a:lnTo>
                  <a:pt x="162232" y="169046"/>
                </a:lnTo>
                <a:lnTo>
                  <a:pt x="0" y="169046"/>
                </a:lnTo>
                <a:lnTo>
                  <a:pt x="0" y="212200"/>
                </a:lnTo>
              </a:path>
            </a:pathLst>
          </a:custGeom>
          <a:noFill/>
          <a:ln w="32446">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85" name="drawio:e2"/>
          <p:cNvSpPr/>
          <p:nvPr/>
        </p:nvSpPr>
        <p:spPr>
          <a:xfrm>
            <a:off x="5940000" y="2081520"/>
            <a:ext cx="2519640" cy="338760"/>
          </a:xfrm>
          <a:custGeom>
            <a:avLst/>
            <a:gdLst>
              <a:gd name="textAreaLeft" fmla="*/ 0 w 2519640"/>
              <a:gd name="textAreaRight" fmla="*/ 2520360 w 2519640"/>
              <a:gd name="textAreaTop" fmla="*/ 0 h 338760"/>
              <a:gd name="textAreaBottom" fmla="*/ 339480 h 338760"/>
            </a:gdLst>
            <a:ahLst/>
            <a:cxnLst/>
            <a:rect l="textAreaLeft" t="textAreaTop" r="textAreaRight" b="textAreaBottom"/>
            <a:pathLst>
              <a:path w="2579493" h="212200">
                <a:moveTo>
                  <a:pt x="0" y="0"/>
                </a:moveTo>
                <a:lnTo>
                  <a:pt x="0" y="104153"/>
                </a:lnTo>
                <a:lnTo>
                  <a:pt x="2579493" y="104153"/>
                </a:lnTo>
                <a:lnTo>
                  <a:pt x="2579493" y="212200"/>
                </a:lnTo>
              </a:path>
            </a:pathLst>
          </a:custGeom>
          <a:noFill/>
          <a:ln w="32446">
            <a:solidFill>
              <a:srgbClr val="B4235A"/>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86" name="drawio:e3"/>
          <p:cNvSpPr/>
          <p:nvPr/>
        </p:nvSpPr>
        <p:spPr>
          <a:xfrm>
            <a:off x="3600000" y="3134160"/>
            <a:ext cx="2160000" cy="410400"/>
          </a:xfrm>
          <a:custGeom>
            <a:avLst/>
            <a:gdLst>
              <a:gd name="textAreaLeft" fmla="*/ 0 w 2160000"/>
              <a:gd name="textAreaRight" fmla="*/ 2160720 w 2160000"/>
              <a:gd name="textAreaTop" fmla="*/ 0 h 410400"/>
              <a:gd name="textAreaBottom" fmla="*/ 411120 h 410400"/>
            </a:gdLst>
            <a:ahLst/>
            <a:cxnLst/>
            <a:rect l="textAreaLeft" t="textAreaTop" r="textAreaRight" b="textAreaBottom"/>
            <a:pathLst>
              <a:path w="2173913" h="212200">
                <a:moveTo>
                  <a:pt x="2173913" y="0"/>
                </a:moveTo>
                <a:lnTo>
                  <a:pt x="2173913" y="108047"/>
                </a:lnTo>
                <a:lnTo>
                  <a:pt x="0" y="108047"/>
                </a:lnTo>
                <a:lnTo>
                  <a:pt x="0" y="212200"/>
                </a:lnTo>
              </a:path>
            </a:pathLst>
          </a:custGeom>
          <a:noFill/>
          <a:ln w="32446">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87" name="drawio:e5"/>
          <p:cNvSpPr/>
          <p:nvPr/>
        </p:nvSpPr>
        <p:spPr>
          <a:xfrm>
            <a:off x="5760360" y="3134160"/>
            <a:ext cx="2159280" cy="410400"/>
          </a:xfrm>
          <a:custGeom>
            <a:avLst/>
            <a:gdLst>
              <a:gd name="textAreaLeft" fmla="*/ 0 w 2159280"/>
              <a:gd name="textAreaRight" fmla="*/ 2160000 w 2159280"/>
              <a:gd name="textAreaTop" fmla="*/ 0 h 410400"/>
              <a:gd name="textAreaBottom" fmla="*/ 411120 h 410400"/>
            </a:gdLst>
            <a:ahLst/>
            <a:cxnLst/>
            <a:rect l="textAreaLeft" t="textAreaTop" r="textAreaRight" b="textAreaBottom"/>
            <a:pathLst>
              <a:path w="2044126" h="212200">
                <a:moveTo>
                  <a:pt x="0" y="0"/>
                </a:moveTo>
                <a:lnTo>
                  <a:pt x="0" y="108047"/>
                </a:lnTo>
                <a:lnTo>
                  <a:pt x="2044126" y="108047"/>
                </a:lnTo>
                <a:lnTo>
                  <a:pt x="2044126" y="212200"/>
                </a:lnTo>
              </a:path>
            </a:pathLst>
          </a:custGeom>
          <a:noFill/>
          <a:ln w="32446">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88" name="drawio:e4"/>
          <p:cNvSpPr/>
          <p:nvPr/>
        </p:nvSpPr>
        <p:spPr>
          <a:xfrm>
            <a:off x="5760000" y="3134160"/>
            <a:ext cx="360" cy="410400"/>
          </a:xfrm>
          <a:custGeom>
            <a:avLst/>
            <a:gdLst>
              <a:gd name="textAreaLeft" fmla="*/ 0 w 360"/>
              <a:gd name="textAreaRight" fmla="*/ 1440 w 360"/>
              <a:gd name="textAreaTop" fmla="*/ 0 h 410400"/>
              <a:gd name="textAreaBottom" fmla="*/ 411120 h 410400"/>
            </a:gdLst>
            <a:ahLst/>
            <a:cxnLst/>
            <a:rect l="textAreaLeft" t="textAreaTop" r="textAreaRight" b="textAreaBottom"/>
            <a:pathLst>
              <a:path w="64893" h="212200">
                <a:moveTo>
                  <a:pt x="64893" y="0"/>
                </a:moveTo>
                <a:lnTo>
                  <a:pt x="64893" y="108047"/>
                </a:lnTo>
                <a:lnTo>
                  <a:pt x="0" y="108047"/>
                </a:lnTo>
                <a:lnTo>
                  <a:pt x="0" y="212200"/>
                </a:lnTo>
              </a:path>
            </a:pathLst>
          </a:custGeom>
          <a:noFill/>
          <a:ln w="32446">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89" name="blk-diagram-cap"/>
          <p:cNvSpPr/>
          <p:nvPr/>
        </p:nvSpPr>
        <p:spPr>
          <a:xfrm>
            <a:off x="502920" y="4071960"/>
            <a:ext cx="11185200" cy="18252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1000" b="0" u="none" strike="noStrike">
                <a:solidFill>
                  <a:srgbClr val="6B7280"/>
                </a:solidFill>
                <a:effectLst/>
                <a:uFillTx/>
                <a:latin typeface="BIZ UDPゴシック"/>
                <a:ea typeface="BIZ UDPゴシック"/>
              </a:rPr>
              <a:t>実施側体制 </a:t>
            </a:r>
            <a:r>
              <a:rPr lang="en-US" sz="1000" b="0" u="none" strike="noStrike">
                <a:solidFill>
                  <a:srgbClr val="6B7280"/>
                </a:solidFill>
                <a:effectLst/>
                <a:uFillTx/>
                <a:latin typeface="BIZ UDPゴシック"/>
                <a:ea typeface="BIZ UDPゴシック"/>
              </a:rPr>
              <a:t>(</a:t>
            </a:r>
            <a:r>
              <a:rPr lang="ja-JP" sz="1000" b="0" u="none" strike="noStrike">
                <a:solidFill>
                  <a:srgbClr val="6B7280"/>
                </a:solidFill>
                <a:effectLst/>
                <a:uFillTx/>
                <a:latin typeface="BIZ UDPゴシック"/>
                <a:ea typeface="BIZ UDPゴシック"/>
              </a:rPr>
              <a:t>エグザンプルシステムズ株式会社</a:t>
            </a:r>
            <a:r>
              <a:rPr lang="en-US" sz="1000" b="0" u="none" strike="noStrike">
                <a:solidFill>
                  <a:srgbClr val="6B7280"/>
                </a:solidFill>
                <a:effectLst/>
                <a:uFillTx/>
                <a:latin typeface="BIZ UDPゴシック"/>
                <a:ea typeface="BIZ UDPゴシック"/>
              </a:rPr>
              <a:t>)</a:t>
            </a:r>
            <a:endParaRPr lang="en-US" sz="1000" b="0" u="none" strike="noStrike">
              <a:solidFill>
                <a:srgbClr val="000000"/>
              </a:solidFill>
              <a:effectLst/>
              <a:uFillTx/>
              <a:latin typeface="Arial"/>
            </a:endParaRPr>
          </a:p>
        </p:txBody>
      </p:sp>
      <p:sp>
        <p:nvSpPr>
          <p:cNvPr id="1590" name="blk-bullets"/>
          <p:cNvSpPr/>
          <p:nvPr/>
        </p:nvSpPr>
        <p:spPr>
          <a:xfrm>
            <a:off x="502920" y="4365000"/>
            <a:ext cx="11185200" cy="11934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統括責任者が契約と品質の最終責任を負う</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PMP</a:t>
            </a:r>
            <a:r>
              <a:rPr lang="ja-JP" sz="1400" b="0" u="none" strike="noStrike">
                <a:solidFill>
                  <a:srgbClr val="1F2937"/>
                </a:solidFill>
                <a:effectLst/>
                <a:uFillTx/>
                <a:latin typeface="BIZ UDPゴシック"/>
                <a:ea typeface="BIZ UDPゴシック"/>
              </a:rPr>
              <a:t>保有の当社</a:t>
            </a:r>
            <a:r>
              <a:rPr lang="en-US" sz="1400" b="0" u="none" strike="noStrike">
                <a:solidFill>
                  <a:srgbClr val="1F2937"/>
                </a:solidFill>
                <a:effectLst/>
                <a:uFillTx/>
                <a:latin typeface="BIZ UDPゴシック"/>
                <a:ea typeface="BIZ UDPゴシック"/>
              </a:rPr>
              <a:t>PM</a:t>
            </a:r>
            <a:r>
              <a:rPr lang="ja-JP" sz="1400" b="0" u="none" strike="noStrike">
                <a:solidFill>
                  <a:srgbClr val="1F2937"/>
                </a:solidFill>
                <a:effectLst/>
                <a:uFillTx/>
                <a:latin typeface="BIZ UDPゴシック"/>
                <a:ea typeface="BIZ UDPゴシック"/>
              </a:rPr>
              <a:t>が計画・進捗・リスクを統括する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業務改革・導入・定着化の</a:t>
            </a:r>
            <a:r>
              <a:rPr lang="en-US" sz="1400" b="0" u="none" strike="noStrike">
                <a:solidFill>
                  <a:srgbClr val="1F2937"/>
                </a:solidFill>
                <a:effectLst/>
                <a:uFillTx/>
                <a:latin typeface="BIZ UDPゴシック"/>
                <a:ea typeface="BIZ UDPゴシック"/>
              </a:rPr>
              <a:t>3</a:t>
            </a:r>
            <a:r>
              <a:rPr lang="ja-JP" sz="1400" b="0" u="none" strike="noStrike">
                <a:solidFill>
                  <a:srgbClr val="1F2937"/>
                </a:solidFill>
                <a:effectLst/>
                <a:uFillTx/>
                <a:latin typeface="BIZ UDPゴシック"/>
                <a:ea typeface="BIZ UDPゴシック"/>
              </a:rPr>
              <a:t>チームが役割を分担する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プロジェクト外の</a:t>
            </a:r>
            <a:r>
              <a:rPr lang="en-US" sz="1400" b="0" u="none" strike="noStrike">
                <a:solidFill>
                  <a:srgbClr val="1F2937"/>
                </a:solidFill>
                <a:effectLst/>
                <a:uFillTx/>
                <a:latin typeface="BIZ UDPゴシック"/>
                <a:ea typeface="BIZ UDPゴシック"/>
              </a:rPr>
              <a:t>QA</a:t>
            </a:r>
            <a:r>
              <a:rPr lang="ja-JP" sz="1400" b="0" u="none" strike="noStrike">
                <a:solidFill>
                  <a:srgbClr val="1F2937"/>
                </a:solidFill>
                <a:effectLst/>
                <a:uFillTx/>
                <a:latin typeface="BIZ UDPゴシック"/>
                <a:ea typeface="BIZ UDPゴシック"/>
              </a:rPr>
              <a:t>責任者が成果物を独立にレビューする</a:t>
            </a:r>
            <a:endParaRPr lang="en-US" sz="1400" b="0" u="none" strike="noStrike">
              <a:solidFill>
                <a:srgbClr val="000000"/>
              </a:solidFill>
              <a:effectLst/>
              <a:uFillTx/>
              <a:latin typeface="Arial"/>
            </a:endParaRPr>
          </a:p>
        </p:txBody>
      </p:sp>
      <p:sp>
        <p:nvSpPr>
          <p:cNvPr id="1591" name="drawio:pm"/>
          <p:cNvSpPr/>
          <p:nvPr/>
        </p:nvSpPr>
        <p:spPr>
          <a:xfrm>
            <a:off x="4486320" y="2420640"/>
            <a:ext cx="2530080" cy="713160"/>
          </a:xfrm>
          <a:prstGeom prst="roundRect">
            <a:avLst>
              <a:gd name="adj" fmla="val 16667"/>
            </a:avLst>
          </a:prstGeom>
          <a:solidFill>
            <a:srgbClr val="FFFFFF"/>
          </a:solidFill>
          <a:ln w="1622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790" b="0" u="none" strike="noStrike">
                <a:solidFill>
                  <a:srgbClr val="1F2937"/>
                </a:solidFill>
                <a:effectLst/>
                <a:uFillTx/>
                <a:latin typeface="BIZ UDPゴシック"/>
                <a:ea typeface="BIZ UDPゴシック"/>
              </a:rPr>
              <a:t>当社</a:t>
            </a:r>
            <a:r>
              <a:rPr lang="en-US" sz="1790" b="0" u="none" strike="noStrike">
                <a:solidFill>
                  <a:srgbClr val="1F2937"/>
                </a:solidFill>
                <a:effectLst/>
                <a:uFillTx/>
                <a:latin typeface="BIZ UDPゴシック"/>
                <a:ea typeface="BIZ UDPゴシック"/>
              </a:rPr>
              <a:t>PM</a:t>
            </a:r>
            <a:endParaRPr lang="en-US" sz="1790" b="0" u="none" strike="noStrike">
              <a:solidFill>
                <a:srgbClr val="000000"/>
              </a:solidFill>
              <a:effectLst/>
              <a:uFillTx/>
              <a:latin typeface="Arial"/>
            </a:endParaRPr>
          </a:p>
          <a:p>
            <a:pPr algn="ctr" defTabSz="457200">
              <a:lnSpc>
                <a:spcPct val="110000"/>
              </a:lnSpc>
            </a:pPr>
            <a:r>
              <a:rPr lang="ja-JP" sz="1790" b="0" u="none" strike="noStrike">
                <a:solidFill>
                  <a:srgbClr val="1F2937"/>
                </a:solidFill>
                <a:effectLst/>
                <a:uFillTx/>
                <a:latin typeface="BIZ UDPゴシック"/>
                <a:ea typeface="BIZ UDPゴシック"/>
              </a:rPr>
              <a:t>計画・進捗・品質統括</a:t>
            </a:r>
            <a:endParaRPr lang="en-US" sz="1790" b="0" u="none" strike="noStrike">
              <a:solidFill>
                <a:srgbClr val="000000"/>
              </a:solidFill>
              <a:effectLst/>
              <a:uFillTx/>
              <a:latin typeface="Arial"/>
            </a:endParaRPr>
          </a:p>
        </p:txBody>
      </p:sp>
      <p:sp>
        <p:nvSpPr>
          <p:cNvPr id="1592" name="drawio:sk"/>
          <p:cNvSpPr/>
          <p:nvPr/>
        </p:nvSpPr>
        <p:spPr>
          <a:xfrm>
            <a:off x="4913640" y="1627560"/>
            <a:ext cx="1783800" cy="453600"/>
          </a:xfrm>
          <a:prstGeom prst="roundRect">
            <a:avLst>
              <a:gd name="adj" fmla="val 16667"/>
            </a:avLst>
          </a:prstGeom>
          <a:solidFill>
            <a:srgbClr val="16213E"/>
          </a:solidFill>
          <a:ln w="1622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790" b="1" u="none" strike="noStrike">
                <a:solidFill>
                  <a:srgbClr val="FFFFFF"/>
                </a:solidFill>
                <a:effectLst/>
                <a:uFillTx/>
                <a:latin typeface="BIZ UDPゴシック"/>
                <a:ea typeface="BIZ UDPゴシック"/>
              </a:rPr>
              <a:t>統括責任者</a:t>
            </a:r>
            <a:endParaRPr lang="en-US" sz="179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3"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94"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595"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596"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597"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98"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599"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00"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01"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02"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03"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04"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605"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3.3 </a:t>
            </a:r>
            <a:r>
              <a:rPr lang="ja-JP" sz="2400" b="1" u="none" strike="noStrike">
                <a:solidFill>
                  <a:srgbClr val="16213E"/>
                </a:solidFill>
                <a:effectLst/>
                <a:uFillTx/>
                <a:latin typeface="BIZ UDPゴシック"/>
                <a:ea typeface="BIZ UDPゴシック"/>
              </a:rPr>
              <a:t>主要メンバー ─ 貴社側</a:t>
            </a:r>
            <a:endParaRPr lang="en-US" sz="2400" b="0" u="none" strike="noStrike">
              <a:solidFill>
                <a:srgbClr val="000000"/>
              </a:solidFill>
              <a:effectLst/>
              <a:uFillTx/>
              <a:latin typeface="Arial"/>
            </a:endParaRPr>
          </a:p>
        </p:txBody>
      </p:sp>
      <p:sp>
        <p:nvSpPr>
          <p:cNvPr id="1606"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607" name="hdr-hair"/>
          <p:cNvCxnSpPr/>
          <p:nvPr/>
        </p:nvCxnSpPr>
        <p:spPr>
          <a:xfrm>
            <a:off x="502920" y="969120"/>
            <a:ext cx="11186280" cy="720"/>
          </a:xfrm>
          <a:prstGeom prst="straightConnector1">
            <a:avLst/>
          </a:prstGeom>
          <a:ln w="9525">
            <a:solidFill>
              <a:srgbClr val="D5DBE5"/>
            </a:solidFill>
            <a:round/>
          </a:ln>
        </p:spPr>
      </p:cxnSp>
      <p:cxnSp>
        <p:nvCxnSpPr>
          <p:cNvPr id="1608" name="ftr-hair"/>
          <p:cNvCxnSpPr/>
          <p:nvPr/>
        </p:nvCxnSpPr>
        <p:spPr>
          <a:xfrm>
            <a:off x="502920" y="6382440"/>
            <a:ext cx="11186280" cy="720"/>
          </a:xfrm>
          <a:prstGeom prst="straightConnector1">
            <a:avLst/>
          </a:prstGeom>
          <a:ln w="9525">
            <a:solidFill>
              <a:srgbClr val="D5DBE5"/>
            </a:solidFill>
            <a:round/>
          </a:ln>
        </p:spPr>
      </p:cxnSp>
      <p:sp>
        <p:nvSpPr>
          <p:cNvPr id="1609"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42 / 85</a:t>
            </a:r>
            <a:endParaRPr lang="en-US" sz="1100" b="0" u="none" strike="noStrike">
              <a:solidFill>
                <a:srgbClr val="000000"/>
              </a:solidFill>
              <a:effectLst/>
              <a:uFillTx/>
              <a:latin typeface="Arial"/>
            </a:endParaRPr>
          </a:p>
        </p:txBody>
      </p:sp>
      <p:sp>
        <p:nvSpPr>
          <p:cNvPr id="1610"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611"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612"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613"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14"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15"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改革を主導する貴社の主要メンバーを配置する</a:t>
            </a:r>
            <a:endParaRPr lang="en-US" sz="1500" b="0" u="none" strike="noStrike">
              <a:solidFill>
                <a:srgbClr val="000000"/>
              </a:solidFill>
              <a:effectLst/>
              <a:uFillTx/>
              <a:latin typeface="Arial"/>
            </a:endParaRPr>
          </a:p>
        </p:txBody>
      </p:sp>
      <p:graphicFrame>
        <p:nvGraphicFramePr>
          <p:cNvPr id="1616" name="blk-table"/>
          <p:cNvGraphicFramePr/>
          <p:nvPr/>
        </p:nvGraphicFramePr>
        <p:xfrm>
          <a:off x="502920" y="1627560"/>
          <a:ext cx="11184840" cy="1780560"/>
        </p:xfrm>
        <a:graphic>
          <a:graphicData uri="http://schemas.openxmlformats.org/drawingml/2006/table">
            <a:tbl>
              <a:tblPr/>
              <a:tblGrid>
                <a:gridCol w="2237040"/>
                <a:gridCol w="1566000"/>
                <a:gridCol w="1342080"/>
                <a:gridCol w="3803040"/>
                <a:gridCol w="223704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役割</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氏名</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経験年数</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主な実績</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保有資格</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プロジェクトオーナー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一郎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25</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全社業務改革と基幹システム統括</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MBA</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花子</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22</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経理業務改革と月次決算統括</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日商簿記</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二郎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15</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経費精算運用と内部統制</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J-SOX</a:t>
                      </a:r>
                      <a:r>
                        <a:rPr lang="ja-JP" sz="1100" b="0" u="none" strike="noStrike">
                          <a:solidFill>
                            <a:srgbClr val="1F2937"/>
                          </a:solidFill>
                          <a:effectLst/>
                          <a:uFillTx/>
                          <a:latin typeface="BIZ UDPゴシック"/>
                          <a:ea typeface="BIZ UDPゴシック"/>
                        </a:rPr>
                        <a:t>実務経験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技術リード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三郎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18</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基幹システム更改と連携設計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情報処理安全確保支援士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1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1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62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62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3"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4"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2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62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3.3 </a:t>
            </a:r>
            <a:r>
              <a:rPr lang="ja-JP" sz="2400" b="1" u="none" strike="noStrike">
                <a:solidFill>
                  <a:srgbClr val="16213E"/>
                </a:solidFill>
                <a:effectLst/>
                <a:uFillTx/>
                <a:latin typeface="BIZ UDPゴシック"/>
                <a:ea typeface="BIZ UDPゴシック"/>
              </a:rPr>
              <a:t>主要メンバー ─ 当社側</a:t>
            </a:r>
            <a:endParaRPr lang="en-US" sz="2400" b="0" u="none" strike="noStrike">
              <a:solidFill>
                <a:srgbClr val="000000"/>
              </a:solidFill>
              <a:effectLst/>
              <a:uFillTx/>
              <a:latin typeface="Arial"/>
            </a:endParaRPr>
          </a:p>
        </p:txBody>
      </p:sp>
      <p:sp>
        <p:nvSpPr>
          <p:cNvPr id="163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631" name="hdr-hair"/>
          <p:cNvCxnSpPr/>
          <p:nvPr/>
        </p:nvCxnSpPr>
        <p:spPr>
          <a:xfrm>
            <a:off x="502920" y="969120"/>
            <a:ext cx="11186280" cy="720"/>
          </a:xfrm>
          <a:prstGeom prst="straightConnector1">
            <a:avLst/>
          </a:prstGeom>
          <a:ln w="9525">
            <a:solidFill>
              <a:srgbClr val="D5DBE5"/>
            </a:solidFill>
            <a:round/>
          </a:ln>
        </p:spPr>
      </p:cxnSp>
      <p:cxnSp>
        <p:nvCxnSpPr>
          <p:cNvPr id="1632" name="ftr-hair"/>
          <p:cNvCxnSpPr/>
          <p:nvPr/>
        </p:nvCxnSpPr>
        <p:spPr>
          <a:xfrm>
            <a:off x="502920" y="6382440"/>
            <a:ext cx="11186280" cy="720"/>
          </a:xfrm>
          <a:prstGeom prst="straightConnector1">
            <a:avLst/>
          </a:prstGeom>
          <a:ln w="9525">
            <a:solidFill>
              <a:srgbClr val="D5DBE5"/>
            </a:solidFill>
            <a:round/>
          </a:ln>
        </p:spPr>
      </p:cxnSp>
      <p:sp>
        <p:nvSpPr>
          <p:cNvPr id="163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43 / 85</a:t>
            </a:r>
            <a:endParaRPr lang="en-US" sz="1100" b="0" u="none" strike="noStrike">
              <a:solidFill>
                <a:srgbClr val="000000"/>
              </a:solidFill>
              <a:effectLst/>
              <a:uFillTx/>
              <a:latin typeface="Arial"/>
            </a:endParaRPr>
          </a:p>
        </p:txBody>
      </p:sp>
      <p:sp>
        <p:nvSpPr>
          <p:cNvPr id="163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63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63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63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3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3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専門分野を持つ当社の主要メンバーを配置する</a:t>
            </a:r>
            <a:endParaRPr lang="en-US" sz="1500" b="0" u="none" strike="noStrike">
              <a:solidFill>
                <a:srgbClr val="000000"/>
              </a:solidFill>
              <a:effectLst/>
              <a:uFillTx/>
              <a:latin typeface="Arial"/>
            </a:endParaRPr>
          </a:p>
        </p:txBody>
      </p:sp>
      <p:graphicFrame>
        <p:nvGraphicFramePr>
          <p:cNvPr id="1640" name="blk-table"/>
          <p:cNvGraphicFramePr/>
          <p:nvPr/>
        </p:nvGraphicFramePr>
        <p:xfrm>
          <a:off x="502920" y="1627560"/>
          <a:ext cx="11184840" cy="2164320"/>
        </p:xfrm>
        <a:graphic>
          <a:graphicData uri="http://schemas.openxmlformats.org/drawingml/2006/table">
            <a:tbl>
              <a:tblPr/>
              <a:tblGrid>
                <a:gridCol w="2237040"/>
                <a:gridCol w="1566000"/>
                <a:gridCol w="1342080"/>
                <a:gridCol w="3803040"/>
                <a:gridCol w="223704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役割</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氏名</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経験年数</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主な実績</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保有資格</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統括責任者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四郎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28</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大規模業務改革の統括</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技術士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情報工学</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五郎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20</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クラウド経費精算導入の管理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PMP</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業務コンサルタント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六子</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16</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業務プロセスの標準化支援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中小企業診断士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導入エンジニア</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七郎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14</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会計連携とデータ移行</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情報処理安全確保支援士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架空 八子</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13</a:t>
                      </a:r>
                      <a:r>
                        <a:rPr lang="ja-JP" sz="1100" b="0" u="none" strike="noStrike">
                          <a:solidFill>
                            <a:srgbClr val="1F2937"/>
                          </a:solidFill>
                          <a:effectLst/>
                          <a:uFillTx/>
                          <a:latin typeface="BIZ UDPゴシック"/>
                          <a:ea typeface="BIZ UDPゴシック"/>
                        </a:rPr>
                        <a:t>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全社研修と定着化支援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キャリアコンサルタント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4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4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64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64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4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47"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4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4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5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5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5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65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3.3 </a:t>
            </a:r>
            <a:r>
              <a:rPr lang="ja-JP" sz="2400" b="1" u="none" strike="noStrike">
                <a:solidFill>
                  <a:srgbClr val="16213E"/>
                </a:solidFill>
                <a:effectLst/>
                <a:uFillTx/>
                <a:latin typeface="BIZ UDPゴシック"/>
                <a:ea typeface="BIZ UDPゴシック"/>
              </a:rPr>
              <a:t>主要メンバー ─ 要員配置と稼働率</a:t>
            </a:r>
            <a:endParaRPr lang="en-US" sz="2400" b="0" u="none" strike="noStrike">
              <a:solidFill>
                <a:srgbClr val="000000"/>
              </a:solidFill>
              <a:effectLst/>
              <a:uFillTx/>
              <a:latin typeface="Arial"/>
            </a:endParaRPr>
          </a:p>
        </p:txBody>
      </p:sp>
      <p:sp>
        <p:nvSpPr>
          <p:cNvPr id="165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655" name="hdr-hair"/>
          <p:cNvCxnSpPr/>
          <p:nvPr/>
        </p:nvCxnSpPr>
        <p:spPr>
          <a:xfrm>
            <a:off x="502920" y="969120"/>
            <a:ext cx="11186280" cy="720"/>
          </a:xfrm>
          <a:prstGeom prst="straightConnector1">
            <a:avLst/>
          </a:prstGeom>
          <a:ln w="9525">
            <a:solidFill>
              <a:srgbClr val="D5DBE5"/>
            </a:solidFill>
            <a:round/>
          </a:ln>
        </p:spPr>
      </p:cxnSp>
      <p:cxnSp>
        <p:nvCxnSpPr>
          <p:cNvPr id="1656" name="ftr-hair"/>
          <p:cNvCxnSpPr/>
          <p:nvPr/>
        </p:nvCxnSpPr>
        <p:spPr>
          <a:xfrm>
            <a:off x="502920" y="6382440"/>
            <a:ext cx="11186280" cy="720"/>
          </a:xfrm>
          <a:prstGeom prst="straightConnector1">
            <a:avLst/>
          </a:prstGeom>
          <a:ln w="9525">
            <a:solidFill>
              <a:srgbClr val="D5DBE5"/>
            </a:solidFill>
            <a:round/>
          </a:ln>
        </p:spPr>
      </p:cxnSp>
      <p:sp>
        <p:nvSpPr>
          <p:cNvPr id="165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44 / 85</a:t>
            </a:r>
            <a:endParaRPr lang="en-US" sz="1100" b="0" u="none" strike="noStrike">
              <a:solidFill>
                <a:srgbClr val="000000"/>
              </a:solidFill>
              <a:effectLst/>
              <a:uFillTx/>
              <a:latin typeface="Arial"/>
            </a:endParaRPr>
          </a:p>
        </p:txBody>
      </p:sp>
      <p:sp>
        <p:nvSpPr>
          <p:cNvPr id="165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65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66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66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6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6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工程ごとに当社要員と稼働率を定め、総人月を予算</a:t>
            </a:r>
            <a:r>
              <a:rPr lang="en-US" sz="1500" b="1" u="none" strike="noStrike">
                <a:solidFill>
                  <a:srgbClr val="16213E"/>
                </a:solidFill>
                <a:effectLst/>
                <a:uFillTx/>
                <a:latin typeface="BIZ UDPゴシック"/>
                <a:ea typeface="BIZ UDPゴシック"/>
              </a:rPr>
              <a:t>8,000</a:t>
            </a:r>
            <a:r>
              <a:rPr lang="ja-JP" sz="1500" b="1" u="none" strike="noStrike">
                <a:solidFill>
                  <a:srgbClr val="16213E"/>
                </a:solidFill>
                <a:effectLst/>
                <a:uFillTx/>
                <a:latin typeface="BIZ UDPゴシック"/>
                <a:ea typeface="BIZ UDPゴシック"/>
              </a:rPr>
              <a:t>万円 </a:t>
            </a:r>
            <a:r>
              <a:rPr lang="en-US" sz="1500" b="1" u="none" strike="noStrike">
                <a:solidFill>
                  <a:srgbClr val="16213E"/>
                </a:solidFill>
                <a:effectLst/>
                <a:uFillTx/>
                <a:latin typeface="BIZ UDPゴシック"/>
                <a:ea typeface="BIZ UDPゴシック"/>
              </a:rPr>
              <a:t>(</a:t>
            </a:r>
            <a:r>
              <a:rPr lang="ja-JP" sz="1500" b="1" u="none" strike="noStrike">
                <a:solidFill>
                  <a:srgbClr val="16213E"/>
                </a:solidFill>
                <a:effectLst/>
                <a:uFillTx/>
                <a:latin typeface="BIZ UDPゴシック"/>
                <a:ea typeface="BIZ UDPゴシック"/>
              </a:rPr>
              <a:t>税抜</a:t>
            </a:r>
            <a:r>
              <a:rPr lang="en-US" sz="1500" b="1" u="none" strike="noStrike">
                <a:solidFill>
                  <a:srgbClr val="16213E"/>
                </a:solidFill>
                <a:effectLst/>
                <a:uFillTx/>
                <a:latin typeface="BIZ UDPゴシック"/>
                <a:ea typeface="BIZ UDPゴシック"/>
              </a:rPr>
              <a:t>) </a:t>
            </a:r>
            <a:r>
              <a:rPr lang="ja-JP" sz="1500" b="1" u="none" strike="noStrike">
                <a:solidFill>
                  <a:srgbClr val="16213E"/>
                </a:solidFill>
                <a:effectLst/>
                <a:uFillTx/>
                <a:latin typeface="BIZ UDPゴシック"/>
                <a:ea typeface="BIZ UDPゴシック"/>
              </a:rPr>
              <a:t>と整合させる</a:t>
            </a:r>
            <a:endParaRPr lang="en-US" sz="1500" b="0" u="none" strike="noStrike">
              <a:solidFill>
                <a:srgbClr val="000000"/>
              </a:solidFill>
              <a:effectLst/>
              <a:uFillTx/>
              <a:latin typeface="Arial"/>
            </a:endParaRPr>
          </a:p>
        </p:txBody>
      </p:sp>
      <p:graphicFrame>
        <p:nvGraphicFramePr>
          <p:cNvPr id="1664" name="blk-table"/>
          <p:cNvGraphicFramePr/>
          <p:nvPr/>
        </p:nvGraphicFramePr>
        <p:xfrm>
          <a:off x="502920" y="1627560"/>
          <a:ext cx="11185200" cy="2248920"/>
        </p:xfrm>
        <a:graphic>
          <a:graphicData uri="http://schemas.openxmlformats.org/drawingml/2006/table">
            <a:tbl>
              <a:tblPr/>
              <a:tblGrid>
                <a:gridCol w="3132000"/>
                <a:gridCol w="2684520"/>
                <a:gridCol w="1566000"/>
                <a:gridCol w="1118520"/>
                <a:gridCol w="26845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費目</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100" b="1" u="none" strike="noStrike">
                          <a:solidFill>
                            <a:srgbClr val="FFFFFF"/>
                          </a:solidFill>
                          <a:effectLst/>
                          <a:uFillTx/>
                          <a:latin typeface="BIZ UDPゴシック"/>
                          <a:ea typeface="BIZ UDPゴシック"/>
                        </a:rPr>
                        <a:t>期間</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100" b="1" u="none" strike="noStrike">
                          <a:solidFill>
                            <a:srgbClr val="FFFFFF"/>
                          </a:solidFill>
                          <a:effectLst/>
                          <a:uFillTx/>
                          <a:latin typeface="BIZ UDPゴシック"/>
                          <a:ea typeface="BIZ UDPゴシック"/>
                        </a:rPr>
                        <a:t>当社要員数 </a:t>
                      </a:r>
                      <a:r>
                        <a:rPr lang="en-US" sz="1100" b="1" u="none" strike="noStrike">
                          <a:solidFill>
                            <a:srgbClr val="FFFFFF"/>
                          </a:solidFill>
                          <a:effectLst/>
                          <a:uFillTx/>
                          <a:latin typeface="BIZ UDPゴシック"/>
                          <a:ea typeface="BIZ UDPゴシック"/>
                        </a:rPr>
                        <a:t>(</a:t>
                      </a:r>
                      <a:r>
                        <a:rPr lang="ja-JP" sz="1100" b="1" u="none" strike="noStrike">
                          <a:solidFill>
                            <a:srgbClr val="FFFFFF"/>
                          </a:solidFill>
                          <a:effectLst/>
                          <a:uFillTx/>
                          <a:latin typeface="BIZ UDPゴシック"/>
                          <a:ea typeface="BIZ UDPゴシック"/>
                        </a:rPr>
                        <a:t>ピーク</a:t>
                      </a:r>
                      <a:r>
                        <a:rPr lang="en-US" sz="1100" b="1" u="none" strike="noStrike">
                          <a:solidFill>
                            <a:srgbClr val="FFFFFF"/>
                          </a:solidFill>
                          <a:effectLst/>
                          <a:uFillTx/>
                          <a:latin typeface="BIZ UDPゴシック"/>
                          <a:ea typeface="BIZ UDPゴシック"/>
                        </a:rPr>
                        <a:t>)</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r" defTabSz="457200">
                        <a:lnSpc>
                          <a:spcPct val="120000"/>
                        </a:lnSpc>
                      </a:pPr>
                      <a:r>
                        <a:rPr lang="ja-JP" sz="1100" b="1" u="none" strike="noStrike">
                          <a:solidFill>
                            <a:srgbClr val="FFFFFF"/>
                          </a:solidFill>
                          <a:effectLst/>
                          <a:uFillTx/>
                          <a:latin typeface="BIZ UDPゴシック"/>
                          <a:ea typeface="BIZ UDPゴシック"/>
                        </a:rPr>
                        <a:t>人月</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主担当</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現状分析・</a:t>
                      </a:r>
                      <a:r>
                        <a:rPr lang="en-US" sz="1100" b="0" u="none" strike="noStrike">
                          <a:solidFill>
                            <a:srgbClr val="1F2937"/>
                          </a:solidFill>
                          <a:effectLst/>
                          <a:uFillTx/>
                          <a:latin typeface="BIZ UDPゴシック"/>
                          <a:ea typeface="BIZ UDPゴシック"/>
                        </a:rPr>
                        <a:t>To-Be</a:t>
                      </a:r>
                      <a:r>
                        <a:rPr lang="ja-JP" sz="1100" b="0" u="none" strike="noStrike">
                          <a:solidFill>
                            <a:srgbClr val="1F2937"/>
                          </a:solidFill>
                          <a:effectLst/>
                          <a:uFillTx/>
                          <a:latin typeface="BIZ UDPゴシック"/>
                          <a:ea typeface="BIZ UDPゴシック"/>
                        </a:rPr>
                        <a:t>設計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2026/12/01</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2027/03/31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3</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10.5</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業務コンサルタント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サービス設定・連携開発</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2027/04/01</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2027/06/30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14.0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導入エンジニア</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テスト・移行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テスト</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2027/07/01</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2027/08/31</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4</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4.7</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導入エンジニア</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テスト・移行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移行</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2027/09/01</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2027/10/15</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4</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導入エンジニア</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研修・定着化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研修</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2027/08/02</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2027/09/24</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3</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3.3</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研修・定着化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定着化</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2027/10/16</a:t>
                      </a:r>
                      <a:r>
                        <a:rPr lang="ja-JP" sz="1100" b="0" u="none" strike="noStrike">
                          <a:solidFill>
                            <a:srgbClr val="1F2937"/>
                          </a:solidFill>
                          <a:effectLst/>
                          <a:uFillTx/>
                          <a:latin typeface="BIZ UDPゴシック"/>
                          <a:ea typeface="BIZ UDPゴシック"/>
                        </a:rPr>
                        <a:t>〜</a:t>
                      </a:r>
                      <a:r>
                        <a:rPr lang="en-US" sz="1100" b="0" u="none" strike="noStrike">
                          <a:solidFill>
                            <a:srgbClr val="1F2937"/>
                          </a:solidFill>
                          <a:effectLst/>
                          <a:uFillTx/>
                          <a:latin typeface="BIZ UDPゴシック"/>
                          <a:ea typeface="BIZ UDPゴシック"/>
                        </a:rPr>
                        <a:t>2027/11/30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4</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5.0</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28620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合計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100" b="0" u="none" strike="noStrike">
                          <a:solidFill>
                            <a:srgbClr val="1F2937"/>
                          </a:solidFill>
                          <a:effectLst/>
                          <a:uFillTx/>
                          <a:latin typeface="BIZ UDPゴシック"/>
                          <a:ea typeface="BIZ UDPゴシック"/>
                        </a:rPr>
                        <a:t>ピーク時</a:t>
                      </a: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100" b="0" u="none" strike="noStrike">
                          <a:solidFill>
                            <a:srgbClr val="1F2937"/>
                          </a:solidFill>
                          <a:effectLst/>
                          <a:uFillTx/>
                          <a:latin typeface="BIZ UDPゴシック"/>
                          <a:ea typeface="BIZ UDPゴシック"/>
                        </a:rPr>
                        <a:t>40.5</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人月単価</a:t>
                      </a:r>
                      <a:r>
                        <a:rPr lang="en-US" sz="1100" b="0" u="none" strike="noStrike">
                          <a:solidFill>
                            <a:srgbClr val="1F2937"/>
                          </a:solidFill>
                          <a:effectLst/>
                          <a:uFillTx/>
                          <a:latin typeface="BIZ UDPゴシック"/>
                          <a:ea typeface="BIZ UDPゴシック"/>
                        </a:rPr>
                        <a:t>180</a:t>
                      </a:r>
                      <a:r>
                        <a:rPr lang="ja-JP" sz="1100" b="0" u="none" strike="noStrike">
                          <a:solidFill>
                            <a:srgbClr val="1F2937"/>
                          </a:solidFill>
                          <a:effectLst/>
                          <a:uFillTx/>
                          <a:latin typeface="BIZ UDPゴシック"/>
                          <a:ea typeface="BIZ UDPゴシック"/>
                        </a:rPr>
                        <a:t>万円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1665" name="blk-bullets"/>
          <p:cNvSpPr/>
          <p:nvPr/>
        </p:nvSpPr>
        <p:spPr>
          <a:xfrm>
            <a:off x="502920" y="4005000"/>
            <a:ext cx="11185200" cy="22485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当社要員の平均稼働率は</a:t>
            </a:r>
            <a:r>
              <a:rPr lang="en-US" sz="1400" b="0" u="none" strike="noStrike">
                <a:solidFill>
                  <a:srgbClr val="1F2937"/>
                </a:solidFill>
                <a:effectLst/>
                <a:uFillTx/>
                <a:latin typeface="BIZ UDPゴシック"/>
                <a:ea typeface="BIZ UDPゴシック"/>
              </a:rPr>
              <a:t>80%</a:t>
            </a:r>
            <a:r>
              <a:rPr lang="ja-JP" sz="1400" b="0" u="none" strike="noStrike">
                <a:solidFill>
                  <a:srgbClr val="1F2937"/>
                </a:solidFill>
                <a:effectLst/>
                <a:uFillTx/>
                <a:latin typeface="BIZ UDPゴシック"/>
                <a:ea typeface="BIZ UDPゴシック"/>
              </a:rPr>
              <a:t>とし、</a:t>
            </a: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人月を</a:t>
            </a:r>
            <a:r>
              <a:rPr lang="en-US" sz="1400" b="0" u="none" strike="noStrike">
                <a:solidFill>
                  <a:srgbClr val="1F2937"/>
                </a:solidFill>
                <a:effectLst/>
                <a:uFillTx/>
                <a:latin typeface="BIZ UDPゴシック"/>
                <a:ea typeface="BIZ UDPゴシック"/>
              </a:rPr>
              <a:t>20</a:t>
            </a:r>
            <a:r>
              <a:rPr lang="ja-JP" sz="1400" b="0" u="none" strike="noStrike">
                <a:solidFill>
                  <a:srgbClr val="1F2937"/>
                </a:solidFill>
                <a:effectLst/>
                <a:uFillTx/>
                <a:latin typeface="BIZ UDPゴシック"/>
                <a:ea typeface="BIZ UDPゴシック"/>
              </a:rPr>
              <a:t>人日で換算する。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当社</a:t>
            </a:r>
            <a:r>
              <a:rPr lang="en-US" sz="1400" b="0" u="none" strike="noStrike">
                <a:solidFill>
                  <a:srgbClr val="1F2937"/>
                </a:solidFill>
                <a:effectLst/>
                <a:uFillTx/>
                <a:latin typeface="BIZ UDPゴシック"/>
                <a:ea typeface="BIZ UDPゴシック"/>
              </a:rPr>
              <a:t>PM</a:t>
            </a:r>
            <a:r>
              <a:rPr lang="ja-JP" sz="1400" b="0" u="none" strike="noStrike">
                <a:solidFill>
                  <a:srgbClr val="1F2937"/>
                </a:solidFill>
                <a:effectLst/>
                <a:uFillTx/>
                <a:latin typeface="BIZ UDPゴシック"/>
                <a:ea typeface="BIZ UDPゴシック"/>
              </a:rPr>
              <a:t>と業務コンサルタントはフルタイム、他の要員は稼働率</a:t>
            </a:r>
            <a:r>
              <a:rPr lang="en-US" sz="1400" b="0" u="none" strike="noStrike">
                <a:solidFill>
                  <a:srgbClr val="1F2937"/>
                </a:solidFill>
                <a:effectLst/>
                <a:uFillTx/>
                <a:latin typeface="BIZ UDPゴシック"/>
                <a:ea typeface="BIZ UDPゴシック"/>
              </a:rPr>
              <a:t>60</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100%</a:t>
            </a:r>
            <a:r>
              <a:rPr lang="ja-JP" sz="1400" b="0" u="none" strike="noStrike">
                <a:solidFill>
                  <a:srgbClr val="1F2937"/>
                </a:solidFill>
                <a:effectLst/>
                <a:uFillTx/>
                <a:latin typeface="BIZ UDPゴシック"/>
                <a:ea typeface="BIZ UDPゴシック"/>
              </a:rPr>
              <a:t>とする。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貴社側は貴社</a:t>
            </a:r>
            <a:r>
              <a:rPr lang="en-US" sz="1400" b="0" u="none" strike="noStrike">
                <a:solidFill>
                  <a:srgbClr val="1F2937"/>
                </a:solidFill>
                <a:effectLst/>
                <a:uFillTx/>
                <a:latin typeface="BIZ UDPゴシック"/>
                <a:ea typeface="BIZ UDPゴシック"/>
              </a:rPr>
              <a:t>PM</a:t>
            </a:r>
            <a:r>
              <a:rPr lang="ja-JP" sz="1400" b="0" u="none" strike="noStrike">
                <a:solidFill>
                  <a:srgbClr val="1F2937"/>
                </a:solidFill>
                <a:effectLst/>
                <a:uFillTx/>
                <a:latin typeface="BIZ UDPゴシック"/>
                <a:ea typeface="BIZ UDPゴシック"/>
              </a:rPr>
              <a:t>が</a:t>
            </a:r>
            <a:r>
              <a:rPr lang="en-US" sz="1400" b="0" u="none" strike="noStrike">
                <a:solidFill>
                  <a:srgbClr val="1F2937"/>
                </a:solidFill>
                <a:effectLst/>
                <a:uFillTx/>
                <a:latin typeface="BIZ UDPゴシック"/>
                <a:ea typeface="BIZ UDPゴシック"/>
              </a:rPr>
              <a:t>100%</a:t>
            </a:r>
            <a:r>
              <a:rPr lang="ja-JP" sz="1400" b="0" u="none" strike="noStrike">
                <a:solidFill>
                  <a:srgbClr val="1F2937"/>
                </a:solidFill>
                <a:effectLst/>
                <a:uFillTx/>
                <a:latin typeface="BIZ UDPゴシック"/>
                <a:ea typeface="BIZ UDPゴシック"/>
              </a:rPr>
              <a:t>、業務改革推進部が常時</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名、経理部と情報システム部が週</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日相当で参画する。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総人月</a:t>
            </a:r>
            <a:r>
              <a:rPr lang="en-US" sz="1400" b="0" u="none" strike="noStrike">
                <a:solidFill>
                  <a:srgbClr val="1F2937"/>
                </a:solidFill>
                <a:effectLst/>
                <a:uFillTx/>
                <a:latin typeface="BIZ UDPゴシック"/>
                <a:ea typeface="BIZ UDPゴシック"/>
              </a:rPr>
              <a:t>40.5</a:t>
            </a:r>
            <a:r>
              <a:rPr lang="ja-JP" sz="1400" b="0" u="none" strike="noStrike">
                <a:solidFill>
                  <a:srgbClr val="1F2937"/>
                </a:solidFill>
                <a:effectLst/>
                <a:uFillTx/>
                <a:latin typeface="BIZ UDPゴシック"/>
                <a:ea typeface="BIZ UDPゴシック"/>
              </a:rPr>
              <a:t>人月</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人月単価</a:t>
            </a:r>
            <a:r>
              <a:rPr lang="en-US" sz="1400" b="0" u="none" strike="noStrike">
                <a:solidFill>
                  <a:srgbClr val="1F2937"/>
                </a:solidFill>
                <a:effectLst/>
                <a:uFillTx/>
                <a:latin typeface="BIZ UDPゴシック"/>
                <a:ea typeface="BIZ UDPゴシック"/>
              </a:rPr>
              <a:t>180</a:t>
            </a:r>
            <a:r>
              <a:rPr lang="ja-JP" sz="1400" b="0" u="none" strike="noStrike">
                <a:solidFill>
                  <a:srgbClr val="1F2937"/>
                </a:solidFill>
                <a:effectLst/>
                <a:uFillTx/>
                <a:latin typeface="BIZ UDPゴシック"/>
                <a:ea typeface="BIZ UDPゴシック"/>
              </a:rPr>
              <a:t>万円で約</a:t>
            </a:r>
            <a:r>
              <a:rPr lang="en-US" sz="1400" b="0" u="none" strike="noStrike">
                <a:solidFill>
                  <a:srgbClr val="1F2937"/>
                </a:solidFill>
                <a:effectLst/>
                <a:uFillTx/>
                <a:latin typeface="BIZ UDPゴシック"/>
                <a:ea typeface="BIZ UDPゴシック"/>
              </a:rPr>
              <a:t>7,300</a:t>
            </a:r>
            <a:r>
              <a:rPr lang="ja-JP" sz="1400" b="0" u="none" strike="noStrike">
                <a:solidFill>
                  <a:srgbClr val="1F2937"/>
                </a:solidFill>
                <a:effectLst/>
                <a:uFillTx/>
                <a:latin typeface="BIZ UDPゴシック"/>
                <a:ea typeface="BIZ UDPゴシック"/>
              </a:rPr>
              <a:t>万円とし、予備費</a:t>
            </a:r>
            <a:r>
              <a:rPr lang="en-US" sz="1400" b="0" u="none" strike="noStrike">
                <a:solidFill>
                  <a:srgbClr val="1F2937"/>
                </a:solidFill>
                <a:effectLst/>
                <a:uFillTx/>
                <a:latin typeface="BIZ UDPゴシック"/>
                <a:ea typeface="BIZ UDPゴシック"/>
              </a:rPr>
              <a:t>700</a:t>
            </a:r>
            <a:r>
              <a:rPr lang="ja-JP" sz="1400" b="0" u="none" strike="noStrike">
                <a:solidFill>
                  <a:srgbClr val="1F2937"/>
                </a:solidFill>
                <a:effectLst/>
                <a:uFillTx/>
                <a:latin typeface="BIZ UDPゴシック"/>
                <a:ea typeface="BIZ UDPゴシック"/>
              </a:rPr>
              <a:t>万円を加えて予算</a:t>
            </a:r>
            <a:r>
              <a:rPr lang="en-US" sz="1400" b="0" u="none" strike="noStrike">
                <a:solidFill>
                  <a:srgbClr val="1F2937"/>
                </a:solidFill>
                <a:effectLst/>
                <a:uFillTx/>
                <a:latin typeface="BIZ UDPゴシック"/>
                <a:ea typeface="BIZ UDPゴシック"/>
              </a:rPr>
              <a:t>8,000</a:t>
            </a:r>
            <a:r>
              <a:rPr lang="ja-JP" sz="1400" b="0" u="none" strike="noStrike">
                <a:solidFill>
                  <a:srgbClr val="1F2937"/>
                </a:solidFill>
                <a:effectLst/>
                <a:uFillTx/>
                <a:latin typeface="BIZ UDPゴシック"/>
                <a:ea typeface="BIZ UDPゴシック"/>
              </a:rPr>
              <a:t>万円 </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税抜</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に収める。</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6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6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66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670"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1"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2"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3"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4"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5"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7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67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3.4 </a:t>
            </a:r>
            <a:r>
              <a:rPr lang="ja-JP" sz="2400" b="1" u="none" strike="noStrike">
                <a:solidFill>
                  <a:srgbClr val="16213E"/>
                </a:solidFill>
                <a:effectLst/>
                <a:uFillTx/>
                <a:latin typeface="BIZ UDPゴシック"/>
                <a:ea typeface="BIZ UDPゴシック"/>
              </a:rPr>
              <a:t>役割と責任 ─ </a:t>
            </a:r>
            <a:r>
              <a:rPr lang="en-US" sz="2400" b="1" u="none" strike="noStrike">
                <a:solidFill>
                  <a:srgbClr val="16213E"/>
                </a:solidFill>
                <a:effectLst/>
                <a:uFillTx/>
                <a:latin typeface="BIZ UDPゴシック"/>
                <a:ea typeface="BIZ UDPゴシック"/>
              </a:rPr>
              <a:t>RACI</a:t>
            </a:r>
            <a:endParaRPr lang="en-US" sz="2400" b="0" u="none" strike="noStrike">
              <a:solidFill>
                <a:srgbClr val="000000"/>
              </a:solidFill>
              <a:effectLst/>
              <a:uFillTx/>
              <a:latin typeface="Arial"/>
            </a:endParaRPr>
          </a:p>
        </p:txBody>
      </p:sp>
      <p:sp>
        <p:nvSpPr>
          <p:cNvPr id="167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680" name="hdr-hair"/>
          <p:cNvCxnSpPr/>
          <p:nvPr/>
        </p:nvCxnSpPr>
        <p:spPr>
          <a:xfrm>
            <a:off x="502920" y="969120"/>
            <a:ext cx="11186280" cy="720"/>
          </a:xfrm>
          <a:prstGeom prst="straightConnector1">
            <a:avLst/>
          </a:prstGeom>
          <a:ln w="9525">
            <a:solidFill>
              <a:srgbClr val="D5DBE5"/>
            </a:solidFill>
            <a:round/>
          </a:ln>
        </p:spPr>
      </p:cxnSp>
      <p:cxnSp>
        <p:nvCxnSpPr>
          <p:cNvPr id="1681" name="ftr-hair"/>
          <p:cNvCxnSpPr/>
          <p:nvPr/>
        </p:nvCxnSpPr>
        <p:spPr>
          <a:xfrm>
            <a:off x="502920" y="6382440"/>
            <a:ext cx="11186280" cy="720"/>
          </a:xfrm>
          <a:prstGeom prst="straightConnector1">
            <a:avLst/>
          </a:prstGeom>
          <a:ln w="9525">
            <a:solidFill>
              <a:srgbClr val="D5DBE5"/>
            </a:solidFill>
            <a:round/>
          </a:ln>
        </p:spPr>
      </p:cxnSp>
      <p:sp>
        <p:nvSpPr>
          <p:cNvPr id="168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45 / 85</a:t>
            </a:r>
            <a:endParaRPr lang="en-US" sz="1100" b="0" u="none" strike="noStrike">
              <a:solidFill>
                <a:srgbClr val="000000"/>
              </a:solidFill>
              <a:effectLst/>
              <a:uFillTx/>
              <a:latin typeface="Arial"/>
            </a:endParaRPr>
          </a:p>
        </p:txBody>
      </p:sp>
      <p:sp>
        <p:nvSpPr>
          <p:cNvPr id="168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68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68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68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主要活動ごとに責任と役割を</a:t>
            </a:r>
            <a:r>
              <a:rPr lang="en-US" sz="1500" b="1" u="none" strike="noStrike">
                <a:solidFill>
                  <a:srgbClr val="16213E"/>
                </a:solidFill>
                <a:effectLst/>
                <a:uFillTx/>
                <a:latin typeface="BIZ UDPゴシック"/>
                <a:ea typeface="BIZ UDPゴシック"/>
              </a:rPr>
              <a:t>RACI</a:t>
            </a:r>
            <a:r>
              <a:rPr lang="ja-JP" sz="1500" b="1" u="none" strike="noStrike">
                <a:solidFill>
                  <a:srgbClr val="16213E"/>
                </a:solidFill>
                <a:effectLst/>
                <a:uFillTx/>
                <a:latin typeface="BIZ UDPゴシック"/>
                <a:ea typeface="BIZ UDPゴシック"/>
              </a:rPr>
              <a:t>で明確にする</a:t>
            </a:r>
            <a:endParaRPr lang="en-US" sz="1500" b="0" u="none" strike="noStrike">
              <a:solidFill>
                <a:srgbClr val="000000"/>
              </a:solidFill>
              <a:effectLst/>
              <a:uFillTx/>
              <a:latin typeface="Arial"/>
            </a:endParaRPr>
          </a:p>
        </p:txBody>
      </p:sp>
      <p:graphicFrame>
        <p:nvGraphicFramePr>
          <p:cNvPr id="1689" name="blk-table"/>
          <p:cNvGraphicFramePr/>
          <p:nvPr/>
        </p:nvGraphicFramePr>
        <p:xfrm>
          <a:off x="502920" y="1627560"/>
          <a:ext cx="11184120" cy="3299040"/>
        </p:xfrm>
        <a:graphic>
          <a:graphicData uri="http://schemas.openxmlformats.org/drawingml/2006/table">
            <a:tbl>
              <a:tblPr/>
              <a:tblGrid>
                <a:gridCol w="3132000"/>
                <a:gridCol w="1342080"/>
                <a:gridCol w="1342080"/>
                <a:gridCol w="1342080"/>
                <a:gridCol w="1342080"/>
                <a:gridCol w="1342080"/>
                <a:gridCol w="1342080"/>
              </a:tblGrid>
              <a:tr h="228960">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主要活動</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貴社</a:t>
                      </a:r>
                      <a:r>
                        <a:rPr lang="en-US" sz="1000" b="1" u="none" strike="noStrike">
                          <a:solidFill>
                            <a:srgbClr val="FFFFFF"/>
                          </a:solidFill>
                          <a:effectLst/>
                          <a:uFillTx/>
                          <a:latin typeface="BIZ UDPゴシック"/>
                          <a:ea typeface="BIZ UDPゴシック"/>
                        </a:rPr>
                        <a:t>PM</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貴社業務</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貴社</a:t>
                      </a:r>
                      <a:r>
                        <a:rPr lang="en-US" sz="1000" b="1" u="none" strike="noStrike">
                          <a:solidFill>
                            <a:srgbClr val="FFFFFF"/>
                          </a:solidFill>
                          <a:effectLst/>
                          <a:uFillTx/>
                          <a:latin typeface="BIZ UDPゴシック"/>
                          <a:ea typeface="BIZ UDPゴシック"/>
                        </a:rPr>
                        <a:t>IT</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当社</a:t>
                      </a:r>
                      <a:r>
                        <a:rPr lang="en-US" sz="1000" b="1" u="none" strike="noStrike">
                          <a:solidFill>
                            <a:srgbClr val="FFFFFF"/>
                          </a:solidFill>
                          <a:effectLst/>
                          <a:uFillTx/>
                          <a:latin typeface="BIZ UDPゴシック"/>
                          <a:ea typeface="BIZ UDPゴシック"/>
                        </a:rPr>
                        <a:t>PM</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当社コンサル</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当社エンジニア</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現状分析・課題整理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To-Be</a:t>
                      </a:r>
                      <a:r>
                        <a:rPr lang="ja-JP" sz="1000" b="0" u="none" strike="noStrike">
                          <a:solidFill>
                            <a:srgbClr val="1F2937"/>
                          </a:solidFill>
                          <a:effectLst/>
                          <a:uFillTx/>
                          <a:latin typeface="BIZ UDPゴシック"/>
                          <a:ea typeface="BIZ UDPゴシック"/>
                        </a:rPr>
                        <a:t>設計・要件定義</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サービス設定・連携開発</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結合テスト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受入テスト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研修・定着化</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進捗・課題管理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変更管理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1690" name="blk-callout"/>
          <p:cNvSpPr/>
          <p:nvPr/>
        </p:nvSpPr>
        <p:spPr>
          <a:xfrm>
            <a:off x="502920" y="573012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en-US" sz="1200" b="0" u="none" strike="noStrike">
                <a:solidFill>
                  <a:srgbClr val="1F2937"/>
                </a:solidFill>
                <a:effectLst/>
                <a:uFillTx/>
                <a:latin typeface="BIZ UDPゴシック"/>
                <a:ea typeface="BIZ UDPゴシック"/>
              </a:rPr>
              <a:t>R=</a:t>
            </a:r>
            <a:r>
              <a:rPr lang="ja-JP" sz="1200" b="0" u="none" strike="noStrike">
                <a:solidFill>
                  <a:srgbClr val="1F2937"/>
                </a:solidFill>
                <a:effectLst/>
                <a:uFillTx/>
                <a:latin typeface="BIZ UDPゴシック"/>
                <a:ea typeface="BIZ UDPゴシック"/>
              </a:rPr>
              <a:t>実行 </a:t>
            </a:r>
            <a:r>
              <a:rPr lang="en-US" sz="1200" b="0" u="none" strike="noStrike">
                <a:solidFill>
                  <a:srgbClr val="1F2937"/>
                </a:solidFill>
                <a:effectLst/>
                <a:uFillTx/>
                <a:latin typeface="BIZ UDPゴシック"/>
                <a:ea typeface="BIZ UDPゴシック"/>
              </a:rPr>
              <a:t>A=</a:t>
            </a:r>
            <a:r>
              <a:rPr lang="ja-JP" sz="1200" b="0" u="none" strike="noStrike">
                <a:solidFill>
                  <a:srgbClr val="1F2937"/>
                </a:solidFill>
                <a:effectLst/>
                <a:uFillTx/>
                <a:latin typeface="BIZ UDPゴシック"/>
                <a:ea typeface="BIZ UDPゴシック"/>
              </a:rPr>
              <a:t>説明責任 </a:t>
            </a:r>
            <a:r>
              <a:rPr lang="en-US" sz="1200" b="0" u="none" strike="noStrike">
                <a:solidFill>
                  <a:srgbClr val="1F2937"/>
                </a:solidFill>
                <a:effectLst/>
                <a:uFillTx/>
                <a:latin typeface="BIZ UDPゴシック"/>
                <a:ea typeface="BIZ UDPゴシック"/>
              </a:rPr>
              <a:t>C=</a:t>
            </a:r>
            <a:r>
              <a:rPr lang="ja-JP" sz="1200" b="0" u="none" strike="noStrike">
                <a:solidFill>
                  <a:srgbClr val="1F2937"/>
                </a:solidFill>
                <a:effectLst/>
                <a:uFillTx/>
                <a:latin typeface="BIZ UDPゴシック"/>
                <a:ea typeface="BIZ UDPゴシック"/>
              </a:rPr>
              <a:t>協議 </a:t>
            </a:r>
            <a:r>
              <a:rPr lang="en-US" sz="1200" b="0" u="none" strike="noStrike">
                <a:solidFill>
                  <a:srgbClr val="1F2937"/>
                </a:solidFill>
                <a:effectLst/>
                <a:uFillTx/>
                <a:latin typeface="BIZ UDPゴシック"/>
                <a:ea typeface="BIZ UDPゴシック"/>
              </a:rPr>
              <a:t>I=</a:t>
            </a:r>
            <a:r>
              <a:rPr lang="ja-JP" sz="1200" b="0" u="none" strike="noStrike">
                <a:solidFill>
                  <a:srgbClr val="1F2937"/>
                </a:solidFill>
                <a:effectLst/>
                <a:uFillTx/>
                <a:latin typeface="BIZ UDPゴシック"/>
                <a:ea typeface="BIZ UDPゴシック"/>
              </a:rPr>
              <a:t>報告。各活動に説明責任 </a:t>
            </a:r>
            <a:r>
              <a:rPr lang="en-US" sz="1200" b="0" u="none" strike="noStrike">
                <a:solidFill>
                  <a:srgbClr val="1F2937"/>
                </a:solidFill>
                <a:effectLst/>
                <a:uFillTx/>
                <a:latin typeface="BIZ UDPゴシック"/>
                <a:ea typeface="BIZ UDPゴシック"/>
              </a:rPr>
              <a:t>(A) </a:t>
            </a:r>
            <a:r>
              <a:rPr lang="ja-JP" sz="1200" b="0" u="none" strike="noStrike">
                <a:solidFill>
                  <a:srgbClr val="1F2937"/>
                </a:solidFill>
                <a:effectLst/>
                <a:uFillTx/>
                <a:latin typeface="BIZ UDPゴシック"/>
                <a:ea typeface="BIZ UDPゴシック"/>
              </a:rPr>
              <a:t>を</a:t>
            </a:r>
            <a:r>
              <a:rPr lang="en-US" sz="1200" b="0" u="none" strike="noStrike">
                <a:solidFill>
                  <a:srgbClr val="1F2937"/>
                </a:solidFill>
                <a:effectLst/>
                <a:uFillTx/>
                <a:latin typeface="BIZ UDPゴシック"/>
                <a:ea typeface="BIZ UDPゴシック"/>
              </a:rPr>
              <a:t>1</a:t>
            </a:r>
            <a:r>
              <a:rPr lang="ja-JP" sz="1200" b="0" u="none" strike="noStrike">
                <a:solidFill>
                  <a:srgbClr val="1F2937"/>
                </a:solidFill>
                <a:effectLst/>
                <a:uFillTx/>
                <a:latin typeface="BIZ UDPゴシック"/>
                <a:ea typeface="BIZ UDPゴシック"/>
              </a:rPr>
              <a:t>つだけ置き、意思決定の所在を明確にする。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9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9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69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69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9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97"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98"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69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0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0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0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70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3.4 </a:t>
            </a:r>
            <a:r>
              <a:rPr lang="ja-JP" sz="2400" b="1" u="none" strike="noStrike">
                <a:solidFill>
                  <a:srgbClr val="16213E"/>
                </a:solidFill>
                <a:effectLst/>
                <a:uFillTx/>
                <a:latin typeface="BIZ UDPゴシック"/>
                <a:ea typeface="BIZ UDPゴシック"/>
              </a:rPr>
              <a:t>役割と責任 ─ 役割と責務</a:t>
            </a:r>
            <a:endParaRPr lang="en-US" sz="2400" b="0" u="none" strike="noStrike">
              <a:solidFill>
                <a:srgbClr val="000000"/>
              </a:solidFill>
              <a:effectLst/>
              <a:uFillTx/>
              <a:latin typeface="Arial"/>
            </a:endParaRPr>
          </a:p>
        </p:txBody>
      </p:sp>
      <p:sp>
        <p:nvSpPr>
          <p:cNvPr id="170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705" name="hdr-hair"/>
          <p:cNvCxnSpPr/>
          <p:nvPr/>
        </p:nvCxnSpPr>
        <p:spPr>
          <a:xfrm>
            <a:off x="502920" y="969120"/>
            <a:ext cx="11186280" cy="720"/>
          </a:xfrm>
          <a:prstGeom prst="straightConnector1">
            <a:avLst/>
          </a:prstGeom>
          <a:ln w="9525">
            <a:solidFill>
              <a:srgbClr val="D5DBE5"/>
            </a:solidFill>
            <a:round/>
          </a:ln>
        </p:spPr>
      </p:cxnSp>
      <p:cxnSp>
        <p:nvCxnSpPr>
          <p:cNvPr id="1706" name="ftr-hair"/>
          <p:cNvCxnSpPr/>
          <p:nvPr/>
        </p:nvCxnSpPr>
        <p:spPr>
          <a:xfrm>
            <a:off x="502920" y="6382440"/>
            <a:ext cx="11186280" cy="720"/>
          </a:xfrm>
          <a:prstGeom prst="straightConnector1">
            <a:avLst/>
          </a:prstGeom>
          <a:ln w="9525">
            <a:solidFill>
              <a:srgbClr val="D5DBE5"/>
            </a:solidFill>
            <a:round/>
          </a:ln>
        </p:spPr>
      </p:cxnSp>
      <p:sp>
        <p:nvSpPr>
          <p:cNvPr id="170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46 / 85</a:t>
            </a:r>
            <a:endParaRPr lang="en-US" sz="1100" b="0" u="none" strike="noStrike">
              <a:solidFill>
                <a:srgbClr val="000000"/>
              </a:solidFill>
              <a:effectLst/>
              <a:uFillTx/>
              <a:latin typeface="Arial"/>
            </a:endParaRPr>
          </a:p>
        </p:txBody>
      </p:sp>
      <p:sp>
        <p:nvSpPr>
          <p:cNvPr id="170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70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71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71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役割ごとの責任範囲を明確に定義する</a:t>
            </a:r>
            <a:endParaRPr lang="en-US" sz="1500" b="0" u="none" strike="noStrike">
              <a:solidFill>
                <a:srgbClr val="000000"/>
              </a:solidFill>
              <a:effectLst/>
              <a:uFillTx/>
              <a:latin typeface="Arial"/>
            </a:endParaRPr>
          </a:p>
        </p:txBody>
      </p:sp>
      <p:graphicFrame>
        <p:nvGraphicFramePr>
          <p:cNvPr id="1714" name="blk-table"/>
          <p:cNvGraphicFramePr/>
          <p:nvPr/>
        </p:nvGraphicFramePr>
        <p:xfrm>
          <a:off x="502920" y="1627560"/>
          <a:ext cx="11184840" cy="4626000"/>
        </p:xfrm>
        <a:graphic>
          <a:graphicData uri="http://schemas.openxmlformats.org/drawingml/2006/table">
            <a:tbl>
              <a:tblPr/>
              <a:tblGrid>
                <a:gridCol w="2460600"/>
                <a:gridCol w="1342080"/>
                <a:gridCol w="73825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役割</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区分</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責任・担当範囲</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プロジェクトオーナー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プロジェクトの最終責任と予算承認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最上位の意思決定機関として重要課題と重大変更を承認する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変更管理委員会 </a:t>
                      </a:r>
                      <a:r>
                        <a:rPr lang="en-US" sz="1100" b="0" u="none" strike="noStrike">
                          <a:solidFill>
                            <a:srgbClr val="1F2937"/>
                          </a:solidFill>
                          <a:effectLst/>
                          <a:uFillTx/>
                          <a:latin typeface="BIZ UDPゴシック"/>
                          <a:ea typeface="BIZ UDPゴシック"/>
                        </a:rPr>
                        <a:t>(CCB)</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中区分の変更要求を承認し、日程と費用への影響を判断する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経理部長として業務改革推進部を兼務し事務局を指揮して、業務要件の提示と受入判定を統括する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業務改革推進部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プロジェクト事務局として計画・連絡・課題・変更の実務を担う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が兼務して指揮</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経費精算要件の提示と運用設計への参画</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情報システム部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基幹システム連携とセキュリティ要件の提示</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統括責任者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契約と品質の最終責任</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計画・進捗・品質・リスク・コストの統括</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業務コンサルタント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現状分析、</a:t>
                      </a:r>
                      <a:r>
                        <a:rPr lang="en-US" sz="1100" b="0" u="none" strike="noStrike">
                          <a:solidFill>
                            <a:srgbClr val="1F2937"/>
                          </a:solidFill>
                          <a:effectLst/>
                          <a:uFillTx/>
                          <a:latin typeface="BIZ UDPゴシック"/>
                          <a:ea typeface="BIZ UDPゴシック"/>
                        </a:rPr>
                        <a:t>To-Be</a:t>
                      </a:r>
                      <a:r>
                        <a:rPr lang="ja-JP" sz="1100" b="0" u="none" strike="noStrike">
                          <a:solidFill>
                            <a:srgbClr val="1F2937"/>
                          </a:solidFill>
                          <a:effectLst/>
                          <a:uFillTx/>
                          <a:latin typeface="BIZ UDPゴシック"/>
                          <a:ea typeface="BIZ UDPゴシック"/>
                        </a:rPr>
                        <a:t>業務設計、要件定義</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導入エンジニア</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サービス設定、連携開発、移行、テスト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69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研修・定着化と変更の実務を推進する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配下</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69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QA</a:t>
                      </a:r>
                      <a:r>
                        <a:rPr lang="ja-JP" sz="1100" b="0" u="none" strike="noStrike">
                          <a:solidFill>
                            <a:srgbClr val="1F2937"/>
                          </a:solidFill>
                          <a:effectLst/>
                          <a:uFillTx/>
                          <a:latin typeface="BIZ UDPゴシック"/>
                          <a:ea typeface="BIZ UDPゴシック"/>
                        </a:rPr>
                        <a:t>責任者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成果物を独立にレビューし品質を保証する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71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03</a:t>
            </a:r>
            <a:endParaRPr lang="en-US" sz="1500" b="0" u="none" strike="noStrike">
              <a:solidFill>
                <a:srgbClr val="FFFFFF"/>
              </a:solidFill>
              <a:effectLst/>
              <a:uFillTx/>
              <a:latin typeface="Arial"/>
            </a:endParaRPr>
          </a:p>
        </p:txBody>
      </p:sp>
      <p:sp>
        <p:nvSpPr>
          <p:cNvPr id="171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体制</a:t>
            </a:r>
            <a:endParaRPr lang="en-US" sz="1100" b="0" u="none" strike="noStrike">
              <a:solidFill>
                <a:srgbClr val="000000"/>
              </a:solidFill>
              <a:effectLst/>
              <a:uFillTx/>
              <a:latin typeface="Arial"/>
            </a:endParaRPr>
          </a:p>
        </p:txBody>
      </p:sp>
      <p:sp>
        <p:nvSpPr>
          <p:cNvPr id="1719"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0"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1" name="hdr-bar"/>
          <p:cNvSpPr/>
          <p:nvPr/>
        </p:nvSpPr>
        <p:spPr>
          <a:xfrm>
            <a:off x="1050012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2" name="hdr-bar"/>
          <p:cNvSpPr/>
          <p:nvPr/>
        </p:nvSpPr>
        <p:spPr>
          <a:xfrm>
            <a:off x="107470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2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72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3.5 </a:t>
            </a:r>
            <a:r>
              <a:rPr lang="ja-JP" sz="2400" b="1" u="none" strike="noStrike">
                <a:solidFill>
                  <a:srgbClr val="16213E"/>
                </a:solidFill>
                <a:effectLst/>
                <a:uFillTx/>
                <a:latin typeface="BIZ UDPゴシック"/>
                <a:ea typeface="BIZ UDPゴシック"/>
              </a:rPr>
              <a:t>ステークホルダー</a:t>
            </a:r>
            <a:endParaRPr lang="en-US" sz="2400" b="0" u="none" strike="noStrike">
              <a:solidFill>
                <a:srgbClr val="000000"/>
              </a:solidFill>
              <a:effectLst/>
              <a:uFillTx/>
              <a:latin typeface="Arial"/>
            </a:endParaRPr>
          </a:p>
        </p:txBody>
      </p:sp>
      <p:sp>
        <p:nvSpPr>
          <p:cNvPr id="172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729" name="hdr-hair"/>
          <p:cNvCxnSpPr/>
          <p:nvPr/>
        </p:nvCxnSpPr>
        <p:spPr>
          <a:xfrm>
            <a:off x="502920" y="969120"/>
            <a:ext cx="11186280" cy="720"/>
          </a:xfrm>
          <a:prstGeom prst="straightConnector1">
            <a:avLst/>
          </a:prstGeom>
          <a:ln w="9525">
            <a:solidFill>
              <a:srgbClr val="D5DBE5"/>
            </a:solidFill>
            <a:round/>
          </a:ln>
        </p:spPr>
      </p:cxnSp>
      <p:cxnSp>
        <p:nvCxnSpPr>
          <p:cNvPr id="1730" name="ftr-hair"/>
          <p:cNvCxnSpPr/>
          <p:nvPr/>
        </p:nvCxnSpPr>
        <p:spPr>
          <a:xfrm>
            <a:off x="502920" y="6382440"/>
            <a:ext cx="11186280" cy="720"/>
          </a:xfrm>
          <a:prstGeom prst="straightConnector1">
            <a:avLst/>
          </a:prstGeom>
          <a:ln w="9525">
            <a:solidFill>
              <a:srgbClr val="D5DBE5"/>
            </a:solidFill>
            <a:round/>
          </a:ln>
        </p:spPr>
      </p:cxnSp>
      <p:sp>
        <p:nvSpPr>
          <p:cNvPr id="173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47 / 85</a:t>
            </a:r>
            <a:endParaRPr lang="en-US" sz="1100" b="0" u="none" strike="noStrike">
              <a:solidFill>
                <a:srgbClr val="000000"/>
              </a:solidFill>
              <a:effectLst/>
              <a:uFillTx/>
              <a:latin typeface="Arial"/>
            </a:endParaRPr>
          </a:p>
        </p:txBody>
      </p:sp>
      <p:sp>
        <p:nvSpPr>
          <p:cNvPr id="173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73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73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73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関係者の関心と関与度に応じた対応方針を定める</a:t>
            </a:r>
            <a:endParaRPr lang="en-US" sz="1500" b="0" u="none" strike="noStrike">
              <a:solidFill>
                <a:srgbClr val="000000"/>
              </a:solidFill>
              <a:effectLst/>
              <a:uFillTx/>
              <a:latin typeface="Arial"/>
            </a:endParaRPr>
          </a:p>
        </p:txBody>
      </p:sp>
      <p:graphicFrame>
        <p:nvGraphicFramePr>
          <p:cNvPr id="1738" name="blk-table"/>
          <p:cNvGraphicFramePr/>
          <p:nvPr/>
        </p:nvGraphicFramePr>
        <p:xfrm>
          <a:off x="502920" y="1627560"/>
          <a:ext cx="11184840" cy="2931840"/>
        </p:xfrm>
        <a:graphic>
          <a:graphicData uri="http://schemas.openxmlformats.org/drawingml/2006/table">
            <a:tbl>
              <a:tblPr/>
              <a:tblGrid>
                <a:gridCol w="2237040"/>
                <a:gridCol w="3355560"/>
                <a:gridCol w="1342080"/>
                <a:gridCol w="42505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ステークホルダー</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関心事</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関与度</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対応方針</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プロジェクトオーナー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投資効果と予算</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高</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月次のステアリングコミッティで報告する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業務負荷と内部統制</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高</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業務検討ワーキングで継続参画する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情報システム部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システム連携とセキュリティ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高</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技術検討ワーキングで検討する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各事業部門</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使いやすさと業務負荷</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研修とフィードバック収集を行う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監査部門</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内部統制の適合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統制要件を事前に確認する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経営層</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改革効果の可視化</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四半期ごとに効果を報告する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申請・承認の使い勝手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高</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全社周知と利用ガイドを配布する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9"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0"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1"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2"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3"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1744"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04</a:t>
            </a:r>
            <a:endParaRPr lang="en-US" sz="9600" b="0" u="none" strike="noStrike">
              <a:solidFill>
                <a:srgbClr val="000000"/>
              </a:solidFill>
              <a:effectLst/>
              <a:uFillTx/>
              <a:latin typeface="Arial"/>
            </a:endParaRPr>
          </a:p>
        </p:txBody>
      </p:sp>
      <p:sp>
        <p:nvSpPr>
          <p:cNvPr id="1745"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コミュニケーション計画</a:t>
            </a:r>
            <a:endParaRPr lang="en-US" sz="4000" b="0" u="none" strike="noStrike">
              <a:solidFill>
                <a:srgbClr val="000000"/>
              </a:solidFill>
              <a:effectLst/>
              <a:uFillTx/>
              <a:latin typeface="Arial"/>
            </a:endParaRPr>
          </a:p>
        </p:txBody>
      </p:sp>
      <p:sp>
        <p:nvSpPr>
          <p:cNvPr id="1746" name="dv-dot-4.1"/>
          <p:cNvSpPr/>
          <p:nvPr/>
        </p:nvSpPr>
        <p:spPr>
          <a:xfrm>
            <a:off x="896040" y="411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747" name="dv-sec-4.1"/>
          <p:cNvSpPr/>
          <p:nvPr/>
        </p:nvSpPr>
        <p:spPr>
          <a:xfrm>
            <a:off x="1097280" y="404172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4.1  </a:t>
            </a:r>
            <a:r>
              <a:rPr lang="ja-JP" sz="1300" b="0" u="none" strike="noStrike">
                <a:solidFill>
                  <a:srgbClr val="D2E1FC"/>
                </a:solidFill>
                <a:effectLst/>
                <a:uFillTx/>
                <a:latin typeface="BIZ UDPゴシック"/>
                <a:ea typeface="BIZ UDPゴシック"/>
              </a:rPr>
              <a:t>会議体</a:t>
            </a:r>
            <a:endParaRPr lang="en-US" sz="1300" b="0" u="none" strike="noStrike">
              <a:solidFill>
                <a:srgbClr val="000000"/>
              </a:solidFill>
              <a:effectLst/>
              <a:uFillTx/>
              <a:latin typeface="Arial"/>
            </a:endParaRPr>
          </a:p>
        </p:txBody>
      </p:sp>
      <p:sp>
        <p:nvSpPr>
          <p:cNvPr id="1748" name="dv-dot-4.2"/>
          <p:cNvSpPr/>
          <p:nvPr/>
        </p:nvSpPr>
        <p:spPr>
          <a:xfrm>
            <a:off x="896040" y="43347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749" name="dv-sec-4.2"/>
          <p:cNvSpPr/>
          <p:nvPr/>
        </p:nvSpPr>
        <p:spPr>
          <a:xfrm>
            <a:off x="1097280" y="426456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4.2  </a:t>
            </a:r>
            <a:r>
              <a:rPr lang="ja-JP" sz="1300" b="0" u="none" strike="noStrike">
                <a:solidFill>
                  <a:srgbClr val="D2E1FC"/>
                </a:solidFill>
                <a:effectLst/>
                <a:uFillTx/>
                <a:latin typeface="BIZ UDPゴシック"/>
                <a:ea typeface="BIZ UDPゴシック"/>
              </a:rPr>
              <a:t>会議体 </a:t>
            </a:r>
            <a:r>
              <a:rPr lang="en-US" sz="1300" b="0" u="none" strike="noStrike">
                <a:solidFill>
                  <a:srgbClr val="D2E1FC"/>
                </a:solidFill>
                <a:effectLst/>
                <a:uFillTx/>
                <a:latin typeface="BIZ UDPゴシック"/>
                <a:ea typeface="BIZ UDPゴシック"/>
              </a:rPr>
              <a:t>(</a:t>
            </a:r>
            <a:r>
              <a:rPr lang="ja-JP" sz="1300" b="0" u="none" strike="noStrike">
                <a:solidFill>
                  <a:srgbClr val="D2E1FC"/>
                </a:solidFill>
                <a:effectLst/>
                <a:uFillTx/>
                <a:latin typeface="BIZ UDPゴシック"/>
                <a:ea typeface="BIZ UDPゴシック"/>
              </a:rPr>
              <a:t>チーム内部</a:t>
            </a:r>
            <a:r>
              <a:rPr lang="en-US" sz="1300" b="0" u="none" strike="noStrike">
                <a:solidFill>
                  <a:srgbClr val="D2E1FC"/>
                </a:solidFill>
                <a:effectLst/>
                <a:uFillTx/>
                <a:latin typeface="BIZ UDPゴシック"/>
                <a:ea typeface="BIZ UDPゴシック"/>
              </a:rPr>
              <a:t>)</a:t>
            </a:r>
            <a:endParaRPr lang="en-US" sz="1300" b="0" u="none" strike="noStrike">
              <a:solidFill>
                <a:srgbClr val="000000"/>
              </a:solidFill>
              <a:effectLst/>
              <a:uFillTx/>
              <a:latin typeface="Arial"/>
            </a:endParaRPr>
          </a:p>
        </p:txBody>
      </p:sp>
      <p:sp>
        <p:nvSpPr>
          <p:cNvPr id="1750" name="dv-dot-4.3"/>
          <p:cNvSpPr/>
          <p:nvPr/>
        </p:nvSpPr>
        <p:spPr>
          <a:xfrm>
            <a:off x="896040" y="45576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751" name="dv-sec-4.3"/>
          <p:cNvSpPr/>
          <p:nvPr/>
        </p:nvSpPr>
        <p:spPr>
          <a:xfrm>
            <a:off x="1097280" y="448740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4.3  </a:t>
            </a:r>
            <a:r>
              <a:rPr lang="ja-JP" sz="1300" b="0" u="none" strike="noStrike">
                <a:solidFill>
                  <a:srgbClr val="D2E1FC"/>
                </a:solidFill>
                <a:effectLst/>
                <a:uFillTx/>
                <a:latin typeface="BIZ UDPゴシック"/>
                <a:ea typeface="BIZ UDPゴシック"/>
              </a:rPr>
              <a:t>会議招集・議事録</a:t>
            </a:r>
            <a:endParaRPr lang="en-US" sz="1300" b="0" u="none" strike="noStrike">
              <a:solidFill>
                <a:srgbClr val="000000"/>
              </a:solidFill>
              <a:effectLst/>
              <a:uFillTx/>
              <a:latin typeface="Arial"/>
            </a:endParaRPr>
          </a:p>
        </p:txBody>
      </p:sp>
      <p:sp>
        <p:nvSpPr>
          <p:cNvPr id="1752" name="dv-dot-4.4"/>
          <p:cNvSpPr/>
          <p:nvPr/>
        </p:nvSpPr>
        <p:spPr>
          <a:xfrm>
            <a:off x="896040" y="478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753" name="dv-sec-4.4"/>
          <p:cNvSpPr/>
          <p:nvPr/>
        </p:nvSpPr>
        <p:spPr>
          <a:xfrm>
            <a:off x="1097280" y="471024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4.4  </a:t>
            </a:r>
            <a:r>
              <a:rPr lang="ja-JP" sz="1300" b="0" u="none" strike="noStrike">
                <a:solidFill>
                  <a:srgbClr val="D2E1FC"/>
                </a:solidFill>
                <a:effectLst/>
                <a:uFillTx/>
                <a:latin typeface="BIZ UDPゴシック"/>
                <a:ea typeface="BIZ UDPゴシック"/>
              </a:rPr>
              <a:t>進捗報告とエスカレーション</a:t>
            </a:r>
            <a:endParaRPr lang="en-US" sz="1300" b="0" u="none" strike="noStrike">
              <a:solidFill>
                <a:srgbClr val="000000"/>
              </a:solidFill>
              <a:effectLst/>
              <a:uFillTx/>
              <a:latin typeface="Arial"/>
            </a:endParaRPr>
          </a:p>
        </p:txBody>
      </p:sp>
      <p:sp>
        <p:nvSpPr>
          <p:cNvPr id="1754" name="dv-dot-4.5"/>
          <p:cNvSpPr/>
          <p:nvPr/>
        </p:nvSpPr>
        <p:spPr>
          <a:xfrm>
            <a:off x="896040" y="50036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755" name="dv-sec-4.5"/>
          <p:cNvSpPr/>
          <p:nvPr/>
        </p:nvSpPr>
        <p:spPr>
          <a:xfrm>
            <a:off x="1097280" y="493308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4.5  </a:t>
            </a:r>
            <a:r>
              <a:rPr lang="ja-JP" sz="1300" b="0" u="none" strike="noStrike">
                <a:solidFill>
                  <a:srgbClr val="D2E1FC"/>
                </a:solidFill>
                <a:effectLst/>
                <a:uFillTx/>
                <a:latin typeface="BIZ UDPゴシック"/>
                <a:ea typeface="BIZ UDPゴシック"/>
              </a:rPr>
              <a:t>連絡手段 </a:t>
            </a:r>
            <a:r>
              <a:rPr lang="en-US" sz="1300" b="0" u="none" strike="noStrike">
                <a:solidFill>
                  <a:srgbClr val="D2E1FC"/>
                </a:solidFill>
                <a:effectLst/>
                <a:uFillTx/>
                <a:latin typeface="BIZ UDPゴシック"/>
                <a:ea typeface="BIZ UDPゴシック"/>
              </a:rPr>
              <a:t>(</a:t>
            </a:r>
            <a:r>
              <a:rPr lang="ja-JP" sz="1300" b="0" u="none" strike="noStrike">
                <a:solidFill>
                  <a:srgbClr val="D2E1FC"/>
                </a:solidFill>
                <a:effectLst/>
                <a:uFillTx/>
                <a:latin typeface="BIZ UDPゴシック"/>
                <a:ea typeface="BIZ UDPゴシック"/>
              </a:rPr>
              <a:t>メール・チャット等</a:t>
            </a:r>
            <a:r>
              <a:rPr lang="en-US" sz="1300" b="0" u="none" strike="noStrike">
                <a:solidFill>
                  <a:srgbClr val="D2E1FC"/>
                </a:solidFill>
                <a:effectLst/>
                <a:uFillTx/>
                <a:latin typeface="BIZ UDPゴシック"/>
                <a:ea typeface="BIZ UDPゴシック"/>
              </a:rPr>
              <a:t>)</a:t>
            </a:r>
            <a:endParaRPr lang="en-US" sz="1300" b="0" u="none" strike="noStrike">
              <a:solidFill>
                <a:srgbClr val="000000"/>
              </a:solidFill>
              <a:effectLst/>
              <a:uFillTx/>
              <a:latin typeface="Arial"/>
            </a:endParaRPr>
          </a:p>
        </p:txBody>
      </p:sp>
      <p:sp>
        <p:nvSpPr>
          <p:cNvPr id="1756"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48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5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75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04</a:t>
            </a:r>
            <a:endParaRPr lang="en-US" sz="1500" b="0" u="none" strike="noStrike">
              <a:solidFill>
                <a:srgbClr val="FFFFFF"/>
              </a:solidFill>
              <a:effectLst/>
              <a:uFillTx/>
              <a:latin typeface="Arial"/>
            </a:endParaRPr>
          </a:p>
        </p:txBody>
      </p:sp>
      <p:sp>
        <p:nvSpPr>
          <p:cNvPr id="176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コミュニケーション計画</a:t>
            </a:r>
            <a:endParaRPr lang="en-US" sz="1100" b="0" u="none" strike="noStrike">
              <a:solidFill>
                <a:srgbClr val="000000"/>
              </a:solidFill>
              <a:effectLst/>
              <a:uFillTx/>
              <a:latin typeface="Arial"/>
            </a:endParaRPr>
          </a:p>
        </p:txBody>
      </p:sp>
      <p:sp>
        <p:nvSpPr>
          <p:cNvPr id="176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3"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4" name="hdr-bar"/>
          <p:cNvSpPr/>
          <p:nvPr/>
        </p:nvSpPr>
        <p:spPr>
          <a:xfrm>
            <a:off x="107470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5"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6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76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4.1 </a:t>
            </a:r>
            <a:r>
              <a:rPr lang="ja-JP" sz="2400" b="1" u="none" strike="noStrike">
                <a:solidFill>
                  <a:srgbClr val="16213E"/>
                </a:solidFill>
                <a:effectLst/>
                <a:uFillTx/>
                <a:latin typeface="BIZ UDPゴシック"/>
                <a:ea typeface="BIZ UDPゴシック"/>
              </a:rPr>
              <a:t>会議体</a:t>
            </a:r>
            <a:endParaRPr lang="en-US" sz="2400" b="0" u="none" strike="noStrike">
              <a:solidFill>
                <a:srgbClr val="000000"/>
              </a:solidFill>
              <a:effectLst/>
              <a:uFillTx/>
              <a:latin typeface="Arial"/>
            </a:endParaRPr>
          </a:p>
        </p:txBody>
      </p:sp>
      <p:sp>
        <p:nvSpPr>
          <p:cNvPr id="177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771" name="hdr-hair"/>
          <p:cNvCxnSpPr/>
          <p:nvPr/>
        </p:nvCxnSpPr>
        <p:spPr>
          <a:xfrm>
            <a:off x="502920" y="969120"/>
            <a:ext cx="11186280" cy="720"/>
          </a:xfrm>
          <a:prstGeom prst="straightConnector1">
            <a:avLst/>
          </a:prstGeom>
          <a:ln w="9525">
            <a:solidFill>
              <a:srgbClr val="D5DBE5"/>
            </a:solidFill>
            <a:round/>
          </a:ln>
        </p:spPr>
      </p:cxnSp>
      <p:cxnSp>
        <p:nvCxnSpPr>
          <p:cNvPr id="1772" name="ftr-hair"/>
          <p:cNvCxnSpPr/>
          <p:nvPr/>
        </p:nvCxnSpPr>
        <p:spPr>
          <a:xfrm>
            <a:off x="502920" y="6382440"/>
            <a:ext cx="11186280" cy="720"/>
          </a:xfrm>
          <a:prstGeom prst="straightConnector1">
            <a:avLst/>
          </a:prstGeom>
          <a:ln w="9525">
            <a:solidFill>
              <a:srgbClr val="D5DBE5"/>
            </a:solidFill>
            <a:round/>
          </a:ln>
        </p:spPr>
      </p:cxnSp>
      <p:sp>
        <p:nvSpPr>
          <p:cNvPr id="177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49 / 85</a:t>
            </a:r>
            <a:endParaRPr lang="en-US" sz="1100" b="0" u="none" strike="noStrike">
              <a:solidFill>
                <a:srgbClr val="000000"/>
              </a:solidFill>
              <a:effectLst/>
              <a:uFillTx/>
              <a:latin typeface="Arial"/>
            </a:endParaRPr>
          </a:p>
        </p:txBody>
      </p:sp>
      <p:sp>
        <p:nvSpPr>
          <p:cNvPr id="177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77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77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77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7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7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会議体ごとに目的・頻度・参加者・決定事項を定める</a:t>
            </a:r>
            <a:endParaRPr lang="en-US" sz="1500" b="0" u="none" strike="noStrike">
              <a:solidFill>
                <a:srgbClr val="000000"/>
              </a:solidFill>
              <a:effectLst/>
              <a:uFillTx/>
              <a:latin typeface="Arial"/>
            </a:endParaRPr>
          </a:p>
        </p:txBody>
      </p:sp>
      <p:graphicFrame>
        <p:nvGraphicFramePr>
          <p:cNvPr id="1780" name="blk-table"/>
          <p:cNvGraphicFramePr/>
          <p:nvPr/>
        </p:nvGraphicFramePr>
        <p:xfrm>
          <a:off x="502920" y="1627560"/>
          <a:ext cx="11184840" cy="2834640"/>
        </p:xfrm>
        <a:graphic>
          <a:graphicData uri="http://schemas.openxmlformats.org/drawingml/2006/table">
            <a:tbl>
              <a:tblPr/>
              <a:tblGrid>
                <a:gridCol w="1789560"/>
                <a:gridCol w="2460600"/>
                <a:gridCol w="1118520"/>
                <a:gridCol w="1566000"/>
                <a:gridCol w="2684520"/>
                <a:gridCol w="156600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会議体</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目的</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頻度</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主催</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参加者 </a:t>
                      </a:r>
                      <a:r>
                        <a:rPr lang="en-US" sz="1100" b="1" u="none" strike="noStrike">
                          <a:solidFill>
                            <a:srgbClr val="FFFFFF"/>
                          </a:solidFill>
                          <a:effectLst/>
                          <a:uFillTx/>
                          <a:latin typeface="BIZ UDPゴシック"/>
                          <a:ea typeface="BIZ UDPゴシック"/>
                        </a:rPr>
                        <a:t>(</a:t>
                      </a:r>
                      <a:r>
                        <a:rPr lang="ja-JP" sz="1100" b="1" u="none" strike="noStrike">
                          <a:solidFill>
                            <a:srgbClr val="FFFFFF"/>
                          </a:solidFill>
                          <a:effectLst/>
                          <a:uFillTx/>
                          <a:latin typeface="BIZ UDPゴシック"/>
                          <a:ea typeface="BIZ UDPゴシック"/>
                        </a:rPr>
                        <a:t>役割</a:t>
                      </a:r>
                      <a:r>
                        <a:rPr lang="en-US" sz="1100" b="1" u="none" strike="noStrike">
                          <a:solidFill>
                            <a:srgbClr val="FFFFFF"/>
                          </a:solidFill>
                          <a:effectLst/>
                          <a:uFillTx/>
                          <a:latin typeface="BIZ UDPゴシック"/>
                          <a:ea typeface="BIZ UDPゴシック"/>
                        </a:rPr>
                        <a:t>)</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決定・協議事項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重要課題と重大変更の意思決定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プロジェクトオーナー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プロジェクトオーナー、貴社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、業務改革推進部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方針・予算・重大変更の承認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変更管理委員会 </a:t>
                      </a:r>
                      <a:r>
                        <a:rPr lang="en-US" sz="1100" b="0" u="none" strike="noStrike">
                          <a:solidFill>
                            <a:srgbClr val="1F2937"/>
                          </a:solidFill>
                          <a:effectLst/>
                          <a:uFillTx/>
                          <a:latin typeface="BIZ UDPゴシック"/>
                          <a:ea typeface="BIZ UDPゴシック"/>
                        </a:rPr>
                        <a:t>(CCB)</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中区分の変更要求の可否判定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随時 </a:t>
                      </a:r>
                      <a:r>
                        <a:rPr lang="en-US" sz="1100" b="0" u="none" strike="noStrike">
                          <a:solidFill>
                            <a:srgbClr val="1F2937"/>
                          </a:solidFill>
                          <a:effectLst/>
                          <a:uFillTx/>
                          <a:latin typeface="BIZ UDPゴシック"/>
                          <a:ea typeface="BIZ UDPゴシック"/>
                        </a:rPr>
                        <a:t>(</a:t>
                      </a:r>
                      <a:r>
                        <a:rPr lang="ja-JP" sz="1100" b="0" u="none" strike="noStrike">
                          <a:solidFill>
                            <a:srgbClr val="1F2937"/>
                          </a:solidFill>
                          <a:effectLst/>
                          <a:uFillTx/>
                          <a:latin typeface="BIZ UDPゴシック"/>
                          <a:ea typeface="BIZ UDPゴシック"/>
                        </a:rPr>
                        <a:t>必要時</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、業務改革推進部、変更管理リード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中区分の変更の承認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プロジェクト定例会議</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進捗と課題の共有・対応</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貴社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業務改革推進部、経理部、情報システム部、貴社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進捗確認と課題の割当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業務検討ワーキング</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業務要件と運用の検討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隔週</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経理部、業務改革推進部、業務コンサルタント、変更管理リード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業務要件と運用設計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技術検討ワーキング</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連携とセキュリティの検討</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隔週</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情報システム部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情報システム部、導入エンジニア、当社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連携方式と非機能要件</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定着化モニタリング会議</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定着化</a:t>
                      </a:r>
                      <a:r>
                        <a:rPr lang="en-US" sz="1100" b="0" u="none" strike="noStrike">
                          <a:solidFill>
                            <a:srgbClr val="1F2937"/>
                          </a:solidFill>
                          <a:effectLst/>
                          <a:uFillTx/>
                          <a:latin typeface="BIZ UDPゴシック"/>
                          <a:ea typeface="BIZ UDPゴシック"/>
                        </a:rPr>
                        <a:t>KPI</a:t>
                      </a:r>
                      <a:r>
                        <a:rPr lang="ja-JP" sz="1100" b="0" u="none" strike="noStrike">
                          <a:solidFill>
                            <a:srgbClr val="1F2937"/>
                          </a:solidFill>
                          <a:effectLst/>
                          <a:uFillTx/>
                          <a:latin typeface="BIZ UDPゴシック"/>
                          <a:ea typeface="BIZ UDPゴシック"/>
                        </a:rPr>
                        <a:t>の確認と改善</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経理部、変更管理リード、各事業部リーダー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運用改善の実施</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8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78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04</a:t>
            </a:r>
            <a:endParaRPr lang="en-US" sz="1500" b="0" u="none" strike="noStrike">
              <a:solidFill>
                <a:srgbClr val="FFFFFF"/>
              </a:solidFill>
              <a:effectLst/>
              <a:uFillTx/>
              <a:latin typeface="Arial"/>
            </a:endParaRPr>
          </a:p>
        </p:txBody>
      </p:sp>
      <p:sp>
        <p:nvSpPr>
          <p:cNvPr id="178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コミュニケーション計画</a:t>
            </a:r>
            <a:endParaRPr lang="en-US" sz="1100" b="0" u="none" strike="noStrike">
              <a:solidFill>
                <a:srgbClr val="000000"/>
              </a:solidFill>
              <a:effectLst/>
              <a:uFillTx/>
              <a:latin typeface="Arial"/>
            </a:endParaRPr>
          </a:p>
        </p:txBody>
      </p:sp>
      <p:sp>
        <p:nvSpPr>
          <p:cNvPr id="178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8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87"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88" name="hdr-bar"/>
          <p:cNvSpPr/>
          <p:nvPr/>
        </p:nvSpPr>
        <p:spPr>
          <a:xfrm>
            <a:off x="107470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8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9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9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79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79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4.2 </a:t>
            </a:r>
            <a:r>
              <a:rPr lang="ja-JP" sz="2400" b="1" u="none" strike="noStrike">
                <a:solidFill>
                  <a:srgbClr val="16213E"/>
                </a:solidFill>
                <a:effectLst/>
                <a:uFillTx/>
                <a:latin typeface="BIZ UDPゴシック"/>
                <a:ea typeface="BIZ UDPゴシック"/>
              </a:rPr>
              <a:t>会議体 </a:t>
            </a:r>
            <a:r>
              <a:rPr lang="en-US" sz="2400" b="1" u="none" strike="noStrike">
                <a:solidFill>
                  <a:srgbClr val="16213E"/>
                </a:solidFill>
                <a:effectLst/>
                <a:uFillTx/>
                <a:latin typeface="BIZ UDPゴシック"/>
                <a:ea typeface="BIZ UDPゴシック"/>
              </a:rPr>
              <a:t>(</a:t>
            </a:r>
            <a:r>
              <a:rPr lang="ja-JP" sz="2400" b="1" u="none" strike="noStrike">
                <a:solidFill>
                  <a:srgbClr val="16213E"/>
                </a:solidFill>
                <a:effectLst/>
                <a:uFillTx/>
                <a:latin typeface="BIZ UDPゴシック"/>
                <a:ea typeface="BIZ UDPゴシック"/>
              </a:rPr>
              <a:t>チーム内部</a:t>
            </a:r>
            <a:r>
              <a:rPr lang="en-US" sz="2400" b="1" u="none" strike="noStrike">
                <a:solidFill>
                  <a:srgbClr val="16213E"/>
                </a:solidFill>
                <a:effectLst/>
                <a:uFillTx/>
                <a:latin typeface="BIZ UDPゴシック"/>
                <a:ea typeface="BIZ UDPゴシック"/>
              </a:rPr>
              <a:t>)</a:t>
            </a:r>
            <a:endParaRPr lang="en-US" sz="2400" b="0" u="none" strike="noStrike">
              <a:solidFill>
                <a:srgbClr val="000000"/>
              </a:solidFill>
              <a:effectLst/>
              <a:uFillTx/>
              <a:latin typeface="Arial"/>
            </a:endParaRPr>
          </a:p>
        </p:txBody>
      </p:sp>
      <p:sp>
        <p:nvSpPr>
          <p:cNvPr id="179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795" name="hdr-hair"/>
          <p:cNvCxnSpPr/>
          <p:nvPr/>
        </p:nvCxnSpPr>
        <p:spPr>
          <a:xfrm>
            <a:off x="502920" y="969120"/>
            <a:ext cx="11186280" cy="720"/>
          </a:xfrm>
          <a:prstGeom prst="straightConnector1">
            <a:avLst/>
          </a:prstGeom>
          <a:ln w="9525">
            <a:solidFill>
              <a:srgbClr val="D5DBE5"/>
            </a:solidFill>
            <a:round/>
          </a:ln>
        </p:spPr>
      </p:cxnSp>
      <p:cxnSp>
        <p:nvCxnSpPr>
          <p:cNvPr id="1796" name="ftr-hair"/>
          <p:cNvCxnSpPr/>
          <p:nvPr/>
        </p:nvCxnSpPr>
        <p:spPr>
          <a:xfrm>
            <a:off x="502920" y="6382440"/>
            <a:ext cx="11186280" cy="720"/>
          </a:xfrm>
          <a:prstGeom prst="straightConnector1">
            <a:avLst/>
          </a:prstGeom>
          <a:ln w="9525">
            <a:solidFill>
              <a:srgbClr val="D5DBE5"/>
            </a:solidFill>
            <a:round/>
          </a:ln>
        </p:spPr>
      </p:cxnSp>
      <p:sp>
        <p:nvSpPr>
          <p:cNvPr id="179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50 / 85</a:t>
            </a:r>
            <a:endParaRPr lang="en-US" sz="1100" b="0" u="none" strike="noStrike">
              <a:solidFill>
                <a:srgbClr val="000000"/>
              </a:solidFill>
              <a:effectLst/>
              <a:uFillTx/>
              <a:latin typeface="Arial"/>
            </a:endParaRPr>
          </a:p>
        </p:txBody>
      </p:sp>
      <p:sp>
        <p:nvSpPr>
          <p:cNvPr id="179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79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80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80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チーム内部の会議で日次の実行と品質を管理する</a:t>
            </a:r>
            <a:endParaRPr lang="en-US" sz="1500" b="0" u="none" strike="noStrike">
              <a:solidFill>
                <a:srgbClr val="000000"/>
              </a:solidFill>
              <a:effectLst/>
              <a:uFillTx/>
              <a:latin typeface="Arial"/>
            </a:endParaRPr>
          </a:p>
        </p:txBody>
      </p:sp>
      <p:graphicFrame>
        <p:nvGraphicFramePr>
          <p:cNvPr id="1804" name="blk-table"/>
          <p:cNvGraphicFramePr/>
          <p:nvPr/>
        </p:nvGraphicFramePr>
        <p:xfrm>
          <a:off x="502920" y="1627560"/>
          <a:ext cx="11184840" cy="1396800"/>
        </p:xfrm>
        <a:graphic>
          <a:graphicData uri="http://schemas.openxmlformats.org/drawingml/2006/table">
            <a:tbl>
              <a:tblPr/>
              <a:tblGrid>
                <a:gridCol w="2237040"/>
                <a:gridCol w="2684520"/>
                <a:gridCol w="1342080"/>
                <a:gridCol w="3132000"/>
                <a:gridCol w="178956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会議体</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目的</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頻度</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参加者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決定事項</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当社チーム朝会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進捗と課題の日次共有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日次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当社全メンバー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当日の作業割当</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当社チーム週次会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週次の計画と品質確認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と各リード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週次計画と是正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品質レビュー会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QA</a:t>
                      </a:r>
                      <a:r>
                        <a:rPr lang="ja-JP" sz="1100" b="0" u="none" strike="noStrike">
                          <a:solidFill>
                            <a:srgbClr val="1F2937"/>
                          </a:solidFill>
                          <a:effectLst/>
                          <a:uFillTx/>
                          <a:latin typeface="BIZ UDPゴシック"/>
                          <a:ea typeface="BIZ UDPゴシック"/>
                        </a:rPr>
                        <a:t>観点での成果物確認</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隔週</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QA</a:t>
                      </a:r>
                      <a:r>
                        <a:rPr lang="ja-JP" sz="1100" b="0" u="none" strike="noStrike">
                          <a:solidFill>
                            <a:srgbClr val="1F2937"/>
                          </a:solidFill>
                          <a:effectLst/>
                          <a:uFillTx/>
                          <a:latin typeface="BIZ UDPゴシック"/>
                          <a:ea typeface="BIZ UDPゴシック"/>
                        </a:rPr>
                        <a:t>責任者と各リード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成果物の品質判定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80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04</a:t>
            </a:r>
            <a:endParaRPr lang="en-US" sz="1500" b="0" u="none" strike="noStrike">
              <a:solidFill>
                <a:srgbClr val="FFFFFF"/>
              </a:solidFill>
              <a:effectLst/>
              <a:uFillTx/>
              <a:latin typeface="Arial"/>
            </a:endParaRPr>
          </a:p>
        </p:txBody>
      </p:sp>
      <p:sp>
        <p:nvSpPr>
          <p:cNvPr id="180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コミュニケーション計画</a:t>
            </a:r>
            <a:endParaRPr lang="en-US" sz="1100" b="0" u="none" strike="noStrike">
              <a:solidFill>
                <a:srgbClr val="000000"/>
              </a:solidFill>
              <a:effectLst/>
              <a:uFillTx/>
              <a:latin typeface="Arial"/>
            </a:endParaRPr>
          </a:p>
        </p:txBody>
      </p:sp>
      <p:sp>
        <p:nvSpPr>
          <p:cNvPr id="1809"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0"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1"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2" name="hdr-bar"/>
          <p:cNvSpPr/>
          <p:nvPr/>
        </p:nvSpPr>
        <p:spPr>
          <a:xfrm>
            <a:off x="107470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1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81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4.3 </a:t>
            </a:r>
            <a:r>
              <a:rPr lang="ja-JP" sz="2400" b="1" u="none" strike="noStrike">
                <a:solidFill>
                  <a:srgbClr val="16213E"/>
                </a:solidFill>
                <a:effectLst/>
                <a:uFillTx/>
                <a:latin typeface="BIZ UDPゴシック"/>
                <a:ea typeface="BIZ UDPゴシック"/>
              </a:rPr>
              <a:t>会議招集・議事録</a:t>
            </a:r>
            <a:endParaRPr lang="en-US" sz="2400" b="0" u="none" strike="noStrike">
              <a:solidFill>
                <a:srgbClr val="000000"/>
              </a:solidFill>
              <a:effectLst/>
              <a:uFillTx/>
              <a:latin typeface="Arial"/>
            </a:endParaRPr>
          </a:p>
        </p:txBody>
      </p:sp>
      <p:sp>
        <p:nvSpPr>
          <p:cNvPr id="181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819" name="hdr-hair"/>
          <p:cNvCxnSpPr/>
          <p:nvPr/>
        </p:nvCxnSpPr>
        <p:spPr>
          <a:xfrm>
            <a:off x="502920" y="969120"/>
            <a:ext cx="11186280" cy="720"/>
          </a:xfrm>
          <a:prstGeom prst="straightConnector1">
            <a:avLst/>
          </a:prstGeom>
          <a:ln w="9525">
            <a:solidFill>
              <a:srgbClr val="D5DBE5"/>
            </a:solidFill>
            <a:round/>
          </a:ln>
        </p:spPr>
      </p:cxnSp>
      <p:cxnSp>
        <p:nvCxnSpPr>
          <p:cNvPr id="1820" name="ftr-hair"/>
          <p:cNvCxnSpPr/>
          <p:nvPr/>
        </p:nvCxnSpPr>
        <p:spPr>
          <a:xfrm>
            <a:off x="502920" y="6382440"/>
            <a:ext cx="11186280" cy="720"/>
          </a:xfrm>
          <a:prstGeom prst="straightConnector1">
            <a:avLst/>
          </a:prstGeom>
          <a:ln w="9525">
            <a:solidFill>
              <a:srgbClr val="D5DBE5"/>
            </a:solidFill>
            <a:round/>
          </a:ln>
        </p:spPr>
      </p:cxnSp>
      <p:sp>
        <p:nvSpPr>
          <p:cNvPr id="182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51 / 85</a:t>
            </a:r>
            <a:endParaRPr lang="en-US" sz="1100" b="0" u="none" strike="noStrike">
              <a:solidFill>
                <a:srgbClr val="000000"/>
              </a:solidFill>
              <a:effectLst/>
              <a:uFillTx/>
              <a:latin typeface="Arial"/>
            </a:endParaRPr>
          </a:p>
        </p:txBody>
      </p:sp>
      <p:sp>
        <p:nvSpPr>
          <p:cNvPr id="182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82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82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82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2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2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招集・議事録・承認のルールを定める</a:t>
            </a:r>
            <a:endParaRPr lang="en-US" sz="1500" b="0" u="none" strike="noStrike">
              <a:solidFill>
                <a:srgbClr val="000000"/>
              </a:solidFill>
              <a:effectLst/>
              <a:uFillTx/>
              <a:latin typeface="Arial"/>
            </a:endParaRPr>
          </a:p>
        </p:txBody>
      </p:sp>
      <p:sp>
        <p:nvSpPr>
          <p:cNvPr id="1828" name="blk-bullets"/>
          <p:cNvSpPr/>
          <p:nvPr/>
        </p:nvSpPr>
        <p:spPr>
          <a:xfrm>
            <a:off x="502920" y="1627560"/>
            <a:ext cx="11185200" cy="22485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招集は主催者が</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営業日前までに案内し、資料を事前配布する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議事録は主催者が</a:t>
            </a:r>
            <a:r>
              <a:rPr lang="en-US" sz="1400" b="0" u="none" strike="noStrike">
                <a:solidFill>
                  <a:srgbClr val="1F2937"/>
                </a:solidFill>
                <a:effectLst/>
                <a:uFillTx/>
                <a:latin typeface="BIZ UDPゴシック"/>
                <a:ea typeface="BIZ UDPゴシック"/>
              </a:rPr>
              <a:t>3</a:t>
            </a:r>
            <a:r>
              <a:rPr lang="ja-JP" sz="1400" b="0" u="none" strike="noStrike">
                <a:solidFill>
                  <a:srgbClr val="1F2937"/>
                </a:solidFill>
                <a:effectLst/>
                <a:uFillTx/>
                <a:latin typeface="BIZ UDPゴシック"/>
                <a:ea typeface="BIZ UDPゴシック"/>
              </a:rPr>
              <a:t>営業日以内に作成し、決定事項と</a:t>
            </a:r>
            <a:r>
              <a:rPr lang="en-US" sz="1400" b="0" u="none" strike="noStrike">
                <a:solidFill>
                  <a:srgbClr val="1F2937"/>
                </a:solidFill>
                <a:effectLst/>
                <a:uFillTx/>
                <a:latin typeface="BIZ UDPゴシック"/>
                <a:ea typeface="BIZ UDPゴシック"/>
              </a:rPr>
              <a:t>ToDo</a:t>
            </a:r>
            <a:r>
              <a:rPr lang="ja-JP" sz="1400" b="0" u="none" strike="noStrike">
                <a:solidFill>
                  <a:srgbClr val="1F2937"/>
                </a:solidFill>
                <a:effectLst/>
                <a:uFillTx/>
                <a:latin typeface="BIZ UDPゴシック"/>
                <a:ea typeface="BIZ UDPゴシック"/>
              </a:rPr>
              <a:t>を明記する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議事録は参加者と承認者の承認をもって確定する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決定事項は関係者へ当日中に周知し、次回会議でフォローする</a:t>
            </a:r>
            <a:endParaRPr lang="en-US" sz="1400" b="0" u="none" strike="noStrike">
              <a:solidFill>
                <a:srgbClr val="000000"/>
              </a:solidFill>
              <a:effectLst/>
              <a:uFillTx/>
              <a:latin typeface="Arial"/>
            </a:endParaRPr>
          </a:p>
        </p:txBody>
      </p:sp>
      <p:sp>
        <p:nvSpPr>
          <p:cNvPr id="1829" name="drawio:s1"/>
          <p:cNvSpPr/>
          <p:nvPr/>
        </p:nvSpPr>
        <p:spPr>
          <a:xfrm>
            <a:off x="502920" y="4153320"/>
            <a:ext cx="1628640" cy="1714680"/>
          </a:xfrm>
          <a:prstGeom prst="roundRect">
            <a:avLst>
              <a:gd name="adj" fmla="val 16667"/>
            </a:avLst>
          </a:prstGeom>
          <a:solidFill>
            <a:srgbClr val="F4F6FA"/>
          </a:solidFill>
          <a:ln w="12251">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50" b="0" u="none" strike="noStrike">
                <a:solidFill>
                  <a:srgbClr val="1F2937"/>
                </a:solidFill>
                <a:effectLst/>
                <a:uFillTx/>
                <a:latin typeface="BIZ UDPゴシック"/>
                <a:ea typeface="BIZ UDPゴシック"/>
              </a:rPr>
              <a:t>会議招集</a:t>
            </a:r>
            <a:endParaRPr lang="en-US" sz="1350" b="0" u="none" strike="noStrike">
              <a:solidFill>
                <a:srgbClr val="000000"/>
              </a:solidFill>
              <a:effectLst/>
              <a:uFillTx/>
              <a:latin typeface="Arial"/>
            </a:endParaRPr>
          </a:p>
          <a:p>
            <a:pPr algn="ctr" defTabSz="457200">
              <a:lnSpc>
                <a:spcPct val="110000"/>
              </a:lnSpc>
            </a:pPr>
            <a:r>
              <a:rPr lang="en-US" sz="1350" b="0" u="none" strike="noStrike">
                <a:solidFill>
                  <a:srgbClr val="1F2937"/>
                </a:solidFill>
                <a:effectLst/>
                <a:uFillTx/>
                <a:latin typeface="BIZ UDPゴシック"/>
                <a:ea typeface="BIZ UDPゴシック"/>
              </a:rPr>
              <a:t>2</a:t>
            </a:r>
            <a:r>
              <a:rPr lang="ja-JP" sz="1350" b="0" u="none" strike="noStrike">
                <a:solidFill>
                  <a:srgbClr val="1F2937"/>
                </a:solidFill>
                <a:effectLst/>
                <a:uFillTx/>
                <a:latin typeface="BIZ UDPゴシック"/>
                <a:ea typeface="BIZ UDPゴシック"/>
              </a:rPr>
              <a:t>営業日前までに</a:t>
            </a:r>
            <a:endParaRPr lang="en-US" sz="1350" b="0" u="none" strike="noStrike">
              <a:solidFill>
                <a:srgbClr val="000000"/>
              </a:solidFill>
              <a:effectLst/>
              <a:uFillTx/>
              <a:latin typeface="Arial"/>
            </a:endParaRPr>
          </a:p>
          <a:p>
            <a:pPr algn="ctr" defTabSz="457200">
              <a:lnSpc>
                <a:spcPct val="110000"/>
              </a:lnSpc>
            </a:pPr>
            <a:r>
              <a:rPr lang="ja-JP" sz="1350" b="0" u="none" strike="noStrike">
                <a:solidFill>
                  <a:srgbClr val="1F2937"/>
                </a:solidFill>
                <a:effectLst/>
                <a:uFillTx/>
                <a:latin typeface="BIZ UDPゴシック"/>
                <a:ea typeface="BIZ UDPゴシック"/>
              </a:rPr>
              <a:t>案内・資料配布</a:t>
            </a:r>
            <a:endParaRPr lang="en-US" sz="1350" b="0" u="none" strike="noStrike">
              <a:solidFill>
                <a:srgbClr val="000000"/>
              </a:solidFill>
              <a:effectLst/>
              <a:uFillTx/>
              <a:latin typeface="Arial"/>
            </a:endParaRPr>
          </a:p>
        </p:txBody>
      </p:sp>
      <p:sp>
        <p:nvSpPr>
          <p:cNvPr id="1830" name="drawio:s2"/>
          <p:cNvSpPr/>
          <p:nvPr/>
        </p:nvSpPr>
        <p:spPr>
          <a:xfrm>
            <a:off x="2414160" y="4153320"/>
            <a:ext cx="1628640" cy="1714680"/>
          </a:xfrm>
          <a:prstGeom prst="roundRect">
            <a:avLst>
              <a:gd name="adj" fmla="val 16667"/>
            </a:avLst>
          </a:prstGeom>
          <a:solidFill>
            <a:srgbClr val="F4F6FA"/>
          </a:solidFill>
          <a:ln w="12251">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50" b="0" u="none" strike="noStrike">
                <a:solidFill>
                  <a:srgbClr val="1F2937"/>
                </a:solidFill>
                <a:effectLst/>
                <a:uFillTx/>
                <a:latin typeface="BIZ UDPゴシック"/>
                <a:ea typeface="BIZ UDPゴシック"/>
              </a:rPr>
              <a:t>会議実施</a:t>
            </a:r>
            <a:endParaRPr lang="en-US" sz="1350" b="0" u="none" strike="noStrike">
              <a:solidFill>
                <a:srgbClr val="000000"/>
              </a:solidFill>
              <a:effectLst/>
              <a:uFillTx/>
              <a:latin typeface="Arial"/>
            </a:endParaRPr>
          </a:p>
        </p:txBody>
      </p:sp>
      <p:sp>
        <p:nvSpPr>
          <p:cNvPr id="1831" name="drawio:s3"/>
          <p:cNvSpPr/>
          <p:nvPr/>
        </p:nvSpPr>
        <p:spPr>
          <a:xfrm>
            <a:off x="4325400" y="4153320"/>
            <a:ext cx="1628640" cy="1714680"/>
          </a:xfrm>
          <a:prstGeom prst="roundRect">
            <a:avLst>
              <a:gd name="adj" fmla="val 16667"/>
            </a:avLst>
          </a:prstGeom>
          <a:solidFill>
            <a:srgbClr val="F4F6FA"/>
          </a:solidFill>
          <a:ln w="12251">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50" b="0" u="none" strike="noStrike">
                <a:solidFill>
                  <a:srgbClr val="1F2937"/>
                </a:solidFill>
                <a:effectLst/>
                <a:uFillTx/>
                <a:latin typeface="BIZ UDPゴシック"/>
                <a:ea typeface="BIZ UDPゴシック"/>
              </a:rPr>
              <a:t>議事録作成</a:t>
            </a:r>
            <a:endParaRPr lang="en-US" sz="1350" b="0" u="none" strike="noStrike">
              <a:solidFill>
                <a:srgbClr val="000000"/>
              </a:solidFill>
              <a:effectLst/>
              <a:uFillTx/>
              <a:latin typeface="Arial"/>
            </a:endParaRPr>
          </a:p>
          <a:p>
            <a:pPr algn="ctr" defTabSz="457200">
              <a:lnSpc>
                <a:spcPct val="110000"/>
              </a:lnSpc>
            </a:pPr>
            <a:r>
              <a:rPr lang="ja-JP" sz="1350" b="0" u="none" strike="noStrike">
                <a:solidFill>
                  <a:srgbClr val="1F2937"/>
                </a:solidFill>
                <a:effectLst/>
                <a:uFillTx/>
                <a:latin typeface="BIZ UDPゴシック"/>
                <a:ea typeface="BIZ UDPゴシック"/>
              </a:rPr>
              <a:t>主催者が</a:t>
            </a:r>
            <a:r>
              <a:rPr lang="en-US" sz="1350" b="0" u="none" strike="noStrike">
                <a:solidFill>
                  <a:srgbClr val="1F2937"/>
                </a:solidFill>
                <a:effectLst/>
                <a:uFillTx/>
                <a:latin typeface="BIZ UDPゴシック"/>
                <a:ea typeface="BIZ UDPゴシック"/>
              </a:rPr>
              <a:t>3</a:t>
            </a:r>
            <a:r>
              <a:rPr lang="ja-JP" sz="1350" b="0" u="none" strike="noStrike">
                <a:solidFill>
                  <a:srgbClr val="1F2937"/>
                </a:solidFill>
                <a:effectLst/>
                <a:uFillTx/>
                <a:latin typeface="BIZ UDPゴシック"/>
                <a:ea typeface="BIZ UDPゴシック"/>
              </a:rPr>
              <a:t>営業日以内</a:t>
            </a:r>
            <a:endParaRPr lang="en-US" sz="1350" b="0" u="none" strike="noStrike">
              <a:solidFill>
                <a:srgbClr val="000000"/>
              </a:solidFill>
              <a:effectLst/>
              <a:uFillTx/>
              <a:latin typeface="Arial"/>
            </a:endParaRPr>
          </a:p>
          <a:p>
            <a:pPr algn="ctr" defTabSz="457200">
              <a:lnSpc>
                <a:spcPct val="110000"/>
              </a:lnSpc>
            </a:pPr>
            <a:r>
              <a:rPr lang="ja-JP" sz="1350" b="0" u="none" strike="noStrike">
                <a:solidFill>
                  <a:srgbClr val="1F2937"/>
                </a:solidFill>
                <a:effectLst/>
                <a:uFillTx/>
                <a:latin typeface="BIZ UDPゴシック"/>
                <a:ea typeface="BIZ UDPゴシック"/>
              </a:rPr>
              <a:t>決定事項・</a:t>
            </a:r>
            <a:r>
              <a:rPr lang="en-US" sz="1350" b="0" u="none" strike="noStrike">
                <a:solidFill>
                  <a:srgbClr val="1F2937"/>
                </a:solidFill>
                <a:effectLst/>
                <a:uFillTx/>
                <a:latin typeface="BIZ UDPゴシック"/>
                <a:ea typeface="BIZ UDPゴシック"/>
              </a:rPr>
              <a:t>ToDo</a:t>
            </a:r>
            <a:r>
              <a:rPr lang="ja-JP" sz="1350" b="0" u="none" strike="noStrike">
                <a:solidFill>
                  <a:srgbClr val="1F2937"/>
                </a:solidFill>
                <a:effectLst/>
                <a:uFillTx/>
                <a:latin typeface="BIZ UDPゴシック"/>
                <a:ea typeface="BIZ UDPゴシック"/>
              </a:rPr>
              <a:t>明記</a:t>
            </a:r>
            <a:endParaRPr lang="en-US" sz="1350" b="0" u="none" strike="noStrike">
              <a:solidFill>
                <a:srgbClr val="000000"/>
              </a:solidFill>
              <a:effectLst/>
              <a:uFillTx/>
              <a:latin typeface="Arial"/>
            </a:endParaRPr>
          </a:p>
        </p:txBody>
      </p:sp>
      <p:sp>
        <p:nvSpPr>
          <p:cNvPr id="1832" name="drawio:s4"/>
          <p:cNvSpPr/>
          <p:nvPr/>
        </p:nvSpPr>
        <p:spPr>
          <a:xfrm>
            <a:off x="6236640" y="4153320"/>
            <a:ext cx="1628640" cy="1714680"/>
          </a:xfrm>
          <a:prstGeom prst="roundRect">
            <a:avLst>
              <a:gd name="adj" fmla="val 16667"/>
            </a:avLst>
          </a:prstGeom>
          <a:solidFill>
            <a:srgbClr val="B4235A"/>
          </a:solidFill>
          <a:ln w="12251">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50" b="1" u="none" strike="noStrike">
                <a:solidFill>
                  <a:srgbClr val="FFFFFF"/>
                </a:solidFill>
                <a:effectLst/>
                <a:uFillTx/>
                <a:latin typeface="BIZ UDPゴシック"/>
                <a:ea typeface="BIZ UDPゴシック"/>
              </a:rPr>
              <a:t>参加者・承認者</a:t>
            </a:r>
            <a:endParaRPr lang="en-US" sz="1350" b="0" u="none" strike="noStrike">
              <a:solidFill>
                <a:srgbClr val="FFFFFF"/>
              </a:solidFill>
              <a:effectLst/>
              <a:uFillTx/>
              <a:latin typeface="Arial"/>
            </a:endParaRPr>
          </a:p>
          <a:p>
            <a:pPr algn="ctr" defTabSz="457200">
              <a:lnSpc>
                <a:spcPct val="110000"/>
              </a:lnSpc>
            </a:pPr>
            <a:r>
              <a:rPr lang="ja-JP" sz="1350" b="1" u="none" strike="noStrike">
                <a:solidFill>
                  <a:srgbClr val="FFFFFF"/>
                </a:solidFill>
                <a:effectLst/>
                <a:uFillTx/>
                <a:latin typeface="BIZ UDPゴシック"/>
                <a:ea typeface="BIZ UDPゴシック"/>
              </a:rPr>
              <a:t>の承認</a:t>
            </a:r>
            <a:endParaRPr lang="en-US" sz="1350" b="0" u="none" strike="noStrike">
              <a:solidFill>
                <a:srgbClr val="FFFFFF"/>
              </a:solidFill>
              <a:effectLst/>
              <a:uFillTx/>
              <a:latin typeface="Arial"/>
            </a:endParaRPr>
          </a:p>
        </p:txBody>
      </p:sp>
      <p:sp>
        <p:nvSpPr>
          <p:cNvPr id="1833" name="drawio:s5"/>
          <p:cNvSpPr/>
          <p:nvPr/>
        </p:nvSpPr>
        <p:spPr>
          <a:xfrm>
            <a:off x="8147880" y="4153320"/>
            <a:ext cx="1628640" cy="1714680"/>
          </a:xfrm>
          <a:prstGeom prst="roundRect">
            <a:avLst>
              <a:gd name="adj" fmla="val 16667"/>
            </a:avLst>
          </a:prstGeom>
          <a:solidFill>
            <a:srgbClr val="059669"/>
          </a:solidFill>
          <a:ln w="12251">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50" b="1" u="none" strike="noStrike">
                <a:solidFill>
                  <a:srgbClr val="FFFFFF"/>
                </a:solidFill>
                <a:effectLst/>
                <a:uFillTx/>
                <a:latin typeface="BIZ UDPゴシック"/>
                <a:ea typeface="BIZ UDPゴシック"/>
              </a:rPr>
              <a:t>確定</a:t>
            </a:r>
            <a:endParaRPr lang="en-US" sz="1350" b="0" u="none" strike="noStrike">
              <a:solidFill>
                <a:srgbClr val="FFFFFF"/>
              </a:solidFill>
              <a:effectLst/>
              <a:uFillTx/>
              <a:latin typeface="Arial"/>
            </a:endParaRPr>
          </a:p>
          <a:p>
            <a:pPr algn="ctr" defTabSz="457200">
              <a:lnSpc>
                <a:spcPct val="110000"/>
              </a:lnSpc>
            </a:pPr>
            <a:r>
              <a:rPr lang="ja-JP" sz="1350" b="1" u="none" strike="noStrike">
                <a:solidFill>
                  <a:srgbClr val="FFFFFF"/>
                </a:solidFill>
                <a:effectLst/>
                <a:uFillTx/>
                <a:latin typeface="BIZ UDPゴシック"/>
                <a:ea typeface="BIZ UDPゴシック"/>
              </a:rPr>
              <a:t>共有フォルダに</a:t>
            </a:r>
            <a:endParaRPr lang="en-US" sz="1350" b="0" u="none" strike="noStrike">
              <a:solidFill>
                <a:srgbClr val="FFFFFF"/>
              </a:solidFill>
              <a:effectLst/>
              <a:uFillTx/>
              <a:latin typeface="Arial"/>
            </a:endParaRPr>
          </a:p>
          <a:p>
            <a:pPr algn="ctr" defTabSz="457200">
              <a:lnSpc>
                <a:spcPct val="110000"/>
              </a:lnSpc>
            </a:pPr>
            <a:r>
              <a:rPr lang="ja-JP" sz="1350" b="1" u="none" strike="noStrike">
                <a:solidFill>
                  <a:srgbClr val="FFFFFF"/>
                </a:solidFill>
                <a:effectLst/>
                <a:uFillTx/>
                <a:latin typeface="BIZ UDPゴシック"/>
                <a:ea typeface="BIZ UDPゴシック"/>
              </a:rPr>
              <a:t>格納</a:t>
            </a:r>
            <a:endParaRPr lang="en-US" sz="1350" b="0" u="none" strike="noStrike">
              <a:solidFill>
                <a:srgbClr val="FFFFFF"/>
              </a:solidFill>
              <a:effectLst/>
              <a:uFillTx/>
              <a:latin typeface="Arial"/>
            </a:endParaRPr>
          </a:p>
        </p:txBody>
      </p:sp>
      <p:sp>
        <p:nvSpPr>
          <p:cNvPr id="1834" name="drawio:s6"/>
          <p:cNvSpPr/>
          <p:nvPr/>
        </p:nvSpPr>
        <p:spPr>
          <a:xfrm>
            <a:off x="10059120" y="4153320"/>
            <a:ext cx="1628640" cy="1714680"/>
          </a:xfrm>
          <a:prstGeom prst="roundRect">
            <a:avLst>
              <a:gd name="adj" fmla="val 16667"/>
            </a:avLst>
          </a:prstGeom>
          <a:solidFill>
            <a:srgbClr val="F4F6FA"/>
          </a:solidFill>
          <a:ln w="12251">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50" b="0" u="none" strike="noStrike">
                <a:solidFill>
                  <a:srgbClr val="1F2937"/>
                </a:solidFill>
                <a:effectLst/>
                <a:uFillTx/>
                <a:latin typeface="BIZ UDPゴシック"/>
                <a:ea typeface="BIZ UDPゴシック"/>
              </a:rPr>
              <a:t>周知・フォロー</a:t>
            </a:r>
            <a:endParaRPr lang="en-US" sz="1350" b="0" u="none" strike="noStrike">
              <a:solidFill>
                <a:srgbClr val="000000"/>
              </a:solidFill>
              <a:effectLst/>
              <a:uFillTx/>
              <a:latin typeface="Arial"/>
            </a:endParaRPr>
          </a:p>
          <a:p>
            <a:pPr algn="ctr" defTabSz="457200">
              <a:lnSpc>
                <a:spcPct val="110000"/>
              </a:lnSpc>
            </a:pPr>
            <a:r>
              <a:rPr lang="ja-JP" sz="1350" b="0" u="none" strike="noStrike">
                <a:solidFill>
                  <a:srgbClr val="1F2937"/>
                </a:solidFill>
                <a:effectLst/>
                <a:uFillTx/>
                <a:latin typeface="BIZ UDPゴシック"/>
                <a:ea typeface="BIZ UDPゴシック"/>
              </a:rPr>
              <a:t>関係者へ展開</a:t>
            </a:r>
            <a:endParaRPr lang="en-US" sz="1350" b="0" u="none" strike="noStrike">
              <a:solidFill>
                <a:srgbClr val="000000"/>
              </a:solidFill>
              <a:effectLst/>
              <a:uFillTx/>
              <a:latin typeface="Arial"/>
            </a:endParaRPr>
          </a:p>
          <a:p>
            <a:pPr algn="ctr" defTabSz="457200">
              <a:lnSpc>
                <a:spcPct val="110000"/>
              </a:lnSpc>
            </a:pPr>
            <a:r>
              <a:rPr lang="ja-JP" sz="1350" b="0" u="none" strike="noStrike">
                <a:solidFill>
                  <a:srgbClr val="1F2937"/>
                </a:solidFill>
                <a:effectLst/>
                <a:uFillTx/>
                <a:latin typeface="BIZ UDPゴシック"/>
                <a:ea typeface="BIZ UDPゴシック"/>
              </a:rPr>
              <a:t>次回会議で確認</a:t>
            </a:r>
            <a:endParaRPr lang="en-US" sz="1350" b="0" u="none" strike="noStrike">
              <a:solidFill>
                <a:srgbClr val="000000"/>
              </a:solidFill>
              <a:effectLst/>
              <a:uFillTx/>
              <a:latin typeface="Arial"/>
            </a:endParaRPr>
          </a:p>
        </p:txBody>
      </p:sp>
      <p:cxnSp>
        <p:nvCxnSpPr>
          <p:cNvPr id="1835" name="drawio:e1"/>
          <p:cNvCxnSpPr/>
          <p:nvPr/>
        </p:nvCxnSpPr>
        <p:spPr>
          <a:xfrm>
            <a:off x="2107800" y="5010840"/>
            <a:ext cx="331200" cy="720"/>
          </a:xfrm>
          <a:prstGeom prst="straightConnector1">
            <a:avLst/>
          </a:prstGeom>
          <a:ln w="24503">
            <a:solidFill>
              <a:srgbClr val="6B7280"/>
            </a:solidFill>
            <a:round/>
            <a:tailEnd len="sm" type="arrow" w="sm"/>
          </a:ln>
        </p:spPr>
      </p:cxnSp>
      <p:cxnSp>
        <p:nvCxnSpPr>
          <p:cNvPr id="1836" name="drawio:e2"/>
          <p:cNvCxnSpPr/>
          <p:nvPr/>
        </p:nvCxnSpPr>
        <p:spPr>
          <a:xfrm>
            <a:off x="4019040" y="5010840"/>
            <a:ext cx="331560" cy="720"/>
          </a:xfrm>
          <a:prstGeom prst="straightConnector1">
            <a:avLst/>
          </a:prstGeom>
          <a:ln w="24503">
            <a:solidFill>
              <a:srgbClr val="6B7280"/>
            </a:solidFill>
            <a:round/>
            <a:tailEnd len="sm" type="arrow" w="sm"/>
          </a:ln>
        </p:spPr>
      </p:cxnSp>
      <p:cxnSp>
        <p:nvCxnSpPr>
          <p:cNvPr id="1837" name="drawio:e3"/>
          <p:cNvCxnSpPr/>
          <p:nvPr/>
        </p:nvCxnSpPr>
        <p:spPr>
          <a:xfrm>
            <a:off x="5930280" y="5010840"/>
            <a:ext cx="331560" cy="720"/>
          </a:xfrm>
          <a:prstGeom prst="straightConnector1">
            <a:avLst/>
          </a:prstGeom>
          <a:ln w="24503">
            <a:solidFill>
              <a:srgbClr val="6B7280"/>
            </a:solidFill>
            <a:round/>
            <a:tailEnd len="sm" type="arrow" w="sm"/>
          </a:ln>
        </p:spPr>
      </p:cxnSp>
      <p:cxnSp>
        <p:nvCxnSpPr>
          <p:cNvPr id="1838" name="drawio:e4"/>
          <p:cNvCxnSpPr/>
          <p:nvPr/>
        </p:nvCxnSpPr>
        <p:spPr>
          <a:xfrm>
            <a:off x="7841520" y="5010840"/>
            <a:ext cx="331560" cy="720"/>
          </a:xfrm>
          <a:prstGeom prst="straightConnector1">
            <a:avLst/>
          </a:prstGeom>
          <a:ln w="24503">
            <a:solidFill>
              <a:srgbClr val="6B7280"/>
            </a:solidFill>
            <a:round/>
            <a:tailEnd len="sm" type="arrow" w="sm"/>
          </a:ln>
        </p:spPr>
      </p:cxnSp>
      <p:cxnSp>
        <p:nvCxnSpPr>
          <p:cNvPr id="1839" name="drawio:e5"/>
          <p:cNvCxnSpPr/>
          <p:nvPr/>
        </p:nvCxnSpPr>
        <p:spPr>
          <a:xfrm>
            <a:off x="9752760" y="5010840"/>
            <a:ext cx="331560" cy="720"/>
          </a:xfrm>
          <a:prstGeom prst="straightConnector1">
            <a:avLst/>
          </a:prstGeom>
          <a:ln w="24503">
            <a:solidFill>
              <a:srgbClr val="6B7280"/>
            </a:solidFill>
            <a:round/>
            <a:tailEnd len="sm" type="arrow" w="sm"/>
          </a:ln>
        </p:spPr>
      </p:cxnSp>
      <p:sp>
        <p:nvSpPr>
          <p:cNvPr id="1840" name="blk-diagram-cap"/>
          <p:cNvSpPr/>
          <p:nvPr/>
        </p:nvSpPr>
        <p:spPr>
          <a:xfrm>
            <a:off x="502920" y="601308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議事録の作成・承認フロー</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84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04</a:t>
            </a:r>
            <a:endParaRPr lang="en-US" sz="1500" b="0" u="none" strike="noStrike">
              <a:solidFill>
                <a:srgbClr val="FFFFFF"/>
              </a:solidFill>
              <a:effectLst/>
              <a:uFillTx/>
              <a:latin typeface="Arial"/>
            </a:endParaRPr>
          </a:p>
        </p:txBody>
      </p:sp>
      <p:sp>
        <p:nvSpPr>
          <p:cNvPr id="184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コミュニケーション計画</a:t>
            </a:r>
            <a:endParaRPr lang="en-US" sz="1100" b="0" u="none" strike="noStrike">
              <a:solidFill>
                <a:srgbClr val="000000"/>
              </a:solidFill>
              <a:effectLst/>
              <a:uFillTx/>
              <a:latin typeface="Arial"/>
            </a:endParaRPr>
          </a:p>
        </p:txBody>
      </p:sp>
      <p:sp>
        <p:nvSpPr>
          <p:cNvPr id="184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4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47"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48" name="hdr-bar"/>
          <p:cNvSpPr/>
          <p:nvPr/>
        </p:nvSpPr>
        <p:spPr>
          <a:xfrm>
            <a:off x="107470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49"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5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5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5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85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4.4 </a:t>
            </a:r>
            <a:r>
              <a:rPr lang="ja-JP" sz="2400" b="1" u="none" strike="noStrike">
                <a:solidFill>
                  <a:srgbClr val="16213E"/>
                </a:solidFill>
                <a:effectLst/>
                <a:uFillTx/>
                <a:latin typeface="BIZ UDPゴシック"/>
                <a:ea typeface="BIZ UDPゴシック"/>
              </a:rPr>
              <a:t>進捗報告とエスカレーション ─ 報告</a:t>
            </a:r>
            <a:endParaRPr lang="en-US" sz="2400" b="0" u="none" strike="noStrike">
              <a:solidFill>
                <a:srgbClr val="000000"/>
              </a:solidFill>
              <a:effectLst/>
              <a:uFillTx/>
              <a:latin typeface="Arial"/>
            </a:endParaRPr>
          </a:p>
        </p:txBody>
      </p:sp>
      <p:sp>
        <p:nvSpPr>
          <p:cNvPr id="185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855" name="hdr-hair"/>
          <p:cNvCxnSpPr/>
          <p:nvPr/>
        </p:nvCxnSpPr>
        <p:spPr>
          <a:xfrm>
            <a:off x="502920" y="969120"/>
            <a:ext cx="11186280" cy="720"/>
          </a:xfrm>
          <a:prstGeom prst="straightConnector1">
            <a:avLst/>
          </a:prstGeom>
          <a:ln w="9525">
            <a:solidFill>
              <a:srgbClr val="D5DBE5"/>
            </a:solidFill>
            <a:round/>
          </a:ln>
        </p:spPr>
      </p:cxnSp>
      <p:cxnSp>
        <p:nvCxnSpPr>
          <p:cNvPr id="1856" name="ftr-hair"/>
          <p:cNvCxnSpPr/>
          <p:nvPr/>
        </p:nvCxnSpPr>
        <p:spPr>
          <a:xfrm>
            <a:off x="502920" y="6382440"/>
            <a:ext cx="11186280" cy="720"/>
          </a:xfrm>
          <a:prstGeom prst="straightConnector1">
            <a:avLst/>
          </a:prstGeom>
          <a:ln w="9525">
            <a:solidFill>
              <a:srgbClr val="D5DBE5"/>
            </a:solidFill>
            <a:round/>
          </a:ln>
        </p:spPr>
      </p:cxnSp>
      <p:sp>
        <p:nvSpPr>
          <p:cNvPr id="185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52 / 85</a:t>
            </a:r>
            <a:endParaRPr lang="en-US" sz="1100" b="0" u="none" strike="noStrike">
              <a:solidFill>
                <a:srgbClr val="000000"/>
              </a:solidFill>
              <a:effectLst/>
              <a:uFillTx/>
              <a:latin typeface="Arial"/>
            </a:endParaRPr>
          </a:p>
        </p:txBody>
      </p:sp>
      <p:sp>
        <p:nvSpPr>
          <p:cNvPr id="185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85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86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86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6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6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報告の種類とエスカレーション経路を定める</a:t>
            </a:r>
            <a:endParaRPr lang="en-US" sz="1500" b="0" u="none" strike="noStrike">
              <a:solidFill>
                <a:srgbClr val="000000"/>
              </a:solidFill>
              <a:effectLst/>
              <a:uFillTx/>
              <a:latin typeface="Arial"/>
            </a:endParaRPr>
          </a:p>
        </p:txBody>
      </p:sp>
      <p:graphicFrame>
        <p:nvGraphicFramePr>
          <p:cNvPr id="1864" name="blk-table"/>
          <p:cNvGraphicFramePr/>
          <p:nvPr/>
        </p:nvGraphicFramePr>
        <p:xfrm>
          <a:off x="502920" y="1627560"/>
          <a:ext cx="5455080" cy="1396800"/>
        </p:xfrm>
        <a:graphic>
          <a:graphicData uri="http://schemas.openxmlformats.org/drawingml/2006/table">
            <a:tbl>
              <a:tblPr/>
              <a:tblGrid>
                <a:gridCol w="1636560"/>
                <a:gridCol w="1309320"/>
                <a:gridCol w="250956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報告</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頻度</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報告先</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週次進捗</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 → </a:t>
                      </a:r>
                      <a:r>
                        <a:rPr lang="ja-JP" sz="1100" b="0" u="none" strike="noStrike">
                          <a:solidFill>
                            <a:srgbClr val="1F2937"/>
                          </a:solidFill>
                          <a:effectLst/>
                          <a:uFillTx/>
                          <a:latin typeface="BIZ UDPゴシック"/>
                          <a:ea typeface="BIZ UDPゴシック"/>
                        </a:rPr>
                        <a:t>業務改革推進部</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月次報告</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月次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 → </a:t>
                      </a:r>
                      <a:r>
                        <a:rPr lang="ja-JP" sz="1100" b="0" u="none" strike="noStrike">
                          <a:solidFill>
                            <a:srgbClr val="1F2937"/>
                          </a:solidFill>
                          <a:effectLst/>
                          <a:uFillTx/>
                          <a:latin typeface="BIZ UDPゴシック"/>
                          <a:ea typeface="BIZ UDPゴシック"/>
                        </a:rPr>
                        <a:t>ステアリングコミッティ</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完了報告</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マイルストーン時</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 → </a:t>
                      </a:r>
                      <a:r>
                        <a:rPr lang="ja-JP" sz="1100" b="0" u="none" strike="noStrike">
                          <a:solidFill>
                            <a:srgbClr val="1F2937"/>
                          </a:solidFill>
                          <a:effectLst/>
                          <a:uFillTx/>
                          <a:latin typeface="BIZ UDPゴシック"/>
                          <a:ea typeface="BIZ UDPゴシック"/>
                        </a:rPr>
                        <a:t>プロジェクトオーナー</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1865" name="drawio:l4"/>
          <p:cNvSpPr/>
          <p:nvPr/>
        </p:nvSpPr>
        <p:spPr>
          <a:xfrm>
            <a:off x="6766200" y="1627560"/>
            <a:ext cx="4119120" cy="701640"/>
          </a:xfrm>
          <a:prstGeom prst="roundRect">
            <a:avLst>
              <a:gd name="adj" fmla="val 16667"/>
            </a:avLst>
          </a:prstGeom>
          <a:solidFill>
            <a:srgbClr val="16213E"/>
          </a:solidFill>
          <a:ln w="11704">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90" b="1" u="none" strike="noStrike">
                <a:solidFill>
                  <a:srgbClr val="FFFFFF"/>
                </a:solidFill>
                <a:effectLst/>
                <a:uFillTx/>
                <a:latin typeface="BIZ UDPゴシック"/>
                <a:ea typeface="BIZ UDPゴシック"/>
              </a:rPr>
              <a:t>ステアリングコミッティ</a:t>
            </a:r>
            <a:endParaRPr lang="en-US" sz="1290" b="0" u="none" strike="noStrike">
              <a:solidFill>
                <a:srgbClr val="FFFFFF"/>
              </a:solidFill>
              <a:effectLst/>
              <a:uFillTx/>
              <a:latin typeface="Arial"/>
            </a:endParaRPr>
          </a:p>
          <a:p>
            <a:pPr algn="ctr" defTabSz="457200">
              <a:lnSpc>
                <a:spcPct val="110000"/>
              </a:lnSpc>
            </a:pPr>
            <a:r>
              <a:rPr lang="ja-JP" sz="1290" b="1" u="none" strike="noStrike">
                <a:solidFill>
                  <a:srgbClr val="FFFFFF"/>
                </a:solidFill>
                <a:effectLst/>
                <a:uFillTx/>
                <a:latin typeface="BIZ UDPゴシック"/>
                <a:ea typeface="BIZ UDPゴシック"/>
              </a:rPr>
              <a:t>月次・最終判断</a:t>
            </a:r>
            <a:endParaRPr lang="en-US" sz="1290" b="0" u="none" strike="noStrike">
              <a:solidFill>
                <a:srgbClr val="FFFFFF"/>
              </a:solidFill>
              <a:effectLst/>
              <a:uFillTx/>
              <a:latin typeface="Arial"/>
            </a:endParaRPr>
          </a:p>
        </p:txBody>
      </p:sp>
      <p:sp>
        <p:nvSpPr>
          <p:cNvPr id="1866" name="drawio:l3"/>
          <p:cNvSpPr/>
          <p:nvPr/>
        </p:nvSpPr>
        <p:spPr>
          <a:xfrm>
            <a:off x="6766200" y="2856600"/>
            <a:ext cx="4119120" cy="701640"/>
          </a:xfrm>
          <a:prstGeom prst="roundRect">
            <a:avLst>
              <a:gd name="adj" fmla="val 16667"/>
            </a:avLst>
          </a:prstGeom>
          <a:solidFill>
            <a:srgbClr val="B4235A"/>
          </a:solidFill>
          <a:ln w="11704">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90" b="0" u="none" strike="noStrike">
                <a:solidFill>
                  <a:srgbClr val="FFFFFF"/>
                </a:solidFill>
                <a:effectLst/>
                <a:uFillTx/>
                <a:latin typeface="BIZ UDPゴシック"/>
                <a:ea typeface="BIZ UDPゴシック"/>
              </a:rPr>
              <a:t>業務改革推進部</a:t>
            </a:r>
            <a:endParaRPr lang="en-US" sz="1290" b="0" u="none" strike="noStrike">
              <a:solidFill>
                <a:srgbClr val="FFFFFF"/>
              </a:solidFill>
              <a:effectLst/>
              <a:uFillTx/>
              <a:latin typeface="Arial"/>
            </a:endParaRPr>
          </a:p>
          <a:p>
            <a:pPr algn="ctr" defTabSz="457200">
              <a:lnSpc>
                <a:spcPct val="110000"/>
              </a:lnSpc>
            </a:pPr>
            <a:r>
              <a:rPr lang="ja-JP" sz="1290" b="0" u="none" strike="noStrike">
                <a:solidFill>
                  <a:srgbClr val="FFFFFF"/>
                </a:solidFill>
                <a:effectLst/>
                <a:uFillTx/>
                <a:latin typeface="BIZ UDPゴシック"/>
                <a:ea typeface="BIZ UDPゴシック"/>
              </a:rPr>
              <a:t>貴社</a:t>
            </a:r>
            <a:r>
              <a:rPr lang="en-US" sz="1290" b="0" u="none" strike="noStrike">
                <a:solidFill>
                  <a:srgbClr val="FFFFFF"/>
                </a:solidFill>
                <a:effectLst/>
                <a:uFillTx/>
                <a:latin typeface="BIZ UDPゴシック"/>
                <a:ea typeface="BIZ UDPゴシック"/>
              </a:rPr>
              <a:t>PM</a:t>
            </a:r>
            <a:r>
              <a:rPr lang="ja-JP" sz="1290" b="0" u="none" strike="noStrike">
                <a:solidFill>
                  <a:srgbClr val="FFFFFF"/>
                </a:solidFill>
                <a:effectLst/>
                <a:uFillTx/>
                <a:latin typeface="BIZ UDPゴシック"/>
                <a:ea typeface="BIZ UDPゴシック"/>
              </a:rPr>
              <a:t>・事務局</a:t>
            </a:r>
            <a:endParaRPr lang="en-US" sz="1290" b="0" u="none" strike="noStrike">
              <a:solidFill>
                <a:srgbClr val="FFFFFF"/>
              </a:solidFill>
              <a:effectLst/>
              <a:uFillTx/>
              <a:latin typeface="Arial"/>
            </a:endParaRPr>
          </a:p>
        </p:txBody>
      </p:sp>
      <p:sp>
        <p:nvSpPr>
          <p:cNvPr id="1867" name="drawio:l2"/>
          <p:cNvSpPr/>
          <p:nvPr/>
        </p:nvSpPr>
        <p:spPr>
          <a:xfrm>
            <a:off x="6766200" y="4085640"/>
            <a:ext cx="4119120" cy="701640"/>
          </a:xfrm>
          <a:prstGeom prst="roundRect">
            <a:avLst>
              <a:gd name="adj" fmla="val 16667"/>
            </a:avLst>
          </a:prstGeom>
          <a:solidFill>
            <a:srgbClr val="FFFFFF"/>
          </a:solidFill>
          <a:ln w="11704">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90" b="0" u="none" strike="noStrike">
                <a:solidFill>
                  <a:srgbClr val="1F2937"/>
                </a:solidFill>
                <a:effectLst/>
                <a:uFillTx/>
                <a:latin typeface="BIZ UDPゴシック"/>
                <a:ea typeface="BIZ UDPゴシック"/>
              </a:rPr>
              <a:t>当社</a:t>
            </a:r>
            <a:r>
              <a:rPr lang="en-US" sz="1290" b="0" u="none" strike="noStrike">
                <a:solidFill>
                  <a:srgbClr val="1F2937"/>
                </a:solidFill>
                <a:effectLst/>
                <a:uFillTx/>
                <a:latin typeface="BIZ UDPゴシック"/>
                <a:ea typeface="BIZ UDPゴシック"/>
              </a:rPr>
              <a:t>PM</a:t>
            </a:r>
            <a:endParaRPr lang="en-US" sz="1290" b="0" u="none" strike="noStrike">
              <a:solidFill>
                <a:srgbClr val="000000"/>
              </a:solidFill>
              <a:effectLst/>
              <a:uFillTx/>
              <a:latin typeface="Arial"/>
            </a:endParaRPr>
          </a:p>
          <a:p>
            <a:pPr algn="ctr" defTabSz="457200">
              <a:lnSpc>
                <a:spcPct val="110000"/>
              </a:lnSpc>
            </a:pPr>
            <a:r>
              <a:rPr lang="ja-JP" sz="1290" b="0" u="none" strike="noStrike">
                <a:solidFill>
                  <a:srgbClr val="1F2937"/>
                </a:solidFill>
                <a:effectLst/>
                <a:uFillTx/>
                <a:latin typeface="BIZ UDPゴシック"/>
                <a:ea typeface="BIZ UDPゴシック"/>
              </a:rPr>
              <a:t>週次進捗のとりまとめ</a:t>
            </a:r>
            <a:endParaRPr lang="en-US" sz="1290" b="0" u="none" strike="noStrike">
              <a:solidFill>
                <a:srgbClr val="000000"/>
              </a:solidFill>
              <a:effectLst/>
              <a:uFillTx/>
              <a:latin typeface="Arial"/>
            </a:endParaRPr>
          </a:p>
        </p:txBody>
      </p:sp>
      <p:sp>
        <p:nvSpPr>
          <p:cNvPr id="1868" name="drawio:l1"/>
          <p:cNvSpPr/>
          <p:nvPr/>
        </p:nvSpPr>
        <p:spPr>
          <a:xfrm>
            <a:off x="6766200" y="5314320"/>
            <a:ext cx="4119120" cy="701640"/>
          </a:xfrm>
          <a:prstGeom prst="roundRect">
            <a:avLst>
              <a:gd name="adj" fmla="val 16667"/>
            </a:avLst>
          </a:prstGeom>
          <a:solidFill>
            <a:srgbClr val="FFFFFF"/>
          </a:solidFill>
          <a:ln w="11704">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90" b="0" u="none" strike="noStrike">
                <a:solidFill>
                  <a:srgbClr val="1F2937"/>
                </a:solidFill>
                <a:effectLst/>
                <a:uFillTx/>
                <a:latin typeface="BIZ UDPゴシック"/>
                <a:ea typeface="BIZ UDPゴシック"/>
              </a:rPr>
              <a:t>業務検討ワーキング </a:t>
            </a:r>
            <a:r>
              <a:rPr lang="en-US" sz="1290" b="0" u="none" strike="noStrike">
                <a:solidFill>
                  <a:srgbClr val="1F2937"/>
                </a:solidFill>
                <a:effectLst/>
                <a:uFillTx/>
                <a:latin typeface="BIZ UDPゴシック"/>
                <a:ea typeface="BIZ UDPゴシック"/>
              </a:rPr>
              <a:t>/ </a:t>
            </a:r>
            <a:r>
              <a:rPr lang="ja-JP" sz="1290" b="0" u="none" strike="noStrike">
                <a:solidFill>
                  <a:srgbClr val="1F2937"/>
                </a:solidFill>
                <a:effectLst/>
                <a:uFillTx/>
                <a:latin typeface="BIZ UDPゴシック"/>
                <a:ea typeface="BIZ UDPゴシック"/>
              </a:rPr>
              <a:t>技術検討ワーキング</a:t>
            </a:r>
            <a:endParaRPr lang="en-US" sz="1290" b="0" u="none" strike="noStrike">
              <a:solidFill>
                <a:srgbClr val="000000"/>
              </a:solidFill>
              <a:effectLst/>
              <a:uFillTx/>
              <a:latin typeface="Arial"/>
            </a:endParaRPr>
          </a:p>
          <a:p>
            <a:pPr algn="ctr" defTabSz="457200">
              <a:lnSpc>
                <a:spcPct val="110000"/>
              </a:lnSpc>
            </a:pPr>
            <a:r>
              <a:rPr lang="ja-JP" sz="1290" b="0" u="none" strike="noStrike">
                <a:solidFill>
                  <a:srgbClr val="1F2937"/>
                </a:solidFill>
                <a:effectLst/>
                <a:uFillTx/>
                <a:latin typeface="BIZ UDPゴシック"/>
                <a:ea typeface="BIZ UDPゴシック"/>
              </a:rPr>
              <a:t>現場レベルの課題</a:t>
            </a:r>
            <a:endParaRPr lang="en-US" sz="1290" b="0" u="none" strike="noStrike">
              <a:solidFill>
                <a:srgbClr val="000000"/>
              </a:solidFill>
              <a:effectLst/>
              <a:uFillTx/>
              <a:latin typeface="Arial"/>
            </a:endParaRPr>
          </a:p>
        </p:txBody>
      </p:sp>
      <p:cxnSp>
        <p:nvCxnSpPr>
          <p:cNvPr id="1869" name="drawio:e1"/>
          <p:cNvCxnSpPr/>
          <p:nvPr/>
        </p:nvCxnSpPr>
        <p:spPr>
          <a:xfrm flipV="1">
            <a:off x="8826120" y="4777200"/>
            <a:ext cx="720" cy="548280"/>
          </a:xfrm>
          <a:prstGeom prst="straightConnector1">
            <a:avLst/>
          </a:prstGeom>
          <a:ln w="23408">
            <a:solidFill>
              <a:srgbClr val="6B7280"/>
            </a:solidFill>
            <a:round/>
            <a:tailEnd len="sm" type="arrow" w="sm"/>
          </a:ln>
        </p:spPr>
      </p:cxnSp>
      <p:cxnSp>
        <p:nvCxnSpPr>
          <p:cNvPr id="1870" name="drawio:e2"/>
          <p:cNvCxnSpPr/>
          <p:nvPr/>
        </p:nvCxnSpPr>
        <p:spPr>
          <a:xfrm flipV="1">
            <a:off x="8826120" y="3548160"/>
            <a:ext cx="720" cy="548280"/>
          </a:xfrm>
          <a:prstGeom prst="straightConnector1">
            <a:avLst/>
          </a:prstGeom>
          <a:ln w="23408">
            <a:solidFill>
              <a:srgbClr val="6B7280"/>
            </a:solidFill>
            <a:round/>
            <a:tailEnd len="sm" type="arrow" w="sm"/>
          </a:ln>
        </p:spPr>
      </p:cxnSp>
      <p:cxnSp>
        <p:nvCxnSpPr>
          <p:cNvPr id="1871" name="drawio:e3"/>
          <p:cNvCxnSpPr/>
          <p:nvPr/>
        </p:nvCxnSpPr>
        <p:spPr>
          <a:xfrm flipV="1">
            <a:off x="8826120" y="2319120"/>
            <a:ext cx="720" cy="548640"/>
          </a:xfrm>
          <a:prstGeom prst="straightConnector1">
            <a:avLst/>
          </a:prstGeom>
          <a:ln w="23408">
            <a:solidFill>
              <a:srgbClr val="6B7280"/>
            </a:solidFill>
            <a:round/>
            <a:tailEnd len="sm" type="arrow" w="sm"/>
          </a:ln>
        </p:spPr>
      </p:cxnSp>
      <p:sp>
        <p:nvSpPr>
          <p:cNvPr id="1872" name="drawio:e4"/>
          <p:cNvSpPr/>
          <p:nvPr/>
        </p:nvSpPr>
        <p:spPr>
          <a:xfrm>
            <a:off x="10824480" y="1978920"/>
            <a:ext cx="330120" cy="2457360"/>
          </a:xfrm>
          <a:custGeom>
            <a:avLst/>
            <a:gdLst>
              <a:gd name="textAreaLeft" fmla="*/ 0 w 330120"/>
              <a:gd name="textAreaRight" fmla="*/ 330840 w 330120"/>
              <a:gd name="textAreaTop" fmla="*/ 0 h 2457360"/>
              <a:gd name="textAreaBottom" fmla="*/ 2458080 h 2457360"/>
            </a:gdLst>
            <a:ahLst/>
            <a:cxnLst/>
            <a:rect l="textAreaLeft" t="textAreaTop" r="textAreaRight" b="textAreaBottom"/>
            <a:pathLst>
              <a:path w="330998" h="2457907">
                <a:moveTo>
                  <a:pt x="0" y="2457907"/>
                </a:moveTo>
                <a:lnTo>
                  <a:pt x="330998" y="2457907"/>
                </a:lnTo>
                <a:lnTo>
                  <a:pt x="330998" y="1228954"/>
                </a:lnTo>
                <a:lnTo>
                  <a:pt x="330998" y="0"/>
                </a:lnTo>
                <a:lnTo>
                  <a:pt x="0" y="0"/>
                </a:lnTo>
              </a:path>
            </a:pathLst>
          </a:custGeom>
          <a:noFill/>
          <a:ln w="11704">
            <a:solidFill>
              <a:srgbClr val="6B728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73" name="drawio:e4:label"/>
          <p:cNvSpPr/>
          <p:nvPr/>
        </p:nvSpPr>
        <p:spPr>
          <a:xfrm>
            <a:off x="10728360" y="3094200"/>
            <a:ext cx="853560" cy="252360"/>
          </a:xfrm>
          <a:prstGeom prst="rect">
            <a:avLst/>
          </a:prstGeom>
          <a:solidFill>
            <a:srgbClr val="FFFFFF"/>
          </a:solidFill>
          <a:ln w="0">
            <a:noFill/>
          </a:ln>
        </p:spPr>
        <p:style>
          <a:lnRef idx="0"/>
          <a:fillRef idx="0"/>
          <a:effectRef idx="0"/>
          <a:fontRef idx="minor"/>
        </p:style>
        <p:txBody>
          <a:bodyPr lIns="36720" tIns="18360" rIns="36720" bIns="18360" anchor="ctr">
            <a:spAutoFit/>
          </a:bodyPr>
          <a:p>
            <a:pPr algn="ctr" defTabSz="457200">
              <a:lnSpc>
                <a:spcPct val="110000"/>
              </a:lnSpc>
            </a:pPr>
            <a:r>
              <a:rPr lang="ja-JP" sz="1290" b="0" u="none" strike="noStrike">
                <a:solidFill>
                  <a:srgbClr val="6B7280"/>
                </a:solidFill>
                <a:effectLst/>
                <a:uFillTx/>
                <a:latin typeface="BIZ UDPゴシック"/>
                <a:ea typeface="BIZ UDPゴシック"/>
              </a:rPr>
              <a:t>月次報告</a:t>
            </a:r>
            <a:endParaRPr lang="en-US" sz="1290" b="0" u="none" strike="noStrike">
              <a:solidFill>
                <a:srgbClr val="000000"/>
              </a:solidFill>
              <a:effectLst/>
              <a:uFillTx/>
              <a:latin typeface="Arial"/>
            </a:endParaRPr>
          </a:p>
        </p:txBody>
      </p:sp>
      <p:sp>
        <p:nvSpPr>
          <p:cNvPr id="1874" name="blk-diagram-cap"/>
          <p:cNvSpPr/>
          <p:nvPr/>
        </p:nvSpPr>
        <p:spPr>
          <a:xfrm>
            <a:off x="6233040" y="6053400"/>
            <a:ext cx="545508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エスカレーション経路</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5"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76"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877"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04</a:t>
            </a:r>
            <a:endParaRPr lang="en-US" sz="1500" b="0" u="none" strike="noStrike">
              <a:solidFill>
                <a:srgbClr val="FFFFFF"/>
              </a:solidFill>
              <a:effectLst/>
              <a:uFillTx/>
              <a:latin typeface="Arial"/>
            </a:endParaRPr>
          </a:p>
        </p:txBody>
      </p:sp>
      <p:sp>
        <p:nvSpPr>
          <p:cNvPr id="1878"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コミュニケーション計画</a:t>
            </a:r>
            <a:endParaRPr lang="en-US" sz="1100" b="0" u="none" strike="noStrike">
              <a:solidFill>
                <a:srgbClr val="000000"/>
              </a:solidFill>
              <a:effectLst/>
              <a:uFillTx/>
              <a:latin typeface="Arial"/>
            </a:endParaRPr>
          </a:p>
        </p:txBody>
      </p:sp>
      <p:sp>
        <p:nvSpPr>
          <p:cNvPr id="1879"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0"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1"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2" name="hdr-bar"/>
          <p:cNvSpPr/>
          <p:nvPr/>
        </p:nvSpPr>
        <p:spPr>
          <a:xfrm>
            <a:off x="107470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3"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4"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5"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886"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887"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4.4 </a:t>
            </a:r>
            <a:r>
              <a:rPr lang="ja-JP" sz="2400" b="1" u="none" strike="noStrike">
                <a:solidFill>
                  <a:srgbClr val="16213E"/>
                </a:solidFill>
                <a:effectLst/>
                <a:uFillTx/>
                <a:latin typeface="BIZ UDPゴシック"/>
                <a:ea typeface="BIZ UDPゴシック"/>
              </a:rPr>
              <a:t>進捗報告とエスカレーション ─ エスカレーション基準</a:t>
            </a:r>
            <a:endParaRPr lang="en-US" sz="2400" b="0" u="none" strike="noStrike">
              <a:solidFill>
                <a:srgbClr val="000000"/>
              </a:solidFill>
              <a:effectLst/>
              <a:uFillTx/>
              <a:latin typeface="Arial"/>
            </a:endParaRPr>
          </a:p>
        </p:txBody>
      </p:sp>
      <p:sp>
        <p:nvSpPr>
          <p:cNvPr id="1888"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889" name="hdr-hair"/>
          <p:cNvCxnSpPr/>
          <p:nvPr/>
        </p:nvCxnSpPr>
        <p:spPr>
          <a:xfrm>
            <a:off x="502920" y="969120"/>
            <a:ext cx="11186280" cy="720"/>
          </a:xfrm>
          <a:prstGeom prst="straightConnector1">
            <a:avLst/>
          </a:prstGeom>
          <a:ln w="9525">
            <a:solidFill>
              <a:srgbClr val="D5DBE5"/>
            </a:solidFill>
            <a:round/>
          </a:ln>
        </p:spPr>
      </p:cxnSp>
      <p:cxnSp>
        <p:nvCxnSpPr>
          <p:cNvPr id="1890" name="ftr-hair"/>
          <p:cNvCxnSpPr/>
          <p:nvPr/>
        </p:nvCxnSpPr>
        <p:spPr>
          <a:xfrm>
            <a:off x="502920" y="6382440"/>
            <a:ext cx="11186280" cy="720"/>
          </a:xfrm>
          <a:prstGeom prst="straightConnector1">
            <a:avLst/>
          </a:prstGeom>
          <a:ln w="9525">
            <a:solidFill>
              <a:srgbClr val="D5DBE5"/>
            </a:solidFill>
            <a:round/>
          </a:ln>
        </p:spPr>
      </p:cxnSp>
      <p:sp>
        <p:nvSpPr>
          <p:cNvPr id="1891"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53 / 85</a:t>
            </a:r>
            <a:endParaRPr lang="en-US" sz="1100" b="0" u="none" strike="noStrike">
              <a:solidFill>
                <a:srgbClr val="000000"/>
              </a:solidFill>
              <a:effectLst/>
              <a:uFillTx/>
              <a:latin typeface="Arial"/>
            </a:endParaRPr>
          </a:p>
        </p:txBody>
      </p:sp>
      <p:sp>
        <p:nvSpPr>
          <p:cNvPr id="1892"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893"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894"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895"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96"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97"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重要度に応じたエスカレーション基準を定める</a:t>
            </a:r>
            <a:endParaRPr lang="en-US" sz="1500" b="0" u="none" strike="noStrike">
              <a:solidFill>
                <a:srgbClr val="000000"/>
              </a:solidFill>
              <a:effectLst/>
              <a:uFillTx/>
              <a:latin typeface="Arial"/>
            </a:endParaRPr>
          </a:p>
        </p:txBody>
      </p:sp>
      <p:graphicFrame>
        <p:nvGraphicFramePr>
          <p:cNvPr id="1898" name="blk-table"/>
          <p:cNvGraphicFramePr/>
          <p:nvPr/>
        </p:nvGraphicFramePr>
        <p:xfrm>
          <a:off x="502920" y="1627560"/>
          <a:ext cx="11184840" cy="2219400"/>
        </p:xfrm>
        <a:graphic>
          <a:graphicData uri="http://schemas.openxmlformats.org/drawingml/2006/table">
            <a:tbl>
              <a:tblPr/>
              <a:tblGrid>
                <a:gridCol w="1789560"/>
                <a:gridCol w="4026600"/>
                <a:gridCol w="2684520"/>
                <a:gridCol w="268452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区分</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基準</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対応</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期限</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L1 (</a:t>
                      </a:r>
                      <a:r>
                        <a:rPr lang="ja-JP" sz="1100" b="0" u="none" strike="noStrike">
                          <a:solidFill>
                            <a:srgbClr val="1F2937"/>
                          </a:solidFill>
                          <a:effectLst/>
                          <a:uFillTx/>
                          <a:latin typeface="BIZ UDPゴシック"/>
                          <a:ea typeface="BIZ UDPゴシック"/>
                        </a:rPr>
                        <a:t>当社</a:t>
                      </a:r>
                      <a:r>
                        <a:rPr lang="en-US" sz="1100" b="0" u="none" strike="noStrike">
                          <a:solidFill>
                            <a:srgbClr val="1F2937"/>
                          </a:solidFill>
                          <a:effectLst/>
                          <a:uFillTx/>
                          <a:latin typeface="BIZ UDPゴシック"/>
                          <a:ea typeface="BIZ UDPゴシック"/>
                        </a:rPr>
                        <a:t>PM)</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遅延</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週未満と軽微課題</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定例で是正し記録する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週次定例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L2 (</a:t>
                      </a:r>
                      <a:r>
                        <a:rPr lang="ja-JP" sz="1100" b="0" u="none" strike="noStrike">
                          <a:solidFill>
                            <a:srgbClr val="1F2937"/>
                          </a:solidFill>
                          <a:effectLst/>
                          <a:uFillTx/>
                          <a:latin typeface="BIZ UDPゴシック"/>
                          <a:ea typeface="BIZ UDPゴシック"/>
                        </a:rPr>
                        <a:t>業務改革推進部</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遅延</a:t>
                      </a:r>
                      <a:r>
                        <a:rPr lang="en-US" sz="1100" b="0" u="none" strike="noStrike">
                          <a:solidFill>
                            <a:srgbClr val="1F2937"/>
                          </a:solidFill>
                          <a:effectLst/>
                          <a:uFillTx/>
                          <a:latin typeface="BIZ UDPゴシック"/>
                          <a:ea typeface="BIZ UDPゴシック"/>
                        </a:rPr>
                        <a:t>1</a:t>
                      </a:r>
                      <a:r>
                        <a:rPr lang="ja-JP" sz="1100" b="0" u="none" strike="noStrike">
                          <a:solidFill>
                            <a:srgbClr val="1F2937"/>
                          </a:solidFill>
                          <a:effectLst/>
                          <a:uFillTx/>
                          <a:latin typeface="BIZ UDPゴシック"/>
                          <a:ea typeface="BIZ UDPゴシック"/>
                        </a:rPr>
                        <a:t>週以上と中課題</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対応方針を決定する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3</a:t>
                      </a:r>
                      <a:r>
                        <a:rPr lang="ja-JP" sz="1100" b="0" u="none" strike="noStrike">
                          <a:solidFill>
                            <a:srgbClr val="1F2937"/>
                          </a:solidFill>
                          <a:effectLst/>
                          <a:uFillTx/>
                          <a:latin typeface="BIZ UDPゴシック"/>
                          <a:ea typeface="BIZ UDPゴシック"/>
                        </a:rPr>
                        <a:t>営業日以内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L3 (CCB)</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中区分の変更要求</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変更の承認可否を判定する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起票から</a:t>
                      </a:r>
                      <a:r>
                        <a:rPr lang="en-US" sz="1100" b="0" u="none" strike="noStrike">
                          <a:solidFill>
                            <a:srgbClr val="1F2937"/>
                          </a:solidFill>
                          <a:effectLst/>
                          <a:uFillTx/>
                          <a:latin typeface="BIZ UDPゴシック"/>
                          <a:ea typeface="BIZ UDPゴシック"/>
                        </a:rPr>
                        <a:t>5</a:t>
                      </a:r>
                      <a:r>
                        <a:rPr lang="ja-JP" sz="1100" b="0" u="none" strike="noStrike">
                          <a:solidFill>
                            <a:srgbClr val="1F2937"/>
                          </a:solidFill>
                          <a:effectLst/>
                          <a:uFillTx/>
                          <a:latin typeface="BIZ UDPゴシック"/>
                          <a:ea typeface="BIZ UDPゴシック"/>
                        </a:rPr>
                        <a:t>営業日以内</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9492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L4 (</a:t>
                      </a:r>
                      <a:r>
                        <a:rPr lang="ja-JP" sz="1100" b="0" u="none" strike="noStrike">
                          <a:solidFill>
                            <a:srgbClr val="1F2937"/>
                          </a:solidFill>
                          <a:effectLst/>
                          <a:uFillTx/>
                          <a:latin typeface="BIZ UDPゴシック"/>
                          <a:ea typeface="BIZ UDPゴシック"/>
                        </a:rPr>
                        <a:t>ステアリングコミッティ</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重大課題・予算超過・重大変更</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変更要否と方針を承認する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7</a:t>
                      </a:r>
                      <a:r>
                        <a:rPr lang="ja-JP" sz="1100" b="0" u="none" strike="noStrike">
                          <a:solidFill>
                            <a:srgbClr val="1F2937"/>
                          </a:solidFill>
                          <a:effectLst/>
                          <a:uFillTx/>
                          <a:latin typeface="BIZ UDPゴシック"/>
                          <a:ea typeface="BIZ UDPゴシック"/>
                        </a:rPr>
                        <a:t>日以内に臨時招集</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100" b="0" u="none" strike="noStrike">
                          <a:solidFill>
                            <a:srgbClr val="1F2937"/>
                          </a:solidFill>
                          <a:effectLst/>
                          <a:uFillTx/>
                          <a:latin typeface="BIZ UDPゴシック"/>
                          <a:ea typeface="BIZ UDPゴシック"/>
                        </a:rPr>
                        <a:t>L5 (</a:t>
                      </a:r>
                      <a:r>
                        <a:rPr lang="ja-JP" sz="1100" b="0" u="none" strike="noStrike">
                          <a:solidFill>
                            <a:srgbClr val="1F2937"/>
                          </a:solidFill>
                          <a:effectLst/>
                          <a:uFillTx/>
                          <a:latin typeface="BIZ UDPゴシック"/>
                          <a:ea typeface="BIZ UDPゴシック"/>
                        </a:rPr>
                        <a:t>経営層</a:t>
                      </a:r>
                      <a:r>
                        <a:rPr lang="en-US" sz="1100" b="0"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事業継続に影響する重大障害</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経営判断を仰ぐ</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当日中に緊急報告</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9"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00"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901"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04</a:t>
            </a:r>
            <a:endParaRPr lang="en-US" sz="1500" b="0" u="none" strike="noStrike">
              <a:solidFill>
                <a:srgbClr val="FFFFFF"/>
              </a:solidFill>
              <a:effectLst/>
              <a:uFillTx/>
              <a:latin typeface="Arial"/>
            </a:endParaRPr>
          </a:p>
        </p:txBody>
      </p:sp>
      <p:sp>
        <p:nvSpPr>
          <p:cNvPr id="1902"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コミュニケーション計画</a:t>
            </a:r>
            <a:endParaRPr lang="en-US" sz="1100" b="0" u="none" strike="noStrike">
              <a:solidFill>
                <a:srgbClr val="000000"/>
              </a:solidFill>
              <a:effectLst/>
              <a:uFillTx/>
              <a:latin typeface="Arial"/>
            </a:endParaRPr>
          </a:p>
        </p:txBody>
      </p:sp>
      <p:sp>
        <p:nvSpPr>
          <p:cNvPr id="1903"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04"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05"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06" name="hdr-bar"/>
          <p:cNvSpPr/>
          <p:nvPr/>
        </p:nvSpPr>
        <p:spPr>
          <a:xfrm>
            <a:off x="107470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07" name="hdr-bar"/>
          <p:cNvSpPr/>
          <p:nvPr/>
        </p:nvSpPr>
        <p:spPr>
          <a:xfrm>
            <a:off x="1099368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08"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09"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10"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911"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4.5 </a:t>
            </a:r>
            <a:r>
              <a:rPr lang="ja-JP" sz="2400" b="1" u="none" strike="noStrike">
                <a:solidFill>
                  <a:srgbClr val="16213E"/>
                </a:solidFill>
                <a:effectLst/>
                <a:uFillTx/>
                <a:latin typeface="BIZ UDPゴシック"/>
                <a:ea typeface="BIZ UDPゴシック"/>
              </a:rPr>
              <a:t>連絡手段 </a:t>
            </a:r>
            <a:r>
              <a:rPr lang="en-US" sz="2400" b="1" u="none" strike="noStrike">
                <a:solidFill>
                  <a:srgbClr val="16213E"/>
                </a:solidFill>
                <a:effectLst/>
                <a:uFillTx/>
                <a:latin typeface="BIZ UDPゴシック"/>
                <a:ea typeface="BIZ UDPゴシック"/>
              </a:rPr>
              <a:t>(</a:t>
            </a:r>
            <a:r>
              <a:rPr lang="ja-JP" sz="2400" b="1" u="none" strike="noStrike">
                <a:solidFill>
                  <a:srgbClr val="16213E"/>
                </a:solidFill>
                <a:effectLst/>
                <a:uFillTx/>
                <a:latin typeface="BIZ UDPゴシック"/>
                <a:ea typeface="BIZ UDPゴシック"/>
              </a:rPr>
              <a:t>メール・チャット等</a:t>
            </a:r>
            <a:r>
              <a:rPr lang="en-US" sz="2400" b="1" u="none" strike="noStrike">
                <a:solidFill>
                  <a:srgbClr val="16213E"/>
                </a:solidFill>
                <a:effectLst/>
                <a:uFillTx/>
                <a:latin typeface="BIZ UDPゴシック"/>
                <a:ea typeface="BIZ UDPゴシック"/>
              </a:rPr>
              <a:t>)</a:t>
            </a:r>
            <a:endParaRPr lang="en-US" sz="2400" b="0" u="none" strike="noStrike">
              <a:solidFill>
                <a:srgbClr val="000000"/>
              </a:solidFill>
              <a:effectLst/>
              <a:uFillTx/>
              <a:latin typeface="Arial"/>
            </a:endParaRPr>
          </a:p>
        </p:txBody>
      </p:sp>
      <p:sp>
        <p:nvSpPr>
          <p:cNvPr id="1912"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913" name="hdr-hair"/>
          <p:cNvCxnSpPr/>
          <p:nvPr/>
        </p:nvCxnSpPr>
        <p:spPr>
          <a:xfrm>
            <a:off x="502920" y="969120"/>
            <a:ext cx="11186280" cy="720"/>
          </a:xfrm>
          <a:prstGeom prst="straightConnector1">
            <a:avLst/>
          </a:prstGeom>
          <a:ln w="9525">
            <a:solidFill>
              <a:srgbClr val="D5DBE5"/>
            </a:solidFill>
            <a:round/>
          </a:ln>
        </p:spPr>
      </p:cxnSp>
      <p:cxnSp>
        <p:nvCxnSpPr>
          <p:cNvPr id="1914" name="ftr-hair"/>
          <p:cNvCxnSpPr/>
          <p:nvPr/>
        </p:nvCxnSpPr>
        <p:spPr>
          <a:xfrm>
            <a:off x="502920" y="6382440"/>
            <a:ext cx="11186280" cy="720"/>
          </a:xfrm>
          <a:prstGeom prst="straightConnector1">
            <a:avLst/>
          </a:prstGeom>
          <a:ln w="9525">
            <a:solidFill>
              <a:srgbClr val="D5DBE5"/>
            </a:solidFill>
            <a:round/>
          </a:ln>
        </p:spPr>
      </p:cxnSp>
      <p:sp>
        <p:nvSpPr>
          <p:cNvPr id="1915"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54 / 85</a:t>
            </a:r>
            <a:endParaRPr lang="en-US" sz="1100" b="0" u="none" strike="noStrike">
              <a:solidFill>
                <a:srgbClr val="000000"/>
              </a:solidFill>
              <a:effectLst/>
              <a:uFillTx/>
              <a:latin typeface="Arial"/>
            </a:endParaRPr>
          </a:p>
        </p:txBody>
      </p:sp>
      <p:sp>
        <p:nvSpPr>
          <p:cNvPr id="1916"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917"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918"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919"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0"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1"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用途ごとの連絡手段とルールを定める</a:t>
            </a:r>
            <a:endParaRPr lang="en-US" sz="1500" b="0" u="none" strike="noStrike">
              <a:solidFill>
                <a:srgbClr val="000000"/>
              </a:solidFill>
              <a:effectLst/>
              <a:uFillTx/>
              <a:latin typeface="Arial"/>
            </a:endParaRPr>
          </a:p>
        </p:txBody>
      </p:sp>
      <p:graphicFrame>
        <p:nvGraphicFramePr>
          <p:cNvPr id="1922" name="blk-table"/>
          <p:cNvGraphicFramePr/>
          <p:nvPr/>
        </p:nvGraphicFramePr>
        <p:xfrm>
          <a:off x="502920" y="1627560"/>
          <a:ext cx="11185200" cy="1780560"/>
        </p:xfrm>
        <a:graphic>
          <a:graphicData uri="http://schemas.openxmlformats.org/drawingml/2006/table">
            <a:tbl>
              <a:tblPr/>
              <a:tblGrid>
                <a:gridCol w="3132000"/>
                <a:gridCol w="2684520"/>
                <a:gridCol w="5369040"/>
              </a:tblGrid>
              <a:tr h="245520">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用途</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手段</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100" b="1" u="none" strike="noStrike">
                          <a:solidFill>
                            <a:srgbClr val="FFFFFF"/>
                          </a:solidFill>
                          <a:effectLst/>
                          <a:uFillTx/>
                          <a:latin typeface="BIZ UDPゴシック"/>
                          <a:ea typeface="BIZ UDPゴシック"/>
                        </a:rPr>
                        <a:t>ルール</a:t>
                      </a:r>
                      <a:endParaRPr lang="en-US" sz="11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正式な連絡・決定</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メール</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決定事項と対外文書はメールで記録を残す</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日常の連絡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ビジネスチャット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専用チャンネルで連絡し、決定は議事録に記録する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緊急連絡</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電話・チャット</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障害時は当日中に当社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と貴社</a:t>
                      </a:r>
                      <a:r>
                        <a:rPr lang="en-US" sz="1100" b="0" u="none" strike="noStrike">
                          <a:solidFill>
                            <a:srgbClr val="1F2937"/>
                          </a:solidFill>
                          <a:effectLst/>
                          <a:uFillTx/>
                          <a:latin typeface="BIZ UDPゴシック"/>
                          <a:ea typeface="BIZ UDPゴシック"/>
                        </a:rPr>
                        <a:t>PM</a:t>
                      </a:r>
                      <a:r>
                        <a:rPr lang="ja-JP" sz="1100" b="0" u="none" strike="noStrike">
                          <a:solidFill>
                            <a:srgbClr val="1F2937"/>
                          </a:solidFill>
                          <a:effectLst/>
                          <a:uFillTx/>
                          <a:latin typeface="BIZ UDPゴシック"/>
                          <a:ea typeface="BIZ UDPゴシック"/>
                        </a:rPr>
                        <a:t>へ連絡する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ドキュメント共有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社内ファイル共有</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100" b="0" u="none" strike="noStrike">
                          <a:solidFill>
                            <a:srgbClr val="1F2937"/>
                          </a:solidFill>
                          <a:effectLst/>
                          <a:uFillTx/>
                          <a:latin typeface="BIZ UDPゴシック"/>
                          <a:ea typeface="BIZ UDPゴシック"/>
                        </a:rPr>
                        <a:t>成果物は版管理し、共有リンクで配布する</a:t>
                      </a:r>
                      <a:endParaRPr lang="en-US" sz="11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3"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4"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5"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6"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7"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1928"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05</a:t>
            </a:r>
            <a:endParaRPr lang="en-US" sz="9600" b="0" u="none" strike="noStrike">
              <a:solidFill>
                <a:srgbClr val="000000"/>
              </a:solidFill>
              <a:effectLst/>
              <a:uFillTx/>
              <a:latin typeface="Arial"/>
            </a:endParaRPr>
          </a:p>
        </p:txBody>
      </p:sp>
      <p:sp>
        <p:nvSpPr>
          <p:cNvPr id="1929"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プロジェクト管理計画</a:t>
            </a:r>
            <a:endParaRPr lang="en-US" sz="4000" b="0" u="none" strike="noStrike">
              <a:solidFill>
                <a:srgbClr val="000000"/>
              </a:solidFill>
              <a:effectLst/>
              <a:uFillTx/>
              <a:latin typeface="Arial"/>
            </a:endParaRPr>
          </a:p>
        </p:txBody>
      </p:sp>
      <p:sp>
        <p:nvSpPr>
          <p:cNvPr id="1930" name="dv-dot-5.1"/>
          <p:cNvSpPr/>
          <p:nvPr/>
        </p:nvSpPr>
        <p:spPr>
          <a:xfrm>
            <a:off x="896040" y="40989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31" name="dv-sec-5.1"/>
          <p:cNvSpPr/>
          <p:nvPr/>
        </p:nvSpPr>
        <p:spPr>
          <a:xfrm>
            <a:off x="1097280" y="404172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5.1  </a:t>
            </a:r>
            <a:r>
              <a:rPr lang="ja-JP" sz="1150" b="0" u="none" strike="noStrike">
                <a:solidFill>
                  <a:srgbClr val="D2E1FC"/>
                </a:solidFill>
                <a:effectLst/>
                <a:uFillTx/>
                <a:latin typeface="BIZ UDPゴシック"/>
                <a:ea typeface="BIZ UDPゴシック"/>
              </a:rPr>
              <a:t>課題関連図</a:t>
            </a:r>
            <a:endParaRPr lang="en-US" sz="1150" b="0" u="none" strike="noStrike">
              <a:solidFill>
                <a:srgbClr val="000000"/>
              </a:solidFill>
              <a:effectLst/>
              <a:uFillTx/>
              <a:latin typeface="Arial"/>
            </a:endParaRPr>
          </a:p>
        </p:txBody>
      </p:sp>
      <p:sp>
        <p:nvSpPr>
          <p:cNvPr id="1932" name="dv-dot-5.2"/>
          <p:cNvSpPr/>
          <p:nvPr/>
        </p:nvSpPr>
        <p:spPr>
          <a:xfrm>
            <a:off x="896040" y="42962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33" name="dv-sec-5.2"/>
          <p:cNvSpPr/>
          <p:nvPr/>
        </p:nvSpPr>
        <p:spPr>
          <a:xfrm>
            <a:off x="1097280" y="423864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5.2  Q&amp;A</a:t>
            </a:r>
            <a:r>
              <a:rPr lang="ja-JP" sz="1150" b="0" u="none" strike="noStrike">
                <a:solidFill>
                  <a:srgbClr val="D2E1FC"/>
                </a:solidFill>
                <a:effectLst/>
                <a:uFillTx/>
                <a:latin typeface="BIZ UDPゴシック"/>
                <a:ea typeface="BIZ UDPゴシック"/>
              </a:rPr>
              <a:t>管理</a:t>
            </a:r>
            <a:endParaRPr lang="en-US" sz="1150" b="0" u="none" strike="noStrike">
              <a:solidFill>
                <a:srgbClr val="000000"/>
              </a:solidFill>
              <a:effectLst/>
              <a:uFillTx/>
              <a:latin typeface="Arial"/>
            </a:endParaRPr>
          </a:p>
        </p:txBody>
      </p:sp>
      <p:sp>
        <p:nvSpPr>
          <p:cNvPr id="1934" name="dv-dot-5.3"/>
          <p:cNvSpPr/>
          <p:nvPr/>
        </p:nvSpPr>
        <p:spPr>
          <a:xfrm>
            <a:off x="896040" y="44935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35" name="dv-sec-5.3"/>
          <p:cNvSpPr/>
          <p:nvPr/>
        </p:nvSpPr>
        <p:spPr>
          <a:xfrm>
            <a:off x="1097280" y="443592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5.3  </a:t>
            </a:r>
            <a:r>
              <a:rPr lang="ja-JP" sz="1150" b="0" u="none" strike="noStrike">
                <a:solidFill>
                  <a:srgbClr val="D2E1FC"/>
                </a:solidFill>
                <a:effectLst/>
                <a:uFillTx/>
                <a:latin typeface="BIZ UDPゴシック"/>
                <a:ea typeface="BIZ UDPゴシック"/>
              </a:rPr>
              <a:t>課題管理</a:t>
            </a:r>
            <a:endParaRPr lang="en-US" sz="1150" b="0" u="none" strike="noStrike">
              <a:solidFill>
                <a:srgbClr val="000000"/>
              </a:solidFill>
              <a:effectLst/>
              <a:uFillTx/>
              <a:latin typeface="Arial"/>
            </a:endParaRPr>
          </a:p>
        </p:txBody>
      </p:sp>
      <p:sp>
        <p:nvSpPr>
          <p:cNvPr id="1936" name="dv-dot-5.4"/>
          <p:cNvSpPr/>
          <p:nvPr/>
        </p:nvSpPr>
        <p:spPr>
          <a:xfrm>
            <a:off x="896040" y="469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37" name="dv-sec-5.4"/>
          <p:cNvSpPr/>
          <p:nvPr/>
        </p:nvSpPr>
        <p:spPr>
          <a:xfrm>
            <a:off x="1097280" y="463320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5.4  </a:t>
            </a:r>
            <a:r>
              <a:rPr lang="ja-JP" sz="1150" b="0" u="none" strike="noStrike">
                <a:solidFill>
                  <a:srgbClr val="D2E1FC"/>
                </a:solidFill>
                <a:effectLst/>
                <a:uFillTx/>
                <a:latin typeface="BIZ UDPゴシック"/>
                <a:ea typeface="BIZ UDPゴシック"/>
              </a:rPr>
              <a:t>リスク管理</a:t>
            </a:r>
            <a:endParaRPr lang="en-US" sz="1150" b="0" u="none" strike="noStrike">
              <a:solidFill>
                <a:srgbClr val="000000"/>
              </a:solidFill>
              <a:effectLst/>
              <a:uFillTx/>
              <a:latin typeface="Arial"/>
            </a:endParaRPr>
          </a:p>
        </p:txBody>
      </p:sp>
      <p:sp>
        <p:nvSpPr>
          <p:cNvPr id="1938" name="dv-dot-5.5"/>
          <p:cNvSpPr/>
          <p:nvPr/>
        </p:nvSpPr>
        <p:spPr>
          <a:xfrm>
            <a:off x="896040" y="48877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39" name="dv-sec-5.5"/>
          <p:cNvSpPr/>
          <p:nvPr/>
        </p:nvSpPr>
        <p:spPr>
          <a:xfrm>
            <a:off x="1097280" y="483048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5.5  </a:t>
            </a:r>
            <a:r>
              <a:rPr lang="ja-JP" sz="1150" b="0" u="none" strike="noStrike">
                <a:solidFill>
                  <a:srgbClr val="D2E1FC"/>
                </a:solidFill>
                <a:effectLst/>
                <a:uFillTx/>
                <a:latin typeface="BIZ UDPゴシック"/>
                <a:ea typeface="BIZ UDPゴシック"/>
              </a:rPr>
              <a:t>変更管理</a:t>
            </a:r>
            <a:endParaRPr lang="en-US" sz="1150" b="0" u="none" strike="noStrike">
              <a:solidFill>
                <a:srgbClr val="000000"/>
              </a:solidFill>
              <a:effectLst/>
              <a:uFillTx/>
              <a:latin typeface="Arial"/>
            </a:endParaRPr>
          </a:p>
        </p:txBody>
      </p:sp>
      <p:sp>
        <p:nvSpPr>
          <p:cNvPr id="1940" name="dv-dot-5.6"/>
          <p:cNvSpPr/>
          <p:nvPr/>
        </p:nvSpPr>
        <p:spPr>
          <a:xfrm>
            <a:off x="896040" y="50850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41" name="dv-sec-5.6"/>
          <p:cNvSpPr/>
          <p:nvPr/>
        </p:nvSpPr>
        <p:spPr>
          <a:xfrm>
            <a:off x="1097280" y="502740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5.6  </a:t>
            </a:r>
            <a:r>
              <a:rPr lang="ja-JP" sz="1150" b="0" u="none" strike="noStrike">
                <a:solidFill>
                  <a:srgbClr val="D2E1FC"/>
                </a:solidFill>
                <a:effectLst/>
                <a:uFillTx/>
                <a:latin typeface="BIZ UDPゴシック"/>
                <a:ea typeface="BIZ UDPゴシック"/>
              </a:rPr>
              <a:t>品質管理</a:t>
            </a:r>
            <a:endParaRPr lang="en-US" sz="1150" b="0" u="none" strike="noStrike">
              <a:solidFill>
                <a:srgbClr val="000000"/>
              </a:solidFill>
              <a:effectLst/>
              <a:uFillTx/>
              <a:latin typeface="Arial"/>
            </a:endParaRPr>
          </a:p>
        </p:txBody>
      </p:sp>
      <p:sp>
        <p:nvSpPr>
          <p:cNvPr id="1942" name="dv-dot-5.7"/>
          <p:cNvSpPr/>
          <p:nvPr/>
        </p:nvSpPr>
        <p:spPr>
          <a:xfrm>
            <a:off x="896040" y="528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43" name="dv-sec-5.7"/>
          <p:cNvSpPr/>
          <p:nvPr/>
        </p:nvSpPr>
        <p:spPr>
          <a:xfrm>
            <a:off x="1097280" y="522468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5.7  </a:t>
            </a:r>
            <a:r>
              <a:rPr lang="ja-JP" sz="1150" b="0" u="none" strike="noStrike">
                <a:solidFill>
                  <a:srgbClr val="D2E1FC"/>
                </a:solidFill>
                <a:effectLst/>
                <a:uFillTx/>
                <a:latin typeface="BIZ UDPゴシック"/>
                <a:ea typeface="BIZ UDPゴシック"/>
              </a:rPr>
              <a:t>進捗管理</a:t>
            </a:r>
            <a:endParaRPr lang="en-US" sz="1150" b="0" u="none" strike="noStrike">
              <a:solidFill>
                <a:srgbClr val="000000"/>
              </a:solidFill>
              <a:effectLst/>
              <a:uFillTx/>
              <a:latin typeface="Arial"/>
            </a:endParaRPr>
          </a:p>
        </p:txBody>
      </p:sp>
      <p:sp>
        <p:nvSpPr>
          <p:cNvPr id="1944" name="dv-dot-5.8"/>
          <p:cNvSpPr/>
          <p:nvPr/>
        </p:nvSpPr>
        <p:spPr>
          <a:xfrm>
            <a:off x="896040" y="54792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45" name="dv-sec-5.8"/>
          <p:cNvSpPr/>
          <p:nvPr/>
        </p:nvSpPr>
        <p:spPr>
          <a:xfrm>
            <a:off x="1097280" y="542196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5.8  </a:t>
            </a:r>
            <a:r>
              <a:rPr lang="ja-JP" sz="1150" b="0" u="none" strike="noStrike">
                <a:solidFill>
                  <a:srgbClr val="D2E1FC"/>
                </a:solidFill>
                <a:effectLst/>
                <a:uFillTx/>
                <a:latin typeface="BIZ UDPゴシック"/>
                <a:ea typeface="BIZ UDPゴシック"/>
              </a:rPr>
              <a:t>予算・コスト管理</a:t>
            </a:r>
            <a:endParaRPr lang="en-US" sz="1150" b="0" u="none" strike="noStrike">
              <a:solidFill>
                <a:srgbClr val="000000"/>
              </a:solidFill>
              <a:effectLst/>
              <a:uFillTx/>
              <a:latin typeface="Arial"/>
            </a:endParaRPr>
          </a:p>
        </p:txBody>
      </p:sp>
      <p:sp>
        <p:nvSpPr>
          <p:cNvPr id="1946" name="dv-dot-5.9"/>
          <p:cNvSpPr/>
          <p:nvPr/>
        </p:nvSpPr>
        <p:spPr>
          <a:xfrm>
            <a:off x="896040" y="567648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47" name="dv-sec-5.9"/>
          <p:cNvSpPr/>
          <p:nvPr/>
        </p:nvSpPr>
        <p:spPr>
          <a:xfrm>
            <a:off x="1097280" y="561888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5.9  </a:t>
            </a:r>
            <a:r>
              <a:rPr lang="ja-JP" sz="1150" b="0" u="none" strike="noStrike">
                <a:solidFill>
                  <a:srgbClr val="D2E1FC"/>
                </a:solidFill>
                <a:effectLst/>
                <a:uFillTx/>
                <a:latin typeface="BIZ UDPゴシック"/>
                <a:ea typeface="BIZ UDPゴシック"/>
              </a:rPr>
              <a:t>調達・外部委託管理</a:t>
            </a:r>
            <a:endParaRPr lang="en-US" sz="1150" b="0" u="none" strike="noStrike">
              <a:solidFill>
                <a:srgbClr val="000000"/>
              </a:solidFill>
              <a:effectLst/>
              <a:uFillTx/>
              <a:latin typeface="Arial"/>
            </a:endParaRPr>
          </a:p>
        </p:txBody>
      </p:sp>
      <p:sp>
        <p:nvSpPr>
          <p:cNvPr id="1948" name="dv-dot-5.10"/>
          <p:cNvSpPr/>
          <p:nvPr/>
        </p:nvSpPr>
        <p:spPr>
          <a:xfrm>
            <a:off x="896040" y="58737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49" name="dv-sec-5.10"/>
          <p:cNvSpPr/>
          <p:nvPr/>
        </p:nvSpPr>
        <p:spPr>
          <a:xfrm>
            <a:off x="1097280" y="581616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5.10  </a:t>
            </a:r>
            <a:r>
              <a:rPr lang="ja-JP" sz="1150" b="0" u="none" strike="noStrike">
                <a:solidFill>
                  <a:srgbClr val="D2E1FC"/>
                </a:solidFill>
                <a:effectLst/>
                <a:uFillTx/>
                <a:latin typeface="BIZ UDPゴシック"/>
                <a:ea typeface="BIZ UDPゴシック"/>
              </a:rPr>
              <a:t>ドキュメント・構成管理</a:t>
            </a:r>
            <a:endParaRPr lang="en-US" sz="1150" b="0" u="none" strike="noStrike">
              <a:solidFill>
                <a:srgbClr val="000000"/>
              </a:solidFill>
              <a:effectLst/>
              <a:uFillTx/>
              <a:latin typeface="Arial"/>
            </a:endParaRPr>
          </a:p>
        </p:txBody>
      </p:sp>
      <p:sp>
        <p:nvSpPr>
          <p:cNvPr id="1950" name="dv-dot-5.11"/>
          <p:cNvSpPr/>
          <p:nvPr/>
        </p:nvSpPr>
        <p:spPr>
          <a:xfrm>
            <a:off x="896040" y="607068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1951" name="dv-sec-5.11"/>
          <p:cNvSpPr/>
          <p:nvPr/>
        </p:nvSpPr>
        <p:spPr>
          <a:xfrm>
            <a:off x="1097280" y="6013440"/>
            <a:ext cx="10197720" cy="210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50" b="0" u="none" strike="noStrike">
                <a:solidFill>
                  <a:srgbClr val="D2E1FC"/>
                </a:solidFill>
                <a:effectLst/>
                <a:uFillTx/>
                <a:latin typeface="BIZ UDPゴシック"/>
                <a:ea typeface="BIZ UDPゴシック"/>
              </a:rPr>
              <a:t>5.11  </a:t>
            </a:r>
            <a:r>
              <a:rPr lang="ja-JP" sz="1150" b="0" u="none" strike="noStrike">
                <a:solidFill>
                  <a:srgbClr val="D2E1FC"/>
                </a:solidFill>
                <a:effectLst/>
                <a:uFillTx/>
                <a:latin typeface="BIZ UDPゴシック"/>
                <a:ea typeface="BIZ UDPゴシック"/>
              </a:rPr>
              <a:t>情報セキュリティ管理</a:t>
            </a:r>
            <a:endParaRPr lang="en-US" sz="1150" b="0" u="none" strike="noStrike">
              <a:solidFill>
                <a:srgbClr val="000000"/>
              </a:solidFill>
              <a:effectLst/>
              <a:uFillTx/>
              <a:latin typeface="Arial"/>
            </a:endParaRPr>
          </a:p>
        </p:txBody>
      </p:sp>
      <p:sp>
        <p:nvSpPr>
          <p:cNvPr id="1952"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55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3"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4"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955"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1956"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1957"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58"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59"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60"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61"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62"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63"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64"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1965"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5.1 </a:t>
            </a:r>
            <a:r>
              <a:rPr lang="ja-JP" sz="2400" b="1" u="none" strike="noStrike">
                <a:solidFill>
                  <a:srgbClr val="16213E"/>
                </a:solidFill>
                <a:effectLst/>
                <a:uFillTx/>
                <a:latin typeface="BIZ UDPゴシック"/>
                <a:ea typeface="BIZ UDPゴシック"/>
              </a:rPr>
              <a:t>課題関連図 ─ 全体像</a:t>
            </a:r>
            <a:endParaRPr lang="en-US" sz="2400" b="0" u="none" strike="noStrike">
              <a:solidFill>
                <a:srgbClr val="000000"/>
              </a:solidFill>
              <a:effectLst/>
              <a:uFillTx/>
              <a:latin typeface="Arial"/>
            </a:endParaRPr>
          </a:p>
        </p:txBody>
      </p:sp>
      <p:sp>
        <p:nvSpPr>
          <p:cNvPr id="1966"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1967" name="hdr-hair"/>
          <p:cNvCxnSpPr/>
          <p:nvPr/>
        </p:nvCxnSpPr>
        <p:spPr>
          <a:xfrm>
            <a:off x="502920" y="969120"/>
            <a:ext cx="11186280" cy="720"/>
          </a:xfrm>
          <a:prstGeom prst="straightConnector1">
            <a:avLst/>
          </a:prstGeom>
          <a:ln w="9525">
            <a:solidFill>
              <a:srgbClr val="D5DBE5"/>
            </a:solidFill>
            <a:round/>
          </a:ln>
        </p:spPr>
      </p:cxnSp>
      <p:cxnSp>
        <p:nvCxnSpPr>
          <p:cNvPr id="1968" name="ftr-hair"/>
          <p:cNvCxnSpPr/>
          <p:nvPr/>
        </p:nvCxnSpPr>
        <p:spPr>
          <a:xfrm>
            <a:off x="502920" y="6382440"/>
            <a:ext cx="11186280" cy="720"/>
          </a:xfrm>
          <a:prstGeom prst="straightConnector1">
            <a:avLst/>
          </a:prstGeom>
          <a:ln w="9525">
            <a:solidFill>
              <a:srgbClr val="D5DBE5"/>
            </a:solidFill>
            <a:round/>
          </a:ln>
        </p:spPr>
      </p:cxnSp>
      <p:sp>
        <p:nvSpPr>
          <p:cNvPr id="1969"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56 / 85</a:t>
            </a:r>
            <a:endParaRPr lang="en-US" sz="1100" b="0" u="none" strike="noStrike">
              <a:solidFill>
                <a:srgbClr val="000000"/>
              </a:solidFill>
              <a:effectLst/>
              <a:uFillTx/>
              <a:latin typeface="Arial"/>
            </a:endParaRPr>
          </a:p>
        </p:txBody>
      </p:sp>
      <p:sp>
        <p:nvSpPr>
          <p:cNvPr id="1970"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1971"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1972"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1973"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74"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75"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Q&amp;A</a:t>
            </a:r>
            <a:r>
              <a:rPr lang="ja-JP" sz="1500" b="1" u="none" strike="noStrike">
                <a:solidFill>
                  <a:srgbClr val="16213E"/>
                </a:solidFill>
                <a:effectLst/>
                <a:uFillTx/>
                <a:latin typeface="BIZ UDPゴシック"/>
                <a:ea typeface="BIZ UDPゴシック"/>
              </a:rPr>
              <a:t>と課題と議事録の関係を</a:t>
            </a:r>
            <a:r>
              <a:rPr lang="en-US" sz="1500" b="1" u="none" strike="noStrike">
                <a:solidFill>
                  <a:srgbClr val="16213E"/>
                </a:solidFill>
                <a:effectLst/>
                <a:uFillTx/>
                <a:latin typeface="BIZ UDPゴシック"/>
                <a:ea typeface="BIZ UDPゴシック"/>
              </a:rPr>
              <a:t>1</a:t>
            </a:r>
            <a:r>
              <a:rPr lang="ja-JP" sz="1500" b="1" u="none" strike="noStrike">
                <a:solidFill>
                  <a:srgbClr val="16213E"/>
                </a:solidFill>
                <a:effectLst/>
                <a:uFillTx/>
                <a:latin typeface="BIZ UDPゴシック"/>
                <a:ea typeface="BIZ UDPゴシック"/>
              </a:rPr>
              <a:t>枚で示し、情報の流れを統一する</a:t>
            </a:r>
            <a:endParaRPr lang="en-US" sz="1500" b="0" u="none" strike="noStrike">
              <a:solidFill>
                <a:srgbClr val="000000"/>
              </a:solidFill>
              <a:effectLst/>
              <a:uFillTx/>
              <a:latin typeface="Arial"/>
            </a:endParaRPr>
          </a:p>
        </p:txBody>
      </p:sp>
      <p:sp>
        <p:nvSpPr>
          <p:cNvPr id="1976" name="drawio:ctr"/>
          <p:cNvSpPr/>
          <p:nvPr/>
        </p:nvSpPr>
        <p:spPr>
          <a:xfrm>
            <a:off x="4841640" y="3150360"/>
            <a:ext cx="2507400" cy="894960"/>
          </a:xfrm>
          <a:prstGeom prst="ellipse">
            <a:avLst/>
          </a:prstGeom>
          <a:solidFill>
            <a:srgbClr val="16213E"/>
          </a:solidFill>
          <a:ln w="11196">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320" b="1" u="none" strike="noStrike">
                <a:solidFill>
                  <a:srgbClr val="FFFFFF"/>
                </a:solidFill>
                <a:effectLst/>
                <a:uFillTx/>
                <a:latin typeface="BIZ UDPゴシック"/>
                <a:ea typeface="BIZ UDPゴシック"/>
              </a:rPr>
              <a:t>経費精算業務改革の</a:t>
            </a:r>
            <a:endParaRPr lang="en-US" sz="1320" b="0" u="none" strike="noStrike">
              <a:solidFill>
                <a:srgbClr val="FFFFFF"/>
              </a:solidFill>
              <a:effectLst/>
              <a:uFillTx/>
              <a:latin typeface="Arial"/>
            </a:endParaRPr>
          </a:p>
          <a:p>
            <a:pPr algn="ctr" defTabSz="457200">
              <a:lnSpc>
                <a:spcPct val="110000"/>
              </a:lnSpc>
            </a:pPr>
            <a:r>
              <a:rPr lang="ja-JP" sz="1320" b="1" u="none" strike="noStrike">
                <a:solidFill>
                  <a:srgbClr val="FFFFFF"/>
                </a:solidFill>
                <a:effectLst/>
                <a:uFillTx/>
                <a:latin typeface="BIZ UDPゴシック"/>
                <a:ea typeface="BIZ UDPゴシック"/>
              </a:rPr>
              <a:t>実現</a:t>
            </a:r>
            <a:endParaRPr lang="en-US" sz="1320" b="0" u="none" strike="noStrike">
              <a:solidFill>
                <a:srgbClr val="FFFFFF"/>
              </a:solidFill>
              <a:effectLst/>
              <a:uFillTx/>
              <a:latin typeface="Arial"/>
            </a:endParaRPr>
          </a:p>
        </p:txBody>
      </p:sp>
      <p:sp>
        <p:nvSpPr>
          <p:cNvPr id="1977" name="drawio:i1"/>
          <p:cNvSpPr/>
          <p:nvPr/>
        </p:nvSpPr>
        <p:spPr>
          <a:xfrm>
            <a:off x="1079640" y="1627560"/>
            <a:ext cx="2865600" cy="716040"/>
          </a:xfrm>
          <a:prstGeom prst="roundRect">
            <a:avLst>
              <a:gd name="adj" fmla="val 16667"/>
            </a:avLst>
          </a:prstGeom>
          <a:solidFill>
            <a:srgbClr val="FFFFFF"/>
          </a:solidFill>
          <a:ln w="11196">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I001 </a:t>
            </a:r>
            <a:r>
              <a:rPr lang="ja-JP" sz="1240" b="0" u="none" strike="noStrike">
                <a:solidFill>
                  <a:srgbClr val="1F2937"/>
                </a:solidFill>
                <a:effectLst/>
                <a:uFillTx/>
                <a:latin typeface="BIZ UDPゴシック"/>
                <a:ea typeface="BIZ UDPゴシック"/>
              </a:rPr>
              <a:t>基幹会計システムの</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インタフェース仕様確定</a:t>
            </a:r>
            <a:endParaRPr lang="en-US" sz="1240" b="0" u="none" strike="noStrike">
              <a:solidFill>
                <a:srgbClr val="000000"/>
              </a:solidFill>
              <a:effectLst/>
              <a:uFillTx/>
              <a:latin typeface="Arial"/>
            </a:endParaRPr>
          </a:p>
        </p:txBody>
      </p:sp>
      <p:sp>
        <p:nvSpPr>
          <p:cNvPr id="1978" name="drawio:i2"/>
          <p:cNvSpPr/>
          <p:nvPr/>
        </p:nvSpPr>
        <p:spPr>
          <a:xfrm>
            <a:off x="1079640" y="3240000"/>
            <a:ext cx="2865600" cy="716040"/>
          </a:xfrm>
          <a:prstGeom prst="roundRect">
            <a:avLst>
              <a:gd name="adj" fmla="val 16667"/>
            </a:avLst>
          </a:prstGeom>
          <a:solidFill>
            <a:srgbClr val="FFFFFF"/>
          </a:solidFill>
          <a:ln w="11196">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I005 </a:t>
            </a:r>
            <a:r>
              <a:rPr lang="ja-JP" sz="1240" b="0" u="none" strike="noStrike">
                <a:solidFill>
                  <a:srgbClr val="1F2937"/>
                </a:solidFill>
                <a:effectLst/>
                <a:uFillTx/>
                <a:latin typeface="BIZ UDPゴシック"/>
                <a:ea typeface="BIZ UDPゴシック"/>
              </a:rPr>
              <a:t>研修日程と</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対象者名簿の確定</a:t>
            </a:r>
            <a:endParaRPr lang="en-US" sz="1240" b="0" u="none" strike="noStrike">
              <a:solidFill>
                <a:srgbClr val="000000"/>
              </a:solidFill>
              <a:effectLst/>
              <a:uFillTx/>
              <a:latin typeface="Arial"/>
            </a:endParaRPr>
          </a:p>
        </p:txBody>
      </p:sp>
      <p:sp>
        <p:nvSpPr>
          <p:cNvPr id="1979" name="drawio:i3"/>
          <p:cNvSpPr/>
          <p:nvPr/>
        </p:nvSpPr>
        <p:spPr>
          <a:xfrm>
            <a:off x="1079640" y="4852440"/>
            <a:ext cx="2865600" cy="716040"/>
          </a:xfrm>
          <a:prstGeom prst="roundRect">
            <a:avLst>
              <a:gd name="adj" fmla="val 16667"/>
            </a:avLst>
          </a:prstGeom>
          <a:solidFill>
            <a:srgbClr val="FFFFFF"/>
          </a:solidFill>
          <a:ln w="11196">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I002 </a:t>
            </a:r>
            <a:r>
              <a:rPr lang="ja-JP" sz="1240" b="0" u="none" strike="noStrike">
                <a:solidFill>
                  <a:srgbClr val="1F2937"/>
                </a:solidFill>
                <a:effectLst/>
                <a:uFillTx/>
                <a:latin typeface="BIZ UDPゴシック"/>
                <a:ea typeface="BIZ UDPゴシック"/>
              </a:rPr>
              <a:t>経費規程</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改定案の合意</a:t>
            </a:r>
            <a:endParaRPr lang="en-US" sz="1240" b="0" u="none" strike="noStrike">
              <a:solidFill>
                <a:srgbClr val="000000"/>
              </a:solidFill>
              <a:effectLst/>
              <a:uFillTx/>
              <a:latin typeface="Arial"/>
            </a:endParaRPr>
          </a:p>
        </p:txBody>
      </p:sp>
      <p:sp>
        <p:nvSpPr>
          <p:cNvPr id="1980" name="drawio:r3"/>
          <p:cNvSpPr/>
          <p:nvPr/>
        </p:nvSpPr>
        <p:spPr>
          <a:xfrm>
            <a:off x="8245800" y="1627560"/>
            <a:ext cx="2865600" cy="716040"/>
          </a:xfrm>
          <a:prstGeom prst="roundRect">
            <a:avLst>
              <a:gd name="adj" fmla="val 16667"/>
            </a:avLst>
          </a:prstGeom>
          <a:solidFill>
            <a:srgbClr val="FFFFFF"/>
          </a:solidFill>
          <a:ln w="11196">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R003 </a:t>
            </a:r>
            <a:r>
              <a:rPr lang="ja-JP" sz="1240" b="0" u="none" strike="noStrike">
                <a:solidFill>
                  <a:srgbClr val="1F2937"/>
                </a:solidFill>
                <a:effectLst/>
                <a:uFillTx/>
                <a:latin typeface="BIZ UDPゴシック"/>
                <a:ea typeface="BIZ UDPゴシック"/>
              </a:rPr>
              <a:t>連携仕様の</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提供遅延</a:t>
            </a:r>
            <a:endParaRPr lang="en-US" sz="1240" b="0" u="none" strike="noStrike">
              <a:solidFill>
                <a:srgbClr val="000000"/>
              </a:solidFill>
              <a:effectLst/>
              <a:uFillTx/>
              <a:latin typeface="Arial"/>
            </a:endParaRPr>
          </a:p>
        </p:txBody>
      </p:sp>
      <p:sp>
        <p:nvSpPr>
          <p:cNvPr id="1981" name="drawio:r5"/>
          <p:cNvSpPr/>
          <p:nvPr/>
        </p:nvSpPr>
        <p:spPr>
          <a:xfrm>
            <a:off x="8245800" y="3240000"/>
            <a:ext cx="2865600" cy="716040"/>
          </a:xfrm>
          <a:prstGeom prst="roundRect">
            <a:avLst>
              <a:gd name="adj" fmla="val 16667"/>
            </a:avLst>
          </a:prstGeom>
          <a:solidFill>
            <a:srgbClr val="FFFFFF"/>
          </a:solidFill>
          <a:ln w="11196">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R004 </a:t>
            </a:r>
            <a:r>
              <a:rPr lang="ja-JP" sz="1240" b="0" u="none" strike="noStrike">
                <a:solidFill>
                  <a:srgbClr val="1F2937"/>
                </a:solidFill>
                <a:effectLst/>
                <a:uFillTx/>
                <a:latin typeface="BIZ UDPゴシック"/>
                <a:ea typeface="BIZ UDPゴシック"/>
              </a:rPr>
              <a:t>定着化不足で</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旧運用が残る</a:t>
            </a:r>
            <a:endParaRPr lang="en-US" sz="1240" b="0" u="none" strike="noStrike">
              <a:solidFill>
                <a:srgbClr val="000000"/>
              </a:solidFill>
              <a:effectLst/>
              <a:uFillTx/>
              <a:latin typeface="Arial"/>
            </a:endParaRPr>
          </a:p>
        </p:txBody>
      </p:sp>
      <p:sp>
        <p:nvSpPr>
          <p:cNvPr id="1982" name="drawio:r2"/>
          <p:cNvSpPr/>
          <p:nvPr/>
        </p:nvSpPr>
        <p:spPr>
          <a:xfrm>
            <a:off x="8245800" y="4852440"/>
            <a:ext cx="2865600" cy="716040"/>
          </a:xfrm>
          <a:prstGeom prst="roundRect">
            <a:avLst>
              <a:gd name="adj" fmla="val 16667"/>
            </a:avLst>
          </a:prstGeom>
          <a:solidFill>
            <a:srgbClr val="FFFFFF"/>
          </a:solidFill>
          <a:ln w="11196">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en-US" sz="1240" b="0" u="none" strike="noStrike">
                <a:solidFill>
                  <a:srgbClr val="1F2937"/>
                </a:solidFill>
                <a:effectLst/>
                <a:uFillTx/>
                <a:latin typeface="BIZ UDPゴシック"/>
                <a:ea typeface="BIZ UDPゴシック"/>
              </a:rPr>
              <a:t>R002 </a:t>
            </a:r>
            <a:r>
              <a:rPr lang="ja-JP" sz="1240" b="0" u="none" strike="noStrike">
                <a:solidFill>
                  <a:srgbClr val="1F2937"/>
                </a:solidFill>
                <a:effectLst/>
                <a:uFillTx/>
                <a:latin typeface="BIZ UDPゴシック"/>
                <a:ea typeface="BIZ UDPゴシック"/>
              </a:rPr>
              <a:t>標準機能ギャップで</a:t>
            </a:r>
            <a:endParaRPr lang="en-US" sz="1240" b="0" u="none" strike="noStrike">
              <a:solidFill>
                <a:srgbClr val="000000"/>
              </a:solidFill>
              <a:effectLst/>
              <a:uFillTx/>
              <a:latin typeface="Arial"/>
            </a:endParaRPr>
          </a:p>
          <a:p>
            <a:pPr algn="ctr" defTabSz="457200">
              <a:lnSpc>
                <a:spcPct val="110000"/>
              </a:lnSpc>
            </a:pPr>
            <a:r>
              <a:rPr lang="ja-JP" sz="1240" b="0" u="none" strike="noStrike">
                <a:solidFill>
                  <a:srgbClr val="1F2937"/>
                </a:solidFill>
                <a:effectLst/>
                <a:uFillTx/>
                <a:latin typeface="BIZ UDPゴシック"/>
                <a:ea typeface="BIZ UDPゴシック"/>
              </a:rPr>
              <a:t>経理要件を満たさない</a:t>
            </a:r>
            <a:endParaRPr lang="en-US" sz="1240" b="0" u="none" strike="noStrike">
              <a:solidFill>
                <a:srgbClr val="000000"/>
              </a:solidFill>
              <a:effectLst/>
              <a:uFillTx/>
              <a:latin typeface="Arial"/>
            </a:endParaRPr>
          </a:p>
        </p:txBody>
      </p:sp>
      <p:sp>
        <p:nvSpPr>
          <p:cNvPr id="1983" name="drawio:lg1"/>
          <p:cNvSpPr/>
          <p:nvPr/>
        </p:nvSpPr>
        <p:spPr>
          <a:xfrm>
            <a:off x="1079640" y="5748120"/>
            <a:ext cx="4298760" cy="267840"/>
          </a:xfrm>
          <a:prstGeom prst="rect">
            <a:avLst/>
          </a:prstGeom>
          <a:noFill/>
          <a:ln w="0">
            <a:noFill/>
          </a:ln>
        </p:spPr>
        <p:style>
          <a:lnRef idx="0"/>
          <a:fillRef idx="0"/>
          <a:effectRef idx="0"/>
          <a:fontRef idx="minor"/>
        </p:style>
        <p:txBody>
          <a:bodyPr lIns="36720" tIns="18360" rIns="36720" bIns="18360" anchor="t">
            <a:spAutoFit/>
          </a:bodyPr>
          <a:p>
            <a:pPr defTabSz="457200">
              <a:lnSpc>
                <a:spcPct val="110000"/>
              </a:lnSpc>
            </a:pPr>
            <a:r>
              <a:rPr lang="ja-JP" sz="1240" b="0" u="none" strike="noStrike">
                <a:solidFill>
                  <a:srgbClr val="6B7280"/>
                </a:solidFill>
                <a:effectLst/>
                <a:uFillTx/>
                <a:latin typeface="BIZ UDPゴシック"/>
                <a:ea typeface="BIZ UDPゴシック"/>
              </a:rPr>
              <a:t>青</a:t>
            </a:r>
            <a:r>
              <a:rPr lang="en-US" sz="1240" b="0" u="none" strike="noStrike">
                <a:solidFill>
                  <a:srgbClr val="6B7280"/>
                </a:solidFill>
                <a:effectLst/>
                <a:uFillTx/>
                <a:latin typeface="BIZ UDPゴシック"/>
                <a:ea typeface="BIZ UDPゴシック"/>
              </a:rPr>
              <a:t>: </a:t>
            </a:r>
            <a:r>
              <a:rPr lang="ja-JP" sz="1240" b="0" u="none" strike="noStrike">
                <a:solidFill>
                  <a:srgbClr val="6B7280"/>
                </a:solidFill>
                <a:effectLst/>
                <a:uFillTx/>
                <a:latin typeface="BIZ UDPゴシック"/>
                <a:ea typeface="BIZ UDPゴシック"/>
              </a:rPr>
              <a:t>目標への影響　　橙</a:t>
            </a:r>
            <a:r>
              <a:rPr lang="en-US" sz="1240" b="0" u="none" strike="noStrike">
                <a:solidFill>
                  <a:srgbClr val="6B7280"/>
                </a:solidFill>
                <a:effectLst/>
                <a:uFillTx/>
                <a:latin typeface="BIZ UDPゴシック"/>
                <a:ea typeface="BIZ UDPゴシック"/>
              </a:rPr>
              <a:t>: </a:t>
            </a:r>
            <a:r>
              <a:rPr lang="ja-JP" sz="1240" b="0" u="none" strike="noStrike">
                <a:solidFill>
                  <a:srgbClr val="6B7280"/>
                </a:solidFill>
                <a:effectLst/>
                <a:uFillTx/>
                <a:latin typeface="BIZ UDPゴシック"/>
                <a:ea typeface="BIZ UDPゴシック"/>
              </a:rPr>
              <a:t>課題とリスクの関連</a:t>
            </a:r>
            <a:endParaRPr lang="en-US" sz="1240" b="0" u="none" strike="noStrike">
              <a:solidFill>
                <a:srgbClr val="000000"/>
              </a:solidFill>
              <a:effectLst/>
              <a:uFillTx/>
              <a:latin typeface="Arial"/>
            </a:endParaRPr>
          </a:p>
        </p:txBody>
      </p:sp>
      <p:cxnSp>
        <p:nvCxnSpPr>
          <p:cNvPr id="1984" name="drawio:ec1"/>
          <p:cNvCxnSpPr/>
          <p:nvPr/>
        </p:nvCxnSpPr>
        <p:spPr>
          <a:xfrm>
            <a:off x="3285000" y="2333160"/>
            <a:ext cx="2055240" cy="925200"/>
          </a:xfrm>
          <a:prstGeom prst="straightConnector1">
            <a:avLst/>
          </a:prstGeom>
          <a:ln w="22393">
            <a:solidFill>
              <a:srgbClr val="2563EB"/>
            </a:solidFill>
            <a:round/>
            <a:tailEnd len="sm" type="arrow" w="sm"/>
          </a:ln>
        </p:spPr>
      </p:cxnSp>
      <p:cxnSp>
        <p:nvCxnSpPr>
          <p:cNvPr id="1985" name="drawio:ec2"/>
          <p:cNvCxnSpPr/>
          <p:nvPr/>
        </p:nvCxnSpPr>
        <p:spPr>
          <a:xfrm>
            <a:off x="3902760" y="3598200"/>
            <a:ext cx="977040" cy="720"/>
          </a:xfrm>
          <a:prstGeom prst="straightConnector1">
            <a:avLst/>
          </a:prstGeom>
          <a:ln w="22393">
            <a:solidFill>
              <a:srgbClr val="2563EB"/>
            </a:solidFill>
            <a:round/>
            <a:tailEnd len="sm" type="arrow" w="sm"/>
          </a:ln>
        </p:spPr>
      </p:cxnSp>
      <p:cxnSp>
        <p:nvCxnSpPr>
          <p:cNvPr id="1986" name="drawio:ec3"/>
          <p:cNvCxnSpPr/>
          <p:nvPr/>
        </p:nvCxnSpPr>
        <p:spPr>
          <a:xfrm flipV="1">
            <a:off x="3285000" y="3938400"/>
            <a:ext cx="2055240" cy="925200"/>
          </a:xfrm>
          <a:prstGeom prst="straightConnector1">
            <a:avLst/>
          </a:prstGeom>
          <a:ln w="22393">
            <a:solidFill>
              <a:srgbClr val="2563EB"/>
            </a:solidFill>
            <a:round/>
            <a:tailEnd len="sm" type="arrow" w="sm"/>
          </a:ln>
        </p:spPr>
      </p:cxnSp>
      <p:cxnSp>
        <p:nvCxnSpPr>
          <p:cNvPr id="1987" name="drawio:er1"/>
          <p:cNvCxnSpPr/>
          <p:nvPr/>
        </p:nvCxnSpPr>
        <p:spPr>
          <a:xfrm>
            <a:off x="3902760" y="1985760"/>
            <a:ext cx="4386240" cy="720"/>
          </a:xfrm>
          <a:prstGeom prst="straightConnector1">
            <a:avLst/>
          </a:prstGeom>
          <a:ln w="22393">
            <a:solidFill>
              <a:srgbClr val="D97706"/>
            </a:solidFill>
            <a:round/>
            <a:tailEnd len="sm" type="arrow" w="sm"/>
          </a:ln>
        </p:spPr>
      </p:cxnSp>
      <p:sp>
        <p:nvSpPr>
          <p:cNvPr id="1988" name="drawio:er2"/>
          <p:cNvSpPr/>
          <p:nvPr/>
        </p:nvSpPr>
        <p:spPr>
          <a:xfrm>
            <a:off x="2512800" y="2792160"/>
            <a:ext cx="7165080" cy="457920"/>
          </a:xfrm>
          <a:custGeom>
            <a:avLst/>
            <a:gdLst>
              <a:gd name="textAreaLeft" fmla="*/ 0 w 7165080"/>
              <a:gd name="textAreaRight" fmla="*/ 7165800 w 7165080"/>
              <a:gd name="textAreaTop" fmla="*/ 0 h 457920"/>
              <a:gd name="textAreaBottom" fmla="*/ 458640 h 457920"/>
            </a:gdLst>
            <a:ahLst/>
            <a:cxnLst/>
            <a:rect l="textAreaLeft" t="textAreaTop" r="textAreaRight" b="textAreaBottom"/>
            <a:pathLst>
              <a:path w="7165910" h="458618">
                <a:moveTo>
                  <a:pt x="0" y="458618"/>
                </a:moveTo>
                <a:lnTo>
                  <a:pt x="0" y="0"/>
                </a:lnTo>
                <a:lnTo>
                  <a:pt x="7165910" y="0"/>
                </a:lnTo>
                <a:lnTo>
                  <a:pt x="7165910" y="458618"/>
                </a:lnTo>
              </a:path>
            </a:pathLst>
          </a:custGeom>
          <a:noFill/>
          <a:ln w="22393">
            <a:solidFill>
              <a:srgbClr val="D97706"/>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cxnSp>
        <p:nvCxnSpPr>
          <p:cNvPr id="1989" name="drawio:er3"/>
          <p:cNvCxnSpPr/>
          <p:nvPr/>
        </p:nvCxnSpPr>
        <p:spPr>
          <a:xfrm>
            <a:off x="3902760" y="5210280"/>
            <a:ext cx="4386240" cy="720"/>
          </a:xfrm>
          <a:prstGeom prst="straightConnector1">
            <a:avLst/>
          </a:prstGeom>
          <a:ln w="22393">
            <a:solidFill>
              <a:srgbClr val="D97706"/>
            </a:solidFill>
            <a:round/>
            <a:tailEnd len="sm" type="arrow" w="sm"/>
          </a:ln>
        </p:spPr>
      </p:cxnSp>
      <p:sp>
        <p:nvSpPr>
          <p:cNvPr id="1990" name="blk-diagram-cap"/>
          <p:cNvSpPr/>
          <p:nvPr/>
        </p:nvSpPr>
        <p:spPr>
          <a:xfrm>
            <a:off x="502920" y="605340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凡例</a:t>
            </a:r>
            <a:r>
              <a:rPr lang="en-US" sz="900" b="0" u="none" strike="noStrike">
                <a:solidFill>
                  <a:srgbClr val="6B7280"/>
                </a:solidFill>
                <a:effectLst/>
                <a:uFillTx/>
                <a:latin typeface="BIZ UDPゴシック"/>
                <a:ea typeface="BIZ UDPゴシック"/>
              </a:rPr>
              <a:t>: </a:t>
            </a:r>
            <a:r>
              <a:rPr lang="ja-JP" sz="900" b="0" u="none" strike="noStrike">
                <a:solidFill>
                  <a:srgbClr val="6B7280"/>
                </a:solidFill>
                <a:effectLst/>
                <a:uFillTx/>
                <a:latin typeface="BIZ UDPゴシック"/>
                <a:ea typeface="BIZ UDPゴシック"/>
              </a:rPr>
              <a:t>実線</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起票・連携、破線</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参照</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9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99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199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199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9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97"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98"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1999"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0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0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0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00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5.1 </a:t>
            </a:r>
            <a:r>
              <a:rPr lang="ja-JP" sz="2400" b="1" u="none" strike="noStrike">
                <a:solidFill>
                  <a:srgbClr val="16213E"/>
                </a:solidFill>
                <a:effectLst/>
                <a:uFillTx/>
                <a:latin typeface="BIZ UDPゴシック"/>
                <a:ea typeface="BIZ UDPゴシック"/>
              </a:rPr>
              <a:t>課題関連図 ─ 振り分けルール</a:t>
            </a:r>
            <a:endParaRPr lang="en-US" sz="2400" b="0" u="none" strike="noStrike">
              <a:solidFill>
                <a:srgbClr val="000000"/>
              </a:solidFill>
              <a:effectLst/>
              <a:uFillTx/>
              <a:latin typeface="Arial"/>
            </a:endParaRPr>
          </a:p>
        </p:txBody>
      </p:sp>
      <p:sp>
        <p:nvSpPr>
          <p:cNvPr id="200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005" name="hdr-hair"/>
          <p:cNvCxnSpPr/>
          <p:nvPr/>
        </p:nvCxnSpPr>
        <p:spPr>
          <a:xfrm>
            <a:off x="502920" y="969120"/>
            <a:ext cx="11186280" cy="720"/>
          </a:xfrm>
          <a:prstGeom prst="straightConnector1">
            <a:avLst/>
          </a:prstGeom>
          <a:ln w="9525">
            <a:solidFill>
              <a:srgbClr val="D5DBE5"/>
            </a:solidFill>
            <a:round/>
          </a:ln>
        </p:spPr>
      </p:cxnSp>
      <p:cxnSp>
        <p:nvCxnSpPr>
          <p:cNvPr id="2006" name="ftr-hair"/>
          <p:cNvCxnSpPr/>
          <p:nvPr/>
        </p:nvCxnSpPr>
        <p:spPr>
          <a:xfrm>
            <a:off x="502920" y="6382440"/>
            <a:ext cx="11186280" cy="720"/>
          </a:xfrm>
          <a:prstGeom prst="straightConnector1">
            <a:avLst/>
          </a:prstGeom>
          <a:ln w="9525">
            <a:solidFill>
              <a:srgbClr val="D5DBE5"/>
            </a:solidFill>
            <a:round/>
          </a:ln>
        </p:spPr>
      </p:cxnSp>
      <p:sp>
        <p:nvSpPr>
          <p:cNvPr id="200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57 / 85</a:t>
            </a:r>
            <a:endParaRPr lang="en-US" sz="1100" b="0" u="none" strike="noStrike">
              <a:solidFill>
                <a:srgbClr val="000000"/>
              </a:solidFill>
              <a:effectLst/>
              <a:uFillTx/>
              <a:latin typeface="Arial"/>
            </a:endParaRPr>
          </a:p>
        </p:txBody>
      </p:sp>
      <p:sp>
        <p:nvSpPr>
          <p:cNvPr id="200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00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01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01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1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1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Q&amp;A</a:t>
            </a:r>
            <a:r>
              <a:rPr lang="ja-JP" sz="1500" b="1" u="none" strike="noStrike">
                <a:solidFill>
                  <a:srgbClr val="16213E"/>
                </a:solidFill>
                <a:effectLst/>
                <a:uFillTx/>
                <a:latin typeface="BIZ UDPゴシック"/>
                <a:ea typeface="BIZ UDPゴシック"/>
              </a:rPr>
              <a:t>の回答は課題または決定事項へ振り分け、</a:t>
            </a:r>
            <a:r>
              <a:rPr lang="en-US" sz="1500" b="1" u="none" strike="noStrike">
                <a:solidFill>
                  <a:srgbClr val="16213E"/>
                </a:solidFill>
                <a:effectLst/>
                <a:uFillTx/>
                <a:latin typeface="BIZ UDPゴシック"/>
                <a:ea typeface="BIZ UDPゴシック"/>
              </a:rPr>
              <a:t>ID</a:t>
            </a:r>
            <a:r>
              <a:rPr lang="ja-JP" sz="1500" b="1" u="none" strike="noStrike">
                <a:solidFill>
                  <a:srgbClr val="16213E"/>
                </a:solidFill>
                <a:effectLst/>
                <a:uFillTx/>
                <a:latin typeface="BIZ UDPゴシック"/>
                <a:ea typeface="BIZ UDPゴシック"/>
              </a:rPr>
              <a:t>を付けて追跡する</a:t>
            </a:r>
            <a:endParaRPr lang="en-US" sz="1500" b="0" u="none" strike="noStrike">
              <a:solidFill>
                <a:srgbClr val="000000"/>
              </a:solidFill>
              <a:effectLst/>
              <a:uFillTx/>
              <a:latin typeface="Arial"/>
            </a:endParaRPr>
          </a:p>
        </p:txBody>
      </p:sp>
      <p:sp>
        <p:nvSpPr>
          <p:cNvPr id="2014" name="blk-bullets"/>
          <p:cNvSpPr/>
          <p:nvPr/>
        </p:nvSpPr>
        <p:spPr>
          <a:xfrm>
            <a:off x="502920" y="1627560"/>
            <a:ext cx="11185200" cy="19224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Q&amp;A</a:t>
            </a:r>
            <a:r>
              <a:rPr lang="ja-JP" sz="1400" b="0" u="none" strike="noStrike">
                <a:solidFill>
                  <a:srgbClr val="1F2937"/>
                </a:solidFill>
                <a:effectLst/>
                <a:uFillTx/>
                <a:latin typeface="BIZ UDPゴシック"/>
                <a:ea typeface="BIZ UDPゴシック"/>
              </a:rPr>
              <a:t>は回答後に課題または決定事項へ振り分ける。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要件判断を伴う回答は課題、確定した方針は決定事項とする。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議事録の決定事項は変更の有無で変更台帳または課題台帳へ登録する。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振り分け先が</a:t>
            </a:r>
            <a:r>
              <a:rPr lang="en-US" sz="1400" b="0" u="none" strike="noStrike">
                <a:solidFill>
                  <a:srgbClr val="1F2937"/>
                </a:solidFill>
                <a:effectLst/>
                <a:uFillTx/>
                <a:latin typeface="BIZ UDPゴシック"/>
                <a:ea typeface="BIZ UDPゴシック"/>
              </a:rPr>
              <a:t>5</a:t>
            </a:r>
            <a:r>
              <a:rPr lang="ja-JP" sz="1400" b="0" u="none" strike="noStrike">
                <a:solidFill>
                  <a:srgbClr val="1F2937"/>
                </a:solidFill>
                <a:effectLst/>
                <a:uFillTx/>
                <a:latin typeface="BIZ UDPゴシック"/>
                <a:ea typeface="BIZ UDPゴシック"/>
              </a:rPr>
              <a:t>営業日で決まらない場合は課題として起票し、課題管理で追跡する。</a:t>
            </a:r>
            <a:endParaRPr lang="en-US" sz="1400" b="0" u="none" strike="noStrike">
              <a:solidFill>
                <a:srgbClr val="000000"/>
              </a:solidFill>
              <a:effectLst/>
              <a:uFillTx/>
              <a:latin typeface="Arial"/>
            </a:endParaRPr>
          </a:p>
        </p:txBody>
      </p:sp>
      <p:graphicFrame>
        <p:nvGraphicFramePr>
          <p:cNvPr id="2015" name="blk-table"/>
          <p:cNvGraphicFramePr/>
          <p:nvPr/>
        </p:nvGraphicFramePr>
        <p:xfrm>
          <a:off x="502920" y="3678840"/>
          <a:ext cx="11184840" cy="1805400"/>
        </p:xfrm>
        <a:graphic>
          <a:graphicData uri="http://schemas.openxmlformats.org/drawingml/2006/table">
            <a:tbl>
              <a:tblPr/>
              <a:tblGrid>
                <a:gridCol w="2684520"/>
                <a:gridCol w="2908080"/>
                <a:gridCol w="2684520"/>
                <a:gridCol w="2908080"/>
              </a:tblGrid>
              <a:tr h="270360">
                <a:tc>
                  <a:txBody>
                    <a:bodyPr lIns="45720" tIns="18000" rIns="45720" bIns="18000" anchor="t">
                      <a:noAutofit/>
                    </a:bodyPr>
                    <a:p>
                      <a:pPr defTabSz="457200">
                        <a:lnSpc>
                          <a:spcPct val="120000"/>
                        </a:lnSpc>
                      </a:pPr>
                      <a:r>
                        <a:rPr lang="ja-JP" sz="1250" b="1" u="none" strike="noStrike">
                          <a:solidFill>
                            <a:srgbClr val="FFFFFF"/>
                          </a:solidFill>
                          <a:effectLst/>
                          <a:uFillTx/>
                          <a:latin typeface="BIZ UDPゴシック"/>
                          <a:ea typeface="BIZ UDPゴシック"/>
                        </a:rPr>
                        <a:t>入力</a:t>
                      </a:r>
                      <a:endParaRPr lang="en-US" sz="12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50" b="1" u="none" strike="noStrike">
                          <a:solidFill>
                            <a:srgbClr val="FFFFFF"/>
                          </a:solidFill>
                          <a:effectLst/>
                          <a:uFillTx/>
                          <a:latin typeface="BIZ UDPゴシック"/>
                          <a:ea typeface="BIZ UDPゴシック"/>
                        </a:rPr>
                        <a:t>判定</a:t>
                      </a:r>
                      <a:endParaRPr lang="en-US" sz="12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50" b="1" u="none" strike="noStrike">
                          <a:solidFill>
                            <a:srgbClr val="FFFFFF"/>
                          </a:solidFill>
                          <a:effectLst/>
                          <a:uFillTx/>
                          <a:latin typeface="BIZ UDPゴシック"/>
                          <a:ea typeface="BIZ UDPゴシック"/>
                        </a:rPr>
                        <a:t>振り分け先</a:t>
                      </a:r>
                      <a:endParaRPr lang="en-US" sz="12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50" b="1" u="none" strike="noStrike">
                          <a:solidFill>
                            <a:srgbClr val="FFFFFF"/>
                          </a:solidFill>
                          <a:effectLst/>
                          <a:uFillTx/>
                          <a:latin typeface="BIZ UDPゴシック"/>
                          <a:ea typeface="BIZ UDPゴシック"/>
                        </a:rPr>
                        <a:t>期限</a:t>
                      </a:r>
                      <a:endParaRPr lang="en-US" sz="125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en-US" sz="1250" b="0" u="none" strike="noStrike">
                          <a:solidFill>
                            <a:srgbClr val="1F2937"/>
                          </a:solidFill>
                          <a:effectLst/>
                          <a:uFillTx/>
                          <a:latin typeface="BIZ UDPゴシック"/>
                          <a:ea typeface="BIZ UDPゴシック"/>
                        </a:rPr>
                        <a:t>Q&amp;A (</a:t>
                      </a:r>
                      <a:r>
                        <a:rPr lang="ja-JP" sz="1250" b="0" u="none" strike="noStrike">
                          <a:solidFill>
                            <a:srgbClr val="1F2937"/>
                          </a:solidFill>
                          <a:effectLst/>
                          <a:uFillTx/>
                          <a:latin typeface="BIZ UDPゴシック"/>
                          <a:ea typeface="BIZ UDPゴシック"/>
                        </a:rPr>
                        <a:t>要件判断</a:t>
                      </a:r>
                      <a:r>
                        <a:rPr lang="en-US" sz="1250" b="0" u="none" strike="noStrike">
                          <a:solidFill>
                            <a:srgbClr val="1F2937"/>
                          </a:solidFill>
                          <a:effectLst/>
                          <a:uFillTx/>
                          <a:latin typeface="BIZ UDPゴシック"/>
                          <a:ea typeface="BIZ UDPゴシック"/>
                        </a:rPr>
                        <a:t>)</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要件・設計に影響</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課題台帳 </a:t>
                      </a:r>
                      <a:r>
                        <a:rPr lang="en-US" sz="1250" b="0" u="none" strike="noStrike">
                          <a:solidFill>
                            <a:srgbClr val="1F2937"/>
                          </a:solidFill>
                          <a:effectLst/>
                          <a:uFillTx/>
                          <a:latin typeface="BIZ UDPゴシック"/>
                          <a:ea typeface="BIZ UDPゴシック"/>
                        </a:rPr>
                        <a:t>(I)</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50" b="0" u="none" strike="noStrike">
                          <a:solidFill>
                            <a:srgbClr val="1F2937"/>
                          </a:solidFill>
                          <a:effectLst/>
                          <a:uFillTx/>
                          <a:latin typeface="BIZ UDPゴシック"/>
                          <a:ea typeface="BIZ UDPゴシック"/>
                        </a:rPr>
                        <a:t>回答後</a:t>
                      </a:r>
                      <a:r>
                        <a:rPr lang="en-US" sz="1250" b="0" u="none" strike="noStrike">
                          <a:solidFill>
                            <a:srgbClr val="1F2937"/>
                          </a:solidFill>
                          <a:effectLst/>
                          <a:uFillTx/>
                          <a:latin typeface="BIZ UDPゴシック"/>
                          <a:ea typeface="BIZ UDPゴシック"/>
                        </a:rPr>
                        <a:t>2</a:t>
                      </a:r>
                      <a:r>
                        <a:rPr lang="ja-JP" sz="1250" b="0" u="none" strike="noStrike">
                          <a:solidFill>
                            <a:srgbClr val="1F2937"/>
                          </a:solidFill>
                          <a:effectLst/>
                          <a:uFillTx/>
                          <a:latin typeface="BIZ UDPゴシック"/>
                          <a:ea typeface="BIZ UDPゴシック"/>
                        </a:rPr>
                        <a:t>営業日以内</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250" b="0" u="none" strike="noStrike">
                          <a:solidFill>
                            <a:srgbClr val="1F2937"/>
                          </a:solidFill>
                          <a:effectLst/>
                          <a:uFillTx/>
                          <a:latin typeface="BIZ UDPゴシック"/>
                          <a:ea typeface="BIZ UDPゴシック"/>
                        </a:rPr>
                        <a:t>Q&amp;A (</a:t>
                      </a:r>
                      <a:r>
                        <a:rPr lang="ja-JP" sz="1250" b="0" u="none" strike="noStrike">
                          <a:solidFill>
                            <a:srgbClr val="1F2937"/>
                          </a:solidFill>
                          <a:effectLst/>
                          <a:uFillTx/>
                          <a:latin typeface="BIZ UDPゴシック"/>
                          <a:ea typeface="BIZ UDPゴシック"/>
                        </a:rPr>
                        <a:t>確認のみ</a:t>
                      </a:r>
                      <a:r>
                        <a:rPr lang="en-US" sz="1250" b="0" u="none" strike="noStrike">
                          <a:solidFill>
                            <a:srgbClr val="1F2937"/>
                          </a:solidFill>
                          <a:effectLst/>
                          <a:uFillTx/>
                          <a:latin typeface="BIZ UDPゴシック"/>
                          <a:ea typeface="BIZ UDPゴシック"/>
                        </a:rPr>
                        <a:t>)</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方針が確定</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決定事項一覧</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50" b="0" u="none" strike="noStrike">
                          <a:solidFill>
                            <a:srgbClr val="1F2937"/>
                          </a:solidFill>
                          <a:effectLst/>
                          <a:uFillTx/>
                          <a:latin typeface="BIZ UDPゴシック"/>
                          <a:ea typeface="BIZ UDPゴシック"/>
                        </a:rPr>
                        <a:t>回答後</a:t>
                      </a:r>
                      <a:r>
                        <a:rPr lang="en-US" sz="1250" b="0" u="none" strike="noStrike">
                          <a:solidFill>
                            <a:srgbClr val="1F2937"/>
                          </a:solidFill>
                          <a:effectLst/>
                          <a:uFillTx/>
                          <a:latin typeface="BIZ UDPゴシック"/>
                          <a:ea typeface="BIZ UDPゴシック"/>
                        </a:rPr>
                        <a:t>2</a:t>
                      </a:r>
                      <a:r>
                        <a:rPr lang="ja-JP" sz="1250" b="0" u="none" strike="noStrike">
                          <a:solidFill>
                            <a:srgbClr val="1F2937"/>
                          </a:solidFill>
                          <a:effectLst/>
                          <a:uFillTx/>
                          <a:latin typeface="BIZ UDPゴシック"/>
                          <a:ea typeface="BIZ UDPゴシック"/>
                        </a:rPr>
                        <a:t>営業日以内</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議事録 決定事項</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変更を伴う</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変更台帳 </a:t>
                      </a:r>
                      <a:r>
                        <a:rPr lang="en-US" sz="1250" b="0" u="none" strike="noStrike">
                          <a:solidFill>
                            <a:srgbClr val="1F2937"/>
                          </a:solidFill>
                          <a:effectLst/>
                          <a:uFillTx/>
                          <a:latin typeface="BIZ UDPゴシック"/>
                          <a:ea typeface="BIZ UDPゴシック"/>
                        </a:rPr>
                        <a:t>(C)</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50" b="0" u="none" strike="noStrike">
                          <a:solidFill>
                            <a:srgbClr val="1F2937"/>
                          </a:solidFill>
                          <a:effectLst/>
                          <a:uFillTx/>
                          <a:latin typeface="BIZ UDPゴシック"/>
                          <a:ea typeface="BIZ UDPゴシック"/>
                        </a:rPr>
                        <a:t>議事録確定後</a:t>
                      </a:r>
                      <a:r>
                        <a:rPr lang="en-US" sz="1250" b="0" u="none" strike="noStrike">
                          <a:solidFill>
                            <a:srgbClr val="1F2937"/>
                          </a:solidFill>
                          <a:effectLst/>
                          <a:uFillTx/>
                          <a:latin typeface="BIZ UDPゴシック"/>
                          <a:ea typeface="BIZ UDPゴシック"/>
                        </a:rPr>
                        <a:t>3</a:t>
                      </a:r>
                      <a:r>
                        <a:rPr lang="ja-JP" sz="1250" b="0" u="none" strike="noStrike">
                          <a:solidFill>
                            <a:srgbClr val="1F2937"/>
                          </a:solidFill>
                          <a:effectLst/>
                          <a:uFillTx/>
                          <a:latin typeface="BIZ UDPゴシック"/>
                          <a:ea typeface="BIZ UDPゴシック"/>
                        </a:rPr>
                        <a:t>営業日以内</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議事録 決定事項</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変更を伴わない</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50" b="0" u="none" strike="noStrike">
                          <a:solidFill>
                            <a:srgbClr val="1F2937"/>
                          </a:solidFill>
                          <a:effectLst/>
                          <a:uFillTx/>
                          <a:latin typeface="BIZ UDPゴシック"/>
                          <a:ea typeface="BIZ UDPゴシック"/>
                        </a:rPr>
                        <a:t>課題台帳 </a:t>
                      </a:r>
                      <a:r>
                        <a:rPr lang="en-US" sz="1250" b="0" u="none" strike="noStrike">
                          <a:solidFill>
                            <a:srgbClr val="1F2937"/>
                          </a:solidFill>
                          <a:effectLst/>
                          <a:uFillTx/>
                          <a:latin typeface="BIZ UDPゴシック"/>
                          <a:ea typeface="BIZ UDPゴシック"/>
                        </a:rPr>
                        <a:t>(I) </a:t>
                      </a:r>
                      <a:r>
                        <a:rPr lang="ja-JP" sz="1250" b="0" u="none" strike="noStrike">
                          <a:solidFill>
                            <a:srgbClr val="1F2937"/>
                          </a:solidFill>
                          <a:effectLst/>
                          <a:uFillTx/>
                          <a:latin typeface="BIZ UDPゴシック"/>
                          <a:ea typeface="BIZ UDPゴシック"/>
                        </a:rPr>
                        <a:t>または決定事項一覧</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50" b="0" u="none" strike="noStrike">
                          <a:solidFill>
                            <a:srgbClr val="1F2937"/>
                          </a:solidFill>
                          <a:effectLst/>
                          <a:uFillTx/>
                          <a:latin typeface="BIZ UDPゴシック"/>
                          <a:ea typeface="BIZ UDPゴシック"/>
                        </a:rPr>
                        <a:t>議事録確定後</a:t>
                      </a:r>
                      <a:r>
                        <a:rPr lang="en-US" sz="1250" b="0" u="none" strike="noStrike">
                          <a:solidFill>
                            <a:srgbClr val="1F2937"/>
                          </a:solidFill>
                          <a:effectLst/>
                          <a:uFillTx/>
                          <a:latin typeface="BIZ UDPゴシック"/>
                          <a:ea typeface="BIZ UDPゴシック"/>
                        </a:rPr>
                        <a:t>3</a:t>
                      </a:r>
                      <a:r>
                        <a:rPr lang="ja-JP" sz="1250" b="0" u="none" strike="noStrike">
                          <a:solidFill>
                            <a:srgbClr val="1F2937"/>
                          </a:solidFill>
                          <a:effectLst/>
                          <a:uFillTx/>
                          <a:latin typeface="BIZ UDPゴシック"/>
                          <a:ea typeface="BIZ UDPゴシック"/>
                        </a:rPr>
                        <a:t>営業日以内</a:t>
                      </a:r>
                      <a:endParaRPr lang="en-US" sz="125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2016" name="blk-callout"/>
          <p:cNvSpPr/>
          <p:nvPr/>
        </p:nvSpPr>
        <p:spPr>
          <a:xfrm>
            <a:off x="502920" y="573012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登録した事項には必ず</a:t>
            </a:r>
            <a:r>
              <a:rPr lang="en-US" sz="1200" b="0" u="none" strike="noStrike">
                <a:solidFill>
                  <a:srgbClr val="1F2937"/>
                </a:solidFill>
                <a:effectLst/>
                <a:uFillTx/>
                <a:latin typeface="BIZ UDPゴシック"/>
                <a:ea typeface="BIZ UDPゴシック"/>
              </a:rPr>
              <a:t>ID</a:t>
            </a:r>
            <a:r>
              <a:rPr lang="ja-JP" sz="1200" b="0" u="none" strike="noStrike">
                <a:solidFill>
                  <a:srgbClr val="1F2937"/>
                </a:solidFill>
                <a:effectLst/>
                <a:uFillTx/>
                <a:latin typeface="BIZ UDPゴシック"/>
                <a:ea typeface="BIZ UDPゴシック"/>
              </a:rPr>
              <a:t>を付与し、台帳と本文で同じ</a:t>
            </a:r>
            <a:r>
              <a:rPr lang="en-US" sz="1200" b="0" u="none" strike="noStrike">
                <a:solidFill>
                  <a:srgbClr val="1F2937"/>
                </a:solidFill>
                <a:effectLst/>
                <a:uFillTx/>
                <a:latin typeface="BIZ UDPゴシック"/>
                <a:ea typeface="BIZ UDPゴシック"/>
              </a:rPr>
              <a:t>ID</a:t>
            </a:r>
            <a:r>
              <a:rPr lang="ja-JP" sz="1200" b="0" u="none" strike="noStrike">
                <a:solidFill>
                  <a:srgbClr val="1F2937"/>
                </a:solidFill>
                <a:effectLst/>
                <a:uFillTx/>
                <a:latin typeface="BIZ UDPゴシック"/>
                <a:ea typeface="BIZ UDPゴシック"/>
              </a:rPr>
              <a:t>を用いる。週次定例で未処理の振り分けと滞留日数を確認する。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1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01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02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02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3"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4"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5"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2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02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5.2 Q&amp;A</a:t>
            </a:r>
            <a:r>
              <a:rPr lang="ja-JP" sz="2400" b="1" u="none" strike="noStrike">
                <a:solidFill>
                  <a:srgbClr val="16213E"/>
                </a:solidFill>
                <a:effectLst/>
                <a:uFillTx/>
                <a:latin typeface="BIZ UDPゴシック"/>
                <a:ea typeface="BIZ UDPゴシック"/>
              </a:rPr>
              <a:t>管理</a:t>
            </a:r>
            <a:endParaRPr lang="en-US" sz="2400" b="0" u="none" strike="noStrike">
              <a:solidFill>
                <a:srgbClr val="000000"/>
              </a:solidFill>
              <a:effectLst/>
              <a:uFillTx/>
              <a:latin typeface="Arial"/>
            </a:endParaRPr>
          </a:p>
        </p:txBody>
      </p:sp>
      <p:sp>
        <p:nvSpPr>
          <p:cNvPr id="203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031" name="hdr-hair"/>
          <p:cNvCxnSpPr/>
          <p:nvPr/>
        </p:nvCxnSpPr>
        <p:spPr>
          <a:xfrm>
            <a:off x="502920" y="969120"/>
            <a:ext cx="11186280" cy="720"/>
          </a:xfrm>
          <a:prstGeom prst="straightConnector1">
            <a:avLst/>
          </a:prstGeom>
          <a:ln w="9525">
            <a:solidFill>
              <a:srgbClr val="D5DBE5"/>
            </a:solidFill>
            <a:round/>
          </a:ln>
        </p:spPr>
      </p:cxnSp>
      <p:cxnSp>
        <p:nvCxnSpPr>
          <p:cNvPr id="2032" name="ftr-hair"/>
          <p:cNvCxnSpPr/>
          <p:nvPr/>
        </p:nvCxnSpPr>
        <p:spPr>
          <a:xfrm>
            <a:off x="502920" y="6382440"/>
            <a:ext cx="11186280" cy="720"/>
          </a:xfrm>
          <a:prstGeom prst="straightConnector1">
            <a:avLst/>
          </a:prstGeom>
          <a:ln w="9525">
            <a:solidFill>
              <a:srgbClr val="D5DBE5"/>
            </a:solidFill>
            <a:round/>
          </a:ln>
        </p:spPr>
      </p:cxnSp>
      <p:sp>
        <p:nvSpPr>
          <p:cNvPr id="203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58 / 85</a:t>
            </a:r>
            <a:endParaRPr lang="en-US" sz="1100" b="0" u="none" strike="noStrike">
              <a:solidFill>
                <a:srgbClr val="000000"/>
              </a:solidFill>
              <a:effectLst/>
              <a:uFillTx/>
              <a:latin typeface="Arial"/>
            </a:endParaRPr>
          </a:p>
        </p:txBody>
      </p:sp>
      <p:sp>
        <p:nvSpPr>
          <p:cNvPr id="203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03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03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03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3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3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Q&amp;A</a:t>
            </a:r>
            <a:r>
              <a:rPr lang="ja-JP" sz="1500" b="1" u="none" strike="noStrike">
                <a:solidFill>
                  <a:srgbClr val="16213E"/>
                </a:solidFill>
                <a:effectLst/>
                <a:uFillTx/>
                <a:latin typeface="BIZ UDPゴシック"/>
                <a:ea typeface="BIZ UDPゴシック"/>
              </a:rPr>
              <a:t>は起票から</a:t>
            </a:r>
            <a:r>
              <a:rPr lang="en-US" sz="1500" b="1" u="none" strike="noStrike">
                <a:solidFill>
                  <a:srgbClr val="16213E"/>
                </a:solidFill>
                <a:effectLst/>
                <a:uFillTx/>
                <a:latin typeface="BIZ UDPゴシック"/>
                <a:ea typeface="BIZ UDPゴシック"/>
              </a:rPr>
              <a:t>2</a:t>
            </a:r>
            <a:r>
              <a:rPr lang="ja-JP" sz="1500" b="1" u="none" strike="noStrike">
                <a:solidFill>
                  <a:srgbClr val="16213E"/>
                </a:solidFill>
                <a:effectLst/>
                <a:uFillTx/>
                <a:latin typeface="BIZ UDPゴシック"/>
                <a:ea typeface="BIZ UDPゴシック"/>
              </a:rPr>
              <a:t>営業日以内に回答し、課題化は台帳へ引き継ぐ</a:t>
            </a:r>
            <a:endParaRPr lang="en-US" sz="1500" b="0" u="none" strike="noStrike">
              <a:solidFill>
                <a:srgbClr val="000000"/>
              </a:solidFill>
              <a:effectLst/>
              <a:uFillTx/>
              <a:latin typeface="Arial"/>
            </a:endParaRPr>
          </a:p>
        </p:txBody>
      </p:sp>
      <p:sp>
        <p:nvSpPr>
          <p:cNvPr id="2040" name="blk-bullets"/>
          <p:cNvSpPr/>
          <p:nvPr/>
        </p:nvSpPr>
        <p:spPr>
          <a:xfrm>
            <a:off x="502920" y="1627560"/>
            <a:ext cx="11185200" cy="11934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起票は質問者が共有台帳へ登録し、</a:t>
            </a:r>
            <a:r>
              <a:rPr lang="en-US" sz="1400" b="0" u="none" strike="noStrike">
                <a:solidFill>
                  <a:srgbClr val="1F2937"/>
                </a:solidFill>
                <a:effectLst/>
                <a:uFillTx/>
                <a:latin typeface="BIZ UDPゴシック"/>
                <a:ea typeface="BIZ UDPゴシック"/>
              </a:rPr>
              <a:t>ID</a:t>
            </a:r>
            <a:r>
              <a:rPr lang="ja-JP" sz="1400" b="0" u="none" strike="noStrike">
                <a:solidFill>
                  <a:srgbClr val="1F2937"/>
                </a:solidFill>
                <a:effectLst/>
                <a:uFillTx/>
                <a:latin typeface="BIZ UDPゴシック"/>
                <a:ea typeface="BIZ UDPゴシック"/>
              </a:rPr>
              <a:t>を採番する。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回答期限は起票から</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営業日以内とする。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回答は業務側と設計側の双方で内容を確認する。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回答が要件判断を伴う場合は課題へ転記し、課題管理で追跡する。</a:t>
            </a:r>
            <a:endParaRPr lang="en-US" sz="1400" b="0" u="none" strike="noStrike">
              <a:solidFill>
                <a:srgbClr val="000000"/>
              </a:solidFill>
              <a:effectLst/>
              <a:uFillTx/>
              <a:latin typeface="Arial"/>
            </a:endParaRPr>
          </a:p>
        </p:txBody>
      </p:sp>
      <p:sp>
        <p:nvSpPr>
          <p:cNvPr id="2041" name="blk-title"/>
          <p:cNvSpPr/>
          <p:nvPr/>
        </p:nvSpPr>
        <p:spPr>
          <a:xfrm>
            <a:off x="502920" y="286452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運用開始後の記入例</a:t>
            </a:r>
            <a:endParaRPr lang="en-US" sz="1200" b="0" u="none" strike="noStrike">
              <a:solidFill>
                <a:srgbClr val="000000"/>
              </a:solidFill>
              <a:effectLst/>
              <a:uFillTx/>
              <a:latin typeface="Arial"/>
            </a:endParaRPr>
          </a:p>
        </p:txBody>
      </p:sp>
      <p:graphicFrame>
        <p:nvGraphicFramePr>
          <p:cNvPr id="2042" name="blk-table"/>
          <p:cNvGraphicFramePr/>
          <p:nvPr/>
        </p:nvGraphicFramePr>
        <p:xfrm>
          <a:off x="502920" y="3138840"/>
          <a:ext cx="11184840" cy="2070360"/>
        </p:xfrm>
        <a:graphic>
          <a:graphicData uri="http://schemas.openxmlformats.org/drawingml/2006/table">
            <a:tbl>
              <a:tblPr/>
              <a:tblGrid>
                <a:gridCol w="894600"/>
                <a:gridCol w="3132000"/>
                <a:gridCol w="4698000"/>
                <a:gridCol w="894600"/>
                <a:gridCol w="1566000"/>
              </a:tblGrid>
              <a:tr h="262080">
                <a:tc>
                  <a:txBody>
                    <a:bodyPr lIns="45720" tIns="18000" rIns="45720" bIns="18000" anchor="t">
                      <a:noAutofit/>
                    </a:bodyPr>
                    <a:p>
                      <a:pPr defTabSz="457200">
                        <a:lnSpc>
                          <a:spcPct val="120000"/>
                        </a:lnSpc>
                      </a:pPr>
                      <a:r>
                        <a:rPr lang="en-US" sz="1200" b="1" u="none" strike="noStrike">
                          <a:solidFill>
                            <a:srgbClr val="FFFFFF"/>
                          </a:solidFill>
                          <a:effectLst/>
                          <a:uFillTx/>
                          <a:latin typeface="BIZ UDPゴシック"/>
                          <a:ea typeface="BIZ UDPゴシック"/>
                        </a:rPr>
                        <a:t>ID</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質問内容</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回答</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00" b="1" u="none" strike="noStrike">
                          <a:solidFill>
                            <a:srgbClr val="FFFFFF"/>
                          </a:solidFill>
                          <a:effectLst/>
                          <a:uFillTx/>
                          <a:latin typeface="BIZ UDPゴシック"/>
                          <a:ea typeface="BIZ UDPゴシック"/>
                        </a:rPr>
                        <a:t>状態</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00" b="1" u="none" strike="noStrike">
                          <a:solidFill>
                            <a:srgbClr val="FFFFFF"/>
                          </a:solidFill>
                          <a:effectLst/>
                          <a:uFillTx/>
                          <a:latin typeface="BIZ UDPゴシック"/>
                          <a:ea typeface="BIZ UDPゴシック"/>
                        </a:rPr>
                        <a:t>期限</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42660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Q001</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交通系</a:t>
                      </a:r>
                      <a:r>
                        <a:rPr lang="en-US" sz="1200" b="0" u="none" strike="noStrike">
                          <a:solidFill>
                            <a:srgbClr val="1F2937"/>
                          </a:solidFill>
                          <a:effectLst/>
                          <a:uFillTx/>
                          <a:latin typeface="BIZ UDPゴシック"/>
                          <a:ea typeface="BIZ UDPゴシック"/>
                        </a:rPr>
                        <a:t>IC</a:t>
                      </a:r>
                      <a:r>
                        <a:rPr lang="ja-JP" sz="1200" b="0" u="none" strike="noStrike">
                          <a:solidFill>
                            <a:srgbClr val="1F2937"/>
                          </a:solidFill>
                          <a:effectLst/>
                          <a:uFillTx/>
                          <a:latin typeface="BIZ UDPゴシック"/>
                          <a:ea typeface="BIZ UDPゴシック"/>
                        </a:rPr>
                        <a:t>の利用履歴は自動取込か手動入力か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API</a:t>
                      </a:r>
                      <a:r>
                        <a:rPr lang="ja-JP" sz="1200" b="0" u="none" strike="noStrike">
                          <a:solidFill>
                            <a:srgbClr val="1F2937"/>
                          </a:solidFill>
                          <a:effectLst/>
                          <a:uFillTx/>
                          <a:latin typeface="BIZ UDPゴシック"/>
                          <a:ea typeface="BIZ UDPゴシック"/>
                        </a:rPr>
                        <a:t>連携で自動取込とする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回答済</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2027/02/19</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42660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Q002</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過去の領収書は何年分を電子保存するか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原則</a:t>
                      </a:r>
                      <a:r>
                        <a:rPr lang="en-US" sz="1200" b="0" u="none" strike="noStrike">
                          <a:solidFill>
                            <a:srgbClr val="1F2937"/>
                          </a:solidFill>
                          <a:effectLst/>
                          <a:uFillTx/>
                          <a:latin typeface="BIZ UDPゴシック"/>
                          <a:ea typeface="BIZ UDPゴシック"/>
                        </a:rPr>
                        <a:t>7</a:t>
                      </a:r>
                      <a:r>
                        <a:rPr lang="ja-JP" sz="1200" b="0" u="none" strike="noStrike">
                          <a:solidFill>
                            <a:srgbClr val="1F2937"/>
                          </a:solidFill>
                          <a:effectLst/>
                          <a:uFillTx/>
                          <a:latin typeface="BIZ UDPゴシック"/>
                          <a:ea typeface="BIZ UDPゴシック"/>
                        </a:rPr>
                        <a:t>年・欠損金額が生じた年度等は</a:t>
                      </a:r>
                      <a:r>
                        <a:rPr lang="en-US" sz="1200" b="0" u="none" strike="noStrike">
                          <a:solidFill>
                            <a:srgbClr val="1F2937"/>
                          </a:solidFill>
                          <a:effectLst/>
                          <a:uFillTx/>
                          <a:latin typeface="BIZ UDPゴシック"/>
                          <a:ea typeface="BIZ UDPゴシック"/>
                        </a:rPr>
                        <a:t>10</a:t>
                      </a:r>
                      <a:r>
                        <a:rPr lang="ja-JP" sz="1200" b="0" u="none" strike="noStrike">
                          <a:solidFill>
                            <a:srgbClr val="1F2937"/>
                          </a:solidFill>
                          <a:effectLst/>
                          <a:uFillTx/>
                          <a:latin typeface="BIZ UDPゴシック"/>
                          <a:ea typeface="BIZ UDPゴシック"/>
                        </a:rPr>
                        <a:t>年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下記注記</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。過去分の電子化は適用届出と書類備付けを要する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回答済</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2027/02/26</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Q003</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部門コードの改廃の運用は誰が管理するか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貴社情報システム部が管理する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回答済</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2027/03/12</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42660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Q004</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経費規程の改定時期はいつか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提案前提</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案合意</a:t>
                      </a:r>
                      <a:r>
                        <a:rPr lang="en-US" sz="1200" b="0" u="none" strike="noStrike">
                          <a:solidFill>
                            <a:srgbClr val="1F2937"/>
                          </a:solidFill>
                          <a:effectLst/>
                          <a:uFillTx/>
                          <a:latin typeface="BIZ UDPゴシック"/>
                          <a:ea typeface="BIZ UDPゴシック"/>
                        </a:rPr>
                        <a:t>3/31</a:t>
                      </a:r>
                      <a:r>
                        <a:rPr lang="ja-JP" sz="1200" b="0" u="none" strike="noStrike">
                          <a:solidFill>
                            <a:srgbClr val="1F2937"/>
                          </a:solidFill>
                          <a:effectLst/>
                          <a:uFillTx/>
                          <a:latin typeface="BIZ UDPゴシック"/>
                          <a:ea typeface="BIZ UDPゴシック"/>
                        </a:rPr>
                        <a:t>・正式承認</a:t>
                      </a:r>
                      <a:r>
                        <a:rPr lang="en-US" sz="1200" b="0" u="none" strike="noStrike">
                          <a:solidFill>
                            <a:srgbClr val="1F2937"/>
                          </a:solidFill>
                          <a:effectLst/>
                          <a:uFillTx/>
                          <a:latin typeface="BIZ UDPゴシック"/>
                          <a:ea typeface="BIZ UDPゴシック"/>
                        </a:rPr>
                        <a:t>5/31</a:t>
                      </a:r>
                      <a:r>
                        <a:rPr lang="ja-JP" sz="1200" b="0" u="none" strike="noStrike">
                          <a:solidFill>
                            <a:srgbClr val="1F2937"/>
                          </a:solidFill>
                          <a:effectLst/>
                          <a:uFillTx/>
                          <a:latin typeface="BIZ UDPゴシック"/>
                          <a:ea typeface="BIZ UDPゴシック"/>
                        </a:rPr>
                        <a:t>・設定反映</a:t>
                      </a:r>
                      <a:r>
                        <a:rPr lang="en-US" sz="1200" b="0" u="none" strike="noStrike">
                          <a:solidFill>
                            <a:srgbClr val="1F2937"/>
                          </a:solidFill>
                          <a:effectLst/>
                          <a:uFillTx/>
                          <a:latin typeface="BIZ UDPゴシック"/>
                          <a:ea typeface="BIZ UDPゴシック"/>
                        </a:rPr>
                        <a:t>6/30 (</a:t>
                      </a:r>
                      <a:r>
                        <a:rPr lang="ja-JP" sz="1200" b="0" u="none" strike="noStrike">
                          <a:solidFill>
                            <a:srgbClr val="1F2937"/>
                          </a:solidFill>
                          <a:effectLst/>
                          <a:uFillTx/>
                          <a:latin typeface="BIZ UDPゴシック"/>
                          <a:ea typeface="BIZ UDPゴシック"/>
                        </a:rPr>
                        <a:t>責任者 貴社</a:t>
                      </a:r>
                      <a:r>
                        <a:rPr lang="en-US" sz="1200" b="0" u="none" strike="noStrike">
                          <a:solidFill>
                            <a:srgbClr val="1F2937"/>
                          </a:solidFill>
                          <a:effectLst/>
                          <a:uFillTx/>
                          <a:latin typeface="BIZ UDPゴシック"/>
                          <a:ea typeface="BIZ UDPゴシック"/>
                        </a:rPr>
                        <a:t>PM)</a:t>
                      </a:r>
                      <a:r>
                        <a:rPr lang="ja-JP" sz="1200" b="0" u="none" strike="noStrike">
                          <a:solidFill>
                            <a:srgbClr val="1F2937"/>
                          </a:solidFill>
                          <a:effectLst/>
                          <a:uFillTx/>
                          <a:latin typeface="BIZ UDPゴシック"/>
                          <a:ea typeface="BIZ UDPゴシック"/>
                        </a:rPr>
                        <a:t>。遅延時は</a:t>
                      </a:r>
                      <a:r>
                        <a:rPr lang="en-US" sz="1200" b="0" u="none" strike="noStrike">
                          <a:solidFill>
                            <a:srgbClr val="1F2937"/>
                          </a:solidFill>
                          <a:effectLst/>
                          <a:uFillTx/>
                          <a:latin typeface="BIZ UDPゴシック"/>
                          <a:ea typeface="BIZ UDPゴシック"/>
                        </a:rPr>
                        <a:t>CCB</a:t>
                      </a:r>
                      <a:r>
                        <a:rPr lang="ja-JP" sz="1200" b="0" u="none" strike="noStrike">
                          <a:solidFill>
                            <a:srgbClr val="1F2937"/>
                          </a:solidFill>
                          <a:effectLst/>
                          <a:uFillTx/>
                          <a:latin typeface="BIZ UDPゴシック"/>
                          <a:ea typeface="BIZ UDPゴシック"/>
                        </a:rPr>
                        <a:t>で判断</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回答済</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2027/05/31</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2043" name="blk-callout"/>
          <p:cNvSpPr/>
          <p:nvPr/>
        </p:nvSpPr>
        <p:spPr>
          <a:xfrm>
            <a:off x="502920" y="5544360"/>
            <a:ext cx="11185200" cy="70956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注記</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保存期間は確定申告書の提出期限の翌日から</a:t>
            </a:r>
            <a:r>
              <a:rPr lang="en-US" sz="1200" b="0" u="none" strike="noStrike">
                <a:solidFill>
                  <a:srgbClr val="1F2937"/>
                </a:solidFill>
                <a:effectLst/>
                <a:uFillTx/>
                <a:latin typeface="BIZ UDPゴシック"/>
                <a:ea typeface="BIZ UDPゴシック"/>
              </a:rPr>
              <a:t>7</a:t>
            </a:r>
            <a:r>
              <a:rPr lang="ja-JP" sz="1200" b="0" u="none" strike="noStrike">
                <a:solidFill>
                  <a:srgbClr val="1F2937"/>
                </a:solidFill>
                <a:effectLst/>
                <a:uFillTx/>
                <a:latin typeface="BIZ UDPゴシック"/>
                <a:ea typeface="BIZ UDPゴシック"/>
              </a:rPr>
              <a:t>年。青色申告で欠損金額が生じた事業年度等は</a:t>
            </a:r>
            <a:r>
              <a:rPr lang="en-US" sz="1200" b="0" u="none" strike="noStrike">
                <a:solidFill>
                  <a:srgbClr val="1F2937"/>
                </a:solidFill>
                <a:effectLst/>
                <a:uFillTx/>
                <a:latin typeface="BIZ UDPゴシック"/>
                <a:ea typeface="BIZ UDPゴシック"/>
              </a:rPr>
              <a:t>10</a:t>
            </a:r>
            <a:r>
              <a:rPr lang="ja-JP" sz="1200" b="0" u="none" strike="noStrike">
                <a:solidFill>
                  <a:srgbClr val="1F2937"/>
                </a:solidFill>
                <a:effectLst/>
                <a:uFillTx/>
                <a:latin typeface="BIZ UDPゴシック"/>
                <a:ea typeface="BIZ UDPゴシック"/>
              </a:rPr>
              <a:t>年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平成</a:t>
            </a:r>
            <a:r>
              <a:rPr lang="en-US" sz="1200" b="0" u="none" strike="noStrike">
                <a:solidFill>
                  <a:srgbClr val="1F2937"/>
                </a:solidFill>
                <a:effectLst/>
                <a:uFillTx/>
                <a:latin typeface="BIZ UDPゴシック"/>
                <a:ea typeface="BIZ UDPゴシック"/>
              </a:rPr>
              <a:t>30</a:t>
            </a:r>
            <a:r>
              <a:rPr lang="ja-JP" sz="1200" b="0" u="none" strike="noStrike">
                <a:solidFill>
                  <a:srgbClr val="1F2937"/>
                </a:solidFill>
                <a:effectLst/>
                <a:uFillTx/>
                <a:latin typeface="BIZ UDPゴシック"/>
                <a:ea typeface="BIZ UDPゴシック"/>
              </a:rPr>
              <a:t>年</a:t>
            </a:r>
            <a:r>
              <a:rPr lang="en-US" sz="1200" b="0" u="none" strike="noStrike">
                <a:solidFill>
                  <a:srgbClr val="1F2937"/>
                </a:solidFill>
                <a:effectLst/>
                <a:uFillTx/>
                <a:latin typeface="BIZ UDPゴシック"/>
                <a:ea typeface="BIZ UDPゴシック"/>
              </a:rPr>
              <a:t>4</a:t>
            </a:r>
            <a:r>
              <a:rPr lang="ja-JP" sz="1200" b="0" u="none" strike="noStrike">
                <a:solidFill>
                  <a:srgbClr val="1F2937"/>
                </a:solidFill>
                <a:effectLst/>
                <a:uFillTx/>
                <a:latin typeface="BIZ UDPゴシック"/>
                <a:ea typeface="BIZ UDPゴシック"/>
              </a:rPr>
              <a:t>月</a:t>
            </a:r>
            <a:r>
              <a:rPr lang="en-US" sz="1200" b="0" u="none" strike="noStrike">
                <a:solidFill>
                  <a:srgbClr val="1F2937"/>
                </a:solidFill>
                <a:effectLst/>
                <a:uFillTx/>
                <a:latin typeface="BIZ UDPゴシック"/>
                <a:ea typeface="BIZ UDPゴシック"/>
              </a:rPr>
              <a:t>1</a:t>
            </a:r>
            <a:r>
              <a:rPr lang="ja-JP" sz="1200" b="0" u="none" strike="noStrike">
                <a:solidFill>
                  <a:srgbClr val="1F2937"/>
                </a:solidFill>
                <a:effectLst/>
                <a:uFillTx/>
                <a:latin typeface="BIZ UDPゴシック"/>
                <a:ea typeface="BIZ UDPゴシック"/>
              </a:rPr>
              <a:t>日前開始は</a:t>
            </a:r>
            <a:r>
              <a:rPr lang="en-US" sz="1200" b="0" u="none" strike="noStrike">
                <a:solidFill>
                  <a:srgbClr val="1F2937"/>
                </a:solidFill>
                <a:effectLst/>
                <a:uFillTx/>
                <a:latin typeface="BIZ UDPゴシック"/>
                <a:ea typeface="BIZ UDPゴシック"/>
              </a:rPr>
              <a:t>9</a:t>
            </a:r>
            <a:r>
              <a:rPr lang="ja-JP" sz="1200" b="0" u="none" strike="noStrike">
                <a:solidFill>
                  <a:srgbClr val="1F2937"/>
                </a:solidFill>
                <a:effectLst/>
                <a:uFillTx/>
                <a:latin typeface="BIZ UDPゴシック"/>
                <a:ea typeface="BIZ UDPゴシック"/>
              </a:rPr>
              <a:t>年</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国税庁 </a:t>
            </a:r>
            <a:r>
              <a:rPr lang="en-US" sz="1200" b="0" u="none" strike="noStrike">
                <a:solidFill>
                  <a:srgbClr val="1F2937"/>
                </a:solidFill>
                <a:effectLst/>
                <a:uFillTx/>
                <a:latin typeface="BIZ UDPゴシック"/>
                <a:ea typeface="BIZ UDPゴシック"/>
              </a:rPr>
              <a:t>No.5930)</a:t>
            </a:r>
            <a:r>
              <a:rPr lang="ja-JP" sz="1200" b="0" u="none" strike="noStrike">
                <a:solidFill>
                  <a:srgbClr val="1F2937"/>
                </a:solidFill>
                <a:effectLst/>
                <a:uFillTx/>
                <a:latin typeface="BIZ UDPゴシック"/>
                <a:ea typeface="BIZ UDPゴシック"/>
              </a:rPr>
              <a:t>。スキャナ保存の真実性は入力期間内のタイムスタンプ付与、または訂正削除履歴が残るシステムへの入力期間内保存のいずれかで確保する。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04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04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04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4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5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5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52"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53"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5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5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05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5.3 </a:t>
            </a:r>
            <a:r>
              <a:rPr lang="ja-JP" sz="2400" b="1" u="none" strike="noStrike">
                <a:solidFill>
                  <a:srgbClr val="16213E"/>
                </a:solidFill>
                <a:effectLst/>
                <a:uFillTx/>
                <a:latin typeface="BIZ UDPゴシック"/>
                <a:ea typeface="BIZ UDPゴシック"/>
              </a:rPr>
              <a:t>課題管理</a:t>
            </a:r>
            <a:endParaRPr lang="en-US" sz="2400" b="0" u="none" strike="noStrike">
              <a:solidFill>
                <a:srgbClr val="000000"/>
              </a:solidFill>
              <a:effectLst/>
              <a:uFillTx/>
              <a:latin typeface="Arial"/>
            </a:endParaRPr>
          </a:p>
        </p:txBody>
      </p:sp>
      <p:sp>
        <p:nvSpPr>
          <p:cNvPr id="205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058" name="hdr-hair"/>
          <p:cNvCxnSpPr/>
          <p:nvPr/>
        </p:nvCxnSpPr>
        <p:spPr>
          <a:xfrm>
            <a:off x="502920" y="969120"/>
            <a:ext cx="11186280" cy="720"/>
          </a:xfrm>
          <a:prstGeom prst="straightConnector1">
            <a:avLst/>
          </a:prstGeom>
          <a:ln w="9525">
            <a:solidFill>
              <a:srgbClr val="D5DBE5"/>
            </a:solidFill>
            <a:round/>
          </a:ln>
        </p:spPr>
      </p:cxnSp>
      <p:cxnSp>
        <p:nvCxnSpPr>
          <p:cNvPr id="2059" name="ftr-hair"/>
          <p:cNvCxnSpPr/>
          <p:nvPr/>
        </p:nvCxnSpPr>
        <p:spPr>
          <a:xfrm>
            <a:off x="502920" y="6382440"/>
            <a:ext cx="11186280" cy="720"/>
          </a:xfrm>
          <a:prstGeom prst="straightConnector1">
            <a:avLst/>
          </a:prstGeom>
          <a:ln w="9525">
            <a:solidFill>
              <a:srgbClr val="D5DBE5"/>
            </a:solidFill>
            <a:round/>
          </a:ln>
        </p:spPr>
      </p:cxnSp>
      <p:sp>
        <p:nvSpPr>
          <p:cNvPr id="206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59 / 85</a:t>
            </a:r>
            <a:endParaRPr lang="en-US" sz="1100" b="0" u="none" strike="noStrike">
              <a:solidFill>
                <a:srgbClr val="000000"/>
              </a:solidFill>
              <a:effectLst/>
              <a:uFillTx/>
              <a:latin typeface="Arial"/>
            </a:endParaRPr>
          </a:p>
        </p:txBody>
      </p:sp>
      <p:sp>
        <p:nvSpPr>
          <p:cNvPr id="206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06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06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06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6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6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課題は台帳で一元管理し、期限超過は週次定例でエスカレーションする</a:t>
            </a:r>
            <a:endParaRPr lang="en-US" sz="1500" b="0" u="none" strike="noStrike">
              <a:solidFill>
                <a:srgbClr val="000000"/>
              </a:solidFill>
              <a:effectLst/>
              <a:uFillTx/>
              <a:latin typeface="Arial"/>
            </a:endParaRPr>
          </a:p>
        </p:txBody>
      </p:sp>
      <p:sp>
        <p:nvSpPr>
          <p:cNvPr id="2067" name="blk-bullets"/>
          <p:cNvSpPr/>
          <p:nvPr/>
        </p:nvSpPr>
        <p:spPr>
          <a:xfrm>
            <a:off x="502920" y="1627560"/>
            <a:ext cx="11185200" cy="22485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課題区分は内部・個別・共通の</a:t>
            </a:r>
            <a:r>
              <a:rPr lang="en-US" sz="1400" b="0" u="none" strike="noStrike">
                <a:solidFill>
                  <a:srgbClr val="1F2937"/>
                </a:solidFill>
                <a:effectLst/>
                <a:uFillTx/>
                <a:latin typeface="BIZ UDPゴシック"/>
                <a:ea typeface="BIZ UDPゴシック"/>
              </a:rPr>
              <a:t>3</a:t>
            </a:r>
            <a:r>
              <a:rPr lang="ja-JP" sz="1400" b="0" u="none" strike="noStrike">
                <a:solidFill>
                  <a:srgbClr val="1F2937"/>
                </a:solidFill>
                <a:effectLst/>
                <a:uFillTx/>
                <a:latin typeface="BIZ UDPゴシック"/>
                <a:ea typeface="BIZ UDPゴシック"/>
              </a:rPr>
              <a:t>種とする。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状態は未着手・対応中・完了の</a:t>
            </a:r>
            <a:r>
              <a:rPr lang="en-US" sz="1400" b="0" u="none" strike="noStrike">
                <a:solidFill>
                  <a:srgbClr val="1F2937"/>
                </a:solidFill>
                <a:effectLst/>
                <a:uFillTx/>
                <a:latin typeface="BIZ UDPゴシック"/>
                <a:ea typeface="BIZ UDPゴシック"/>
              </a:rPr>
              <a:t>3</a:t>
            </a:r>
            <a:r>
              <a:rPr lang="ja-JP" sz="1400" b="0" u="none" strike="noStrike">
                <a:solidFill>
                  <a:srgbClr val="1F2937"/>
                </a:solidFill>
                <a:effectLst/>
                <a:uFillTx/>
                <a:latin typeface="BIZ UDPゴシック"/>
                <a:ea typeface="BIZ UDPゴシック"/>
              </a:rPr>
              <a:t>種で管理する。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起票から対応、クローズまでの履歴を台帳に残す。</a:t>
            </a:r>
            <a:endParaRPr lang="en-US" sz="1400" b="0" u="none" strike="noStrike">
              <a:solidFill>
                <a:srgbClr val="000000"/>
              </a:solidFill>
              <a:effectLst/>
              <a:uFillTx/>
              <a:latin typeface="Arial"/>
            </a:endParaRPr>
          </a:p>
        </p:txBody>
      </p:sp>
      <p:sp>
        <p:nvSpPr>
          <p:cNvPr id="2068" name="blk-title"/>
          <p:cNvSpPr/>
          <p:nvPr/>
        </p:nvSpPr>
        <p:spPr>
          <a:xfrm>
            <a:off x="502920" y="400500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運用開始後の記入例</a:t>
            </a:r>
            <a:endParaRPr lang="en-US" sz="1200" b="0" u="none" strike="noStrike">
              <a:solidFill>
                <a:srgbClr val="000000"/>
              </a:solidFill>
              <a:effectLst/>
              <a:uFillTx/>
              <a:latin typeface="Arial"/>
            </a:endParaRPr>
          </a:p>
        </p:txBody>
      </p:sp>
      <p:graphicFrame>
        <p:nvGraphicFramePr>
          <p:cNvPr id="2069" name="blk-table"/>
          <p:cNvGraphicFramePr/>
          <p:nvPr/>
        </p:nvGraphicFramePr>
        <p:xfrm>
          <a:off x="502920" y="4279320"/>
          <a:ext cx="11184480" cy="2022840"/>
        </p:xfrm>
        <a:graphic>
          <a:graphicData uri="http://schemas.openxmlformats.org/drawingml/2006/table">
            <a:tbl>
              <a:tblPr/>
              <a:tblGrid>
                <a:gridCol w="894600"/>
                <a:gridCol w="3355560"/>
                <a:gridCol w="1118520"/>
                <a:gridCol w="1566000"/>
                <a:gridCol w="1566000"/>
                <a:gridCol w="1789560"/>
                <a:gridCol w="894600"/>
              </a:tblGrid>
              <a:tr h="262080">
                <a:tc>
                  <a:txBody>
                    <a:bodyPr lIns="45720" tIns="18000" rIns="45720" bIns="18000" anchor="t">
                      <a:noAutofit/>
                    </a:bodyPr>
                    <a:p>
                      <a:pPr defTabSz="457200">
                        <a:lnSpc>
                          <a:spcPct val="120000"/>
                        </a:lnSpc>
                      </a:pPr>
                      <a:r>
                        <a:rPr lang="en-US" sz="1200" b="1" u="none" strike="noStrike">
                          <a:solidFill>
                            <a:srgbClr val="FFFFFF"/>
                          </a:solidFill>
                          <a:effectLst/>
                          <a:uFillTx/>
                          <a:latin typeface="BIZ UDPゴシック"/>
                          <a:ea typeface="BIZ UDPゴシック"/>
                        </a:rPr>
                        <a:t>ID</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課題</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00" b="1" u="none" strike="noStrike">
                          <a:solidFill>
                            <a:srgbClr val="FFFFFF"/>
                          </a:solidFill>
                          <a:effectLst/>
                          <a:uFillTx/>
                          <a:latin typeface="BIZ UDPゴシック"/>
                          <a:ea typeface="BIZ UDPゴシック"/>
                        </a:rPr>
                        <a:t>区分</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00" b="1" u="none" strike="noStrike">
                          <a:solidFill>
                            <a:srgbClr val="FFFFFF"/>
                          </a:solidFill>
                          <a:effectLst/>
                          <a:uFillTx/>
                          <a:latin typeface="BIZ UDPゴシック"/>
                          <a:ea typeface="BIZ UDPゴシック"/>
                        </a:rPr>
                        <a:t>起票日</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00" b="1" u="none" strike="noStrike">
                          <a:solidFill>
                            <a:srgbClr val="FFFFFF"/>
                          </a:solidFill>
                          <a:effectLst/>
                          <a:uFillTx/>
                          <a:latin typeface="BIZ UDPゴシック"/>
                          <a:ea typeface="BIZ UDPゴシック"/>
                        </a:rPr>
                        <a:t>期限</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200" b="1" u="none" strike="noStrike">
                          <a:solidFill>
                            <a:srgbClr val="FFFFFF"/>
                          </a:solidFill>
                          <a:effectLst/>
                          <a:uFillTx/>
                          <a:latin typeface="BIZ UDPゴシック"/>
                          <a:ea typeface="BIZ UDPゴシック"/>
                        </a:rPr>
                        <a:t>担当</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200" b="1" u="none" strike="noStrike">
                          <a:solidFill>
                            <a:srgbClr val="FFFFFF"/>
                          </a:solidFill>
                          <a:effectLst/>
                          <a:uFillTx/>
                          <a:latin typeface="BIZ UDPゴシック"/>
                          <a:ea typeface="BIZ UDPゴシック"/>
                        </a:rPr>
                        <a:t>状態</a:t>
                      </a:r>
                      <a:endParaRPr lang="en-US" sz="12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2148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I001</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基幹会計システムのインタフェース仕様確定</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個別</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2026/12/15</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2027/02/28</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導入エンジニア</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対応中</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42660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I002</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経費規程改定案の合意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承認・設定反映は</a:t>
                      </a:r>
                      <a:r>
                        <a:rPr lang="en-US" sz="1200" b="0" u="none" strike="noStrike">
                          <a:solidFill>
                            <a:srgbClr val="1F2937"/>
                          </a:solidFill>
                          <a:effectLst/>
                          <a:uFillTx/>
                          <a:latin typeface="BIZ UDPゴシック"/>
                          <a:ea typeface="BIZ UDPゴシック"/>
                        </a:rPr>
                        <a:t>Q004)</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共通</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2026/12/20</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2027/03/31</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貴社経理部</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対応中</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2148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I003</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電子帳簿保存の検索要件の充足確認</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個別</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2027/02/10</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2027/03/31</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業務コンサルタント</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対応中</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2148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I004</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SSO</a:t>
                      </a:r>
                      <a:r>
                        <a:rPr lang="ja-JP" sz="1200" b="0" u="none" strike="noStrike">
                          <a:solidFill>
                            <a:srgbClr val="1F2937"/>
                          </a:solidFill>
                          <a:effectLst/>
                          <a:uFillTx/>
                          <a:latin typeface="BIZ UDPゴシック"/>
                          <a:ea typeface="BIZ UDPゴシック"/>
                        </a:rPr>
                        <a:t>連携方式と多要素認証の対象範囲確定</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個別</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2027/03/05</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2027/04/30</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導入エンジニア</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対応中</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21480">
                <a:tc>
                  <a:txBody>
                    <a:bodyPr lIns="45720" tIns="18000" rIns="45720" bIns="18000" anchor="t">
                      <a:noAutofit/>
                    </a:bodyPr>
                    <a:p>
                      <a:pPr defTabSz="457200">
                        <a:lnSpc>
                          <a:spcPct val="120000"/>
                        </a:lnSpc>
                      </a:pPr>
                      <a:r>
                        <a:rPr lang="en-US" sz="1200" b="0" u="none" strike="noStrike">
                          <a:solidFill>
                            <a:srgbClr val="1F2937"/>
                          </a:solidFill>
                          <a:effectLst/>
                          <a:uFillTx/>
                          <a:latin typeface="BIZ UDPゴシック"/>
                          <a:ea typeface="BIZ UDPゴシック"/>
                        </a:rPr>
                        <a:t>I005</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研修日程と対象者名簿の確定</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共通</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2027/06/15</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200" b="0" u="none" strike="noStrike">
                          <a:solidFill>
                            <a:srgbClr val="1F2937"/>
                          </a:solidFill>
                          <a:effectLst/>
                          <a:uFillTx/>
                          <a:latin typeface="BIZ UDPゴシック"/>
                          <a:ea typeface="BIZ UDPゴシック"/>
                        </a:rPr>
                        <a:t>2027/07/31</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200" b="0" u="none" strike="noStrike">
                          <a:solidFill>
                            <a:srgbClr val="1F2937"/>
                          </a:solidFill>
                          <a:effectLst/>
                          <a:uFillTx/>
                          <a:latin typeface="BIZ UDPゴシック"/>
                          <a:ea typeface="BIZ UDPゴシック"/>
                        </a:rPr>
                        <a:t>変更管理リード</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200" b="0" u="none" strike="noStrike">
                          <a:solidFill>
                            <a:srgbClr val="1F2937"/>
                          </a:solidFill>
                          <a:effectLst/>
                          <a:uFillTx/>
                          <a:latin typeface="BIZ UDPゴシック"/>
                          <a:ea typeface="BIZ UDPゴシック"/>
                        </a:rPr>
                        <a:t>未着手</a:t>
                      </a:r>
                      <a:endParaRPr lang="en-US" sz="12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0"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71"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072"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073"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074"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75"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76"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77"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78"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79"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80"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81"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082"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5.4 </a:t>
            </a:r>
            <a:r>
              <a:rPr lang="ja-JP" sz="2400" b="1" u="none" strike="noStrike">
                <a:solidFill>
                  <a:srgbClr val="16213E"/>
                </a:solidFill>
                <a:effectLst/>
                <a:uFillTx/>
                <a:latin typeface="BIZ UDPゴシック"/>
                <a:ea typeface="BIZ UDPゴシック"/>
              </a:rPr>
              <a:t>リスク管理 ─ リスク登録簿</a:t>
            </a:r>
            <a:endParaRPr lang="en-US" sz="2400" b="0" u="none" strike="noStrike">
              <a:solidFill>
                <a:srgbClr val="000000"/>
              </a:solidFill>
              <a:effectLst/>
              <a:uFillTx/>
              <a:latin typeface="Arial"/>
            </a:endParaRPr>
          </a:p>
        </p:txBody>
      </p:sp>
      <p:sp>
        <p:nvSpPr>
          <p:cNvPr id="2083"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084" name="hdr-hair"/>
          <p:cNvCxnSpPr/>
          <p:nvPr/>
        </p:nvCxnSpPr>
        <p:spPr>
          <a:xfrm>
            <a:off x="502920" y="969120"/>
            <a:ext cx="11186280" cy="720"/>
          </a:xfrm>
          <a:prstGeom prst="straightConnector1">
            <a:avLst/>
          </a:prstGeom>
          <a:ln w="9525">
            <a:solidFill>
              <a:srgbClr val="D5DBE5"/>
            </a:solidFill>
            <a:round/>
          </a:ln>
        </p:spPr>
      </p:cxnSp>
      <p:cxnSp>
        <p:nvCxnSpPr>
          <p:cNvPr id="2085" name="ftr-hair"/>
          <p:cNvCxnSpPr/>
          <p:nvPr/>
        </p:nvCxnSpPr>
        <p:spPr>
          <a:xfrm>
            <a:off x="502920" y="6382440"/>
            <a:ext cx="11186280" cy="720"/>
          </a:xfrm>
          <a:prstGeom prst="straightConnector1">
            <a:avLst/>
          </a:prstGeom>
          <a:ln w="9525">
            <a:solidFill>
              <a:srgbClr val="D5DBE5"/>
            </a:solidFill>
            <a:round/>
          </a:ln>
        </p:spPr>
      </p:cxnSp>
      <p:sp>
        <p:nvSpPr>
          <p:cNvPr id="2086"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60 / 85</a:t>
            </a:r>
            <a:endParaRPr lang="en-US" sz="1100" b="0" u="none" strike="noStrike">
              <a:solidFill>
                <a:srgbClr val="000000"/>
              </a:solidFill>
              <a:effectLst/>
              <a:uFillTx/>
              <a:latin typeface="Arial"/>
            </a:endParaRPr>
          </a:p>
        </p:txBody>
      </p:sp>
      <p:sp>
        <p:nvSpPr>
          <p:cNvPr id="2087"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088"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089"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090"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91"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92"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上位</a:t>
            </a:r>
            <a:r>
              <a:rPr lang="en-US" sz="1500" b="1" u="none" strike="noStrike">
                <a:solidFill>
                  <a:srgbClr val="16213E"/>
                </a:solidFill>
                <a:effectLst/>
                <a:uFillTx/>
                <a:latin typeface="BIZ UDPゴシック"/>
                <a:ea typeface="BIZ UDPゴシック"/>
              </a:rPr>
              <a:t>10</a:t>
            </a:r>
            <a:r>
              <a:rPr lang="ja-JP" sz="1500" b="1" u="none" strike="noStrike">
                <a:solidFill>
                  <a:srgbClr val="16213E"/>
                </a:solidFill>
                <a:effectLst/>
                <a:uFillTx/>
                <a:latin typeface="BIZ UDPゴシック"/>
                <a:ea typeface="BIZ UDPゴシック"/>
              </a:rPr>
              <a:t>リスクを登録簿で管理し、月次で発生可能性と影響度を見直す</a:t>
            </a:r>
            <a:endParaRPr lang="en-US" sz="1500" b="0" u="none" strike="noStrike">
              <a:solidFill>
                <a:srgbClr val="000000"/>
              </a:solidFill>
              <a:effectLst/>
              <a:uFillTx/>
              <a:latin typeface="Arial"/>
            </a:endParaRPr>
          </a:p>
        </p:txBody>
      </p:sp>
      <p:graphicFrame>
        <p:nvGraphicFramePr>
          <p:cNvPr id="2093" name="blk-table"/>
          <p:cNvGraphicFramePr/>
          <p:nvPr/>
        </p:nvGraphicFramePr>
        <p:xfrm>
          <a:off x="502920" y="1627560"/>
          <a:ext cx="11184480" cy="4050000"/>
        </p:xfrm>
        <a:graphic>
          <a:graphicData uri="http://schemas.openxmlformats.org/drawingml/2006/table">
            <a:tbl>
              <a:tblPr/>
              <a:tblGrid>
                <a:gridCol w="503280"/>
                <a:gridCol w="1621800"/>
                <a:gridCol w="1509840"/>
                <a:gridCol w="1118520"/>
                <a:gridCol w="783000"/>
                <a:gridCol w="3243600"/>
                <a:gridCol w="1621800"/>
                <a:gridCol w="783000"/>
              </a:tblGrid>
              <a:tr h="212400">
                <a:tc>
                  <a:txBody>
                    <a:bodyPr lIns="45720" tIns="18000" rIns="45720" bIns="18000" anchor="t">
                      <a:noAutofit/>
                    </a:bodyPr>
                    <a:p>
                      <a:pPr defTabSz="457200">
                        <a:lnSpc>
                          <a:spcPct val="120000"/>
                        </a:lnSpc>
                      </a:pPr>
                      <a:r>
                        <a:rPr lang="en-US" sz="900" b="1" u="none" strike="noStrike">
                          <a:solidFill>
                            <a:srgbClr val="FFFFFF"/>
                          </a:solidFill>
                          <a:effectLst/>
                          <a:uFillTx/>
                          <a:latin typeface="BIZ UDPゴシック"/>
                          <a:ea typeface="BIZ UDPゴシック"/>
                        </a:rPr>
                        <a:t>ID</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900" b="1" u="none" strike="noStrike">
                          <a:solidFill>
                            <a:srgbClr val="FFFFFF"/>
                          </a:solidFill>
                          <a:effectLst/>
                          <a:uFillTx/>
                          <a:latin typeface="BIZ UDPゴシック"/>
                          <a:ea typeface="BIZ UDPゴシック"/>
                        </a:rPr>
                        <a:t>リスク</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900" b="1" u="none" strike="noStrike">
                          <a:solidFill>
                            <a:srgbClr val="FFFFFF"/>
                          </a:solidFill>
                          <a:effectLst/>
                          <a:uFillTx/>
                          <a:latin typeface="BIZ UDPゴシック"/>
                          <a:ea typeface="BIZ UDPゴシック"/>
                        </a:rPr>
                        <a:t>発生要因</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900" b="1" u="none" strike="noStrike">
                          <a:solidFill>
                            <a:srgbClr val="FFFFFF"/>
                          </a:solidFill>
                          <a:effectLst/>
                          <a:uFillTx/>
                          <a:latin typeface="BIZ UDPゴシック"/>
                          <a:ea typeface="BIZ UDPゴシック"/>
                        </a:rPr>
                        <a:t>発生可能性</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900" b="1" u="none" strike="noStrike">
                          <a:solidFill>
                            <a:srgbClr val="FFFFFF"/>
                          </a:solidFill>
                          <a:effectLst/>
                          <a:uFillTx/>
                          <a:latin typeface="BIZ UDPゴシック"/>
                          <a:ea typeface="BIZ UDPゴシック"/>
                        </a:rPr>
                        <a:t>影響度</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900" b="1" u="none" strike="noStrike">
                          <a:solidFill>
                            <a:srgbClr val="FFFFFF"/>
                          </a:solidFill>
                          <a:effectLst/>
                          <a:uFillTx/>
                          <a:latin typeface="BIZ UDPゴシック"/>
                          <a:ea typeface="BIZ UDPゴシック"/>
                        </a:rPr>
                        <a:t>対応策</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900" b="1" u="none" strike="noStrike">
                          <a:solidFill>
                            <a:srgbClr val="FFFFFF"/>
                          </a:solidFill>
                          <a:effectLst/>
                          <a:uFillTx/>
                          <a:latin typeface="BIZ UDPゴシック"/>
                          <a:ea typeface="BIZ UDPゴシック"/>
                        </a:rPr>
                        <a:t>担当</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900" b="1" u="none" strike="noStrike">
                          <a:solidFill>
                            <a:srgbClr val="FFFFFF"/>
                          </a:solidFill>
                          <a:effectLst/>
                          <a:uFillTx/>
                          <a:latin typeface="BIZ UDPゴシック"/>
                          <a:ea typeface="BIZ UDPゴシック"/>
                        </a:rPr>
                        <a:t>状態</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R001</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決算繁忙期の負荷</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決算繁忙期と設計の重複</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繁忙期の作業量を抑制し平準化</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貴社経理部</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R002</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標準機能ギャップ</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標準適合の見落とし</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早期ギャップ分析と代替案</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業務コンサル</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連携仕様の提供遅延</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基幹側の仕様確定遅れ</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提供期限を設定し代替準備</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導入エンジニア</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R004</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定着化不足</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研修不足と定着遅れ</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追加研修と伴走支援</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変更管理リード</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R005</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法令解釈の相違</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法令解釈の不一致</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主管部門と早期合意</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業務コンサル</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R006</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サイバー攻撃</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攻撃・委託先の侵入</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低</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ISMAP</a:t>
                      </a:r>
                      <a:r>
                        <a:rPr lang="ja-JP" sz="900" b="0" u="none" strike="noStrike">
                          <a:solidFill>
                            <a:srgbClr val="1F2937"/>
                          </a:solidFill>
                          <a:effectLst/>
                          <a:uFillTx/>
                          <a:latin typeface="BIZ UDPゴシック"/>
                          <a:ea typeface="BIZ UDPゴシック"/>
                        </a:rPr>
                        <a:t>確認・</a:t>
                      </a:r>
                      <a:r>
                        <a:rPr lang="en-US" sz="900" b="0" u="none" strike="noStrike">
                          <a:solidFill>
                            <a:srgbClr val="1F2937"/>
                          </a:solidFill>
                          <a:effectLst/>
                          <a:uFillTx/>
                          <a:latin typeface="BIZ UDPゴシック"/>
                          <a:ea typeface="BIZ UDPゴシック"/>
                        </a:rPr>
                        <a:t>SSO+MFA</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情報システム部</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R007</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キーパーソン離脱</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特定担当への業務依存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複数担当制と引継ぎ計画</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当社</a:t>
                      </a:r>
                      <a:r>
                        <a:rPr lang="en-US" sz="900" b="0" u="none" strike="noStrike">
                          <a:solidFill>
                            <a:srgbClr val="1F2937"/>
                          </a:solidFill>
                          <a:effectLst/>
                          <a:uFillTx/>
                          <a:latin typeface="BIZ UDPゴシック"/>
                          <a:ea typeface="BIZ UDPゴシック"/>
                        </a:rPr>
                        <a:t>PM</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R008</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SaaS</a:t>
                      </a:r>
                      <a:r>
                        <a:rPr lang="ja-JP" sz="900" b="0" u="none" strike="noStrike">
                          <a:solidFill>
                            <a:srgbClr val="1F2937"/>
                          </a:solidFill>
                          <a:effectLst/>
                          <a:uFillTx/>
                          <a:latin typeface="BIZ UDPゴシック"/>
                          <a:ea typeface="BIZ UDPゴシック"/>
                        </a:rPr>
                        <a:t>側の仕様変更</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提供元の仕様更新</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変更情報入手と影響評価</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導入エンジニア</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R009</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データ移行品質</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移行データの不整合</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低</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リハーサルと突合・差戻し</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導入エンジニア</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R010</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予算超過</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スコープ拡大と追加開発</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高</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予備費統制と</a:t>
                      </a:r>
                      <a:r>
                        <a:rPr lang="en-US" sz="900" b="0" u="none" strike="noStrike">
                          <a:solidFill>
                            <a:srgbClr val="1F2937"/>
                          </a:solidFill>
                          <a:effectLst/>
                          <a:uFillTx/>
                          <a:latin typeface="BIZ UDPゴシック"/>
                          <a:ea typeface="BIZ UDPゴシック"/>
                        </a:rPr>
                        <a:t>CCB</a:t>
                      </a:r>
                      <a:r>
                        <a:rPr lang="ja-JP" sz="900" b="0" u="none" strike="noStrike">
                          <a:solidFill>
                            <a:srgbClr val="1F2937"/>
                          </a:solidFill>
                          <a:effectLst/>
                          <a:uFillTx/>
                          <a:latin typeface="BIZ UDPゴシック"/>
                          <a:ea typeface="BIZ UDPゴシック"/>
                        </a:rPr>
                        <a:t>判定</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当社</a:t>
                      </a:r>
                      <a:r>
                        <a:rPr lang="en-US" sz="900" b="0" u="none" strike="noStrike">
                          <a:solidFill>
                            <a:srgbClr val="1F2937"/>
                          </a:solidFill>
                          <a:effectLst/>
                          <a:uFillTx/>
                          <a:latin typeface="BIZ UDPゴシック"/>
                          <a:ea typeface="BIZ UDPゴシック"/>
                        </a:rPr>
                        <a:t>PM</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監視中</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9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09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09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09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09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0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0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02"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03"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0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0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10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5.4 </a:t>
            </a:r>
            <a:r>
              <a:rPr lang="ja-JP" sz="2400" b="1" u="none" strike="noStrike">
                <a:solidFill>
                  <a:srgbClr val="16213E"/>
                </a:solidFill>
                <a:effectLst/>
                <a:uFillTx/>
                <a:latin typeface="BIZ UDPゴシック"/>
                <a:ea typeface="BIZ UDPゴシック"/>
              </a:rPr>
              <a:t>リスク管理 ─ 評価基準と対応方針</a:t>
            </a:r>
            <a:endParaRPr lang="en-US" sz="2400" b="0" u="none" strike="noStrike">
              <a:solidFill>
                <a:srgbClr val="000000"/>
              </a:solidFill>
              <a:effectLst/>
              <a:uFillTx/>
              <a:latin typeface="Arial"/>
            </a:endParaRPr>
          </a:p>
        </p:txBody>
      </p:sp>
      <p:sp>
        <p:nvSpPr>
          <p:cNvPr id="210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108" name="hdr-hair"/>
          <p:cNvCxnSpPr/>
          <p:nvPr/>
        </p:nvCxnSpPr>
        <p:spPr>
          <a:xfrm>
            <a:off x="502920" y="969120"/>
            <a:ext cx="11186280" cy="720"/>
          </a:xfrm>
          <a:prstGeom prst="straightConnector1">
            <a:avLst/>
          </a:prstGeom>
          <a:ln w="9525">
            <a:solidFill>
              <a:srgbClr val="D5DBE5"/>
            </a:solidFill>
            <a:round/>
          </a:ln>
        </p:spPr>
      </p:cxnSp>
      <p:cxnSp>
        <p:nvCxnSpPr>
          <p:cNvPr id="2109" name="ftr-hair"/>
          <p:cNvCxnSpPr/>
          <p:nvPr/>
        </p:nvCxnSpPr>
        <p:spPr>
          <a:xfrm>
            <a:off x="502920" y="6382440"/>
            <a:ext cx="11186280" cy="720"/>
          </a:xfrm>
          <a:prstGeom prst="straightConnector1">
            <a:avLst/>
          </a:prstGeom>
          <a:ln w="9525">
            <a:solidFill>
              <a:srgbClr val="D5DBE5"/>
            </a:solidFill>
            <a:round/>
          </a:ln>
        </p:spPr>
      </p:cxnSp>
      <p:sp>
        <p:nvSpPr>
          <p:cNvPr id="211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61 / 85</a:t>
            </a:r>
            <a:endParaRPr lang="en-US" sz="1100" b="0" u="none" strike="noStrike">
              <a:solidFill>
                <a:srgbClr val="000000"/>
              </a:solidFill>
              <a:effectLst/>
              <a:uFillTx/>
              <a:latin typeface="Arial"/>
            </a:endParaRPr>
          </a:p>
        </p:txBody>
      </p:sp>
      <p:sp>
        <p:nvSpPr>
          <p:cNvPr id="211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11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11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11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1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1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発生可能性と影響度の尺度を定義し、回避・軽減・転嫁・受容で対応する</a:t>
            </a:r>
            <a:endParaRPr lang="en-US" sz="1500" b="0" u="none" strike="noStrike">
              <a:solidFill>
                <a:srgbClr val="000000"/>
              </a:solidFill>
              <a:effectLst/>
              <a:uFillTx/>
              <a:latin typeface="Arial"/>
            </a:endParaRPr>
          </a:p>
        </p:txBody>
      </p:sp>
      <p:graphicFrame>
        <p:nvGraphicFramePr>
          <p:cNvPr id="2117" name="blk-table"/>
          <p:cNvGraphicFramePr/>
          <p:nvPr/>
        </p:nvGraphicFramePr>
        <p:xfrm>
          <a:off x="502920" y="1627560"/>
          <a:ext cx="11185200" cy="1446120"/>
        </p:xfrm>
        <a:graphic>
          <a:graphicData uri="http://schemas.openxmlformats.org/drawingml/2006/table">
            <a:tbl>
              <a:tblPr/>
              <a:tblGrid>
                <a:gridCol w="894600"/>
                <a:gridCol w="5145480"/>
                <a:gridCol w="5145480"/>
              </a:tblGrid>
              <a:tr h="294840">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尺度</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発生可能性の目安</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影響度の目安</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高</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50%</a:t>
                      </a:r>
                      <a:r>
                        <a:rPr lang="ja-JP" sz="1400" b="0" u="none" strike="noStrike">
                          <a:solidFill>
                            <a:srgbClr val="1F2937"/>
                          </a:solidFill>
                          <a:effectLst/>
                          <a:uFillTx/>
                          <a:latin typeface="BIZ UDPゴシック"/>
                          <a:ea typeface="BIZ UDPゴシック"/>
                        </a:rPr>
                        <a:t>以上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重大な遅延・予算</a:t>
                      </a:r>
                      <a:r>
                        <a:rPr lang="en-US" sz="1400" b="0" u="none" strike="noStrike">
                          <a:solidFill>
                            <a:srgbClr val="1F2937"/>
                          </a:solidFill>
                          <a:effectLst/>
                          <a:uFillTx/>
                          <a:latin typeface="BIZ UDPゴシック"/>
                          <a:ea typeface="BIZ UDPゴシック"/>
                        </a:rPr>
                        <a:t>10%</a:t>
                      </a:r>
                      <a:r>
                        <a:rPr lang="ja-JP" sz="1400" b="0" u="none" strike="noStrike">
                          <a:solidFill>
                            <a:srgbClr val="1F2937"/>
                          </a:solidFill>
                          <a:effectLst/>
                          <a:uFillTx/>
                          <a:latin typeface="BIZ UDPゴシック"/>
                          <a:ea typeface="BIZ UDPゴシック"/>
                        </a:rPr>
                        <a:t>超の超過・品質事故</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中</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10%</a:t>
                      </a:r>
                      <a:r>
                        <a:rPr lang="ja-JP" sz="1400" b="0" u="none" strike="noStrike">
                          <a:solidFill>
                            <a:srgbClr val="1F2937"/>
                          </a:solidFill>
                          <a:effectLst/>
                          <a:uFillTx/>
                          <a:latin typeface="BIZ UDPゴシック"/>
                          <a:ea typeface="BIZ UDPゴシック"/>
                        </a:rPr>
                        <a:t>以上</a:t>
                      </a:r>
                      <a:r>
                        <a:rPr lang="en-US" sz="1400" b="0" u="none" strike="noStrike">
                          <a:solidFill>
                            <a:srgbClr val="1F2937"/>
                          </a:solidFill>
                          <a:effectLst/>
                          <a:uFillTx/>
                          <a:latin typeface="BIZ UDPゴシック"/>
                          <a:ea typeface="BIZ UDPゴシック"/>
                        </a:rPr>
                        <a:t>50%</a:t>
                      </a:r>
                      <a:r>
                        <a:rPr lang="ja-JP" sz="1400" b="0" u="none" strike="noStrike">
                          <a:solidFill>
                            <a:srgbClr val="1F2937"/>
                          </a:solidFill>
                          <a:effectLst/>
                          <a:uFillTx/>
                          <a:latin typeface="BIZ UDPゴシック"/>
                          <a:ea typeface="BIZ UDPゴシック"/>
                        </a:rPr>
                        <a:t>未満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調整で吸収可能な遅延・軽微な超過</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低</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10%</a:t>
                      </a:r>
                      <a:r>
                        <a:rPr lang="ja-JP" sz="1400" b="0" u="none" strike="noStrike">
                          <a:solidFill>
                            <a:srgbClr val="1F2937"/>
                          </a:solidFill>
                          <a:effectLst/>
                          <a:uFillTx/>
                          <a:latin typeface="BIZ UDPゴシック"/>
                          <a:ea typeface="BIZ UDPゴシック"/>
                        </a:rPr>
                        <a:t>未満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軽微で運用内で対処できる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graphicFrame>
        <p:nvGraphicFramePr>
          <p:cNvPr id="2118" name="blk-table"/>
          <p:cNvGraphicFramePr/>
          <p:nvPr/>
        </p:nvGraphicFramePr>
        <p:xfrm>
          <a:off x="502920" y="3678840"/>
          <a:ext cx="11185200" cy="1829880"/>
        </p:xfrm>
        <a:graphic>
          <a:graphicData uri="http://schemas.openxmlformats.org/drawingml/2006/table">
            <a:tbl>
              <a:tblPr/>
              <a:tblGrid>
                <a:gridCol w="1566000"/>
                <a:gridCol w="5145480"/>
                <a:gridCol w="4474080"/>
              </a:tblGrid>
              <a:tr h="294840">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対応方針</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内容</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適用したリスク</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回避</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発生要因を除去し事象を起こさない</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軽減</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発生可能性または影響度を下げる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R001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R010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転嫁</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保険・契約で第三者へ移す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受容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軽減後の残余リスクを許容し監視する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R008</a:t>
                      </a:r>
                      <a:r>
                        <a:rPr lang="ja-JP" sz="1400" b="0" u="none" strike="noStrike">
                          <a:solidFill>
                            <a:srgbClr val="1F2937"/>
                          </a:solidFill>
                          <a:effectLst/>
                          <a:uFillTx/>
                          <a:latin typeface="BIZ UDPゴシック"/>
                          <a:ea typeface="BIZ UDPゴシック"/>
                        </a:rPr>
                        <a:t>の残余リスク</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2119" name="blk-callout"/>
          <p:cNvSpPr/>
          <p:nvPr/>
        </p:nvSpPr>
        <p:spPr>
          <a:xfrm>
            <a:off x="502920" y="573012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リスクは月次で再評価し、新規のリスクは登録簿に追加して担当と対応策を定める。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0"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21"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22"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123"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124"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25"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26"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27"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28"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29"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30"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31"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132"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5.5 </a:t>
            </a:r>
            <a:r>
              <a:rPr lang="ja-JP" sz="2400" b="1" u="none" strike="noStrike">
                <a:solidFill>
                  <a:srgbClr val="16213E"/>
                </a:solidFill>
                <a:effectLst/>
                <a:uFillTx/>
                <a:latin typeface="BIZ UDPゴシック"/>
                <a:ea typeface="BIZ UDPゴシック"/>
              </a:rPr>
              <a:t>変更管理 </a:t>
            </a:r>
            <a:r>
              <a:rPr lang="en-US" sz="2400" b="1" u="none" strike="noStrike">
                <a:solidFill>
                  <a:srgbClr val="16213E"/>
                </a:solidFill>
                <a:effectLst/>
                <a:uFillTx/>
                <a:latin typeface="BIZ UDPゴシック"/>
                <a:ea typeface="BIZ UDPゴシック"/>
              </a:rPr>
              <a:t>(1/2)</a:t>
            </a:r>
            <a:endParaRPr lang="en-US" sz="2400" b="0" u="none" strike="noStrike">
              <a:solidFill>
                <a:srgbClr val="000000"/>
              </a:solidFill>
              <a:effectLst/>
              <a:uFillTx/>
              <a:latin typeface="Arial"/>
            </a:endParaRPr>
          </a:p>
        </p:txBody>
      </p:sp>
      <p:sp>
        <p:nvSpPr>
          <p:cNvPr id="2133"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134" name="hdr-hair"/>
          <p:cNvCxnSpPr/>
          <p:nvPr/>
        </p:nvCxnSpPr>
        <p:spPr>
          <a:xfrm>
            <a:off x="502920" y="969120"/>
            <a:ext cx="11186280" cy="720"/>
          </a:xfrm>
          <a:prstGeom prst="straightConnector1">
            <a:avLst/>
          </a:prstGeom>
          <a:ln w="9525">
            <a:solidFill>
              <a:srgbClr val="D5DBE5"/>
            </a:solidFill>
            <a:round/>
          </a:ln>
        </p:spPr>
      </p:cxnSp>
      <p:cxnSp>
        <p:nvCxnSpPr>
          <p:cNvPr id="2135" name="ftr-hair"/>
          <p:cNvCxnSpPr/>
          <p:nvPr/>
        </p:nvCxnSpPr>
        <p:spPr>
          <a:xfrm>
            <a:off x="502920" y="6382440"/>
            <a:ext cx="11186280" cy="720"/>
          </a:xfrm>
          <a:prstGeom prst="straightConnector1">
            <a:avLst/>
          </a:prstGeom>
          <a:ln w="9525">
            <a:solidFill>
              <a:srgbClr val="D5DBE5"/>
            </a:solidFill>
            <a:round/>
          </a:ln>
        </p:spPr>
      </p:cxnSp>
      <p:sp>
        <p:nvSpPr>
          <p:cNvPr id="2136"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62 / 85</a:t>
            </a:r>
            <a:endParaRPr lang="en-US" sz="1100" b="0" u="none" strike="noStrike">
              <a:solidFill>
                <a:srgbClr val="000000"/>
              </a:solidFill>
              <a:effectLst/>
              <a:uFillTx/>
              <a:latin typeface="Arial"/>
            </a:endParaRPr>
          </a:p>
        </p:txBody>
      </p:sp>
      <p:sp>
        <p:nvSpPr>
          <p:cNvPr id="2137"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138"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139"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140"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41"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42"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変更は起票から影響分析、</a:t>
            </a:r>
            <a:r>
              <a:rPr lang="en-US" sz="1500" b="1" u="none" strike="noStrike">
                <a:solidFill>
                  <a:srgbClr val="16213E"/>
                </a:solidFill>
                <a:effectLst/>
                <a:uFillTx/>
                <a:latin typeface="BIZ UDPゴシック"/>
                <a:ea typeface="BIZ UDPゴシック"/>
              </a:rPr>
              <a:t>CCB</a:t>
            </a:r>
            <a:r>
              <a:rPr lang="ja-JP" sz="1500" b="1" u="none" strike="noStrike">
                <a:solidFill>
                  <a:srgbClr val="16213E"/>
                </a:solidFill>
                <a:effectLst/>
                <a:uFillTx/>
                <a:latin typeface="BIZ UDPゴシック"/>
                <a:ea typeface="BIZ UDPゴシック"/>
              </a:rPr>
              <a:t>承認、ベースライン更新の順で統制する</a:t>
            </a:r>
            <a:endParaRPr lang="en-US" sz="1500" b="0" u="none" strike="noStrike">
              <a:solidFill>
                <a:srgbClr val="000000"/>
              </a:solidFill>
              <a:effectLst/>
              <a:uFillTx/>
              <a:latin typeface="Arial"/>
            </a:endParaRPr>
          </a:p>
        </p:txBody>
      </p:sp>
      <p:sp>
        <p:nvSpPr>
          <p:cNvPr id="2143" name="drawio:s1"/>
          <p:cNvSpPr/>
          <p:nvPr/>
        </p:nvSpPr>
        <p:spPr>
          <a:xfrm>
            <a:off x="502920" y="2489400"/>
            <a:ext cx="2012760" cy="894240"/>
          </a:xfrm>
          <a:prstGeom prst="roundRect">
            <a:avLst>
              <a:gd name="adj" fmla="val 16667"/>
            </a:avLst>
          </a:prstGeom>
          <a:solidFill>
            <a:srgbClr val="F4F6FA"/>
          </a:solidFill>
          <a:ln w="11185">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1F2937"/>
                </a:solidFill>
                <a:effectLst/>
                <a:uFillTx/>
                <a:latin typeface="BIZ UDPゴシック"/>
                <a:ea typeface="BIZ UDPゴシック"/>
              </a:rPr>
              <a:t>変更要求起票</a:t>
            </a:r>
            <a:endParaRPr lang="en-US" sz="1410" b="0" u="none" strike="noStrike">
              <a:solidFill>
                <a:srgbClr val="000000"/>
              </a:solidFill>
              <a:effectLst/>
              <a:uFillTx/>
              <a:latin typeface="Arial"/>
            </a:endParaRPr>
          </a:p>
        </p:txBody>
      </p:sp>
      <p:sp>
        <p:nvSpPr>
          <p:cNvPr id="2144" name="drawio:s2"/>
          <p:cNvSpPr/>
          <p:nvPr/>
        </p:nvSpPr>
        <p:spPr>
          <a:xfrm>
            <a:off x="2851920" y="2489400"/>
            <a:ext cx="2012760" cy="894240"/>
          </a:xfrm>
          <a:prstGeom prst="roundRect">
            <a:avLst>
              <a:gd name="adj" fmla="val 16667"/>
            </a:avLst>
          </a:prstGeom>
          <a:solidFill>
            <a:srgbClr val="F4F6FA"/>
          </a:solidFill>
          <a:ln w="11185">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1F2937"/>
                </a:solidFill>
                <a:effectLst/>
                <a:uFillTx/>
                <a:latin typeface="BIZ UDPゴシック"/>
                <a:ea typeface="BIZ UDPゴシック"/>
              </a:rPr>
              <a:t>影響分析</a:t>
            </a:r>
            <a:endParaRPr lang="en-US" sz="1410" b="0" u="none" strike="noStrike">
              <a:solidFill>
                <a:srgbClr val="000000"/>
              </a:solidFill>
              <a:effectLst/>
              <a:uFillTx/>
              <a:latin typeface="Arial"/>
            </a:endParaRPr>
          </a:p>
          <a:p>
            <a:pPr algn="ctr" defTabSz="457200">
              <a:lnSpc>
                <a:spcPct val="110000"/>
              </a:lnSpc>
            </a:pPr>
            <a:r>
              <a:rPr lang="ja-JP" sz="1410" b="0" u="none" strike="noStrike">
                <a:solidFill>
                  <a:srgbClr val="1F2937"/>
                </a:solidFill>
                <a:effectLst/>
                <a:uFillTx/>
                <a:latin typeface="BIZ UDPゴシック"/>
                <a:ea typeface="BIZ UDPゴシック"/>
              </a:rPr>
              <a:t>スコープ・日程・費用</a:t>
            </a:r>
            <a:endParaRPr lang="en-US" sz="1410" b="0" u="none" strike="noStrike">
              <a:solidFill>
                <a:srgbClr val="000000"/>
              </a:solidFill>
              <a:effectLst/>
              <a:uFillTx/>
              <a:latin typeface="Arial"/>
            </a:endParaRPr>
          </a:p>
        </p:txBody>
      </p:sp>
      <p:sp>
        <p:nvSpPr>
          <p:cNvPr id="2145" name="drawio:s3"/>
          <p:cNvSpPr/>
          <p:nvPr/>
        </p:nvSpPr>
        <p:spPr>
          <a:xfrm>
            <a:off x="5200920" y="2489400"/>
            <a:ext cx="2012760" cy="894240"/>
          </a:xfrm>
          <a:prstGeom prst="roundRect">
            <a:avLst>
              <a:gd name="adj" fmla="val 16667"/>
            </a:avLst>
          </a:prstGeom>
          <a:solidFill>
            <a:srgbClr val="B4235A"/>
          </a:solidFill>
          <a:ln w="11185">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1" u="none" strike="noStrike">
                <a:solidFill>
                  <a:srgbClr val="FFFFFF"/>
                </a:solidFill>
                <a:effectLst/>
                <a:uFillTx/>
                <a:latin typeface="BIZ UDPゴシック"/>
                <a:ea typeface="BIZ UDPゴシック"/>
              </a:rPr>
              <a:t>承認 </a:t>
            </a:r>
            <a:r>
              <a:rPr lang="en-US" sz="1410" b="1" u="none" strike="noStrike">
                <a:solidFill>
                  <a:srgbClr val="FFFFFF"/>
                </a:solidFill>
                <a:effectLst/>
                <a:uFillTx/>
                <a:latin typeface="BIZ UDPゴシック"/>
                <a:ea typeface="BIZ UDPゴシック"/>
              </a:rPr>
              <a:t>/ </a:t>
            </a:r>
            <a:r>
              <a:rPr lang="ja-JP" sz="1410" b="1" u="none" strike="noStrike">
                <a:solidFill>
                  <a:srgbClr val="FFFFFF"/>
                </a:solidFill>
                <a:effectLst/>
                <a:uFillTx/>
                <a:latin typeface="BIZ UDPゴシック"/>
                <a:ea typeface="BIZ UDPゴシック"/>
              </a:rPr>
              <a:t>却下</a:t>
            </a:r>
            <a:endParaRPr lang="en-US" sz="1410" b="0" u="none" strike="noStrike">
              <a:solidFill>
                <a:srgbClr val="FFFFFF"/>
              </a:solidFill>
              <a:effectLst/>
              <a:uFillTx/>
              <a:latin typeface="Arial"/>
            </a:endParaRPr>
          </a:p>
          <a:p>
            <a:pPr algn="ctr" defTabSz="457200">
              <a:lnSpc>
                <a:spcPct val="110000"/>
              </a:lnSpc>
            </a:pPr>
            <a:r>
              <a:rPr lang="ja-JP" sz="1410" b="1" u="none" strike="noStrike">
                <a:solidFill>
                  <a:srgbClr val="FFFFFF"/>
                </a:solidFill>
                <a:effectLst/>
                <a:uFillTx/>
                <a:latin typeface="BIZ UDPゴシック"/>
                <a:ea typeface="BIZ UDPゴシック"/>
              </a:rPr>
              <a:t>判定は重大→中→軽微の順</a:t>
            </a:r>
            <a:endParaRPr lang="en-US" sz="1410" b="0" u="none" strike="noStrike">
              <a:solidFill>
                <a:srgbClr val="FFFFFF"/>
              </a:solidFill>
              <a:effectLst/>
              <a:uFillTx/>
              <a:latin typeface="Arial"/>
            </a:endParaRPr>
          </a:p>
        </p:txBody>
      </p:sp>
      <p:sp>
        <p:nvSpPr>
          <p:cNvPr id="2146" name="drawio:s4"/>
          <p:cNvSpPr/>
          <p:nvPr/>
        </p:nvSpPr>
        <p:spPr>
          <a:xfrm>
            <a:off x="7549920" y="2489400"/>
            <a:ext cx="2012760" cy="894240"/>
          </a:xfrm>
          <a:prstGeom prst="roundRect">
            <a:avLst>
              <a:gd name="adj" fmla="val 16667"/>
            </a:avLst>
          </a:prstGeom>
          <a:solidFill>
            <a:srgbClr val="F4F6FA"/>
          </a:solidFill>
          <a:ln w="11185">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1F2937"/>
                </a:solidFill>
                <a:effectLst/>
                <a:uFillTx/>
                <a:latin typeface="BIZ UDPゴシック"/>
                <a:ea typeface="BIZ UDPゴシック"/>
              </a:rPr>
              <a:t>ベースライン更新</a:t>
            </a:r>
            <a:endParaRPr lang="en-US" sz="1410" b="0" u="none" strike="noStrike">
              <a:solidFill>
                <a:srgbClr val="000000"/>
              </a:solidFill>
              <a:effectLst/>
              <a:uFillTx/>
              <a:latin typeface="Arial"/>
            </a:endParaRPr>
          </a:p>
          <a:p>
            <a:pPr algn="ctr" defTabSz="457200">
              <a:lnSpc>
                <a:spcPct val="110000"/>
              </a:lnSpc>
            </a:pPr>
            <a:r>
              <a:rPr lang="ja-JP" sz="1410" b="0" u="none" strike="noStrike">
                <a:solidFill>
                  <a:srgbClr val="1F2937"/>
                </a:solidFill>
                <a:effectLst/>
                <a:uFillTx/>
                <a:latin typeface="BIZ UDPゴシック"/>
                <a:ea typeface="BIZ UDPゴシック"/>
              </a:rPr>
              <a:t>変更管理表に記録</a:t>
            </a:r>
            <a:endParaRPr lang="en-US" sz="1410" b="0" u="none" strike="noStrike">
              <a:solidFill>
                <a:srgbClr val="000000"/>
              </a:solidFill>
              <a:effectLst/>
              <a:uFillTx/>
              <a:latin typeface="Arial"/>
            </a:endParaRPr>
          </a:p>
        </p:txBody>
      </p:sp>
      <p:sp>
        <p:nvSpPr>
          <p:cNvPr id="2147" name="drawio:s5"/>
          <p:cNvSpPr/>
          <p:nvPr/>
        </p:nvSpPr>
        <p:spPr>
          <a:xfrm>
            <a:off x="9898920" y="2489400"/>
            <a:ext cx="1788840" cy="894240"/>
          </a:xfrm>
          <a:prstGeom prst="roundRect">
            <a:avLst>
              <a:gd name="adj" fmla="val 16667"/>
            </a:avLst>
          </a:prstGeom>
          <a:solidFill>
            <a:srgbClr val="F4F6FA"/>
          </a:solidFill>
          <a:ln w="11185">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1F2937"/>
                </a:solidFill>
                <a:effectLst/>
                <a:uFillTx/>
                <a:latin typeface="BIZ UDPゴシック"/>
                <a:ea typeface="BIZ UDPゴシック"/>
              </a:rPr>
              <a:t>関係者周知</a:t>
            </a:r>
            <a:endParaRPr lang="en-US" sz="1410" b="0" u="none" strike="noStrike">
              <a:solidFill>
                <a:srgbClr val="000000"/>
              </a:solidFill>
              <a:effectLst/>
              <a:uFillTx/>
              <a:latin typeface="Arial"/>
            </a:endParaRPr>
          </a:p>
        </p:txBody>
      </p:sp>
      <p:sp>
        <p:nvSpPr>
          <p:cNvPr id="2148" name="drawio:d3"/>
          <p:cNvSpPr/>
          <p:nvPr/>
        </p:nvSpPr>
        <p:spPr>
          <a:xfrm>
            <a:off x="502920" y="3607920"/>
            <a:ext cx="3802320" cy="1071720"/>
          </a:xfrm>
          <a:prstGeom prst="roundRect">
            <a:avLst>
              <a:gd name="adj" fmla="val 16667"/>
            </a:avLst>
          </a:prstGeom>
          <a:solidFill>
            <a:srgbClr val="16213E"/>
          </a:solidFill>
          <a:ln w="11185">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FFFFFF"/>
                </a:solidFill>
                <a:effectLst/>
                <a:uFillTx/>
                <a:latin typeface="BIZ UDPゴシック"/>
                <a:ea typeface="BIZ UDPゴシック"/>
              </a:rPr>
              <a:t>重大</a:t>
            </a:r>
            <a:r>
              <a:rPr lang="en-US" sz="1410" b="0" u="none" strike="noStrike">
                <a:solidFill>
                  <a:srgbClr val="FFFFFF"/>
                </a:solidFill>
                <a:effectLst/>
                <a:uFillTx/>
                <a:latin typeface="BIZ UDPゴシック"/>
                <a:ea typeface="BIZ UDPゴシック"/>
              </a:rPr>
              <a:t>: </a:t>
            </a:r>
            <a:r>
              <a:rPr lang="ja-JP" sz="1410" b="0" u="none" strike="noStrike">
                <a:solidFill>
                  <a:srgbClr val="FFFFFF"/>
                </a:solidFill>
                <a:effectLst/>
                <a:uFillTx/>
                <a:latin typeface="BIZ UDPゴシック"/>
                <a:ea typeface="BIZ UDPゴシック"/>
              </a:rPr>
              <a:t>工数</a:t>
            </a:r>
            <a:r>
              <a:rPr lang="en-US" sz="1410" b="0" u="none" strike="noStrike">
                <a:solidFill>
                  <a:srgbClr val="FFFFFF"/>
                </a:solidFill>
                <a:effectLst/>
                <a:uFillTx/>
                <a:latin typeface="BIZ UDPゴシック"/>
                <a:ea typeface="BIZ UDPゴシック"/>
              </a:rPr>
              <a:t>80h</a:t>
            </a:r>
            <a:r>
              <a:rPr lang="ja-JP" sz="1410" b="0" u="none" strike="noStrike">
                <a:solidFill>
                  <a:srgbClr val="FFFFFF"/>
                </a:solidFill>
                <a:effectLst/>
                <a:uFillTx/>
                <a:latin typeface="BIZ UDPゴシック"/>
                <a:ea typeface="BIZ UDPゴシック"/>
              </a:rPr>
              <a:t>超または</a:t>
            </a:r>
            <a:endParaRPr lang="en-US" sz="1410" b="0" u="none" strike="noStrike">
              <a:solidFill>
                <a:srgbClr val="FFFFFF"/>
              </a:solidFill>
              <a:effectLst/>
              <a:uFillTx/>
              <a:latin typeface="Arial"/>
            </a:endParaRPr>
          </a:p>
          <a:p>
            <a:pPr algn="ctr" defTabSz="457200">
              <a:lnSpc>
                <a:spcPct val="110000"/>
              </a:lnSpc>
            </a:pPr>
            <a:r>
              <a:rPr lang="ja-JP" sz="1410" b="0" u="none" strike="noStrike">
                <a:solidFill>
                  <a:srgbClr val="FFFFFF"/>
                </a:solidFill>
                <a:effectLst/>
                <a:uFillTx/>
                <a:latin typeface="BIZ UDPゴシック"/>
                <a:ea typeface="BIZ UDPゴシック"/>
              </a:rPr>
              <a:t>費用</a:t>
            </a:r>
            <a:r>
              <a:rPr lang="en-US" sz="1410" b="0" u="none" strike="noStrike">
                <a:solidFill>
                  <a:srgbClr val="FFFFFF"/>
                </a:solidFill>
                <a:effectLst/>
                <a:uFillTx/>
                <a:latin typeface="BIZ UDPゴシック"/>
                <a:ea typeface="BIZ UDPゴシック"/>
              </a:rPr>
              <a:t>300</a:t>
            </a:r>
            <a:r>
              <a:rPr lang="ja-JP" sz="1410" b="0" u="none" strike="noStrike">
                <a:solidFill>
                  <a:srgbClr val="FFFFFF"/>
                </a:solidFill>
                <a:effectLst/>
                <a:uFillTx/>
                <a:latin typeface="BIZ UDPゴシック"/>
                <a:ea typeface="BIZ UDPゴシック"/>
              </a:rPr>
              <a:t>万円超または</a:t>
            </a:r>
            <a:endParaRPr lang="en-US" sz="1410" b="0" u="none" strike="noStrike">
              <a:solidFill>
                <a:srgbClr val="FFFFFF"/>
              </a:solidFill>
              <a:effectLst/>
              <a:uFillTx/>
              <a:latin typeface="Arial"/>
            </a:endParaRPr>
          </a:p>
          <a:p>
            <a:pPr algn="ctr" defTabSz="457200">
              <a:lnSpc>
                <a:spcPct val="110000"/>
              </a:lnSpc>
            </a:pPr>
            <a:r>
              <a:rPr lang="ja-JP" sz="1410" b="0" u="none" strike="noStrike">
                <a:solidFill>
                  <a:srgbClr val="FFFFFF"/>
                </a:solidFill>
                <a:effectLst/>
                <a:uFillTx/>
                <a:latin typeface="BIZ UDPゴシック"/>
                <a:ea typeface="BIZ UDPゴシック"/>
              </a:rPr>
              <a:t>マイルストーン影響あり</a:t>
            </a:r>
            <a:endParaRPr lang="en-US" sz="1410" b="0" u="none" strike="noStrike">
              <a:solidFill>
                <a:srgbClr val="FFFFFF"/>
              </a:solidFill>
              <a:effectLst/>
              <a:uFillTx/>
              <a:latin typeface="Arial"/>
            </a:endParaRPr>
          </a:p>
          <a:p>
            <a:pPr algn="ctr" defTabSz="457200">
              <a:lnSpc>
                <a:spcPct val="110000"/>
              </a:lnSpc>
            </a:pPr>
            <a:r>
              <a:rPr lang="en-US" sz="1410" b="0" u="none" strike="noStrike">
                <a:solidFill>
                  <a:srgbClr val="FFFFFF"/>
                </a:solidFill>
                <a:effectLst/>
                <a:uFillTx/>
                <a:latin typeface="BIZ UDPゴシック"/>
                <a:ea typeface="BIZ UDPゴシック"/>
              </a:rPr>
              <a:t>→ ステアリングコミッティ承認</a:t>
            </a:r>
            <a:endParaRPr lang="en-US" sz="1410" b="0" u="none" strike="noStrike">
              <a:solidFill>
                <a:srgbClr val="FFFFFF"/>
              </a:solidFill>
              <a:effectLst/>
              <a:uFillTx/>
              <a:latin typeface="Arial"/>
            </a:endParaRPr>
          </a:p>
        </p:txBody>
      </p:sp>
      <p:sp>
        <p:nvSpPr>
          <p:cNvPr id="2149" name="drawio:d2"/>
          <p:cNvSpPr/>
          <p:nvPr/>
        </p:nvSpPr>
        <p:spPr>
          <a:xfrm>
            <a:off x="4417920" y="3607920"/>
            <a:ext cx="3355200" cy="1071720"/>
          </a:xfrm>
          <a:prstGeom prst="roundRect">
            <a:avLst>
              <a:gd name="adj" fmla="val 16667"/>
            </a:avLst>
          </a:prstGeom>
          <a:solidFill>
            <a:srgbClr val="FFFFFF"/>
          </a:solidFill>
          <a:ln w="11185">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1F2937"/>
                </a:solidFill>
                <a:effectLst/>
                <a:uFillTx/>
                <a:latin typeface="BIZ UDPゴシック"/>
                <a:ea typeface="BIZ UDPゴシック"/>
              </a:rPr>
              <a:t>中</a:t>
            </a:r>
            <a:r>
              <a:rPr lang="en-US" sz="1410" b="0" u="none" strike="noStrike">
                <a:solidFill>
                  <a:srgbClr val="1F2937"/>
                </a:solidFill>
                <a:effectLst/>
                <a:uFillTx/>
                <a:latin typeface="BIZ UDPゴシック"/>
                <a:ea typeface="BIZ UDPゴシック"/>
              </a:rPr>
              <a:t>: </a:t>
            </a:r>
            <a:r>
              <a:rPr lang="ja-JP" sz="1410" b="0" u="none" strike="noStrike">
                <a:solidFill>
                  <a:srgbClr val="1F2937"/>
                </a:solidFill>
                <a:effectLst/>
                <a:uFillTx/>
                <a:latin typeface="BIZ UDPゴシック"/>
                <a:ea typeface="BIZ UDPゴシック"/>
              </a:rPr>
              <a:t>工数</a:t>
            </a:r>
            <a:r>
              <a:rPr lang="en-US" sz="1410" b="0" u="none" strike="noStrike">
                <a:solidFill>
                  <a:srgbClr val="1F2937"/>
                </a:solidFill>
                <a:effectLst/>
                <a:uFillTx/>
                <a:latin typeface="BIZ UDPゴシック"/>
                <a:ea typeface="BIZ UDPゴシック"/>
              </a:rPr>
              <a:t>8h</a:t>
            </a:r>
            <a:r>
              <a:rPr lang="ja-JP" sz="1410" b="0" u="none" strike="noStrike">
                <a:solidFill>
                  <a:srgbClr val="1F2937"/>
                </a:solidFill>
                <a:effectLst/>
                <a:uFillTx/>
                <a:latin typeface="BIZ UDPゴシック"/>
                <a:ea typeface="BIZ UDPゴシック"/>
              </a:rPr>
              <a:t>超または</a:t>
            </a:r>
            <a:endParaRPr lang="en-US" sz="1410" b="0" u="none" strike="noStrike">
              <a:solidFill>
                <a:srgbClr val="000000"/>
              </a:solidFill>
              <a:effectLst/>
              <a:uFillTx/>
              <a:latin typeface="Arial"/>
            </a:endParaRPr>
          </a:p>
          <a:p>
            <a:pPr algn="ctr" defTabSz="457200">
              <a:lnSpc>
                <a:spcPct val="110000"/>
              </a:lnSpc>
            </a:pPr>
            <a:r>
              <a:rPr lang="ja-JP" sz="1410" b="0" u="none" strike="noStrike">
                <a:solidFill>
                  <a:srgbClr val="1F2937"/>
                </a:solidFill>
                <a:effectLst/>
                <a:uFillTx/>
                <a:latin typeface="BIZ UDPゴシック"/>
                <a:ea typeface="BIZ UDPゴシック"/>
              </a:rPr>
              <a:t>費用影響あり </a:t>
            </a:r>
            <a:r>
              <a:rPr lang="en-US" sz="1410" b="0" u="none" strike="noStrike">
                <a:solidFill>
                  <a:srgbClr val="1F2937"/>
                </a:solidFill>
                <a:effectLst/>
                <a:uFillTx/>
                <a:latin typeface="BIZ UDPゴシック"/>
                <a:ea typeface="BIZ UDPゴシック"/>
              </a:rPr>
              <a:t>(</a:t>
            </a:r>
            <a:r>
              <a:rPr lang="ja-JP" sz="1410" b="0" u="none" strike="noStrike">
                <a:solidFill>
                  <a:srgbClr val="1F2937"/>
                </a:solidFill>
                <a:effectLst/>
                <a:uFillTx/>
                <a:latin typeface="BIZ UDPゴシック"/>
                <a:ea typeface="BIZ UDPゴシック"/>
              </a:rPr>
              <a:t>重大に該当せず</a:t>
            </a:r>
            <a:r>
              <a:rPr lang="en-US" sz="1410" b="0" u="none" strike="noStrike">
                <a:solidFill>
                  <a:srgbClr val="1F2937"/>
                </a:solidFill>
                <a:effectLst/>
                <a:uFillTx/>
                <a:latin typeface="BIZ UDPゴシック"/>
                <a:ea typeface="BIZ UDPゴシック"/>
              </a:rPr>
              <a:t>)</a:t>
            </a:r>
            <a:endParaRPr lang="en-US" sz="1410" b="0" u="none" strike="noStrike">
              <a:solidFill>
                <a:srgbClr val="000000"/>
              </a:solidFill>
              <a:effectLst/>
              <a:uFillTx/>
              <a:latin typeface="Arial"/>
            </a:endParaRPr>
          </a:p>
          <a:p>
            <a:pPr algn="ctr" defTabSz="457200">
              <a:lnSpc>
                <a:spcPct val="110000"/>
              </a:lnSpc>
            </a:pPr>
            <a:r>
              <a:rPr lang="en-US" sz="1410" b="0" u="none" strike="noStrike">
                <a:solidFill>
                  <a:srgbClr val="1F2937"/>
                </a:solidFill>
                <a:effectLst/>
                <a:uFillTx/>
                <a:latin typeface="BIZ UDPゴシック"/>
                <a:ea typeface="BIZ UDPゴシック"/>
              </a:rPr>
              <a:t>→ 変更管理委員会 </a:t>
            </a:r>
            <a:r>
              <a:rPr lang="en-US" sz="1410" b="0" u="none" strike="noStrike">
                <a:solidFill>
                  <a:srgbClr val="1F2937"/>
                </a:solidFill>
                <a:effectLst/>
                <a:uFillTx/>
                <a:latin typeface="BIZ UDPゴシック"/>
                <a:ea typeface="BIZ UDPゴシック"/>
              </a:rPr>
              <a:t>(CCB) </a:t>
            </a:r>
            <a:r>
              <a:rPr lang="ja-JP" sz="1410" b="0" u="none" strike="noStrike">
                <a:solidFill>
                  <a:srgbClr val="1F2937"/>
                </a:solidFill>
                <a:effectLst/>
                <a:uFillTx/>
                <a:latin typeface="BIZ UDPゴシック"/>
                <a:ea typeface="BIZ UDPゴシック"/>
              </a:rPr>
              <a:t>承認</a:t>
            </a:r>
            <a:endParaRPr lang="en-US" sz="1410" b="0" u="none" strike="noStrike">
              <a:solidFill>
                <a:srgbClr val="000000"/>
              </a:solidFill>
              <a:effectLst/>
              <a:uFillTx/>
              <a:latin typeface="Arial"/>
            </a:endParaRPr>
          </a:p>
        </p:txBody>
      </p:sp>
      <p:sp>
        <p:nvSpPr>
          <p:cNvPr id="2150" name="drawio:d1"/>
          <p:cNvSpPr/>
          <p:nvPr/>
        </p:nvSpPr>
        <p:spPr>
          <a:xfrm>
            <a:off x="7885440" y="3607920"/>
            <a:ext cx="3578760" cy="1071720"/>
          </a:xfrm>
          <a:prstGeom prst="roundRect">
            <a:avLst>
              <a:gd name="adj" fmla="val 16667"/>
            </a:avLst>
          </a:prstGeom>
          <a:solidFill>
            <a:srgbClr val="FFFFFF"/>
          </a:solidFill>
          <a:ln w="11185">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410" b="0" u="none" strike="noStrike">
                <a:solidFill>
                  <a:srgbClr val="1F2937"/>
                </a:solidFill>
                <a:effectLst/>
                <a:uFillTx/>
                <a:latin typeface="BIZ UDPゴシック"/>
                <a:ea typeface="BIZ UDPゴシック"/>
              </a:rPr>
              <a:t>軽微</a:t>
            </a:r>
            <a:r>
              <a:rPr lang="en-US" sz="1410" b="0" u="none" strike="noStrike">
                <a:solidFill>
                  <a:srgbClr val="1F2937"/>
                </a:solidFill>
                <a:effectLst/>
                <a:uFillTx/>
                <a:latin typeface="BIZ UDPゴシック"/>
                <a:ea typeface="BIZ UDPゴシック"/>
              </a:rPr>
              <a:t>: </a:t>
            </a:r>
            <a:r>
              <a:rPr lang="ja-JP" sz="1410" b="0" u="none" strike="noStrike">
                <a:solidFill>
                  <a:srgbClr val="1F2937"/>
                </a:solidFill>
                <a:effectLst/>
                <a:uFillTx/>
                <a:latin typeface="BIZ UDPゴシック"/>
                <a:ea typeface="BIZ UDPゴシック"/>
              </a:rPr>
              <a:t>工数</a:t>
            </a:r>
            <a:r>
              <a:rPr lang="en-US" sz="1410" b="0" u="none" strike="noStrike">
                <a:solidFill>
                  <a:srgbClr val="1F2937"/>
                </a:solidFill>
                <a:effectLst/>
                <a:uFillTx/>
                <a:latin typeface="BIZ UDPゴシック"/>
                <a:ea typeface="BIZ UDPゴシック"/>
              </a:rPr>
              <a:t>8h</a:t>
            </a:r>
            <a:r>
              <a:rPr lang="ja-JP" sz="1410" b="0" u="none" strike="noStrike">
                <a:solidFill>
                  <a:srgbClr val="1F2937"/>
                </a:solidFill>
                <a:effectLst/>
                <a:uFillTx/>
                <a:latin typeface="BIZ UDPゴシック"/>
                <a:ea typeface="BIZ UDPゴシック"/>
              </a:rPr>
              <a:t>以内かつ</a:t>
            </a:r>
            <a:endParaRPr lang="en-US" sz="1410" b="0" u="none" strike="noStrike">
              <a:solidFill>
                <a:srgbClr val="000000"/>
              </a:solidFill>
              <a:effectLst/>
              <a:uFillTx/>
              <a:latin typeface="Arial"/>
            </a:endParaRPr>
          </a:p>
          <a:p>
            <a:pPr algn="ctr" defTabSz="457200">
              <a:lnSpc>
                <a:spcPct val="110000"/>
              </a:lnSpc>
            </a:pPr>
            <a:r>
              <a:rPr lang="ja-JP" sz="1410" b="0" u="none" strike="noStrike">
                <a:solidFill>
                  <a:srgbClr val="1F2937"/>
                </a:solidFill>
                <a:effectLst/>
                <a:uFillTx/>
                <a:latin typeface="BIZ UDPゴシック"/>
                <a:ea typeface="BIZ UDPゴシック"/>
              </a:rPr>
              <a:t>費用影響なしかつマイルストーン影響なし</a:t>
            </a:r>
            <a:endParaRPr lang="en-US" sz="1410" b="0" u="none" strike="noStrike">
              <a:solidFill>
                <a:srgbClr val="000000"/>
              </a:solidFill>
              <a:effectLst/>
              <a:uFillTx/>
              <a:latin typeface="Arial"/>
            </a:endParaRPr>
          </a:p>
          <a:p>
            <a:pPr algn="ctr" defTabSz="457200">
              <a:lnSpc>
                <a:spcPct val="110000"/>
              </a:lnSpc>
            </a:pPr>
            <a:r>
              <a:rPr lang="en-US" sz="1410" b="0" u="none" strike="noStrike">
                <a:solidFill>
                  <a:srgbClr val="1F2937"/>
                </a:solidFill>
                <a:effectLst/>
                <a:uFillTx/>
                <a:latin typeface="BIZ UDPゴシック"/>
                <a:ea typeface="BIZ UDPゴシック"/>
              </a:rPr>
              <a:t>→ 貴社</a:t>
            </a:r>
            <a:r>
              <a:rPr lang="en-US" sz="1410" b="0" u="none" strike="noStrike">
                <a:solidFill>
                  <a:srgbClr val="1F2937"/>
                </a:solidFill>
                <a:effectLst/>
                <a:uFillTx/>
                <a:latin typeface="BIZ UDPゴシック"/>
                <a:ea typeface="BIZ UDPゴシック"/>
              </a:rPr>
              <a:t>PM</a:t>
            </a:r>
            <a:r>
              <a:rPr lang="ja-JP" sz="1410" b="0" u="none" strike="noStrike">
                <a:solidFill>
                  <a:srgbClr val="1F2937"/>
                </a:solidFill>
                <a:effectLst/>
                <a:uFillTx/>
                <a:latin typeface="BIZ UDPゴシック"/>
                <a:ea typeface="BIZ UDPゴシック"/>
              </a:rPr>
              <a:t>と当社</a:t>
            </a:r>
            <a:r>
              <a:rPr lang="en-US" sz="1410" b="0" u="none" strike="noStrike">
                <a:solidFill>
                  <a:srgbClr val="1F2937"/>
                </a:solidFill>
                <a:effectLst/>
                <a:uFillTx/>
                <a:latin typeface="BIZ UDPゴシック"/>
                <a:ea typeface="BIZ UDPゴシック"/>
              </a:rPr>
              <a:t>PM</a:t>
            </a:r>
            <a:r>
              <a:rPr lang="ja-JP" sz="1410" b="0" u="none" strike="noStrike">
                <a:solidFill>
                  <a:srgbClr val="1F2937"/>
                </a:solidFill>
                <a:effectLst/>
                <a:uFillTx/>
                <a:latin typeface="BIZ UDPゴシック"/>
                <a:ea typeface="BIZ UDPゴシック"/>
              </a:rPr>
              <a:t>の合意</a:t>
            </a:r>
            <a:endParaRPr lang="en-US" sz="1410" b="0" u="none" strike="noStrike">
              <a:solidFill>
                <a:srgbClr val="000000"/>
              </a:solidFill>
              <a:effectLst/>
              <a:uFillTx/>
              <a:latin typeface="Arial"/>
            </a:endParaRPr>
          </a:p>
        </p:txBody>
      </p:sp>
      <p:sp>
        <p:nvSpPr>
          <p:cNvPr id="2151" name="drawio:e1"/>
          <p:cNvSpPr/>
          <p:nvPr/>
        </p:nvSpPr>
        <p:spPr>
          <a:xfrm>
            <a:off x="2486160" y="2936880"/>
            <a:ext cx="395280" cy="360"/>
          </a:xfrm>
          <a:custGeom>
            <a:avLst/>
            <a:gdLst>
              <a:gd name="textAreaLeft" fmla="*/ 0 w 395280"/>
              <a:gd name="textAreaRight" fmla="*/ 396000 w 395280"/>
              <a:gd name="textAreaTop" fmla="*/ 0 h 360"/>
              <a:gd name="textAreaBottom" fmla="*/ 1440 h 360"/>
            </a:gdLst>
            <a:ahLst/>
            <a:cxnLst/>
            <a:rect l="textAreaLeft" t="textAreaTop" r="textAreaRight" b="textAreaBottom"/>
            <a:pathLst>
              <a:path w="395979" h="0">
                <a:moveTo>
                  <a:pt x="0" y="0"/>
                </a:moveTo>
                <a:lnTo>
                  <a:pt x="197989" y="0"/>
                </a:lnTo>
                <a:lnTo>
                  <a:pt x="197989" y="0"/>
                </a:lnTo>
                <a:lnTo>
                  <a:pt x="395979"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152" name="drawio:e2"/>
          <p:cNvSpPr/>
          <p:nvPr/>
        </p:nvSpPr>
        <p:spPr>
          <a:xfrm>
            <a:off x="4835160" y="2936880"/>
            <a:ext cx="395280" cy="360"/>
          </a:xfrm>
          <a:custGeom>
            <a:avLst/>
            <a:gdLst>
              <a:gd name="textAreaLeft" fmla="*/ 0 w 395280"/>
              <a:gd name="textAreaRight" fmla="*/ 396000 w 395280"/>
              <a:gd name="textAreaTop" fmla="*/ 0 h 360"/>
              <a:gd name="textAreaBottom" fmla="*/ 1440 h 360"/>
            </a:gdLst>
            <a:ahLst/>
            <a:cxnLst/>
            <a:rect l="textAreaLeft" t="textAreaTop" r="textAreaRight" b="textAreaBottom"/>
            <a:pathLst>
              <a:path w="395979" h="0">
                <a:moveTo>
                  <a:pt x="0" y="0"/>
                </a:moveTo>
                <a:lnTo>
                  <a:pt x="197990" y="0"/>
                </a:lnTo>
                <a:lnTo>
                  <a:pt x="197990" y="0"/>
                </a:lnTo>
                <a:lnTo>
                  <a:pt x="395979"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153" name="drawio:e3"/>
          <p:cNvSpPr/>
          <p:nvPr/>
        </p:nvSpPr>
        <p:spPr>
          <a:xfrm>
            <a:off x="7184160" y="2936880"/>
            <a:ext cx="395280" cy="360"/>
          </a:xfrm>
          <a:custGeom>
            <a:avLst/>
            <a:gdLst>
              <a:gd name="textAreaLeft" fmla="*/ 0 w 395280"/>
              <a:gd name="textAreaRight" fmla="*/ 396000 w 395280"/>
              <a:gd name="textAreaTop" fmla="*/ 0 h 360"/>
              <a:gd name="textAreaBottom" fmla="*/ 1440 h 360"/>
            </a:gdLst>
            <a:ahLst/>
            <a:cxnLst/>
            <a:rect l="textAreaLeft" t="textAreaTop" r="textAreaRight" b="textAreaBottom"/>
            <a:pathLst>
              <a:path w="395979" h="0">
                <a:moveTo>
                  <a:pt x="0" y="0"/>
                </a:moveTo>
                <a:lnTo>
                  <a:pt x="197989" y="0"/>
                </a:lnTo>
                <a:lnTo>
                  <a:pt x="197989" y="0"/>
                </a:lnTo>
                <a:lnTo>
                  <a:pt x="395979"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154" name="drawio:e4"/>
          <p:cNvSpPr/>
          <p:nvPr/>
        </p:nvSpPr>
        <p:spPr>
          <a:xfrm>
            <a:off x="9533160" y="2936880"/>
            <a:ext cx="392040" cy="360"/>
          </a:xfrm>
          <a:custGeom>
            <a:avLst/>
            <a:gdLst>
              <a:gd name="textAreaLeft" fmla="*/ 0 w 392040"/>
              <a:gd name="textAreaRight" fmla="*/ 392760 w 392040"/>
              <a:gd name="textAreaTop" fmla="*/ 0 h 360"/>
              <a:gd name="textAreaBottom" fmla="*/ 1440 h 360"/>
            </a:gdLst>
            <a:ahLst/>
            <a:cxnLst/>
            <a:rect l="textAreaLeft" t="textAreaTop" r="textAreaRight" b="textAreaBottom"/>
            <a:pathLst>
              <a:path w="392624" h="0">
                <a:moveTo>
                  <a:pt x="0" y="0"/>
                </a:moveTo>
                <a:lnTo>
                  <a:pt x="142061" y="0"/>
                </a:lnTo>
                <a:lnTo>
                  <a:pt x="142061" y="0"/>
                </a:lnTo>
                <a:lnTo>
                  <a:pt x="392624"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155" name="drawio:e5"/>
          <p:cNvSpPr/>
          <p:nvPr/>
        </p:nvSpPr>
        <p:spPr>
          <a:xfrm>
            <a:off x="6207840" y="3370680"/>
            <a:ext cx="3466800" cy="249840"/>
          </a:xfrm>
          <a:custGeom>
            <a:avLst/>
            <a:gdLst>
              <a:gd name="textAreaLeft" fmla="*/ 0 w 3466800"/>
              <a:gd name="textAreaRight" fmla="*/ 3467520 w 3466800"/>
              <a:gd name="textAreaTop" fmla="*/ 0 h 249840"/>
              <a:gd name="textAreaBottom" fmla="*/ 250560 h 249840"/>
            </a:gdLst>
            <a:ahLst/>
            <a:cxnLst/>
            <a:rect l="textAreaLeft" t="textAreaTop" r="textAreaRight" b="textAreaBottom"/>
            <a:pathLst>
              <a:path w="3467615" h="250563">
                <a:moveTo>
                  <a:pt x="3467615" y="250563"/>
                </a:moveTo>
                <a:lnTo>
                  <a:pt x="3467615" y="125282"/>
                </a:lnTo>
                <a:lnTo>
                  <a:pt x="0" y="125282"/>
                </a:lnTo>
                <a:lnTo>
                  <a:pt x="0"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56" name="drawio:e6"/>
          <p:cNvSpPr/>
          <p:nvPr/>
        </p:nvSpPr>
        <p:spPr>
          <a:xfrm>
            <a:off x="6095880" y="3370680"/>
            <a:ext cx="111240" cy="249840"/>
          </a:xfrm>
          <a:custGeom>
            <a:avLst/>
            <a:gdLst>
              <a:gd name="textAreaLeft" fmla="*/ 0 w 111240"/>
              <a:gd name="textAreaRight" fmla="*/ 111960 w 111240"/>
              <a:gd name="textAreaTop" fmla="*/ 0 h 249840"/>
              <a:gd name="textAreaBottom" fmla="*/ 250560 h 249840"/>
            </a:gdLst>
            <a:ahLst/>
            <a:cxnLst/>
            <a:rect l="textAreaLeft" t="textAreaTop" r="textAreaRight" b="textAreaBottom"/>
            <a:pathLst>
              <a:path w="111859" h="250563">
                <a:moveTo>
                  <a:pt x="0" y="250563"/>
                </a:moveTo>
                <a:lnTo>
                  <a:pt x="0" y="125282"/>
                </a:lnTo>
                <a:lnTo>
                  <a:pt x="111859" y="125282"/>
                </a:lnTo>
                <a:lnTo>
                  <a:pt x="111859"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57" name="drawio:e7"/>
          <p:cNvSpPr/>
          <p:nvPr/>
        </p:nvSpPr>
        <p:spPr>
          <a:xfrm>
            <a:off x="2404440" y="3370680"/>
            <a:ext cx="3802320" cy="249840"/>
          </a:xfrm>
          <a:custGeom>
            <a:avLst/>
            <a:gdLst>
              <a:gd name="textAreaLeft" fmla="*/ 0 w 3802320"/>
              <a:gd name="textAreaRight" fmla="*/ 3803040 w 3802320"/>
              <a:gd name="textAreaTop" fmla="*/ 0 h 249840"/>
              <a:gd name="textAreaBottom" fmla="*/ 250560 h 249840"/>
            </a:gdLst>
            <a:ahLst/>
            <a:cxnLst/>
            <a:rect l="textAreaLeft" t="textAreaTop" r="textAreaRight" b="textAreaBottom"/>
            <a:pathLst>
              <a:path w="3803191" h="250563">
                <a:moveTo>
                  <a:pt x="0" y="250563"/>
                </a:moveTo>
                <a:lnTo>
                  <a:pt x="0" y="125282"/>
                </a:lnTo>
                <a:lnTo>
                  <a:pt x="3803191" y="125282"/>
                </a:lnTo>
                <a:lnTo>
                  <a:pt x="3803191" y="0"/>
                </a:lnTo>
              </a:path>
            </a:pathLst>
          </a:custGeom>
          <a:noFill/>
          <a:ln w="22371">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58" name="blk-diagram-cap"/>
          <p:cNvSpPr/>
          <p:nvPr/>
        </p:nvSpPr>
        <p:spPr>
          <a:xfrm>
            <a:off x="502920" y="489924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凡例</a:t>
            </a:r>
            <a:r>
              <a:rPr lang="en-US" sz="900" b="0" u="none" strike="noStrike">
                <a:solidFill>
                  <a:srgbClr val="6B7280"/>
                </a:solidFill>
                <a:effectLst/>
                <a:uFillTx/>
                <a:latin typeface="BIZ UDPゴシック"/>
                <a:ea typeface="BIZ UDPゴシック"/>
              </a:rPr>
              <a:t>: </a:t>
            </a:r>
            <a:r>
              <a:rPr lang="ja-JP" sz="900" b="0" u="none" strike="noStrike">
                <a:solidFill>
                  <a:srgbClr val="6B7280"/>
                </a:solidFill>
                <a:effectLst/>
                <a:uFillTx/>
                <a:latin typeface="BIZ UDPゴシック"/>
                <a:ea typeface="BIZ UDPゴシック"/>
              </a:rPr>
              <a:t>起票→影響分析→</a:t>
            </a:r>
            <a:r>
              <a:rPr lang="en-US" sz="900" b="0" u="none" strike="noStrike">
                <a:solidFill>
                  <a:srgbClr val="6B7280"/>
                </a:solidFill>
                <a:effectLst/>
                <a:uFillTx/>
                <a:latin typeface="BIZ UDPゴシック"/>
                <a:ea typeface="BIZ UDPゴシック"/>
              </a:rPr>
              <a:t>CCB</a:t>
            </a:r>
            <a:r>
              <a:rPr lang="ja-JP" sz="900" b="0" u="none" strike="noStrike">
                <a:solidFill>
                  <a:srgbClr val="6B7280"/>
                </a:solidFill>
                <a:effectLst/>
                <a:uFillTx/>
                <a:latin typeface="BIZ UDPゴシック"/>
                <a:ea typeface="BIZ UDPゴシック"/>
              </a:rPr>
              <a:t>判定→承認→ベースライン更新→周知</a:t>
            </a:r>
            <a:endParaRPr lang="en-US" sz="900" b="0" u="none" strike="noStrike">
              <a:solidFill>
                <a:srgbClr val="000000"/>
              </a:solidFill>
              <a:effectLst/>
              <a:uFillTx/>
              <a:latin typeface="Arial"/>
            </a:endParaRPr>
          </a:p>
        </p:txBody>
      </p:sp>
      <p:sp>
        <p:nvSpPr>
          <p:cNvPr id="2159" name="blk-callout"/>
          <p:cNvSpPr/>
          <p:nvPr/>
        </p:nvSpPr>
        <p:spPr>
          <a:xfrm>
            <a:off x="502920" y="5730120"/>
            <a:ext cx="11185200" cy="52344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起票者は共有台帳に登録し、影響分析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スコープ・日程・費用・リスク</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を添えて</a:t>
            </a:r>
            <a:r>
              <a:rPr lang="en-US" sz="1200" b="0" u="none" strike="noStrike">
                <a:solidFill>
                  <a:srgbClr val="1F2937"/>
                </a:solidFill>
                <a:effectLst/>
                <a:uFillTx/>
                <a:latin typeface="BIZ UDPゴシック"/>
                <a:ea typeface="BIZ UDPゴシック"/>
              </a:rPr>
              <a:t>CCB</a:t>
            </a:r>
            <a:r>
              <a:rPr lang="ja-JP" sz="1200" b="0" u="none" strike="noStrike">
                <a:solidFill>
                  <a:srgbClr val="1F2937"/>
                </a:solidFill>
                <a:effectLst/>
                <a:uFillTx/>
                <a:latin typeface="BIZ UDPゴシック"/>
                <a:ea typeface="BIZ UDPゴシック"/>
              </a:rPr>
              <a:t>へ提出する。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0"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61"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62"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163"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164"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65"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66"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67"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68"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69"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70"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71"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172"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5.5 </a:t>
            </a:r>
            <a:r>
              <a:rPr lang="ja-JP" sz="2400" b="1" u="none" strike="noStrike">
                <a:solidFill>
                  <a:srgbClr val="16213E"/>
                </a:solidFill>
                <a:effectLst/>
                <a:uFillTx/>
                <a:latin typeface="BIZ UDPゴシック"/>
                <a:ea typeface="BIZ UDPゴシック"/>
              </a:rPr>
              <a:t>変更管理 ─ 変更要求台帳と承認権限</a:t>
            </a:r>
            <a:endParaRPr lang="en-US" sz="2400" b="0" u="none" strike="noStrike">
              <a:solidFill>
                <a:srgbClr val="000000"/>
              </a:solidFill>
              <a:effectLst/>
              <a:uFillTx/>
              <a:latin typeface="Arial"/>
            </a:endParaRPr>
          </a:p>
        </p:txBody>
      </p:sp>
      <p:sp>
        <p:nvSpPr>
          <p:cNvPr id="2173"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174" name="hdr-hair"/>
          <p:cNvCxnSpPr/>
          <p:nvPr/>
        </p:nvCxnSpPr>
        <p:spPr>
          <a:xfrm>
            <a:off x="502920" y="969120"/>
            <a:ext cx="11186280" cy="720"/>
          </a:xfrm>
          <a:prstGeom prst="straightConnector1">
            <a:avLst/>
          </a:prstGeom>
          <a:ln w="9525">
            <a:solidFill>
              <a:srgbClr val="D5DBE5"/>
            </a:solidFill>
            <a:round/>
          </a:ln>
        </p:spPr>
      </p:cxnSp>
      <p:cxnSp>
        <p:nvCxnSpPr>
          <p:cNvPr id="2175" name="ftr-hair"/>
          <p:cNvCxnSpPr/>
          <p:nvPr/>
        </p:nvCxnSpPr>
        <p:spPr>
          <a:xfrm>
            <a:off x="502920" y="6382440"/>
            <a:ext cx="11186280" cy="720"/>
          </a:xfrm>
          <a:prstGeom prst="straightConnector1">
            <a:avLst/>
          </a:prstGeom>
          <a:ln w="9525">
            <a:solidFill>
              <a:srgbClr val="D5DBE5"/>
            </a:solidFill>
            <a:round/>
          </a:ln>
        </p:spPr>
      </p:cxnSp>
      <p:sp>
        <p:nvSpPr>
          <p:cNvPr id="2176"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63 / 85</a:t>
            </a:r>
            <a:endParaRPr lang="en-US" sz="1100" b="0" u="none" strike="noStrike">
              <a:solidFill>
                <a:srgbClr val="000000"/>
              </a:solidFill>
              <a:effectLst/>
              <a:uFillTx/>
              <a:latin typeface="Arial"/>
            </a:endParaRPr>
          </a:p>
        </p:txBody>
      </p:sp>
      <p:sp>
        <p:nvSpPr>
          <p:cNvPr id="2177"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178"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179"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180"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1"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2"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変更は重大→中→軽微の順に判定し、承認者を段階化して台帳で追跡する</a:t>
            </a:r>
            <a:endParaRPr lang="en-US" sz="1500" b="0" u="none" strike="noStrike">
              <a:solidFill>
                <a:srgbClr val="000000"/>
              </a:solidFill>
              <a:effectLst/>
              <a:uFillTx/>
              <a:latin typeface="Arial"/>
            </a:endParaRPr>
          </a:p>
        </p:txBody>
      </p:sp>
      <p:sp>
        <p:nvSpPr>
          <p:cNvPr id="2183" name="blk-title"/>
          <p:cNvSpPr/>
          <p:nvPr/>
        </p:nvSpPr>
        <p:spPr>
          <a:xfrm>
            <a:off x="502920" y="162756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運用開始後の記入例</a:t>
            </a:r>
            <a:endParaRPr lang="en-US" sz="1200" b="0" u="none" strike="noStrike">
              <a:solidFill>
                <a:srgbClr val="000000"/>
              </a:solidFill>
              <a:effectLst/>
              <a:uFillTx/>
              <a:latin typeface="Arial"/>
            </a:endParaRPr>
          </a:p>
        </p:txBody>
      </p:sp>
      <p:graphicFrame>
        <p:nvGraphicFramePr>
          <p:cNvPr id="2184" name="blk-table"/>
          <p:cNvGraphicFramePr/>
          <p:nvPr/>
        </p:nvGraphicFramePr>
        <p:xfrm>
          <a:off x="502920" y="1901880"/>
          <a:ext cx="11184480" cy="1446120"/>
        </p:xfrm>
        <a:graphic>
          <a:graphicData uri="http://schemas.openxmlformats.org/drawingml/2006/table">
            <a:tbl>
              <a:tblPr/>
              <a:tblGrid>
                <a:gridCol w="894600"/>
                <a:gridCol w="2908080"/>
                <a:gridCol w="2684520"/>
                <a:gridCol w="2684520"/>
                <a:gridCol w="1118520"/>
                <a:gridCol w="894600"/>
              </a:tblGrid>
              <a:tr h="294840">
                <a:tc>
                  <a:txBody>
                    <a:bodyPr lIns="45720" tIns="18000" rIns="45720" bIns="18000" anchor="t">
                      <a:noAutofit/>
                    </a:bodyPr>
                    <a:p>
                      <a:pPr defTabSz="457200">
                        <a:lnSpc>
                          <a:spcPct val="120000"/>
                        </a:lnSpc>
                      </a:pPr>
                      <a:r>
                        <a:rPr lang="en-US" sz="1400" b="1" u="none" strike="noStrike">
                          <a:solidFill>
                            <a:srgbClr val="FFFFFF"/>
                          </a:solidFill>
                          <a:effectLst/>
                          <a:uFillTx/>
                          <a:latin typeface="BIZ UDPゴシック"/>
                          <a:ea typeface="BIZ UDPゴシック"/>
                        </a:rPr>
                        <a:t>ID</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変更要求</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理由</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影響 </a:t>
                      </a:r>
                      <a:r>
                        <a:rPr lang="en-US" sz="1400" b="1" u="none" strike="noStrike">
                          <a:solidFill>
                            <a:srgbClr val="FFFFFF"/>
                          </a:solidFill>
                          <a:effectLst/>
                          <a:uFillTx/>
                          <a:latin typeface="BIZ UDPゴシック"/>
                          <a:ea typeface="BIZ UDPゴシック"/>
                        </a:rPr>
                        <a:t>(</a:t>
                      </a:r>
                      <a:r>
                        <a:rPr lang="ja-JP" sz="1400" b="1" u="none" strike="noStrike">
                          <a:solidFill>
                            <a:srgbClr val="FFFFFF"/>
                          </a:solidFill>
                          <a:effectLst/>
                          <a:uFillTx/>
                          <a:latin typeface="BIZ UDPゴシック"/>
                          <a:ea typeface="BIZ UDPゴシック"/>
                        </a:rPr>
                        <a:t>工数・予算</a:t>
                      </a:r>
                      <a:r>
                        <a:rPr lang="en-US" sz="1400" b="1" u="none" strike="noStrike">
                          <a:solidFill>
                            <a:srgbClr val="FFFFFF"/>
                          </a:solidFill>
                          <a:effectLst/>
                          <a:uFillTx/>
                          <a:latin typeface="BIZ UDPゴシック"/>
                          <a:ea typeface="BIZ UDPゴシック"/>
                        </a:rPr>
                        <a:t>)</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判定</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状態</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C001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交通系</a:t>
                      </a:r>
                      <a:r>
                        <a:rPr lang="en-US" sz="1400" b="0" u="none" strike="noStrike">
                          <a:solidFill>
                            <a:srgbClr val="1F2937"/>
                          </a:solidFill>
                          <a:effectLst/>
                          <a:uFillTx/>
                          <a:latin typeface="BIZ UDPゴシック"/>
                          <a:ea typeface="BIZ UDPゴシック"/>
                        </a:rPr>
                        <a:t>IC</a:t>
                      </a:r>
                      <a:r>
                        <a:rPr lang="ja-JP" sz="1400" b="0" u="none" strike="noStrike">
                          <a:solidFill>
                            <a:srgbClr val="1F2937"/>
                          </a:solidFill>
                          <a:effectLst/>
                          <a:uFillTx/>
                          <a:latin typeface="BIZ UDPゴシック"/>
                          <a:ea typeface="BIZ UDPゴシック"/>
                        </a:rPr>
                        <a:t>データの</a:t>
                      </a:r>
                      <a:r>
                        <a:rPr lang="en-US" sz="1400" b="0" u="none" strike="noStrike">
                          <a:solidFill>
                            <a:srgbClr val="1F2937"/>
                          </a:solidFill>
                          <a:effectLst/>
                          <a:uFillTx/>
                          <a:latin typeface="BIZ UDPゴシック"/>
                          <a:ea typeface="BIZ UDPゴシック"/>
                        </a:rPr>
                        <a:t>API</a:t>
                      </a:r>
                      <a:r>
                        <a:rPr lang="ja-JP" sz="1400" b="0" u="none" strike="noStrike">
                          <a:solidFill>
                            <a:srgbClr val="1F2937"/>
                          </a:solidFill>
                          <a:effectLst/>
                          <a:uFillTx/>
                          <a:latin typeface="BIZ UDPゴシック"/>
                          <a:ea typeface="BIZ UDPゴシック"/>
                        </a:rPr>
                        <a:t>連携追加</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手入力工数の削減</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工数</a:t>
                      </a:r>
                      <a:r>
                        <a:rPr lang="en-US" sz="1400" b="0" u="none" strike="noStrike">
                          <a:solidFill>
                            <a:srgbClr val="1F2937"/>
                          </a:solidFill>
                          <a:effectLst/>
                          <a:uFillTx/>
                          <a:latin typeface="BIZ UDPゴシック"/>
                          <a:ea typeface="BIZ UDPゴシック"/>
                        </a:rPr>
                        <a:t>+80h</a:t>
                      </a:r>
                      <a:r>
                        <a:rPr lang="ja-JP" sz="1400" b="0" u="none" strike="noStrike">
                          <a:solidFill>
                            <a:srgbClr val="1F2937"/>
                          </a:solidFill>
                          <a:effectLst/>
                          <a:uFillTx/>
                          <a:latin typeface="BIZ UDPゴシック"/>
                          <a:ea typeface="BIZ UDPゴシック"/>
                        </a:rPr>
                        <a:t>・予算内</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CCB</a:t>
                      </a:r>
                      <a:r>
                        <a:rPr lang="ja-JP" sz="1400" b="0" u="none" strike="noStrike">
                          <a:solidFill>
                            <a:srgbClr val="1F2937"/>
                          </a:solidFill>
                          <a:effectLst/>
                          <a:uFillTx/>
                          <a:latin typeface="BIZ UDPゴシック"/>
                          <a:ea typeface="BIZ UDPゴシック"/>
                        </a:rPr>
                        <a:t>承認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完了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C002</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研修対象者を全拠点に拡大</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定着化の底上げ</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予算</a:t>
                      </a:r>
                      <a:r>
                        <a:rPr lang="en-US" sz="1400" b="0" u="none" strike="noStrike">
                          <a:solidFill>
                            <a:srgbClr val="1F2937"/>
                          </a:solidFill>
                          <a:effectLst/>
                          <a:uFillTx/>
                          <a:latin typeface="BIZ UDPゴシック"/>
                          <a:ea typeface="BIZ UDPゴシック"/>
                        </a:rPr>
                        <a:t>+120</a:t>
                      </a:r>
                      <a:r>
                        <a:rPr lang="ja-JP" sz="1400" b="0" u="none" strike="noStrike">
                          <a:solidFill>
                            <a:srgbClr val="1F2937"/>
                          </a:solidFill>
                          <a:effectLst/>
                          <a:uFillTx/>
                          <a:latin typeface="BIZ UDPゴシック"/>
                          <a:ea typeface="BIZ UDPゴシック"/>
                        </a:rPr>
                        <a:t>万円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CCB</a:t>
                      </a:r>
                      <a:r>
                        <a:rPr lang="ja-JP" sz="1400" b="0" u="none" strike="noStrike">
                          <a:solidFill>
                            <a:srgbClr val="1F2937"/>
                          </a:solidFill>
                          <a:effectLst/>
                          <a:uFillTx/>
                          <a:latin typeface="BIZ UDPゴシック"/>
                          <a:ea typeface="BIZ UDPゴシック"/>
                        </a:rPr>
                        <a:t>承認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対応中</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C003</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経費規程の承認ルート変更</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統制強化</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要件追加・影響評価中</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判定待ち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未対応</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2185" name="blk-title"/>
          <p:cNvSpPr/>
          <p:nvPr/>
        </p:nvSpPr>
        <p:spPr>
          <a:xfrm>
            <a:off x="502920" y="400500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変更区分の判定順</a:t>
            </a:r>
            <a:r>
              <a:rPr lang="en-US" sz="1200" b="1" u="none" strike="noStrike">
                <a:solidFill>
                  <a:srgbClr val="B4235A"/>
                </a:solidFill>
                <a:effectLst/>
                <a:uFillTx/>
                <a:latin typeface="BIZ UDPゴシック"/>
                <a:ea typeface="BIZ UDPゴシック"/>
              </a:rPr>
              <a:t>: </a:t>
            </a:r>
            <a:r>
              <a:rPr lang="ja-JP" sz="1200" b="1" u="none" strike="noStrike">
                <a:solidFill>
                  <a:srgbClr val="B4235A"/>
                </a:solidFill>
                <a:effectLst/>
                <a:uFillTx/>
                <a:latin typeface="BIZ UDPゴシック"/>
                <a:ea typeface="BIZ UDPゴシック"/>
              </a:rPr>
              <a:t>重大 → 中 → 軽微</a:t>
            </a:r>
            <a:endParaRPr lang="en-US" sz="1200" b="0" u="none" strike="noStrike">
              <a:solidFill>
                <a:srgbClr val="000000"/>
              </a:solidFill>
              <a:effectLst/>
              <a:uFillTx/>
              <a:latin typeface="Arial"/>
            </a:endParaRPr>
          </a:p>
        </p:txBody>
      </p:sp>
      <p:graphicFrame>
        <p:nvGraphicFramePr>
          <p:cNvPr id="2186" name="blk-table"/>
          <p:cNvGraphicFramePr/>
          <p:nvPr/>
        </p:nvGraphicFramePr>
        <p:xfrm>
          <a:off x="502920" y="4279320"/>
          <a:ext cx="11184840" cy="1446120"/>
        </p:xfrm>
        <a:graphic>
          <a:graphicData uri="http://schemas.openxmlformats.org/drawingml/2006/table">
            <a:tbl>
              <a:tblPr/>
              <a:tblGrid>
                <a:gridCol w="1342080"/>
                <a:gridCol w="6152040"/>
                <a:gridCol w="3691080"/>
              </a:tblGrid>
              <a:tr h="294840">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区分</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閾値</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承認者</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重大</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工数</a:t>
                      </a:r>
                      <a:r>
                        <a:rPr lang="en-US" sz="1400" b="0" u="none" strike="noStrike">
                          <a:solidFill>
                            <a:srgbClr val="1F2937"/>
                          </a:solidFill>
                          <a:effectLst/>
                          <a:uFillTx/>
                          <a:latin typeface="BIZ UDPゴシック"/>
                          <a:ea typeface="BIZ UDPゴシック"/>
                        </a:rPr>
                        <a:t>80h</a:t>
                      </a:r>
                      <a:r>
                        <a:rPr lang="ja-JP" sz="1400" b="0" u="none" strike="noStrike">
                          <a:solidFill>
                            <a:srgbClr val="1F2937"/>
                          </a:solidFill>
                          <a:effectLst/>
                          <a:uFillTx/>
                          <a:latin typeface="BIZ UDPゴシック"/>
                          <a:ea typeface="BIZ UDPゴシック"/>
                        </a:rPr>
                        <a:t>超または費用</a:t>
                      </a:r>
                      <a:r>
                        <a:rPr lang="en-US" sz="1400" b="0" u="none" strike="noStrike">
                          <a:solidFill>
                            <a:srgbClr val="1F2937"/>
                          </a:solidFill>
                          <a:effectLst/>
                          <a:uFillTx/>
                          <a:latin typeface="BIZ UDPゴシック"/>
                          <a:ea typeface="BIZ UDPゴシック"/>
                        </a:rPr>
                        <a:t>300</a:t>
                      </a:r>
                      <a:r>
                        <a:rPr lang="ja-JP" sz="1400" b="0" u="none" strike="noStrike">
                          <a:solidFill>
                            <a:srgbClr val="1F2937"/>
                          </a:solidFill>
                          <a:effectLst/>
                          <a:uFillTx/>
                          <a:latin typeface="BIZ UDPゴシック"/>
                          <a:ea typeface="BIZ UDPゴシック"/>
                        </a:rPr>
                        <a:t>万円超またはマイルストーン影響あり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ステアリングコミッティ</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中</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重大に該当せず、工数</a:t>
                      </a:r>
                      <a:r>
                        <a:rPr lang="en-US" sz="1400" b="0" u="none" strike="noStrike">
                          <a:solidFill>
                            <a:srgbClr val="1F2937"/>
                          </a:solidFill>
                          <a:effectLst/>
                          <a:uFillTx/>
                          <a:latin typeface="BIZ UDPゴシック"/>
                          <a:ea typeface="BIZ UDPゴシック"/>
                        </a:rPr>
                        <a:t>8h</a:t>
                      </a:r>
                      <a:r>
                        <a:rPr lang="ja-JP" sz="1400" b="0" u="none" strike="noStrike">
                          <a:solidFill>
                            <a:srgbClr val="1F2937"/>
                          </a:solidFill>
                          <a:effectLst/>
                          <a:uFillTx/>
                          <a:latin typeface="BIZ UDPゴシック"/>
                          <a:ea typeface="BIZ UDPゴシック"/>
                        </a:rPr>
                        <a:t>超または費用影響あり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変更管理委員会 </a:t>
                      </a:r>
                      <a:r>
                        <a:rPr lang="en-US" sz="1400" b="0" u="none" strike="noStrike">
                          <a:solidFill>
                            <a:srgbClr val="1F2937"/>
                          </a:solidFill>
                          <a:effectLst/>
                          <a:uFillTx/>
                          <a:latin typeface="BIZ UDPゴシック"/>
                          <a:ea typeface="BIZ UDPゴシック"/>
                        </a:rPr>
                        <a:t>(CCB)</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軽微</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工数</a:t>
                      </a:r>
                      <a:r>
                        <a:rPr lang="en-US" sz="1400" b="0" u="none" strike="noStrike">
                          <a:solidFill>
                            <a:srgbClr val="1F2937"/>
                          </a:solidFill>
                          <a:effectLst/>
                          <a:uFillTx/>
                          <a:latin typeface="BIZ UDPゴシック"/>
                          <a:ea typeface="BIZ UDPゴシック"/>
                        </a:rPr>
                        <a:t>8h</a:t>
                      </a:r>
                      <a:r>
                        <a:rPr lang="ja-JP" sz="1400" b="0" u="none" strike="noStrike">
                          <a:solidFill>
                            <a:srgbClr val="1F2937"/>
                          </a:solidFill>
                          <a:effectLst/>
                          <a:uFillTx/>
                          <a:latin typeface="BIZ UDPゴシック"/>
                          <a:ea typeface="BIZ UDPゴシック"/>
                        </a:rPr>
                        <a:t>以内かつ費用影響なしかつマイルストーン影響なし</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当社</a:t>
                      </a:r>
                      <a:r>
                        <a:rPr lang="en-US" sz="1400" b="0" u="none" strike="noStrike">
                          <a:solidFill>
                            <a:srgbClr val="1F2937"/>
                          </a:solidFill>
                          <a:effectLst/>
                          <a:uFillTx/>
                          <a:latin typeface="BIZ UDPゴシック"/>
                          <a:ea typeface="BIZ UDPゴシック"/>
                        </a:rPr>
                        <a:t>PM</a:t>
                      </a:r>
                      <a:r>
                        <a:rPr lang="ja-JP" sz="1400" b="0" u="none" strike="noStrike">
                          <a:solidFill>
                            <a:srgbClr val="1F2937"/>
                          </a:solidFill>
                          <a:effectLst/>
                          <a:uFillTx/>
                          <a:latin typeface="BIZ UDPゴシック"/>
                          <a:ea typeface="BIZ UDPゴシック"/>
                        </a:rPr>
                        <a:t>と貴社</a:t>
                      </a:r>
                      <a:r>
                        <a:rPr lang="en-US" sz="1400" b="0" u="none" strike="noStrike">
                          <a:solidFill>
                            <a:srgbClr val="1F2937"/>
                          </a:solidFill>
                          <a:effectLst/>
                          <a:uFillTx/>
                          <a:latin typeface="BIZ UDPゴシック"/>
                          <a:ea typeface="BIZ UDPゴシック"/>
                        </a:rPr>
                        <a:t>PM</a:t>
                      </a:r>
                      <a:r>
                        <a:rPr lang="ja-JP" sz="1400" b="0" u="none" strike="noStrike">
                          <a:solidFill>
                            <a:srgbClr val="1F2937"/>
                          </a:solidFill>
                          <a:effectLst/>
                          <a:uFillTx/>
                          <a:latin typeface="BIZ UDPゴシック"/>
                          <a:ea typeface="BIZ UDPゴシック"/>
                        </a:rPr>
                        <a:t>の合意</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8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19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19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3"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4"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5"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19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19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5.6 </a:t>
            </a:r>
            <a:r>
              <a:rPr lang="ja-JP" sz="2400" b="1" u="none" strike="noStrike">
                <a:solidFill>
                  <a:srgbClr val="16213E"/>
                </a:solidFill>
                <a:effectLst/>
                <a:uFillTx/>
                <a:latin typeface="BIZ UDPゴシック"/>
                <a:ea typeface="BIZ UDPゴシック"/>
              </a:rPr>
              <a:t>品質管理 ─ 品質目標と指標</a:t>
            </a:r>
            <a:endParaRPr lang="en-US" sz="2400" b="0" u="none" strike="noStrike">
              <a:solidFill>
                <a:srgbClr val="000000"/>
              </a:solidFill>
              <a:effectLst/>
              <a:uFillTx/>
              <a:latin typeface="Arial"/>
            </a:endParaRPr>
          </a:p>
        </p:txBody>
      </p:sp>
      <p:sp>
        <p:nvSpPr>
          <p:cNvPr id="220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201" name="hdr-hair"/>
          <p:cNvCxnSpPr/>
          <p:nvPr/>
        </p:nvCxnSpPr>
        <p:spPr>
          <a:xfrm>
            <a:off x="502920" y="969120"/>
            <a:ext cx="11186280" cy="720"/>
          </a:xfrm>
          <a:prstGeom prst="straightConnector1">
            <a:avLst/>
          </a:prstGeom>
          <a:ln w="9525">
            <a:solidFill>
              <a:srgbClr val="D5DBE5"/>
            </a:solidFill>
            <a:round/>
          </a:ln>
        </p:spPr>
      </p:cxnSp>
      <p:cxnSp>
        <p:nvCxnSpPr>
          <p:cNvPr id="2202" name="ftr-hair"/>
          <p:cNvCxnSpPr/>
          <p:nvPr/>
        </p:nvCxnSpPr>
        <p:spPr>
          <a:xfrm>
            <a:off x="502920" y="6382440"/>
            <a:ext cx="11186280" cy="720"/>
          </a:xfrm>
          <a:prstGeom prst="straightConnector1">
            <a:avLst/>
          </a:prstGeom>
          <a:ln w="9525">
            <a:solidFill>
              <a:srgbClr val="D5DBE5"/>
            </a:solidFill>
            <a:round/>
          </a:ln>
        </p:spPr>
      </p:cxnSp>
      <p:sp>
        <p:nvSpPr>
          <p:cNvPr id="220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64 / 85</a:t>
            </a:r>
            <a:endParaRPr lang="en-US" sz="1100" b="0" u="none" strike="noStrike">
              <a:solidFill>
                <a:srgbClr val="000000"/>
              </a:solidFill>
              <a:effectLst/>
              <a:uFillTx/>
              <a:latin typeface="Arial"/>
            </a:endParaRPr>
          </a:p>
        </p:txBody>
      </p:sp>
      <p:sp>
        <p:nvSpPr>
          <p:cNvPr id="220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20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20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20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0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0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品質はフェーズゲートで指標と完了基準を判定し次工程へ進む</a:t>
            </a:r>
            <a:endParaRPr lang="en-US" sz="1500" b="0" u="none" strike="noStrike">
              <a:solidFill>
                <a:srgbClr val="000000"/>
              </a:solidFill>
              <a:effectLst/>
              <a:uFillTx/>
              <a:latin typeface="Arial"/>
            </a:endParaRPr>
          </a:p>
        </p:txBody>
      </p:sp>
      <p:graphicFrame>
        <p:nvGraphicFramePr>
          <p:cNvPr id="2210" name="blk-table"/>
          <p:cNvGraphicFramePr/>
          <p:nvPr/>
        </p:nvGraphicFramePr>
        <p:xfrm>
          <a:off x="502920" y="1627560"/>
          <a:ext cx="11184840" cy="2549880"/>
        </p:xfrm>
        <a:graphic>
          <a:graphicData uri="http://schemas.openxmlformats.org/drawingml/2006/table">
            <a:tbl>
              <a:tblPr/>
              <a:tblGrid>
                <a:gridCol w="1566000"/>
                <a:gridCol w="2237040"/>
                <a:gridCol w="3132000"/>
                <a:gridCol w="1789560"/>
                <a:gridCol w="2460600"/>
              </a:tblGrid>
              <a:tr h="228960">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フェーズ</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品質目標</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品質指標</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確認方法</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完了基準</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en-US" sz="1000" b="0" u="none" strike="noStrike">
                          <a:solidFill>
                            <a:srgbClr val="1F2937"/>
                          </a:solidFill>
                          <a:effectLst/>
                          <a:uFillTx/>
                          <a:latin typeface="BIZ UDPゴシック"/>
                          <a:ea typeface="BIZ UDPゴシック"/>
                        </a:rPr>
                        <a:t>To-Be</a:t>
                      </a:r>
                      <a:r>
                        <a:rPr lang="ja-JP" sz="1000" b="0" u="none" strike="noStrike">
                          <a:solidFill>
                            <a:srgbClr val="1F2937"/>
                          </a:solidFill>
                          <a:effectLst/>
                          <a:uFillTx/>
                          <a:latin typeface="BIZ UDPゴシック"/>
                          <a:ea typeface="BIZ UDPゴシック"/>
                        </a:rPr>
                        <a:t>設計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業務要件の網羅と合意</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要件カバレッジ</a:t>
                      </a:r>
                      <a:r>
                        <a:rPr lang="en-US" sz="1000" b="0" u="none" strike="noStrike">
                          <a:solidFill>
                            <a:srgbClr val="1F2937"/>
                          </a:solidFill>
                          <a:effectLst/>
                          <a:uFillTx/>
                          <a:latin typeface="BIZ UDPゴシック"/>
                          <a:ea typeface="BIZ UDPゴシック"/>
                        </a:rPr>
                        <a:t>100%</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業務レビュー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要件定義書の承認・未決</a:t>
                      </a:r>
                      <a:r>
                        <a:rPr lang="en-US" sz="1000" b="0" u="none" strike="noStrike">
                          <a:solidFill>
                            <a:srgbClr val="1F2937"/>
                          </a:solidFill>
                          <a:effectLst/>
                          <a:uFillTx/>
                          <a:latin typeface="BIZ UDPゴシック"/>
                          <a:ea typeface="BIZ UDPゴシック"/>
                        </a:rPr>
                        <a:t>0</a:t>
                      </a:r>
                      <a:r>
                        <a:rPr lang="ja-JP" sz="1000" b="0" u="none" strike="noStrike">
                          <a:solidFill>
                            <a:srgbClr val="1F2937"/>
                          </a:solidFill>
                          <a:effectLst/>
                          <a:uFillTx/>
                          <a:latin typeface="BIZ UDPゴシック"/>
                          <a:ea typeface="BIZ UDPゴシック"/>
                        </a:rPr>
                        <a:t>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設定・連携開発</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設計どおりの実装</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レビュー指摘密度</a:t>
                      </a:r>
                      <a:r>
                        <a:rPr lang="en-US" sz="1000" b="0" u="none" strike="noStrike">
                          <a:solidFill>
                            <a:srgbClr val="1F2937"/>
                          </a:solidFill>
                          <a:effectLst/>
                          <a:uFillTx/>
                          <a:latin typeface="BIZ UDPゴシック"/>
                          <a:ea typeface="BIZ UDPゴシック"/>
                        </a:rPr>
                        <a:t>0.5</a:t>
                      </a:r>
                      <a:r>
                        <a:rPr lang="ja-JP" sz="1000" b="0" u="none" strike="noStrike">
                          <a:solidFill>
                            <a:srgbClr val="1F2937"/>
                          </a:solidFill>
                          <a:effectLst/>
                          <a:uFillTx/>
                          <a:latin typeface="BIZ UDPゴシック"/>
                          <a:ea typeface="BIZ UDPゴシック"/>
                        </a:rPr>
                        <a:t>件</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頁以下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内部レビュー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重大指摘</a:t>
                      </a:r>
                      <a:r>
                        <a:rPr lang="en-US" sz="1000" b="0" u="none" strike="noStrike">
                          <a:solidFill>
                            <a:srgbClr val="1F2937"/>
                          </a:solidFill>
                          <a:effectLst/>
                          <a:uFillTx/>
                          <a:latin typeface="BIZ UDPゴシック"/>
                          <a:ea typeface="BIZ UDPゴシック"/>
                        </a:rPr>
                        <a:t>0</a:t>
                      </a:r>
                      <a:r>
                        <a:rPr lang="ja-JP" sz="1000" b="0" u="none" strike="noStrike">
                          <a:solidFill>
                            <a:srgbClr val="1F2937"/>
                          </a:solidFill>
                          <a:effectLst/>
                          <a:uFillTx/>
                          <a:latin typeface="BIZ UDPゴシック"/>
                          <a:ea typeface="BIZ UDPゴシック"/>
                        </a:rPr>
                        <a:t>件・全指摘処置済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結合テスト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連携の正確性</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テスト消化率</a:t>
                      </a:r>
                      <a:r>
                        <a:rPr lang="en-US" sz="1000" b="0" u="none" strike="noStrike">
                          <a:solidFill>
                            <a:srgbClr val="1F2937"/>
                          </a:solidFill>
                          <a:effectLst/>
                          <a:uFillTx/>
                          <a:latin typeface="BIZ UDPゴシック"/>
                          <a:ea typeface="BIZ UDPゴシック"/>
                        </a:rPr>
                        <a:t>100%</a:t>
                      </a:r>
                      <a:r>
                        <a:rPr lang="ja-JP" sz="1000" b="0" u="none" strike="noStrike">
                          <a:solidFill>
                            <a:srgbClr val="1F2937"/>
                          </a:solidFill>
                          <a:effectLst/>
                          <a:uFillTx/>
                          <a:latin typeface="BIZ UDPゴシック"/>
                          <a:ea typeface="BIZ UDPゴシック"/>
                        </a:rPr>
                        <a:t>・重大不具合</a:t>
                      </a:r>
                      <a:r>
                        <a:rPr lang="en-US" sz="1000" b="0" u="none" strike="noStrike">
                          <a:solidFill>
                            <a:srgbClr val="1F2937"/>
                          </a:solidFill>
                          <a:effectLst/>
                          <a:uFillTx/>
                          <a:latin typeface="BIZ UDPゴシック"/>
                          <a:ea typeface="BIZ UDPゴシック"/>
                        </a:rPr>
                        <a:t>0</a:t>
                      </a:r>
                      <a:r>
                        <a:rPr lang="ja-JP" sz="1000" b="0" u="none" strike="noStrike">
                          <a:solidFill>
                            <a:srgbClr val="1F2937"/>
                          </a:solidFill>
                          <a:effectLst/>
                          <a:uFillTx/>
                          <a:latin typeface="BIZ UDPゴシック"/>
                          <a:ea typeface="BIZ UDPゴシック"/>
                        </a:rPr>
                        <a:t>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テスト実行</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連携シナリオ全件合格・重大不具合</a:t>
                      </a:r>
                      <a:r>
                        <a:rPr lang="en-US" sz="1000" b="0" u="none" strike="noStrike">
                          <a:solidFill>
                            <a:srgbClr val="1F2937"/>
                          </a:solidFill>
                          <a:effectLst/>
                          <a:uFillTx/>
                          <a:latin typeface="BIZ UDPゴシック"/>
                          <a:ea typeface="BIZ UDPゴシック"/>
                        </a:rPr>
                        <a:t>0</a:t>
                      </a:r>
                      <a:r>
                        <a:rPr lang="ja-JP" sz="1000" b="0" u="none" strike="noStrike">
                          <a:solidFill>
                            <a:srgbClr val="1F2937"/>
                          </a:solidFill>
                          <a:effectLst/>
                          <a:uFillTx/>
                          <a:latin typeface="BIZ UDPゴシック"/>
                          <a:ea typeface="BIZ UDPゴシック"/>
                        </a:rPr>
                        <a:t>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受入テスト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業務要件の充足</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シナリオ合格率</a:t>
                      </a:r>
                      <a:r>
                        <a:rPr lang="en-US" sz="1000" b="0" u="none" strike="noStrike">
                          <a:solidFill>
                            <a:srgbClr val="1F2937"/>
                          </a:solidFill>
                          <a:effectLst/>
                          <a:uFillTx/>
                          <a:latin typeface="BIZ UDPゴシック"/>
                          <a:ea typeface="BIZ UDPゴシック"/>
                        </a:rPr>
                        <a:t>100%</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貴社受入検証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重大不具合</a:t>
                      </a:r>
                      <a:r>
                        <a:rPr lang="en-US" sz="1000" b="0" u="none" strike="noStrike">
                          <a:solidFill>
                            <a:srgbClr val="1F2937"/>
                          </a:solidFill>
                          <a:effectLst/>
                          <a:uFillTx/>
                          <a:latin typeface="BIZ UDPゴシック"/>
                          <a:ea typeface="BIZ UDPゴシック"/>
                        </a:rPr>
                        <a:t>0</a:t>
                      </a:r>
                      <a:r>
                        <a:rPr lang="ja-JP" sz="1000" b="0" u="none" strike="noStrike">
                          <a:solidFill>
                            <a:srgbClr val="1F2937"/>
                          </a:solidFill>
                          <a:effectLst/>
                          <a:uFillTx/>
                          <a:latin typeface="BIZ UDPゴシック"/>
                          <a:ea typeface="BIZ UDPゴシック"/>
                        </a:rPr>
                        <a:t>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本番移行</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安全な切替と移行品質</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移行データ突合一致</a:t>
                      </a:r>
                      <a:r>
                        <a:rPr lang="en-US" sz="1000" b="0" u="none" strike="noStrike">
                          <a:solidFill>
                            <a:srgbClr val="1F2937"/>
                          </a:solidFill>
                          <a:effectLst/>
                          <a:uFillTx/>
                          <a:latin typeface="BIZ UDPゴシック"/>
                          <a:ea typeface="BIZ UDPゴシック"/>
                        </a:rPr>
                        <a:t>100%</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リハーサル</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リハーサル合格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定着化</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全社利用の定着</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対象者利用率</a:t>
                      </a:r>
                      <a:r>
                        <a:rPr lang="en-US" sz="1000" b="0" u="none" strike="noStrike">
                          <a:solidFill>
                            <a:srgbClr val="1F2937"/>
                          </a:solidFill>
                          <a:effectLst/>
                          <a:uFillTx/>
                          <a:latin typeface="BIZ UDPゴシック"/>
                          <a:ea typeface="BIZ UDPゴシック"/>
                        </a:rPr>
                        <a:t>95%</a:t>
                      </a:r>
                      <a:r>
                        <a:rPr lang="ja-JP" sz="1000" b="0" u="none" strike="noStrike">
                          <a:solidFill>
                            <a:srgbClr val="1F2937"/>
                          </a:solidFill>
                          <a:effectLst/>
                          <a:uFillTx/>
                          <a:latin typeface="BIZ UDPゴシック"/>
                          <a:ea typeface="BIZ UDPゴシック"/>
                        </a:rPr>
                        <a:t>以上・研修受講率</a:t>
                      </a:r>
                      <a:r>
                        <a:rPr lang="en-US" sz="1000" b="0" u="none" strike="noStrike">
                          <a:solidFill>
                            <a:srgbClr val="1F2937"/>
                          </a:solidFill>
                          <a:effectLst/>
                          <a:uFillTx/>
                          <a:latin typeface="BIZ UDPゴシック"/>
                          <a:ea typeface="BIZ UDPゴシック"/>
                        </a:rPr>
                        <a:t>95%</a:t>
                      </a:r>
                      <a:r>
                        <a:rPr lang="ja-JP" sz="1000" b="0" u="none" strike="noStrike">
                          <a:solidFill>
                            <a:srgbClr val="1F2937"/>
                          </a:solidFill>
                          <a:effectLst/>
                          <a:uFillTx/>
                          <a:latin typeface="BIZ UDPゴシック"/>
                          <a:ea typeface="BIZ UDPゴシック"/>
                        </a:rPr>
                        <a:t>以上</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利用ログ・研修記録</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全社本番稼働・移行完了・定着化支援完了・成果物承認・対象者利用率</a:t>
                      </a:r>
                      <a:r>
                        <a:rPr lang="en-US" sz="1000" b="0" u="none" strike="noStrike">
                          <a:solidFill>
                            <a:srgbClr val="1F2937"/>
                          </a:solidFill>
                          <a:effectLst/>
                          <a:uFillTx/>
                          <a:latin typeface="BIZ UDPゴシック"/>
                          <a:ea typeface="BIZ UDPゴシック"/>
                        </a:rPr>
                        <a:t>95%</a:t>
                      </a:r>
                      <a:r>
                        <a:rPr lang="ja-JP" sz="1000" b="0" u="none" strike="noStrike">
                          <a:solidFill>
                            <a:srgbClr val="1F2937"/>
                          </a:solidFill>
                          <a:effectLst/>
                          <a:uFillTx/>
                          <a:latin typeface="BIZ UDPゴシック"/>
                          <a:ea typeface="BIZ UDPゴシック"/>
                        </a:rPr>
                        <a:t>以上</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2211" name="blk-callout"/>
          <p:cNvSpPr/>
          <p:nvPr/>
        </p:nvSpPr>
        <p:spPr>
          <a:xfrm>
            <a:off x="502920" y="5358240"/>
            <a:ext cx="11185200" cy="895320"/>
          </a:xfrm>
          <a:prstGeom prst="roundRect">
            <a:avLst>
              <a:gd name="adj" fmla="val 8000"/>
            </a:avLst>
          </a:prstGeom>
          <a:solidFill>
            <a:srgbClr val="F9EDF2"/>
          </a:solid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プロジェクト完了 </a:t>
            </a:r>
            <a:r>
              <a:rPr lang="en-US" sz="1200" b="0" u="none" strike="noStrike">
                <a:solidFill>
                  <a:srgbClr val="1F2937"/>
                </a:solidFill>
                <a:effectLst/>
                <a:uFillTx/>
                <a:latin typeface="BIZ UDPゴシック"/>
                <a:ea typeface="BIZ UDPゴシック"/>
              </a:rPr>
              <a:t>(2027/11/30) </a:t>
            </a:r>
            <a:r>
              <a:rPr lang="ja-JP" sz="1200" b="0" u="none" strike="noStrike">
                <a:solidFill>
                  <a:srgbClr val="1F2937"/>
                </a:solidFill>
                <a:effectLst/>
                <a:uFillTx/>
                <a:latin typeface="BIZ UDPゴシック"/>
                <a:ea typeface="BIZ UDPゴシック"/>
              </a:rPr>
              <a:t>の検収条件は、ステアリングコミッティが判定する全社本番稼働・移行完了・定着化支援完了・成果物承認・対象者利用率</a:t>
            </a:r>
            <a:r>
              <a:rPr lang="en-US" sz="1200" b="0" u="none" strike="noStrike">
                <a:solidFill>
                  <a:srgbClr val="1F2937"/>
                </a:solidFill>
                <a:effectLst/>
                <a:uFillTx/>
                <a:latin typeface="BIZ UDPゴシック"/>
                <a:ea typeface="BIZ UDPゴシック"/>
              </a:rPr>
              <a:t>95%</a:t>
            </a:r>
            <a:r>
              <a:rPr lang="ja-JP" sz="1200" b="0" u="none" strike="noStrike">
                <a:solidFill>
                  <a:srgbClr val="1F2937"/>
                </a:solidFill>
                <a:effectLst/>
                <a:uFillTx/>
                <a:latin typeface="BIZ UDPゴシック"/>
                <a:ea typeface="BIZ UDPゴシック"/>
              </a:rPr>
              <a:t>以上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稼働</a:t>
            </a:r>
            <a:r>
              <a:rPr lang="en-US" sz="1200" b="0" u="none" strike="noStrike">
                <a:solidFill>
                  <a:srgbClr val="1F2937"/>
                </a:solidFill>
                <a:effectLst/>
                <a:uFillTx/>
                <a:latin typeface="BIZ UDPゴシック"/>
                <a:ea typeface="BIZ UDPゴシック"/>
              </a:rPr>
              <a:t>2</a:t>
            </a:r>
            <a:r>
              <a:rPr lang="ja-JP" sz="1200" b="0" u="none" strike="noStrike">
                <a:solidFill>
                  <a:srgbClr val="1F2937"/>
                </a:solidFill>
                <a:effectLst/>
                <a:uFillTx/>
                <a:latin typeface="BIZ UDPゴシック"/>
                <a:ea typeface="BIZ UDPゴシック"/>
              </a:rPr>
              <a:t>か月後の</a:t>
            </a:r>
            <a:r>
              <a:rPr lang="en-US" sz="1200" b="0" u="none" strike="noStrike">
                <a:solidFill>
                  <a:srgbClr val="1F2937"/>
                </a:solidFill>
                <a:effectLst/>
                <a:uFillTx/>
                <a:latin typeface="BIZ UDPゴシック"/>
                <a:ea typeface="BIZ UDPゴシック"/>
              </a:rPr>
              <a:t>2027/11/30</a:t>
            </a:r>
            <a:r>
              <a:rPr lang="ja-JP" sz="1200" b="0" u="none" strike="noStrike">
                <a:solidFill>
                  <a:srgbClr val="1F2937"/>
                </a:solidFill>
                <a:effectLst/>
                <a:uFillTx/>
                <a:latin typeface="BIZ UDPゴシック"/>
                <a:ea typeface="BIZ UDPゴシック"/>
              </a:rPr>
              <a:t>時点</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の</a:t>
            </a:r>
            <a:r>
              <a:rPr lang="en-US" sz="1200" b="0" u="none" strike="noStrike">
                <a:solidFill>
                  <a:srgbClr val="1F2937"/>
                </a:solidFill>
                <a:effectLst/>
                <a:uFillTx/>
                <a:latin typeface="BIZ UDPゴシック"/>
                <a:ea typeface="BIZ UDPゴシック"/>
              </a:rPr>
              <a:t>5</a:t>
            </a:r>
            <a:r>
              <a:rPr lang="ja-JP" sz="1200" b="0" u="none" strike="noStrike">
                <a:solidFill>
                  <a:srgbClr val="1F2937"/>
                </a:solidFill>
                <a:effectLst/>
                <a:uFillTx/>
                <a:latin typeface="BIZ UDPゴシック"/>
                <a:ea typeface="BIZ UDPゴシック"/>
              </a:rPr>
              <a:t>項目とする。効果</a:t>
            </a:r>
            <a:r>
              <a:rPr lang="en-US" sz="1200" b="0" u="none" strike="noStrike">
                <a:solidFill>
                  <a:srgbClr val="1F2937"/>
                </a:solidFill>
                <a:effectLst/>
                <a:uFillTx/>
                <a:latin typeface="BIZ UDPゴシック"/>
                <a:ea typeface="BIZ UDPゴシック"/>
              </a:rPr>
              <a:t>KPI (</a:t>
            </a:r>
            <a:r>
              <a:rPr lang="ja-JP" sz="1200" b="0" u="none" strike="noStrike">
                <a:solidFill>
                  <a:srgbClr val="1F2937"/>
                </a:solidFill>
                <a:effectLst/>
                <a:uFillTx/>
                <a:latin typeface="BIZ UDPゴシック"/>
                <a:ea typeface="BIZ UDPゴシック"/>
              </a:rPr>
              <a:t>精算リードタイム</a:t>
            </a:r>
            <a:r>
              <a:rPr lang="en-US" sz="1200" b="0" u="none" strike="noStrike">
                <a:solidFill>
                  <a:srgbClr val="1F2937"/>
                </a:solidFill>
                <a:effectLst/>
                <a:uFillTx/>
                <a:latin typeface="BIZ UDPゴシック"/>
                <a:ea typeface="BIZ UDPゴシック"/>
              </a:rPr>
              <a:t>2</a:t>
            </a:r>
            <a:r>
              <a:rPr lang="ja-JP" sz="1200" b="0" u="none" strike="noStrike">
                <a:solidFill>
                  <a:srgbClr val="1F2937"/>
                </a:solidFill>
                <a:effectLst/>
                <a:uFillTx/>
                <a:latin typeface="BIZ UDPゴシック"/>
                <a:ea typeface="BIZ UDPゴシック"/>
              </a:rPr>
              <a:t>営業日・経理手作業</a:t>
            </a:r>
            <a:r>
              <a:rPr lang="en-US" sz="1200" b="0" u="none" strike="noStrike">
                <a:solidFill>
                  <a:srgbClr val="1F2937"/>
                </a:solidFill>
                <a:effectLst/>
                <a:uFillTx/>
                <a:latin typeface="BIZ UDPゴシック"/>
                <a:ea typeface="BIZ UDPゴシック"/>
              </a:rPr>
              <a:t>40</a:t>
            </a:r>
            <a:r>
              <a:rPr lang="ja-JP" sz="1200" b="0" u="none" strike="noStrike">
                <a:solidFill>
                  <a:srgbClr val="1F2937"/>
                </a:solidFill>
                <a:effectLst/>
                <a:uFillTx/>
                <a:latin typeface="BIZ UDPゴシック"/>
                <a:ea typeface="BIZ UDPゴシック"/>
              </a:rPr>
              <a:t>時間</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月・差戻し率</a:t>
            </a:r>
            <a:r>
              <a:rPr lang="en-US" sz="1200" b="0" u="none" strike="noStrike">
                <a:solidFill>
                  <a:srgbClr val="1F2937"/>
                </a:solidFill>
                <a:effectLst/>
                <a:uFillTx/>
                <a:latin typeface="BIZ UDPゴシック"/>
                <a:ea typeface="BIZ UDPゴシック"/>
              </a:rPr>
              <a:t>5%</a:t>
            </a:r>
            <a:r>
              <a:rPr lang="ja-JP" sz="1200" b="0" u="none" strike="noStrike">
                <a:solidFill>
                  <a:srgbClr val="1F2937"/>
                </a:solidFill>
                <a:effectLst/>
                <a:uFillTx/>
                <a:latin typeface="BIZ UDPゴシック"/>
                <a:ea typeface="BIZ UDPゴシック"/>
              </a:rPr>
              <a:t>以下は稼働</a:t>
            </a:r>
            <a:r>
              <a:rPr lang="en-US" sz="1200" b="0" u="none" strike="noStrike">
                <a:solidFill>
                  <a:srgbClr val="1F2937"/>
                </a:solidFill>
                <a:effectLst/>
                <a:uFillTx/>
                <a:latin typeface="BIZ UDPゴシック"/>
                <a:ea typeface="BIZ UDPゴシック"/>
              </a:rPr>
              <a:t>3</a:t>
            </a:r>
            <a:r>
              <a:rPr lang="ja-JP" sz="1200" b="0" u="none" strike="noStrike">
                <a:solidFill>
                  <a:srgbClr val="1F2937"/>
                </a:solidFill>
                <a:effectLst/>
                <a:uFillTx/>
                <a:latin typeface="BIZ UDPゴシック"/>
                <a:ea typeface="BIZ UDPゴシック"/>
              </a:rPr>
              <a:t>か月後の</a:t>
            </a:r>
            <a:r>
              <a:rPr lang="en-US" sz="1200" b="0" u="none" strike="noStrike">
                <a:solidFill>
                  <a:srgbClr val="1F2937"/>
                </a:solidFill>
                <a:effectLst/>
                <a:uFillTx/>
                <a:latin typeface="BIZ UDPゴシック"/>
                <a:ea typeface="BIZ UDPゴシック"/>
              </a:rPr>
              <a:t>2027/12</a:t>
            </a:r>
            <a:r>
              <a:rPr lang="ja-JP" sz="1200" b="0" u="none" strike="noStrike">
                <a:solidFill>
                  <a:srgbClr val="1F2937"/>
                </a:solidFill>
                <a:effectLst/>
                <a:uFillTx/>
                <a:latin typeface="BIZ UDPゴシック"/>
                <a:ea typeface="BIZ UDPゴシック"/>
              </a:rPr>
              <a:t>末、利用者満足度</a:t>
            </a:r>
            <a:r>
              <a:rPr lang="en-US" sz="1200" b="0" u="none" strike="noStrike">
                <a:solidFill>
                  <a:srgbClr val="1F2937"/>
                </a:solidFill>
                <a:effectLst/>
                <a:uFillTx/>
                <a:latin typeface="BIZ UDPゴシック"/>
                <a:ea typeface="BIZ UDPゴシック"/>
              </a:rPr>
              <a:t>4.0</a:t>
            </a:r>
            <a:r>
              <a:rPr lang="ja-JP" sz="1200" b="0" u="none" strike="noStrike">
                <a:solidFill>
                  <a:srgbClr val="1F2937"/>
                </a:solidFill>
                <a:effectLst/>
                <a:uFillTx/>
                <a:latin typeface="BIZ UDPゴシック"/>
                <a:ea typeface="BIZ UDPゴシック"/>
              </a:rPr>
              <a:t>以上は</a:t>
            </a:r>
            <a:r>
              <a:rPr lang="en-US" sz="1200" b="0" u="none" strike="noStrike">
                <a:solidFill>
                  <a:srgbClr val="1F2937"/>
                </a:solidFill>
                <a:effectLst/>
                <a:uFillTx/>
                <a:latin typeface="BIZ UDPゴシック"/>
                <a:ea typeface="BIZ UDPゴシック"/>
              </a:rPr>
              <a:t>2028/03</a:t>
            </a:r>
            <a:r>
              <a:rPr lang="ja-JP" sz="1200" b="0" u="none" strike="noStrike">
                <a:solidFill>
                  <a:srgbClr val="1F2937"/>
                </a:solidFill>
                <a:effectLst/>
                <a:uFillTx/>
                <a:latin typeface="BIZ UDPゴシック"/>
                <a:ea typeface="BIZ UDPゴシック"/>
              </a:rPr>
              <a:t>末</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はプロジェクト完了後に貴社</a:t>
            </a:r>
            <a:r>
              <a:rPr lang="en-US" sz="1200" b="0" u="none" strike="noStrike">
                <a:solidFill>
                  <a:srgbClr val="1F2937"/>
                </a:solidFill>
                <a:effectLst/>
                <a:uFillTx/>
                <a:latin typeface="BIZ UDPゴシック"/>
                <a:ea typeface="BIZ UDPゴシック"/>
              </a:rPr>
              <a:t>PM</a:t>
            </a:r>
            <a:r>
              <a:rPr lang="ja-JP" sz="1200" b="0" u="none" strike="noStrike">
                <a:solidFill>
                  <a:srgbClr val="1F2937"/>
                </a:solidFill>
                <a:effectLst/>
                <a:uFillTx/>
                <a:latin typeface="BIZ UDPゴシック"/>
                <a:ea typeface="BIZ UDPゴシック"/>
              </a:rPr>
              <a:t>が測定し、当社は効果測定レポートの作成を支援する。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1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1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21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216"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17"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18"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19"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20"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2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2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2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22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5.6 </a:t>
            </a:r>
            <a:r>
              <a:rPr lang="ja-JP" sz="2400" b="1" u="none" strike="noStrike">
                <a:solidFill>
                  <a:srgbClr val="16213E"/>
                </a:solidFill>
                <a:effectLst/>
                <a:uFillTx/>
                <a:latin typeface="BIZ UDPゴシック"/>
                <a:ea typeface="BIZ UDPゴシック"/>
              </a:rPr>
              <a:t>品質管理 ─ 品質保証体制とプロセス</a:t>
            </a:r>
            <a:endParaRPr lang="en-US" sz="2400" b="0" u="none" strike="noStrike">
              <a:solidFill>
                <a:srgbClr val="000000"/>
              </a:solidFill>
              <a:effectLst/>
              <a:uFillTx/>
              <a:latin typeface="Arial"/>
            </a:endParaRPr>
          </a:p>
        </p:txBody>
      </p:sp>
      <p:sp>
        <p:nvSpPr>
          <p:cNvPr id="222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226" name="hdr-hair"/>
          <p:cNvCxnSpPr/>
          <p:nvPr/>
        </p:nvCxnSpPr>
        <p:spPr>
          <a:xfrm>
            <a:off x="502920" y="969120"/>
            <a:ext cx="11186280" cy="720"/>
          </a:xfrm>
          <a:prstGeom prst="straightConnector1">
            <a:avLst/>
          </a:prstGeom>
          <a:ln w="9525">
            <a:solidFill>
              <a:srgbClr val="D5DBE5"/>
            </a:solidFill>
            <a:round/>
          </a:ln>
        </p:spPr>
      </p:cxnSp>
      <p:cxnSp>
        <p:nvCxnSpPr>
          <p:cNvPr id="2227" name="ftr-hair"/>
          <p:cNvCxnSpPr/>
          <p:nvPr/>
        </p:nvCxnSpPr>
        <p:spPr>
          <a:xfrm>
            <a:off x="502920" y="6382440"/>
            <a:ext cx="11186280" cy="720"/>
          </a:xfrm>
          <a:prstGeom prst="straightConnector1">
            <a:avLst/>
          </a:prstGeom>
          <a:ln w="9525">
            <a:solidFill>
              <a:srgbClr val="D5DBE5"/>
            </a:solidFill>
            <a:round/>
          </a:ln>
        </p:spPr>
      </p:cxnSp>
      <p:sp>
        <p:nvSpPr>
          <p:cNvPr id="222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65 / 85</a:t>
            </a:r>
            <a:endParaRPr lang="en-US" sz="1100" b="0" u="none" strike="noStrike">
              <a:solidFill>
                <a:srgbClr val="000000"/>
              </a:solidFill>
              <a:effectLst/>
              <a:uFillTx/>
              <a:latin typeface="Arial"/>
            </a:endParaRPr>
          </a:p>
        </p:txBody>
      </p:sp>
      <p:sp>
        <p:nvSpPr>
          <p:cNvPr id="222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23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23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23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品質保証は独立した</a:t>
            </a:r>
            <a:r>
              <a:rPr lang="en-US" sz="1500" b="1" u="none" strike="noStrike">
                <a:solidFill>
                  <a:srgbClr val="16213E"/>
                </a:solidFill>
                <a:effectLst/>
                <a:uFillTx/>
                <a:latin typeface="BIZ UDPゴシック"/>
                <a:ea typeface="BIZ UDPゴシック"/>
              </a:rPr>
              <a:t>QA</a:t>
            </a:r>
            <a:r>
              <a:rPr lang="ja-JP" sz="1500" b="1" u="none" strike="noStrike">
                <a:solidFill>
                  <a:srgbClr val="16213E"/>
                </a:solidFill>
                <a:effectLst/>
                <a:uFillTx/>
                <a:latin typeface="BIZ UDPゴシック"/>
                <a:ea typeface="BIZ UDPゴシック"/>
              </a:rPr>
              <a:t>責任者が第三者レビューで担保する</a:t>
            </a:r>
            <a:endParaRPr lang="en-US" sz="1500" b="0" u="none" strike="noStrike">
              <a:solidFill>
                <a:srgbClr val="000000"/>
              </a:solidFill>
              <a:effectLst/>
              <a:uFillTx/>
              <a:latin typeface="Arial"/>
            </a:endParaRPr>
          </a:p>
        </p:txBody>
      </p:sp>
      <p:sp>
        <p:nvSpPr>
          <p:cNvPr id="2235" name="drawio:tt"/>
          <p:cNvSpPr/>
          <p:nvPr/>
        </p:nvSpPr>
        <p:spPr>
          <a:xfrm>
            <a:off x="2497680" y="1627560"/>
            <a:ext cx="3820320" cy="183600"/>
          </a:xfrm>
          <a:prstGeom prst="rect">
            <a:avLst/>
          </a:prstGeom>
          <a:noFill/>
          <a:ln w="0">
            <a:noFill/>
          </a:ln>
        </p:spPr>
        <p:style>
          <a:lnRef idx="0"/>
          <a:fillRef idx="0"/>
          <a:effectRef idx="0"/>
          <a:fontRef idx="minor"/>
        </p:style>
        <p:txBody>
          <a:bodyPr lIns="36720" tIns="18360" rIns="36720" bIns="18360" anchor="ctr">
            <a:spAutoFit/>
          </a:bodyPr>
          <a:p>
            <a:pPr defTabSz="457200">
              <a:lnSpc>
                <a:spcPct val="110000"/>
              </a:lnSpc>
            </a:pPr>
            <a:r>
              <a:rPr lang="ja-JP" sz="880" b="1" u="none" strike="noStrike">
                <a:solidFill>
                  <a:srgbClr val="16213E"/>
                </a:solidFill>
                <a:effectLst/>
                <a:uFillTx/>
                <a:latin typeface="BIZ UDPゴシック"/>
                <a:ea typeface="BIZ UDPゴシック"/>
              </a:rPr>
              <a:t>フェーズゲートと第三者レビュー</a:t>
            </a:r>
            <a:endParaRPr lang="en-US" sz="880" b="0" u="none" strike="noStrike">
              <a:solidFill>
                <a:srgbClr val="000000"/>
              </a:solidFill>
              <a:effectLst/>
              <a:uFillTx/>
              <a:latin typeface="Arial"/>
            </a:endParaRPr>
          </a:p>
        </p:txBody>
      </p:sp>
      <p:sp>
        <p:nvSpPr>
          <p:cNvPr id="2236" name="drawio:p1"/>
          <p:cNvSpPr/>
          <p:nvPr/>
        </p:nvSpPr>
        <p:spPr>
          <a:xfrm>
            <a:off x="2497680" y="1962000"/>
            <a:ext cx="1336680" cy="381240"/>
          </a:xfrm>
          <a:prstGeom prst="chevron">
            <a:avLst>
              <a:gd name="adj" fmla="val 50000"/>
            </a:avLst>
          </a:prstGeom>
          <a:solidFill>
            <a:srgbClr val="16213E"/>
          </a:solidFill>
          <a:ln w="796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1" u="none" strike="noStrike">
                <a:solidFill>
                  <a:srgbClr val="FFFFFF"/>
                </a:solidFill>
                <a:effectLst/>
                <a:uFillTx/>
                <a:latin typeface="BIZ UDPゴシック"/>
                <a:ea typeface="BIZ UDPゴシック"/>
              </a:rPr>
              <a:t>要件定義</a:t>
            </a:r>
            <a:endParaRPr lang="en-US" sz="880" b="0" u="none" strike="noStrike">
              <a:solidFill>
                <a:srgbClr val="FFFFFF"/>
              </a:solidFill>
              <a:effectLst/>
              <a:uFillTx/>
              <a:latin typeface="Arial"/>
            </a:endParaRPr>
          </a:p>
        </p:txBody>
      </p:sp>
      <p:sp>
        <p:nvSpPr>
          <p:cNvPr id="2237" name="drawio:p2"/>
          <p:cNvSpPr/>
          <p:nvPr/>
        </p:nvSpPr>
        <p:spPr>
          <a:xfrm>
            <a:off x="3962520" y="1962000"/>
            <a:ext cx="1336680" cy="381240"/>
          </a:xfrm>
          <a:prstGeom prst="chevron">
            <a:avLst>
              <a:gd name="adj" fmla="val 50000"/>
            </a:avLst>
          </a:prstGeom>
          <a:solidFill>
            <a:srgbClr val="16213E"/>
          </a:solidFill>
          <a:ln w="796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1" u="none" strike="noStrike">
                <a:solidFill>
                  <a:srgbClr val="FFFFFF"/>
                </a:solidFill>
                <a:effectLst/>
                <a:uFillTx/>
                <a:latin typeface="BIZ UDPゴシック"/>
                <a:ea typeface="BIZ UDPゴシック"/>
              </a:rPr>
              <a:t>設定・連携開発</a:t>
            </a:r>
            <a:endParaRPr lang="en-US" sz="880" b="0" u="none" strike="noStrike">
              <a:solidFill>
                <a:srgbClr val="FFFFFF"/>
              </a:solidFill>
              <a:effectLst/>
              <a:uFillTx/>
              <a:latin typeface="Arial"/>
            </a:endParaRPr>
          </a:p>
        </p:txBody>
      </p:sp>
      <p:sp>
        <p:nvSpPr>
          <p:cNvPr id="2238" name="drawio:p3"/>
          <p:cNvSpPr/>
          <p:nvPr/>
        </p:nvSpPr>
        <p:spPr>
          <a:xfrm>
            <a:off x="5427000" y="1962000"/>
            <a:ext cx="1336680" cy="381240"/>
          </a:xfrm>
          <a:prstGeom prst="chevron">
            <a:avLst>
              <a:gd name="adj" fmla="val 50000"/>
            </a:avLst>
          </a:prstGeom>
          <a:solidFill>
            <a:srgbClr val="16213E"/>
          </a:solidFill>
          <a:ln w="796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1" u="none" strike="noStrike">
                <a:solidFill>
                  <a:srgbClr val="FFFFFF"/>
                </a:solidFill>
                <a:effectLst/>
                <a:uFillTx/>
                <a:latin typeface="BIZ UDPゴシック"/>
                <a:ea typeface="BIZ UDPゴシック"/>
              </a:rPr>
              <a:t>結合テスト</a:t>
            </a:r>
            <a:endParaRPr lang="en-US" sz="880" b="0" u="none" strike="noStrike">
              <a:solidFill>
                <a:srgbClr val="FFFFFF"/>
              </a:solidFill>
              <a:effectLst/>
              <a:uFillTx/>
              <a:latin typeface="Arial"/>
            </a:endParaRPr>
          </a:p>
        </p:txBody>
      </p:sp>
      <p:sp>
        <p:nvSpPr>
          <p:cNvPr id="2239" name="drawio:p4"/>
          <p:cNvSpPr/>
          <p:nvPr/>
        </p:nvSpPr>
        <p:spPr>
          <a:xfrm>
            <a:off x="6891840" y="1962000"/>
            <a:ext cx="1336680" cy="381240"/>
          </a:xfrm>
          <a:prstGeom prst="chevron">
            <a:avLst>
              <a:gd name="adj" fmla="val 50000"/>
            </a:avLst>
          </a:prstGeom>
          <a:solidFill>
            <a:srgbClr val="16213E"/>
          </a:solidFill>
          <a:ln w="796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1" u="none" strike="noStrike">
                <a:solidFill>
                  <a:srgbClr val="FFFFFF"/>
                </a:solidFill>
                <a:effectLst/>
                <a:uFillTx/>
                <a:latin typeface="BIZ UDPゴシック"/>
                <a:ea typeface="BIZ UDPゴシック"/>
              </a:rPr>
              <a:t>受入テスト</a:t>
            </a:r>
            <a:endParaRPr lang="en-US" sz="880" b="0" u="none" strike="noStrike">
              <a:solidFill>
                <a:srgbClr val="FFFFFF"/>
              </a:solidFill>
              <a:effectLst/>
              <a:uFillTx/>
              <a:latin typeface="Arial"/>
            </a:endParaRPr>
          </a:p>
        </p:txBody>
      </p:sp>
      <p:sp>
        <p:nvSpPr>
          <p:cNvPr id="2240" name="drawio:p5"/>
          <p:cNvSpPr/>
          <p:nvPr/>
        </p:nvSpPr>
        <p:spPr>
          <a:xfrm>
            <a:off x="8356680" y="1962000"/>
            <a:ext cx="1336680" cy="381240"/>
          </a:xfrm>
          <a:prstGeom prst="chevron">
            <a:avLst>
              <a:gd name="adj" fmla="val 50000"/>
            </a:avLst>
          </a:prstGeom>
          <a:solidFill>
            <a:srgbClr val="16213E"/>
          </a:solidFill>
          <a:ln w="7960">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1" u="none" strike="noStrike">
                <a:solidFill>
                  <a:srgbClr val="FFFFFF"/>
                </a:solidFill>
                <a:effectLst/>
                <a:uFillTx/>
                <a:latin typeface="BIZ UDPゴシック"/>
                <a:ea typeface="BIZ UDPゴシック"/>
              </a:rPr>
              <a:t>本番移行</a:t>
            </a:r>
            <a:endParaRPr lang="en-US" sz="880" b="0" u="none" strike="noStrike">
              <a:solidFill>
                <a:srgbClr val="FFFFFF"/>
              </a:solidFill>
              <a:effectLst/>
              <a:uFillTx/>
              <a:latin typeface="Arial"/>
            </a:endParaRPr>
          </a:p>
        </p:txBody>
      </p:sp>
      <p:sp>
        <p:nvSpPr>
          <p:cNvPr id="2241" name="drawio:g1"/>
          <p:cNvSpPr/>
          <p:nvPr/>
        </p:nvSpPr>
        <p:spPr>
          <a:xfrm>
            <a:off x="2497680" y="2535120"/>
            <a:ext cx="1336680" cy="508680"/>
          </a:xfrm>
          <a:prstGeom prst="roundRect">
            <a:avLst>
              <a:gd name="adj" fmla="val 16667"/>
            </a:avLst>
          </a:prstGeom>
          <a:solidFill>
            <a:srgbClr val="FFFFFF"/>
          </a:solidFill>
          <a:ln w="796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B4235A"/>
                </a:solidFill>
                <a:effectLst/>
                <a:uFillTx/>
                <a:latin typeface="BIZ UDPゴシック"/>
                <a:ea typeface="BIZ UDPゴシック"/>
              </a:rPr>
              <a:t>品質ゲート</a:t>
            </a:r>
            <a:endParaRPr lang="en-US" sz="880" b="0" u="none" strike="noStrike">
              <a:solidFill>
                <a:srgbClr val="000000"/>
              </a:solidFill>
              <a:effectLst/>
              <a:uFillTx/>
              <a:latin typeface="Arial"/>
            </a:endParaRPr>
          </a:p>
          <a:p>
            <a:pPr algn="ctr" defTabSz="457200">
              <a:lnSpc>
                <a:spcPct val="110000"/>
              </a:lnSpc>
            </a:pPr>
            <a:r>
              <a:rPr lang="ja-JP" sz="880" b="0" u="none" strike="noStrike">
                <a:solidFill>
                  <a:srgbClr val="B4235A"/>
                </a:solidFill>
                <a:effectLst/>
                <a:uFillTx/>
                <a:latin typeface="BIZ UDPゴシック"/>
                <a:ea typeface="BIZ UDPゴシック"/>
              </a:rPr>
              <a:t>レビュー・完了基準判定</a:t>
            </a:r>
            <a:endParaRPr lang="en-US" sz="880" b="0" u="none" strike="noStrike">
              <a:solidFill>
                <a:srgbClr val="000000"/>
              </a:solidFill>
              <a:effectLst/>
              <a:uFillTx/>
              <a:latin typeface="Arial"/>
            </a:endParaRPr>
          </a:p>
        </p:txBody>
      </p:sp>
      <p:sp>
        <p:nvSpPr>
          <p:cNvPr id="2242" name="drawio:g2"/>
          <p:cNvSpPr/>
          <p:nvPr/>
        </p:nvSpPr>
        <p:spPr>
          <a:xfrm>
            <a:off x="3962520" y="2535120"/>
            <a:ext cx="1336680" cy="508680"/>
          </a:xfrm>
          <a:prstGeom prst="roundRect">
            <a:avLst>
              <a:gd name="adj" fmla="val 16667"/>
            </a:avLst>
          </a:prstGeom>
          <a:solidFill>
            <a:srgbClr val="FFFFFF"/>
          </a:solidFill>
          <a:ln w="796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B4235A"/>
                </a:solidFill>
                <a:effectLst/>
                <a:uFillTx/>
                <a:latin typeface="BIZ UDPゴシック"/>
                <a:ea typeface="BIZ UDPゴシック"/>
              </a:rPr>
              <a:t>品質ゲート</a:t>
            </a:r>
            <a:endParaRPr lang="en-US" sz="880" b="0" u="none" strike="noStrike">
              <a:solidFill>
                <a:srgbClr val="000000"/>
              </a:solidFill>
              <a:effectLst/>
              <a:uFillTx/>
              <a:latin typeface="Arial"/>
            </a:endParaRPr>
          </a:p>
          <a:p>
            <a:pPr algn="ctr" defTabSz="457200">
              <a:lnSpc>
                <a:spcPct val="110000"/>
              </a:lnSpc>
            </a:pPr>
            <a:r>
              <a:rPr lang="ja-JP" sz="880" b="0" u="none" strike="noStrike">
                <a:solidFill>
                  <a:srgbClr val="B4235A"/>
                </a:solidFill>
                <a:effectLst/>
                <a:uFillTx/>
                <a:latin typeface="BIZ UDPゴシック"/>
                <a:ea typeface="BIZ UDPゴシック"/>
              </a:rPr>
              <a:t>レビュー・完了基準判定</a:t>
            </a:r>
            <a:endParaRPr lang="en-US" sz="880" b="0" u="none" strike="noStrike">
              <a:solidFill>
                <a:srgbClr val="000000"/>
              </a:solidFill>
              <a:effectLst/>
              <a:uFillTx/>
              <a:latin typeface="Arial"/>
            </a:endParaRPr>
          </a:p>
        </p:txBody>
      </p:sp>
      <p:sp>
        <p:nvSpPr>
          <p:cNvPr id="2243" name="drawio:g3"/>
          <p:cNvSpPr/>
          <p:nvPr/>
        </p:nvSpPr>
        <p:spPr>
          <a:xfrm>
            <a:off x="5427000" y="2535120"/>
            <a:ext cx="1336680" cy="508680"/>
          </a:xfrm>
          <a:prstGeom prst="roundRect">
            <a:avLst>
              <a:gd name="adj" fmla="val 16667"/>
            </a:avLst>
          </a:prstGeom>
          <a:solidFill>
            <a:srgbClr val="FFFFFF"/>
          </a:solidFill>
          <a:ln w="796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B4235A"/>
                </a:solidFill>
                <a:effectLst/>
                <a:uFillTx/>
                <a:latin typeface="BIZ UDPゴシック"/>
                <a:ea typeface="BIZ UDPゴシック"/>
              </a:rPr>
              <a:t>品質ゲート</a:t>
            </a:r>
            <a:endParaRPr lang="en-US" sz="880" b="0" u="none" strike="noStrike">
              <a:solidFill>
                <a:srgbClr val="000000"/>
              </a:solidFill>
              <a:effectLst/>
              <a:uFillTx/>
              <a:latin typeface="Arial"/>
            </a:endParaRPr>
          </a:p>
          <a:p>
            <a:pPr algn="ctr" defTabSz="457200">
              <a:lnSpc>
                <a:spcPct val="110000"/>
              </a:lnSpc>
            </a:pPr>
            <a:r>
              <a:rPr lang="ja-JP" sz="880" b="0" u="none" strike="noStrike">
                <a:solidFill>
                  <a:srgbClr val="B4235A"/>
                </a:solidFill>
                <a:effectLst/>
                <a:uFillTx/>
                <a:latin typeface="BIZ UDPゴシック"/>
                <a:ea typeface="BIZ UDPゴシック"/>
              </a:rPr>
              <a:t>連携シナリオ全件合格</a:t>
            </a:r>
            <a:endParaRPr lang="en-US" sz="880" b="0" u="none" strike="noStrike">
              <a:solidFill>
                <a:srgbClr val="000000"/>
              </a:solidFill>
              <a:effectLst/>
              <a:uFillTx/>
              <a:latin typeface="Arial"/>
            </a:endParaRPr>
          </a:p>
          <a:p>
            <a:pPr algn="ctr" defTabSz="457200">
              <a:lnSpc>
                <a:spcPct val="110000"/>
              </a:lnSpc>
            </a:pPr>
            <a:r>
              <a:rPr lang="ja-JP" sz="880" b="0" u="none" strike="noStrike">
                <a:solidFill>
                  <a:srgbClr val="B4235A"/>
                </a:solidFill>
                <a:effectLst/>
                <a:uFillTx/>
                <a:latin typeface="BIZ UDPゴシック"/>
                <a:ea typeface="BIZ UDPゴシック"/>
              </a:rPr>
              <a:t>重大不具合</a:t>
            </a:r>
            <a:r>
              <a:rPr lang="en-US" sz="880" b="0" u="none" strike="noStrike">
                <a:solidFill>
                  <a:srgbClr val="B4235A"/>
                </a:solidFill>
                <a:effectLst/>
                <a:uFillTx/>
                <a:latin typeface="BIZ UDPゴシック"/>
                <a:ea typeface="BIZ UDPゴシック"/>
              </a:rPr>
              <a:t>0</a:t>
            </a:r>
            <a:r>
              <a:rPr lang="ja-JP" sz="880" b="0" u="none" strike="noStrike">
                <a:solidFill>
                  <a:srgbClr val="B4235A"/>
                </a:solidFill>
                <a:effectLst/>
                <a:uFillTx/>
                <a:latin typeface="BIZ UDPゴシック"/>
                <a:ea typeface="BIZ UDPゴシック"/>
              </a:rPr>
              <a:t>件</a:t>
            </a:r>
            <a:endParaRPr lang="en-US" sz="880" b="0" u="none" strike="noStrike">
              <a:solidFill>
                <a:srgbClr val="000000"/>
              </a:solidFill>
              <a:effectLst/>
              <a:uFillTx/>
              <a:latin typeface="Arial"/>
            </a:endParaRPr>
          </a:p>
        </p:txBody>
      </p:sp>
      <p:sp>
        <p:nvSpPr>
          <p:cNvPr id="2244" name="drawio:g4"/>
          <p:cNvSpPr/>
          <p:nvPr/>
        </p:nvSpPr>
        <p:spPr>
          <a:xfrm>
            <a:off x="6891840" y="2535120"/>
            <a:ext cx="1336680" cy="508680"/>
          </a:xfrm>
          <a:prstGeom prst="roundRect">
            <a:avLst>
              <a:gd name="adj" fmla="val 16667"/>
            </a:avLst>
          </a:prstGeom>
          <a:solidFill>
            <a:srgbClr val="FFFFFF"/>
          </a:solidFill>
          <a:ln w="796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B4235A"/>
                </a:solidFill>
                <a:effectLst/>
                <a:uFillTx/>
                <a:latin typeface="BIZ UDPゴシック"/>
                <a:ea typeface="BIZ UDPゴシック"/>
              </a:rPr>
              <a:t>品質ゲート</a:t>
            </a:r>
            <a:endParaRPr lang="en-US" sz="880" b="0" u="none" strike="noStrike">
              <a:solidFill>
                <a:srgbClr val="000000"/>
              </a:solidFill>
              <a:effectLst/>
              <a:uFillTx/>
              <a:latin typeface="Arial"/>
            </a:endParaRPr>
          </a:p>
          <a:p>
            <a:pPr algn="ctr" defTabSz="457200">
              <a:lnSpc>
                <a:spcPct val="110000"/>
              </a:lnSpc>
            </a:pPr>
            <a:r>
              <a:rPr lang="ja-JP" sz="880" b="0" u="none" strike="noStrike">
                <a:solidFill>
                  <a:srgbClr val="B4235A"/>
                </a:solidFill>
                <a:effectLst/>
                <a:uFillTx/>
                <a:latin typeface="BIZ UDPゴシック"/>
                <a:ea typeface="BIZ UDPゴシック"/>
              </a:rPr>
              <a:t>レビュー・完了基準判定</a:t>
            </a:r>
            <a:endParaRPr lang="en-US" sz="880" b="0" u="none" strike="noStrike">
              <a:solidFill>
                <a:srgbClr val="000000"/>
              </a:solidFill>
              <a:effectLst/>
              <a:uFillTx/>
              <a:latin typeface="Arial"/>
            </a:endParaRPr>
          </a:p>
        </p:txBody>
      </p:sp>
      <p:sp>
        <p:nvSpPr>
          <p:cNvPr id="2245" name="drawio:g5"/>
          <p:cNvSpPr/>
          <p:nvPr/>
        </p:nvSpPr>
        <p:spPr>
          <a:xfrm>
            <a:off x="8356680" y="2535120"/>
            <a:ext cx="1336680" cy="508680"/>
          </a:xfrm>
          <a:prstGeom prst="roundRect">
            <a:avLst>
              <a:gd name="adj" fmla="val 16667"/>
            </a:avLst>
          </a:prstGeom>
          <a:solidFill>
            <a:srgbClr val="FFFFFF"/>
          </a:solidFill>
          <a:ln w="796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B4235A"/>
                </a:solidFill>
                <a:effectLst/>
                <a:uFillTx/>
                <a:latin typeface="BIZ UDPゴシック"/>
                <a:ea typeface="BIZ UDPゴシック"/>
              </a:rPr>
              <a:t>品質ゲート</a:t>
            </a:r>
            <a:endParaRPr lang="en-US" sz="880" b="0" u="none" strike="noStrike">
              <a:solidFill>
                <a:srgbClr val="000000"/>
              </a:solidFill>
              <a:effectLst/>
              <a:uFillTx/>
              <a:latin typeface="Arial"/>
            </a:endParaRPr>
          </a:p>
          <a:p>
            <a:pPr algn="ctr" defTabSz="457200">
              <a:lnSpc>
                <a:spcPct val="110000"/>
              </a:lnSpc>
            </a:pPr>
            <a:r>
              <a:rPr lang="ja-JP" sz="880" b="0" u="none" strike="noStrike">
                <a:solidFill>
                  <a:srgbClr val="B4235A"/>
                </a:solidFill>
                <a:effectLst/>
                <a:uFillTx/>
                <a:latin typeface="BIZ UDPゴシック"/>
                <a:ea typeface="BIZ UDPゴシック"/>
              </a:rPr>
              <a:t>レビュー・完了基準判定</a:t>
            </a:r>
            <a:endParaRPr lang="en-US" sz="880" b="0" u="none" strike="noStrike">
              <a:solidFill>
                <a:srgbClr val="000000"/>
              </a:solidFill>
              <a:effectLst/>
              <a:uFillTx/>
              <a:latin typeface="Arial"/>
            </a:endParaRPr>
          </a:p>
        </p:txBody>
      </p:sp>
      <p:sp>
        <p:nvSpPr>
          <p:cNvPr id="2246" name="drawio:qa"/>
          <p:cNvSpPr/>
          <p:nvPr/>
        </p:nvSpPr>
        <p:spPr>
          <a:xfrm>
            <a:off x="5045040" y="3363120"/>
            <a:ext cx="2291760" cy="508680"/>
          </a:xfrm>
          <a:prstGeom prst="roundRect">
            <a:avLst>
              <a:gd name="adj" fmla="val 16667"/>
            </a:avLst>
          </a:prstGeom>
          <a:solidFill>
            <a:srgbClr val="0E7490"/>
          </a:solidFill>
          <a:ln w="79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1" u="none" strike="noStrike">
                <a:solidFill>
                  <a:srgbClr val="FFFFFF"/>
                </a:solidFill>
                <a:effectLst/>
                <a:uFillTx/>
                <a:latin typeface="BIZ UDPゴシック"/>
                <a:ea typeface="BIZ UDPゴシック"/>
              </a:rPr>
              <a:t>品質保証責任者</a:t>
            </a:r>
            <a:endParaRPr lang="en-US" sz="880" b="0" u="none" strike="noStrike">
              <a:solidFill>
                <a:srgbClr val="FFFFFF"/>
              </a:solidFill>
              <a:effectLst/>
              <a:uFillTx/>
              <a:latin typeface="Arial"/>
            </a:endParaRPr>
          </a:p>
          <a:p>
            <a:pPr algn="ctr" defTabSz="457200">
              <a:lnSpc>
                <a:spcPct val="110000"/>
              </a:lnSpc>
            </a:pPr>
            <a:r>
              <a:rPr lang="ja-JP" sz="880" b="1" u="none" strike="noStrike">
                <a:solidFill>
                  <a:srgbClr val="FFFFFF"/>
                </a:solidFill>
                <a:effectLst/>
                <a:uFillTx/>
                <a:latin typeface="BIZ UDPゴシック"/>
                <a:ea typeface="BIZ UDPゴシック"/>
              </a:rPr>
              <a:t>第三者レビュー </a:t>
            </a:r>
            <a:r>
              <a:rPr lang="en-US" sz="880" b="1" u="none" strike="noStrike">
                <a:solidFill>
                  <a:srgbClr val="FFFFFF"/>
                </a:solidFill>
                <a:effectLst/>
                <a:uFillTx/>
                <a:latin typeface="BIZ UDPゴシック"/>
                <a:ea typeface="BIZ UDPゴシック"/>
              </a:rPr>
              <a:t>(</a:t>
            </a:r>
            <a:r>
              <a:rPr lang="ja-JP" sz="880" b="1" u="none" strike="noStrike">
                <a:solidFill>
                  <a:srgbClr val="FFFFFF"/>
                </a:solidFill>
                <a:effectLst/>
                <a:uFillTx/>
                <a:latin typeface="BIZ UDPゴシック"/>
                <a:ea typeface="BIZ UDPゴシック"/>
              </a:rPr>
              <a:t>独立</a:t>
            </a:r>
            <a:r>
              <a:rPr lang="en-US" sz="880" b="1" u="none" strike="noStrike">
                <a:solidFill>
                  <a:srgbClr val="FFFFFF"/>
                </a:solidFill>
                <a:effectLst/>
                <a:uFillTx/>
                <a:latin typeface="BIZ UDPゴシック"/>
                <a:ea typeface="BIZ UDPゴシック"/>
              </a:rPr>
              <a:t>)</a:t>
            </a:r>
            <a:endParaRPr lang="en-US" sz="880" b="0" u="none" strike="noStrike">
              <a:solidFill>
                <a:srgbClr val="FFFFFF"/>
              </a:solidFill>
              <a:effectLst/>
              <a:uFillTx/>
              <a:latin typeface="Arial"/>
            </a:endParaRPr>
          </a:p>
        </p:txBody>
      </p:sp>
      <p:sp>
        <p:nvSpPr>
          <p:cNvPr id="2247" name="drawio:mt"/>
          <p:cNvSpPr/>
          <p:nvPr/>
        </p:nvSpPr>
        <p:spPr>
          <a:xfrm>
            <a:off x="2497680" y="4127040"/>
            <a:ext cx="1527840" cy="183600"/>
          </a:xfrm>
          <a:prstGeom prst="rect">
            <a:avLst/>
          </a:prstGeom>
          <a:noFill/>
          <a:ln w="0">
            <a:noFill/>
          </a:ln>
        </p:spPr>
        <p:style>
          <a:lnRef idx="0"/>
          <a:fillRef idx="0"/>
          <a:effectRef idx="0"/>
          <a:fontRef idx="minor"/>
        </p:style>
        <p:txBody>
          <a:bodyPr lIns="36720" tIns="18360" rIns="36720" bIns="18360" anchor="ctr">
            <a:spAutoFit/>
          </a:bodyPr>
          <a:p>
            <a:pPr defTabSz="457200">
              <a:lnSpc>
                <a:spcPct val="110000"/>
              </a:lnSpc>
            </a:pPr>
            <a:r>
              <a:rPr lang="ja-JP" sz="880" b="1" u="none" strike="noStrike">
                <a:solidFill>
                  <a:srgbClr val="2563EB"/>
                </a:solidFill>
                <a:effectLst/>
                <a:uFillTx/>
                <a:latin typeface="BIZ UDPゴシック"/>
                <a:ea typeface="BIZ UDPゴシック"/>
              </a:rPr>
              <a:t>品質指標 </a:t>
            </a:r>
            <a:r>
              <a:rPr lang="en-US" sz="880" b="1" u="none" strike="noStrike">
                <a:solidFill>
                  <a:srgbClr val="2563EB"/>
                </a:solidFill>
                <a:effectLst/>
                <a:uFillTx/>
                <a:latin typeface="BIZ UDPゴシック"/>
                <a:ea typeface="BIZ UDPゴシック"/>
              </a:rPr>
              <a:t>(</a:t>
            </a:r>
            <a:r>
              <a:rPr lang="ja-JP" sz="880" b="1" u="none" strike="noStrike">
                <a:solidFill>
                  <a:srgbClr val="2563EB"/>
                </a:solidFill>
                <a:effectLst/>
                <a:uFillTx/>
                <a:latin typeface="BIZ UDPゴシック"/>
                <a:ea typeface="BIZ UDPゴシック"/>
              </a:rPr>
              <a:t>全ゲート共通</a:t>
            </a:r>
            <a:r>
              <a:rPr lang="en-US" sz="880" b="1" u="none" strike="noStrike">
                <a:solidFill>
                  <a:srgbClr val="2563EB"/>
                </a:solidFill>
                <a:effectLst/>
                <a:uFillTx/>
                <a:latin typeface="BIZ UDPゴシック"/>
                <a:ea typeface="BIZ UDPゴシック"/>
              </a:rPr>
              <a:t>)</a:t>
            </a:r>
            <a:endParaRPr lang="en-US" sz="880" b="0" u="none" strike="noStrike">
              <a:solidFill>
                <a:srgbClr val="000000"/>
              </a:solidFill>
              <a:effectLst/>
              <a:uFillTx/>
              <a:latin typeface="Arial"/>
            </a:endParaRPr>
          </a:p>
        </p:txBody>
      </p:sp>
      <p:sp>
        <p:nvSpPr>
          <p:cNvPr id="2248" name="drawio:m1"/>
          <p:cNvSpPr/>
          <p:nvPr/>
        </p:nvSpPr>
        <p:spPr>
          <a:xfrm>
            <a:off x="3007080" y="4381920"/>
            <a:ext cx="1909800" cy="381240"/>
          </a:xfrm>
          <a:prstGeom prst="roundRect">
            <a:avLst>
              <a:gd name="adj" fmla="val 16667"/>
            </a:avLst>
          </a:prstGeom>
          <a:solidFill>
            <a:srgbClr val="FFFFFF"/>
          </a:solidFill>
          <a:ln w="796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1F2937"/>
                </a:solidFill>
                <a:effectLst/>
                <a:uFillTx/>
                <a:latin typeface="BIZ UDPゴシック"/>
                <a:ea typeface="BIZ UDPゴシック"/>
              </a:rPr>
              <a:t>レビュー指摘密度</a:t>
            </a:r>
            <a:endParaRPr lang="en-US" sz="880" b="0" u="none" strike="noStrike">
              <a:solidFill>
                <a:srgbClr val="000000"/>
              </a:solidFill>
              <a:effectLst/>
              <a:uFillTx/>
              <a:latin typeface="Arial"/>
            </a:endParaRPr>
          </a:p>
        </p:txBody>
      </p:sp>
      <p:sp>
        <p:nvSpPr>
          <p:cNvPr id="2249" name="drawio:m2"/>
          <p:cNvSpPr/>
          <p:nvPr/>
        </p:nvSpPr>
        <p:spPr>
          <a:xfrm>
            <a:off x="5236200" y="4381920"/>
            <a:ext cx="1909800" cy="381240"/>
          </a:xfrm>
          <a:prstGeom prst="roundRect">
            <a:avLst>
              <a:gd name="adj" fmla="val 16667"/>
            </a:avLst>
          </a:prstGeom>
          <a:solidFill>
            <a:srgbClr val="FFFFFF"/>
          </a:solidFill>
          <a:ln w="796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1F2937"/>
                </a:solidFill>
                <a:effectLst/>
                <a:uFillTx/>
                <a:latin typeface="BIZ UDPゴシック"/>
                <a:ea typeface="BIZ UDPゴシック"/>
              </a:rPr>
              <a:t>テスト消化率</a:t>
            </a:r>
            <a:endParaRPr lang="en-US" sz="880" b="0" u="none" strike="noStrike">
              <a:solidFill>
                <a:srgbClr val="000000"/>
              </a:solidFill>
              <a:effectLst/>
              <a:uFillTx/>
              <a:latin typeface="Arial"/>
            </a:endParaRPr>
          </a:p>
        </p:txBody>
      </p:sp>
      <p:sp>
        <p:nvSpPr>
          <p:cNvPr id="2250" name="drawio:m3"/>
          <p:cNvSpPr/>
          <p:nvPr/>
        </p:nvSpPr>
        <p:spPr>
          <a:xfrm>
            <a:off x="7464960" y="4381920"/>
            <a:ext cx="1909800" cy="381240"/>
          </a:xfrm>
          <a:prstGeom prst="roundRect">
            <a:avLst>
              <a:gd name="adj" fmla="val 16667"/>
            </a:avLst>
          </a:prstGeom>
          <a:solidFill>
            <a:srgbClr val="FFFFFF"/>
          </a:solidFill>
          <a:ln w="796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880" b="0" u="none" strike="noStrike">
                <a:solidFill>
                  <a:srgbClr val="1F2937"/>
                </a:solidFill>
                <a:effectLst/>
                <a:uFillTx/>
                <a:latin typeface="BIZ UDPゴシック"/>
                <a:ea typeface="BIZ UDPゴシック"/>
              </a:rPr>
              <a:t>不具合収束</a:t>
            </a:r>
            <a:endParaRPr lang="en-US" sz="880" b="0" u="none" strike="noStrike">
              <a:solidFill>
                <a:srgbClr val="000000"/>
              </a:solidFill>
              <a:effectLst/>
              <a:uFillTx/>
              <a:latin typeface="Arial"/>
            </a:endParaRPr>
          </a:p>
        </p:txBody>
      </p:sp>
      <p:sp>
        <p:nvSpPr>
          <p:cNvPr id="2251" name="drawio:hp1"/>
          <p:cNvSpPr/>
          <p:nvPr/>
        </p:nvSpPr>
        <p:spPr>
          <a:xfrm>
            <a:off x="3814920" y="2153160"/>
            <a:ext cx="166680" cy="360"/>
          </a:xfrm>
          <a:custGeom>
            <a:avLst/>
            <a:gdLst>
              <a:gd name="textAreaLeft" fmla="*/ 0 w 166680"/>
              <a:gd name="textAreaRight" fmla="*/ 167400 w 166680"/>
              <a:gd name="textAreaTop" fmla="*/ 0 h 360"/>
              <a:gd name="textAreaBottom" fmla="*/ 1440 h 360"/>
            </a:gdLst>
            <a:ahLst/>
            <a:cxnLst/>
            <a:rect l="textAreaLeft" t="textAreaTop" r="textAreaRight" b="textAreaBottom"/>
            <a:pathLst>
              <a:path w="167487" h="0">
                <a:moveTo>
                  <a:pt x="0" y="0"/>
                </a:moveTo>
                <a:lnTo>
                  <a:pt x="83744" y="0"/>
                </a:lnTo>
                <a:lnTo>
                  <a:pt x="83744" y="0"/>
                </a:lnTo>
                <a:lnTo>
                  <a:pt x="167487" y="0"/>
                </a:lnTo>
              </a:path>
            </a:pathLst>
          </a:custGeom>
          <a:noFill/>
          <a:ln w="1592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252" name="drawio:hp2"/>
          <p:cNvSpPr/>
          <p:nvPr/>
        </p:nvSpPr>
        <p:spPr>
          <a:xfrm>
            <a:off x="5279760" y="2153160"/>
            <a:ext cx="166680" cy="360"/>
          </a:xfrm>
          <a:custGeom>
            <a:avLst/>
            <a:gdLst>
              <a:gd name="textAreaLeft" fmla="*/ 0 w 166680"/>
              <a:gd name="textAreaRight" fmla="*/ 167400 w 166680"/>
              <a:gd name="textAreaTop" fmla="*/ 0 h 360"/>
              <a:gd name="textAreaBottom" fmla="*/ 1440 h 360"/>
            </a:gdLst>
            <a:ahLst/>
            <a:cxnLst/>
            <a:rect l="textAreaLeft" t="textAreaTop" r="textAreaRight" b="textAreaBottom"/>
            <a:pathLst>
              <a:path w="167487" h="0">
                <a:moveTo>
                  <a:pt x="0" y="0"/>
                </a:moveTo>
                <a:lnTo>
                  <a:pt x="83744" y="0"/>
                </a:lnTo>
                <a:lnTo>
                  <a:pt x="83744" y="0"/>
                </a:lnTo>
                <a:lnTo>
                  <a:pt x="167487" y="0"/>
                </a:lnTo>
              </a:path>
            </a:pathLst>
          </a:custGeom>
          <a:noFill/>
          <a:ln w="1592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253" name="drawio:hp3"/>
          <p:cNvSpPr/>
          <p:nvPr/>
        </p:nvSpPr>
        <p:spPr>
          <a:xfrm>
            <a:off x="6744600" y="2153160"/>
            <a:ext cx="166680" cy="360"/>
          </a:xfrm>
          <a:custGeom>
            <a:avLst/>
            <a:gdLst>
              <a:gd name="textAreaLeft" fmla="*/ 0 w 166680"/>
              <a:gd name="textAreaRight" fmla="*/ 167400 w 166680"/>
              <a:gd name="textAreaTop" fmla="*/ 0 h 360"/>
              <a:gd name="textAreaBottom" fmla="*/ 1440 h 360"/>
            </a:gdLst>
            <a:ahLst/>
            <a:cxnLst/>
            <a:rect l="textAreaLeft" t="textAreaTop" r="textAreaRight" b="textAreaBottom"/>
            <a:pathLst>
              <a:path w="167487" h="0">
                <a:moveTo>
                  <a:pt x="0" y="0"/>
                </a:moveTo>
                <a:lnTo>
                  <a:pt x="83743" y="0"/>
                </a:lnTo>
                <a:lnTo>
                  <a:pt x="83743" y="0"/>
                </a:lnTo>
                <a:lnTo>
                  <a:pt x="167487" y="0"/>
                </a:lnTo>
              </a:path>
            </a:pathLst>
          </a:custGeom>
          <a:noFill/>
          <a:ln w="1592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254" name="drawio:hp4"/>
          <p:cNvSpPr/>
          <p:nvPr/>
        </p:nvSpPr>
        <p:spPr>
          <a:xfrm>
            <a:off x="8209080" y="2153160"/>
            <a:ext cx="166680" cy="360"/>
          </a:xfrm>
          <a:custGeom>
            <a:avLst/>
            <a:gdLst>
              <a:gd name="textAreaLeft" fmla="*/ 0 w 166680"/>
              <a:gd name="textAreaRight" fmla="*/ 167400 w 166680"/>
              <a:gd name="textAreaTop" fmla="*/ 0 h 360"/>
              <a:gd name="textAreaBottom" fmla="*/ 1440 h 360"/>
            </a:gdLst>
            <a:ahLst/>
            <a:cxnLst/>
            <a:rect l="textAreaLeft" t="textAreaTop" r="textAreaRight" b="textAreaBottom"/>
            <a:pathLst>
              <a:path w="167487" h="0">
                <a:moveTo>
                  <a:pt x="0" y="0"/>
                </a:moveTo>
                <a:lnTo>
                  <a:pt x="83743" y="0"/>
                </a:lnTo>
                <a:lnTo>
                  <a:pt x="83743" y="0"/>
                </a:lnTo>
                <a:lnTo>
                  <a:pt x="167487" y="0"/>
                </a:lnTo>
              </a:path>
            </a:pathLst>
          </a:custGeom>
          <a:noFill/>
          <a:ln w="15920">
            <a:solidFill>
              <a:srgbClr val="6B7280"/>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4280" rIns="90000" bIns="-44280" anchor="ctr">
            <a:noAutofit/>
          </a:bodyPr>
          <a:p>
            <a:endParaRPr lang="en-US" sz="1800" b="0" u="none" strike="noStrike">
              <a:solidFill>
                <a:schemeClr val="lt1"/>
              </a:solidFill>
              <a:effectLst/>
              <a:uFillTx/>
              <a:latin typeface="Calibri"/>
            </a:endParaRPr>
          </a:p>
        </p:txBody>
      </p:sp>
      <p:sp>
        <p:nvSpPr>
          <p:cNvPr id="2255" name="drawio:vg1"/>
          <p:cNvSpPr/>
          <p:nvPr/>
        </p:nvSpPr>
        <p:spPr>
          <a:xfrm>
            <a:off x="3166560" y="2338200"/>
            <a:ext cx="360" cy="203760"/>
          </a:xfrm>
          <a:custGeom>
            <a:avLst/>
            <a:gdLst>
              <a:gd name="textAreaLeft" fmla="*/ 0 w 360"/>
              <a:gd name="textAreaRight" fmla="*/ 1440 w 360"/>
              <a:gd name="textAreaTop" fmla="*/ 0 h 203760"/>
              <a:gd name="textAreaBottom" fmla="*/ 204480 h 203760"/>
            </a:gdLst>
            <a:ahLst/>
            <a:cxnLst/>
            <a:rect l="textAreaLeft" t="textAreaTop" r="textAreaRight" b="textAreaBottom"/>
            <a:pathLst>
              <a:path w="0" h="204422">
                <a:moveTo>
                  <a:pt x="0" y="0"/>
                </a:moveTo>
                <a:lnTo>
                  <a:pt x="0" y="133097"/>
                </a:lnTo>
                <a:lnTo>
                  <a:pt x="0" y="133097"/>
                </a:lnTo>
                <a:lnTo>
                  <a:pt x="0" y="204422"/>
                </a:lnTo>
              </a:path>
            </a:pathLst>
          </a:custGeom>
          <a:noFill/>
          <a:ln w="7960">
            <a:solidFill>
              <a:srgbClr val="B4235A"/>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6" name="drawio:vg2"/>
          <p:cNvSpPr/>
          <p:nvPr/>
        </p:nvSpPr>
        <p:spPr>
          <a:xfrm>
            <a:off x="4631040" y="2338200"/>
            <a:ext cx="360" cy="203760"/>
          </a:xfrm>
          <a:custGeom>
            <a:avLst/>
            <a:gdLst>
              <a:gd name="textAreaLeft" fmla="*/ 0 w 360"/>
              <a:gd name="textAreaRight" fmla="*/ 1440 w 360"/>
              <a:gd name="textAreaTop" fmla="*/ 0 h 203760"/>
              <a:gd name="textAreaBottom" fmla="*/ 204480 h 203760"/>
            </a:gdLst>
            <a:ahLst/>
            <a:cxnLst/>
            <a:rect l="textAreaLeft" t="textAreaTop" r="textAreaRight" b="textAreaBottom"/>
            <a:pathLst>
              <a:path w="0" h="204422">
                <a:moveTo>
                  <a:pt x="0" y="0"/>
                </a:moveTo>
                <a:lnTo>
                  <a:pt x="0" y="133097"/>
                </a:lnTo>
                <a:lnTo>
                  <a:pt x="0" y="133097"/>
                </a:lnTo>
                <a:lnTo>
                  <a:pt x="0" y="204422"/>
                </a:lnTo>
              </a:path>
            </a:pathLst>
          </a:custGeom>
          <a:noFill/>
          <a:ln w="7960">
            <a:solidFill>
              <a:srgbClr val="B4235A"/>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7" name="drawio:vg3"/>
          <p:cNvSpPr/>
          <p:nvPr/>
        </p:nvSpPr>
        <p:spPr>
          <a:xfrm>
            <a:off x="6095880" y="2338200"/>
            <a:ext cx="360" cy="203760"/>
          </a:xfrm>
          <a:custGeom>
            <a:avLst/>
            <a:gdLst>
              <a:gd name="textAreaLeft" fmla="*/ 0 w 360"/>
              <a:gd name="textAreaRight" fmla="*/ 1440 w 360"/>
              <a:gd name="textAreaTop" fmla="*/ 0 h 203760"/>
              <a:gd name="textAreaBottom" fmla="*/ 204480 h 203760"/>
            </a:gdLst>
            <a:ahLst/>
            <a:cxnLst/>
            <a:rect l="textAreaLeft" t="textAreaTop" r="textAreaRight" b="textAreaBottom"/>
            <a:pathLst>
              <a:path w="0" h="204422">
                <a:moveTo>
                  <a:pt x="0" y="0"/>
                </a:moveTo>
                <a:lnTo>
                  <a:pt x="0" y="133097"/>
                </a:lnTo>
                <a:lnTo>
                  <a:pt x="0" y="133097"/>
                </a:lnTo>
                <a:lnTo>
                  <a:pt x="0" y="204422"/>
                </a:lnTo>
              </a:path>
            </a:pathLst>
          </a:custGeom>
          <a:noFill/>
          <a:ln w="7960">
            <a:solidFill>
              <a:srgbClr val="B4235A"/>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8" name="drawio:vg4"/>
          <p:cNvSpPr/>
          <p:nvPr/>
        </p:nvSpPr>
        <p:spPr>
          <a:xfrm>
            <a:off x="7560720" y="2338200"/>
            <a:ext cx="360" cy="203760"/>
          </a:xfrm>
          <a:custGeom>
            <a:avLst/>
            <a:gdLst>
              <a:gd name="textAreaLeft" fmla="*/ 0 w 360"/>
              <a:gd name="textAreaRight" fmla="*/ 1440 w 360"/>
              <a:gd name="textAreaTop" fmla="*/ 0 h 203760"/>
              <a:gd name="textAreaBottom" fmla="*/ 204480 h 203760"/>
            </a:gdLst>
            <a:ahLst/>
            <a:cxnLst/>
            <a:rect l="textAreaLeft" t="textAreaTop" r="textAreaRight" b="textAreaBottom"/>
            <a:pathLst>
              <a:path w="0" h="204422">
                <a:moveTo>
                  <a:pt x="0" y="0"/>
                </a:moveTo>
                <a:lnTo>
                  <a:pt x="0" y="133097"/>
                </a:lnTo>
                <a:lnTo>
                  <a:pt x="0" y="133097"/>
                </a:lnTo>
                <a:lnTo>
                  <a:pt x="0" y="204422"/>
                </a:lnTo>
              </a:path>
            </a:pathLst>
          </a:custGeom>
          <a:noFill/>
          <a:ln w="7960">
            <a:solidFill>
              <a:srgbClr val="B4235A"/>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9" name="drawio:vg5"/>
          <p:cNvSpPr/>
          <p:nvPr/>
        </p:nvSpPr>
        <p:spPr>
          <a:xfrm>
            <a:off x="9025200" y="2338200"/>
            <a:ext cx="360" cy="203760"/>
          </a:xfrm>
          <a:custGeom>
            <a:avLst/>
            <a:gdLst>
              <a:gd name="textAreaLeft" fmla="*/ 0 w 360"/>
              <a:gd name="textAreaRight" fmla="*/ 1440 w 360"/>
              <a:gd name="textAreaTop" fmla="*/ 0 h 203760"/>
              <a:gd name="textAreaBottom" fmla="*/ 204480 h 203760"/>
            </a:gdLst>
            <a:ahLst/>
            <a:cxnLst/>
            <a:rect l="textAreaLeft" t="textAreaTop" r="textAreaRight" b="textAreaBottom"/>
            <a:pathLst>
              <a:path w="0" h="204422">
                <a:moveTo>
                  <a:pt x="0" y="0"/>
                </a:moveTo>
                <a:lnTo>
                  <a:pt x="0" y="133097"/>
                </a:lnTo>
                <a:lnTo>
                  <a:pt x="0" y="133097"/>
                </a:lnTo>
                <a:lnTo>
                  <a:pt x="0" y="204422"/>
                </a:lnTo>
              </a:path>
            </a:pathLst>
          </a:custGeom>
          <a:noFill/>
          <a:ln w="7960">
            <a:solidFill>
              <a:srgbClr val="B4235A"/>
            </a:solidFill>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0" name="drawio:q1"/>
          <p:cNvSpPr/>
          <p:nvPr/>
        </p:nvSpPr>
        <p:spPr>
          <a:xfrm>
            <a:off x="3814920" y="2953800"/>
            <a:ext cx="1537200" cy="416160"/>
          </a:xfrm>
          <a:custGeom>
            <a:avLst/>
            <a:gdLst>
              <a:gd name="textAreaLeft" fmla="*/ 0 w 1537200"/>
              <a:gd name="textAreaRight" fmla="*/ 1537920 w 1537200"/>
              <a:gd name="textAreaTop" fmla="*/ 0 h 416160"/>
              <a:gd name="textAreaBottom" fmla="*/ 416880 h 416160"/>
            </a:gdLst>
            <a:ahLst/>
            <a:cxnLst/>
            <a:rect l="textAreaLeft" t="textAreaTop" r="textAreaRight" b="textAreaBottom"/>
            <a:pathLst>
              <a:path w="1537992" h="416930">
                <a:moveTo>
                  <a:pt x="1537992" y="416930"/>
                </a:moveTo>
                <a:lnTo>
                  <a:pt x="863861" y="218238"/>
                </a:lnTo>
                <a:lnTo>
                  <a:pt x="0" y="0"/>
                </a:lnTo>
              </a:path>
            </a:pathLst>
          </a:custGeom>
          <a:noFill/>
          <a:ln w="7960">
            <a:solidFill>
              <a:srgbClr val="0E749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1" name="drawio:q2"/>
          <p:cNvSpPr/>
          <p:nvPr/>
        </p:nvSpPr>
        <p:spPr>
          <a:xfrm>
            <a:off x="5135760" y="3036960"/>
            <a:ext cx="622800" cy="333000"/>
          </a:xfrm>
          <a:custGeom>
            <a:avLst/>
            <a:gdLst>
              <a:gd name="textAreaLeft" fmla="*/ 0 w 622800"/>
              <a:gd name="textAreaRight" fmla="*/ 623520 w 622800"/>
              <a:gd name="textAreaTop" fmla="*/ 0 h 333000"/>
              <a:gd name="textAreaBottom" fmla="*/ 333720 h 333000"/>
            </a:gdLst>
            <a:ahLst/>
            <a:cxnLst/>
            <a:rect l="textAreaLeft" t="textAreaTop" r="textAreaRight" b="textAreaBottom"/>
            <a:pathLst>
              <a:path w="623351" h="333700">
                <a:moveTo>
                  <a:pt x="623351" y="333700"/>
                </a:moveTo>
                <a:lnTo>
                  <a:pt x="275642" y="135008"/>
                </a:lnTo>
                <a:lnTo>
                  <a:pt x="0" y="0"/>
                </a:lnTo>
              </a:path>
            </a:pathLst>
          </a:custGeom>
          <a:noFill/>
          <a:ln w="7960">
            <a:solidFill>
              <a:srgbClr val="0E749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2" name="drawio:q3"/>
          <p:cNvSpPr/>
          <p:nvPr/>
        </p:nvSpPr>
        <p:spPr>
          <a:xfrm>
            <a:off x="6126840" y="3036960"/>
            <a:ext cx="37440" cy="333000"/>
          </a:xfrm>
          <a:custGeom>
            <a:avLst/>
            <a:gdLst>
              <a:gd name="textAreaLeft" fmla="*/ 0 w 37440"/>
              <a:gd name="textAreaRight" fmla="*/ 38160 w 37440"/>
              <a:gd name="textAreaTop" fmla="*/ 0 h 333000"/>
              <a:gd name="textAreaBottom" fmla="*/ 333720 h 333000"/>
            </a:gdLst>
            <a:ahLst/>
            <a:cxnLst/>
            <a:rect l="textAreaLeft" t="textAreaTop" r="textAreaRight" b="textAreaBottom"/>
            <a:pathLst>
              <a:path w="38165" h="333700">
                <a:moveTo>
                  <a:pt x="38165" y="333700"/>
                </a:moveTo>
                <a:lnTo>
                  <a:pt x="16876" y="135008"/>
                </a:lnTo>
                <a:lnTo>
                  <a:pt x="0" y="0"/>
                </a:lnTo>
              </a:path>
            </a:pathLst>
          </a:custGeom>
          <a:noFill/>
          <a:ln w="7960">
            <a:solidFill>
              <a:srgbClr val="0E749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3" name="drawio:q4"/>
          <p:cNvSpPr/>
          <p:nvPr/>
        </p:nvSpPr>
        <p:spPr>
          <a:xfrm>
            <a:off x="6570720" y="3036960"/>
            <a:ext cx="546480" cy="333000"/>
          </a:xfrm>
          <a:custGeom>
            <a:avLst/>
            <a:gdLst>
              <a:gd name="textAreaLeft" fmla="*/ 0 w 546480"/>
              <a:gd name="textAreaRight" fmla="*/ 547200 w 546480"/>
              <a:gd name="textAreaTop" fmla="*/ 0 h 333000"/>
              <a:gd name="textAreaBottom" fmla="*/ 333720 h 333000"/>
            </a:gdLst>
            <a:ahLst/>
            <a:cxnLst/>
            <a:rect l="textAreaLeft" t="textAreaTop" r="textAreaRight" b="textAreaBottom"/>
            <a:pathLst>
              <a:path w="547022" h="333700">
                <a:moveTo>
                  <a:pt x="0" y="333700"/>
                </a:moveTo>
                <a:lnTo>
                  <a:pt x="305133" y="135008"/>
                </a:lnTo>
                <a:lnTo>
                  <a:pt x="547022" y="0"/>
                </a:lnTo>
              </a:path>
            </a:pathLst>
          </a:custGeom>
          <a:noFill/>
          <a:ln w="7960">
            <a:solidFill>
              <a:srgbClr val="0E749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4" name="drawio:q5"/>
          <p:cNvSpPr/>
          <p:nvPr/>
        </p:nvSpPr>
        <p:spPr>
          <a:xfrm>
            <a:off x="6976800" y="2964600"/>
            <a:ext cx="1399320" cy="405000"/>
          </a:xfrm>
          <a:custGeom>
            <a:avLst/>
            <a:gdLst>
              <a:gd name="textAreaLeft" fmla="*/ 0 w 1399320"/>
              <a:gd name="textAreaRight" fmla="*/ 1400040 w 1399320"/>
              <a:gd name="textAreaTop" fmla="*/ 0 h 405000"/>
              <a:gd name="textAreaBottom" fmla="*/ 405720 h 405000"/>
            </a:gdLst>
            <a:ahLst/>
            <a:cxnLst/>
            <a:rect l="textAreaLeft" t="textAreaTop" r="textAreaRight" b="textAreaBottom"/>
            <a:pathLst>
              <a:path w="1399891" h="405884">
                <a:moveTo>
                  <a:pt x="0" y="405884"/>
                </a:moveTo>
                <a:lnTo>
                  <a:pt x="631554" y="207192"/>
                </a:lnTo>
                <a:lnTo>
                  <a:pt x="1399891" y="0"/>
                </a:lnTo>
              </a:path>
            </a:pathLst>
          </a:custGeom>
          <a:noFill/>
          <a:ln w="7960">
            <a:solidFill>
              <a:srgbClr val="0E7490"/>
            </a:solidFill>
            <a:prstDash val="dash"/>
            <a:round/>
            <a:tailEnd len="sm" type="arrow" w="sm"/>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5" name="blk-diagram-cap"/>
          <p:cNvSpPr/>
          <p:nvPr/>
        </p:nvSpPr>
        <p:spPr>
          <a:xfrm>
            <a:off x="502920" y="480060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凡例</a:t>
            </a:r>
            <a:r>
              <a:rPr lang="en-US" sz="900" b="0" u="none" strike="noStrike">
                <a:solidFill>
                  <a:srgbClr val="6B7280"/>
                </a:solidFill>
                <a:effectLst/>
                <a:uFillTx/>
                <a:latin typeface="BIZ UDPゴシック"/>
                <a:ea typeface="BIZ UDPゴシック"/>
              </a:rPr>
              <a:t>: </a:t>
            </a:r>
            <a:r>
              <a:rPr lang="ja-JP" sz="900" b="0" u="none" strike="noStrike">
                <a:solidFill>
                  <a:srgbClr val="6B7280"/>
                </a:solidFill>
                <a:effectLst/>
                <a:uFillTx/>
                <a:latin typeface="BIZ UDPゴシック"/>
                <a:ea typeface="BIZ UDPゴシック"/>
              </a:rPr>
              <a:t>各フェーズで品質ゲート判定を行い、</a:t>
            </a:r>
            <a:r>
              <a:rPr lang="en-US" sz="900" b="0" u="none" strike="noStrike">
                <a:solidFill>
                  <a:srgbClr val="6B7280"/>
                </a:solidFill>
                <a:effectLst/>
                <a:uFillTx/>
                <a:latin typeface="BIZ UDPゴシック"/>
                <a:ea typeface="BIZ UDPゴシック"/>
              </a:rPr>
              <a:t>QA</a:t>
            </a:r>
            <a:r>
              <a:rPr lang="ja-JP" sz="900" b="0" u="none" strike="noStrike">
                <a:solidFill>
                  <a:srgbClr val="6B7280"/>
                </a:solidFill>
                <a:effectLst/>
                <a:uFillTx/>
                <a:latin typeface="BIZ UDPゴシック"/>
                <a:ea typeface="BIZ UDPゴシック"/>
              </a:rPr>
              <a:t>責任者が独立にレビューする</a:t>
            </a:r>
            <a:endParaRPr lang="en-US" sz="900" b="0" u="none" strike="noStrike">
              <a:solidFill>
                <a:srgbClr val="000000"/>
              </a:solidFill>
              <a:effectLst/>
              <a:uFillTx/>
              <a:latin typeface="Arial"/>
            </a:endParaRPr>
          </a:p>
        </p:txBody>
      </p:sp>
      <p:sp>
        <p:nvSpPr>
          <p:cNvPr id="2266" name="blk-bullets"/>
          <p:cNvSpPr/>
          <p:nvPr/>
        </p:nvSpPr>
        <p:spPr>
          <a:xfrm>
            <a:off x="502920" y="5129640"/>
            <a:ext cx="11185200" cy="11239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全ゲート共通の品質指標はレビュー指摘密度・テスト消化率・不具合収束とする。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品質保証責任者はプロジェクト外に置き、成果物を独立にレビューする。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ゲート未達の場合は次工程へ進まず、是正後に再判定する。</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6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27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27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3"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4"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5"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27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27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5.7 </a:t>
            </a:r>
            <a:r>
              <a:rPr lang="ja-JP" sz="2400" b="1" u="none" strike="noStrike">
                <a:solidFill>
                  <a:srgbClr val="16213E"/>
                </a:solidFill>
                <a:effectLst/>
                <a:uFillTx/>
                <a:latin typeface="BIZ UDPゴシック"/>
                <a:ea typeface="BIZ UDPゴシック"/>
              </a:rPr>
              <a:t>進捗管理</a:t>
            </a:r>
            <a:endParaRPr lang="en-US" sz="2400" b="0" u="none" strike="noStrike">
              <a:solidFill>
                <a:srgbClr val="000000"/>
              </a:solidFill>
              <a:effectLst/>
              <a:uFillTx/>
              <a:latin typeface="Arial"/>
            </a:endParaRPr>
          </a:p>
        </p:txBody>
      </p:sp>
      <p:sp>
        <p:nvSpPr>
          <p:cNvPr id="228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281" name="hdr-hair"/>
          <p:cNvCxnSpPr/>
          <p:nvPr/>
        </p:nvCxnSpPr>
        <p:spPr>
          <a:xfrm>
            <a:off x="502920" y="969120"/>
            <a:ext cx="11186280" cy="720"/>
          </a:xfrm>
          <a:prstGeom prst="straightConnector1">
            <a:avLst/>
          </a:prstGeom>
          <a:ln w="9525">
            <a:solidFill>
              <a:srgbClr val="D5DBE5"/>
            </a:solidFill>
            <a:round/>
          </a:ln>
        </p:spPr>
      </p:cxnSp>
      <p:cxnSp>
        <p:nvCxnSpPr>
          <p:cNvPr id="2282" name="ftr-hair"/>
          <p:cNvCxnSpPr/>
          <p:nvPr/>
        </p:nvCxnSpPr>
        <p:spPr>
          <a:xfrm>
            <a:off x="502920" y="6382440"/>
            <a:ext cx="11186280" cy="720"/>
          </a:xfrm>
          <a:prstGeom prst="straightConnector1">
            <a:avLst/>
          </a:prstGeom>
          <a:ln w="9525">
            <a:solidFill>
              <a:srgbClr val="D5DBE5"/>
            </a:solidFill>
            <a:round/>
          </a:ln>
        </p:spPr>
      </p:cxnSp>
      <p:sp>
        <p:nvSpPr>
          <p:cNvPr id="228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66 / 85</a:t>
            </a:r>
            <a:endParaRPr lang="en-US" sz="1100" b="0" u="none" strike="noStrike">
              <a:solidFill>
                <a:srgbClr val="000000"/>
              </a:solidFill>
              <a:effectLst/>
              <a:uFillTx/>
              <a:latin typeface="Arial"/>
            </a:endParaRPr>
          </a:p>
        </p:txBody>
      </p:sp>
      <p:sp>
        <p:nvSpPr>
          <p:cNvPr id="228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28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28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28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8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8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進捗は</a:t>
            </a:r>
            <a:r>
              <a:rPr lang="en-US" sz="1500" b="1" u="none" strike="noStrike">
                <a:solidFill>
                  <a:srgbClr val="16213E"/>
                </a:solidFill>
                <a:effectLst/>
                <a:uFillTx/>
                <a:latin typeface="BIZ UDPゴシック"/>
                <a:ea typeface="BIZ UDPゴシック"/>
              </a:rPr>
              <a:t>SPI</a:t>
            </a:r>
            <a:r>
              <a:rPr lang="ja-JP" sz="1500" b="1" u="none" strike="noStrike">
                <a:solidFill>
                  <a:srgbClr val="16213E"/>
                </a:solidFill>
                <a:effectLst/>
                <a:uFillTx/>
                <a:latin typeface="BIZ UDPゴシック"/>
                <a:ea typeface="BIZ UDPゴシック"/>
              </a:rPr>
              <a:t>・</a:t>
            </a:r>
            <a:r>
              <a:rPr lang="en-US" sz="1500" b="1" u="none" strike="noStrike">
                <a:solidFill>
                  <a:srgbClr val="16213E"/>
                </a:solidFill>
                <a:effectLst/>
                <a:uFillTx/>
                <a:latin typeface="BIZ UDPゴシック"/>
                <a:ea typeface="BIZ UDPゴシック"/>
              </a:rPr>
              <a:t>CPI</a:t>
            </a:r>
            <a:r>
              <a:rPr lang="ja-JP" sz="1500" b="1" u="none" strike="noStrike">
                <a:solidFill>
                  <a:srgbClr val="16213E"/>
                </a:solidFill>
                <a:effectLst/>
                <a:uFillTx/>
                <a:latin typeface="BIZ UDPゴシック"/>
                <a:ea typeface="BIZ UDPゴシック"/>
              </a:rPr>
              <a:t>と課題消化率で定量評価し閾値超過で是正する</a:t>
            </a:r>
            <a:endParaRPr lang="en-US" sz="1500" b="0" u="none" strike="noStrike">
              <a:solidFill>
                <a:srgbClr val="000000"/>
              </a:solidFill>
              <a:effectLst/>
              <a:uFillTx/>
              <a:latin typeface="Arial"/>
            </a:endParaRPr>
          </a:p>
        </p:txBody>
      </p:sp>
      <p:sp>
        <p:nvSpPr>
          <p:cNvPr id="2290" name="blk-title"/>
          <p:cNvSpPr/>
          <p:nvPr/>
        </p:nvSpPr>
        <p:spPr>
          <a:xfrm>
            <a:off x="502920" y="162756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進捗の判定閾値</a:t>
            </a:r>
            <a:endParaRPr lang="en-US" sz="1200" b="0" u="none" strike="noStrike">
              <a:solidFill>
                <a:srgbClr val="000000"/>
              </a:solidFill>
              <a:effectLst/>
              <a:uFillTx/>
              <a:latin typeface="Arial"/>
            </a:endParaRPr>
          </a:p>
        </p:txBody>
      </p:sp>
      <p:sp>
        <p:nvSpPr>
          <p:cNvPr id="2291" name="blk-metrics"/>
          <p:cNvSpPr/>
          <p:nvPr/>
        </p:nvSpPr>
        <p:spPr>
          <a:xfrm>
            <a:off x="502920" y="1901880"/>
            <a:ext cx="361800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92" name="blk-metrics-value"/>
          <p:cNvSpPr/>
          <p:nvPr/>
        </p:nvSpPr>
        <p:spPr>
          <a:xfrm>
            <a:off x="594360" y="1956960"/>
            <a:ext cx="343512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2563EB"/>
                </a:solidFill>
                <a:effectLst/>
                <a:uFillTx/>
                <a:latin typeface="BIZ UDPゴシック"/>
                <a:ea typeface="BIZ UDPゴシック"/>
              </a:rPr>
              <a:t>0.9</a:t>
            </a:r>
            <a:r>
              <a:rPr lang="ja-JP" sz="3000" b="1" u="none" strike="noStrike">
                <a:solidFill>
                  <a:srgbClr val="2563EB"/>
                </a:solidFill>
                <a:effectLst/>
                <a:uFillTx/>
                <a:latin typeface="BIZ UDPゴシック"/>
                <a:ea typeface="BIZ UDPゴシック"/>
              </a:rPr>
              <a:t>以上</a:t>
            </a:r>
            <a:endParaRPr lang="en-US" sz="3000" b="0" u="none" strike="noStrike">
              <a:solidFill>
                <a:srgbClr val="000000"/>
              </a:solidFill>
              <a:effectLst/>
              <a:uFillTx/>
              <a:latin typeface="Arial"/>
            </a:endParaRPr>
          </a:p>
        </p:txBody>
      </p:sp>
      <p:sp>
        <p:nvSpPr>
          <p:cNvPr id="2293" name="blk-metrics-label"/>
          <p:cNvSpPr/>
          <p:nvPr/>
        </p:nvSpPr>
        <p:spPr>
          <a:xfrm>
            <a:off x="594360" y="2804760"/>
            <a:ext cx="343512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trike="noStrike">
                <a:solidFill>
                  <a:srgbClr val="1F2937"/>
                </a:solidFill>
                <a:effectLst/>
                <a:uFillTx/>
                <a:latin typeface="BIZ UDPゴシック"/>
                <a:ea typeface="BIZ UDPゴシック"/>
              </a:rPr>
              <a:t>SPI (</a:t>
            </a:r>
            <a:r>
              <a:rPr lang="ja-JP" sz="1100" b="1" u="none" strike="noStrike">
                <a:solidFill>
                  <a:srgbClr val="1F2937"/>
                </a:solidFill>
                <a:effectLst/>
                <a:uFillTx/>
                <a:latin typeface="BIZ UDPゴシック"/>
                <a:ea typeface="BIZ UDPゴシック"/>
              </a:rPr>
              <a:t>スケジュール効率</a:t>
            </a:r>
            <a:r>
              <a:rPr lang="en-US" sz="1100" b="1"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p:txBody>
      </p:sp>
      <p:sp>
        <p:nvSpPr>
          <p:cNvPr id="2294" name="blk-metrics-note"/>
          <p:cNvSpPr/>
          <p:nvPr/>
        </p:nvSpPr>
        <p:spPr>
          <a:xfrm>
            <a:off x="594360" y="3188520"/>
            <a:ext cx="343512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900" b="0" u="none" strike="noStrike">
                <a:solidFill>
                  <a:srgbClr val="6B7280"/>
                </a:solidFill>
                <a:effectLst/>
                <a:uFillTx/>
                <a:latin typeface="BIZ UDPゴシック"/>
                <a:ea typeface="BIZ UDPゴシック"/>
              </a:rPr>
              <a:t>0.9</a:t>
            </a:r>
            <a:r>
              <a:rPr lang="ja-JP" sz="900" b="0" u="none" strike="noStrike">
                <a:solidFill>
                  <a:srgbClr val="6B7280"/>
                </a:solidFill>
                <a:effectLst/>
                <a:uFillTx/>
                <a:latin typeface="BIZ UDPゴシック"/>
                <a:ea typeface="BIZ UDPゴシック"/>
              </a:rPr>
              <a:t>未満で是正策を立案</a:t>
            </a:r>
            <a:endParaRPr lang="en-US" sz="900" b="0" u="none" strike="noStrike">
              <a:solidFill>
                <a:srgbClr val="000000"/>
              </a:solidFill>
              <a:effectLst/>
              <a:uFillTx/>
              <a:latin typeface="Arial"/>
            </a:endParaRPr>
          </a:p>
        </p:txBody>
      </p:sp>
      <p:sp>
        <p:nvSpPr>
          <p:cNvPr id="2295" name="blk-metrics"/>
          <p:cNvSpPr/>
          <p:nvPr/>
        </p:nvSpPr>
        <p:spPr>
          <a:xfrm>
            <a:off x="4286520" y="1901880"/>
            <a:ext cx="361800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96" name="blk-metrics-value"/>
          <p:cNvSpPr/>
          <p:nvPr/>
        </p:nvSpPr>
        <p:spPr>
          <a:xfrm>
            <a:off x="4377960" y="1956960"/>
            <a:ext cx="343512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D97706"/>
                </a:solidFill>
                <a:effectLst/>
                <a:uFillTx/>
                <a:latin typeface="BIZ UDPゴシック"/>
                <a:ea typeface="BIZ UDPゴシック"/>
              </a:rPr>
              <a:t>0.9</a:t>
            </a:r>
            <a:r>
              <a:rPr lang="ja-JP" sz="3000" b="1" u="none" strike="noStrike">
                <a:solidFill>
                  <a:srgbClr val="D97706"/>
                </a:solidFill>
                <a:effectLst/>
                <a:uFillTx/>
                <a:latin typeface="BIZ UDPゴシック"/>
                <a:ea typeface="BIZ UDPゴシック"/>
              </a:rPr>
              <a:t>以上</a:t>
            </a:r>
            <a:endParaRPr lang="en-US" sz="3000" b="0" u="none" strike="noStrike">
              <a:solidFill>
                <a:srgbClr val="000000"/>
              </a:solidFill>
              <a:effectLst/>
              <a:uFillTx/>
              <a:latin typeface="Arial"/>
            </a:endParaRPr>
          </a:p>
        </p:txBody>
      </p:sp>
      <p:sp>
        <p:nvSpPr>
          <p:cNvPr id="2297" name="blk-metrics-label"/>
          <p:cNvSpPr/>
          <p:nvPr/>
        </p:nvSpPr>
        <p:spPr>
          <a:xfrm>
            <a:off x="4377960" y="2804760"/>
            <a:ext cx="343512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trike="noStrike">
                <a:solidFill>
                  <a:srgbClr val="1F2937"/>
                </a:solidFill>
                <a:effectLst/>
                <a:uFillTx/>
                <a:latin typeface="BIZ UDPゴシック"/>
                <a:ea typeface="BIZ UDPゴシック"/>
              </a:rPr>
              <a:t>CPI (</a:t>
            </a:r>
            <a:r>
              <a:rPr lang="ja-JP" sz="1100" b="1" u="none" strike="noStrike">
                <a:solidFill>
                  <a:srgbClr val="1F2937"/>
                </a:solidFill>
                <a:effectLst/>
                <a:uFillTx/>
                <a:latin typeface="BIZ UDPゴシック"/>
                <a:ea typeface="BIZ UDPゴシック"/>
              </a:rPr>
              <a:t>コスト効率</a:t>
            </a:r>
            <a:r>
              <a:rPr lang="en-US" sz="1100" b="1" u="none" strike="noStrike">
                <a:solidFill>
                  <a:srgbClr val="1F2937"/>
                </a:solidFill>
                <a:effectLst/>
                <a:uFillTx/>
                <a:latin typeface="BIZ UDPゴシック"/>
                <a:ea typeface="BIZ UDPゴシック"/>
              </a:rPr>
              <a:t>)</a:t>
            </a:r>
            <a:endParaRPr lang="en-US" sz="1100" b="0" u="none" strike="noStrike">
              <a:solidFill>
                <a:srgbClr val="000000"/>
              </a:solidFill>
              <a:effectLst/>
              <a:uFillTx/>
              <a:latin typeface="Arial"/>
            </a:endParaRPr>
          </a:p>
        </p:txBody>
      </p:sp>
      <p:sp>
        <p:nvSpPr>
          <p:cNvPr id="2298" name="blk-metrics-note"/>
          <p:cNvSpPr/>
          <p:nvPr/>
        </p:nvSpPr>
        <p:spPr>
          <a:xfrm>
            <a:off x="4377960" y="3188520"/>
            <a:ext cx="343512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900" b="0" u="none" strike="noStrike">
                <a:solidFill>
                  <a:srgbClr val="6B7280"/>
                </a:solidFill>
                <a:effectLst/>
                <a:uFillTx/>
                <a:latin typeface="BIZ UDPゴシック"/>
                <a:ea typeface="BIZ UDPゴシック"/>
              </a:rPr>
              <a:t>0.9</a:t>
            </a:r>
            <a:r>
              <a:rPr lang="ja-JP" sz="900" b="0" u="none" strike="noStrike">
                <a:solidFill>
                  <a:srgbClr val="6B7280"/>
                </a:solidFill>
                <a:effectLst/>
                <a:uFillTx/>
                <a:latin typeface="BIZ UDPゴシック"/>
                <a:ea typeface="BIZ UDPゴシック"/>
              </a:rPr>
              <a:t>未満で予算を見直し</a:t>
            </a:r>
            <a:endParaRPr lang="en-US" sz="900" b="0" u="none" strike="noStrike">
              <a:solidFill>
                <a:srgbClr val="000000"/>
              </a:solidFill>
              <a:effectLst/>
              <a:uFillTx/>
              <a:latin typeface="Arial"/>
            </a:endParaRPr>
          </a:p>
        </p:txBody>
      </p:sp>
      <p:sp>
        <p:nvSpPr>
          <p:cNvPr id="2299" name="blk-metrics"/>
          <p:cNvSpPr/>
          <p:nvPr/>
        </p:nvSpPr>
        <p:spPr>
          <a:xfrm>
            <a:off x="8069760" y="1901880"/>
            <a:ext cx="3618000" cy="1974240"/>
          </a:xfrm>
          <a:prstGeom prst="roundRect">
            <a:avLst>
              <a:gd name="adj" fmla="val 8000"/>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00" name="blk-metrics-value"/>
          <p:cNvSpPr/>
          <p:nvPr/>
        </p:nvSpPr>
        <p:spPr>
          <a:xfrm>
            <a:off x="8161200" y="1956960"/>
            <a:ext cx="3435120" cy="8287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3000" b="1" u="none" strike="noStrike">
                <a:solidFill>
                  <a:srgbClr val="059669"/>
                </a:solidFill>
                <a:effectLst/>
                <a:uFillTx/>
                <a:latin typeface="BIZ UDPゴシック"/>
                <a:ea typeface="BIZ UDPゴシック"/>
              </a:rPr>
              <a:t>95%</a:t>
            </a:r>
            <a:r>
              <a:rPr lang="ja-JP" sz="3000" b="1" u="none" strike="noStrike">
                <a:solidFill>
                  <a:srgbClr val="059669"/>
                </a:solidFill>
                <a:effectLst/>
                <a:uFillTx/>
                <a:latin typeface="BIZ UDPゴシック"/>
                <a:ea typeface="BIZ UDPゴシック"/>
              </a:rPr>
              <a:t>以上</a:t>
            </a:r>
            <a:endParaRPr lang="en-US" sz="3000" b="0" u="none" strike="noStrike">
              <a:solidFill>
                <a:srgbClr val="000000"/>
              </a:solidFill>
              <a:effectLst/>
              <a:uFillTx/>
              <a:latin typeface="Arial"/>
            </a:endParaRPr>
          </a:p>
        </p:txBody>
      </p:sp>
      <p:sp>
        <p:nvSpPr>
          <p:cNvPr id="2301" name="blk-metrics-label"/>
          <p:cNvSpPr/>
          <p:nvPr/>
        </p:nvSpPr>
        <p:spPr>
          <a:xfrm>
            <a:off x="8161200" y="2804760"/>
            <a:ext cx="3435120" cy="3650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1100" b="1" u="none" strike="noStrike">
                <a:solidFill>
                  <a:srgbClr val="1F2937"/>
                </a:solidFill>
                <a:effectLst/>
                <a:uFillTx/>
                <a:latin typeface="BIZ UDPゴシック"/>
                <a:ea typeface="BIZ UDPゴシック"/>
              </a:rPr>
              <a:t>課題消化率</a:t>
            </a:r>
            <a:endParaRPr lang="en-US" sz="1100" b="0" u="none" strike="noStrike">
              <a:solidFill>
                <a:srgbClr val="000000"/>
              </a:solidFill>
              <a:effectLst/>
              <a:uFillTx/>
              <a:latin typeface="Arial"/>
            </a:endParaRPr>
          </a:p>
        </p:txBody>
      </p:sp>
      <p:sp>
        <p:nvSpPr>
          <p:cNvPr id="2302" name="blk-metrics-note"/>
          <p:cNvSpPr/>
          <p:nvPr/>
        </p:nvSpPr>
        <p:spPr>
          <a:xfrm>
            <a:off x="8161200" y="3188520"/>
            <a:ext cx="3435120" cy="6328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ja-JP" sz="900" b="0" u="none" strike="noStrike">
                <a:solidFill>
                  <a:srgbClr val="6B7280"/>
                </a:solidFill>
                <a:effectLst/>
                <a:uFillTx/>
                <a:latin typeface="BIZ UDPゴシック"/>
                <a:ea typeface="BIZ UDPゴシック"/>
              </a:rPr>
              <a:t>期限到来済み課題の目標消化率 </a:t>
            </a:r>
            <a:r>
              <a:rPr lang="en-US" sz="900" b="0" u="none" strike="noStrike">
                <a:solidFill>
                  <a:srgbClr val="6B7280"/>
                </a:solidFill>
                <a:effectLst/>
                <a:uFillTx/>
                <a:latin typeface="BIZ UDPゴシック"/>
                <a:ea typeface="BIZ UDPゴシック"/>
              </a:rPr>
              <a:t>(</a:t>
            </a:r>
            <a:r>
              <a:rPr lang="ja-JP" sz="900" b="0" u="none" strike="noStrike">
                <a:solidFill>
                  <a:srgbClr val="6B7280"/>
                </a:solidFill>
                <a:effectLst/>
                <a:uFillTx/>
                <a:latin typeface="BIZ UDPゴシック"/>
                <a:ea typeface="BIZ UDPゴシック"/>
              </a:rPr>
              <a:t>警戒</a:t>
            </a:r>
            <a:r>
              <a:rPr lang="en-US" sz="900" b="0" u="none" strike="noStrike">
                <a:solidFill>
                  <a:srgbClr val="6B7280"/>
                </a:solidFill>
                <a:effectLst/>
                <a:uFillTx/>
                <a:latin typeface="BIZ UDPゴシック"/>
                <a:ea typeface="BIZ UDPゴシック"/>
              </a:rPr>
              <a:t>90%</a:t>
            </a:r>
            <a:r>
              <a:rPr lang="ja-JP" sz="900" b="0" u="none" strike="noStrike">
                <a:solidFill>
                  <a:srgbClr val="6B7280"/>
                </a:solidFill>
                <a:effectLst/>
                <a:uFillTx/>
                <a:latin typeface="BIZ UDPゴシック"/>
                <a:ea typeface="BIZ UDPゴシック"/>
              </a:rPr>
              <a:t>未満</a:t>
            </a:r>
            <a:r>
              <a:rPr lang="en-US" sz="900" b="0" u="none" strike="noStrike">
                <a:solidFill>
                  <a:srgbClr val="6B7280"/>
                </a:solidFill>
                <a:effectLst/>
                <a:uFillTx/>
                <a:latin typeface="BIZ UDPゴシック"/>
                <a:ea typeface="BIZ UDPゴシック"/>
              </a:rPr>
              <a:t>)</a:t>
            </a:r>
            <a:endParaRPr lang="en-US" sz="900" b="0" u="none" strike="noStrike">
              <a:solidFill>
                <a:srgbClr val="000000"/>
              </a:solidFill>
              <a:effectLst/>
              <a:uFillTx/>
              <a:latin typeface="Arial"/>
            </a:endParaRPr>
          </a:p>
        </p:txBody>
      </p:sp>
      <p:graphicFrame>
        <p:nvGraphicFramePr>
          <p:cNvPr id="2303" name="blk-table"/>
          <p:cNvGraphicFramePr/>
          <p:nvPr/>
        </p:nvGraphicFramePr>
        <p:xfrm>
          <a:off x="502920" y="4005000"/>
          <a:ext cx="11184840" cy="1446120"/>
        </p:xfrm>
        <a:graphic>
          <a:graphicData uri="http://schemas.openxmlformats.org/drawingml/2006/table">
            <a:tbl>
              <a:tblPr/>
              <a:tblGrid>
                <a:gridCol w="1789560"/>
                <a:gridCol w="3132000"/>
                <a:gridCol w="1342080"/>
                <a:gridCol w="1566000"/>
                <a:gridCol w="3355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指標</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算出方法</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頻度</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判定基準</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対応</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SPI</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EV÷PV (</a:t>
                      </a:r>
                      <a:r>
                        <a:rPr lang="ja-JP" sz="1400" b="0" u="none" strike="noStrike">
                          <a:solidFill>
                            <a:srgbClr val="1F2937"/>
                          </a:solidFill>
                          <a:effectLst/>
                          <a:uFillTx/>
                          <a:latin typeface="BIZ UDPゴシック"/>
                          <a:ea typeface="BIZ UDPゴシック"/>
                        </a:rPr>
                        <a:t>出来高</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計画値</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月次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0.9</a:t>
                      </a:r>
                      <a:r>
                        <a:rPr lang="ja-JP" sz="1400" b="0" u="none" strike="noStrike">
                          <a:solidFill>
                            <a:srgbClr val="1F2937"/>
                          </a:solidFill>
                          <a:effectLst/>
                          <a:uFillTx/>
                          <a:latin typeface="BIZ UDPゴシック"/>
                          <a:ea typeface="BIZ UDPゴシック"/>
                        </a:rPr>
                        <a:t>未満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遅延要因を分析し是正策を報告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CPI</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EV÷AC (</a:t>
                      </a:r>
                      <a:r>
                        <a:rPr lang="ja-JP" sz="1400" b="0" u="none" strike="noStrike">
                          <a:solidFill>
                            <a:srgbClr val="1F2937"/>
                          </a:solidFill>
                          <a:effectLst/>
                          <a:uFillTx/>
                          <a:latin typeface="BIZ UDPゴシック"/>
                          <a:ea typeface="BIZ UDPゴシック"/>
                        </a:rPr>
                        <a:t>出来高</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実績コスト</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月次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0.9</a:t>
                      </a:r>
                      <a:r>
                        <a:rPr lang="ja-JP" sz="1400" b="0" u="none" strike="noStrike">
                          <a:solidFill>
                            <a:srgbClr val="1F2937"/>
                          </a:solidFill>
                          <a:effectLst/>
                          <a:uFillTx/>
                          <a:latin typeface="BIZ UDPゴシック"/>
                          <a:ea typeface="BIZ UDPゴシック"/>
                        </a:rPr>
                        <a:t>未満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超過要因を評価し</a:t>
                      </a:r>
                      <a:r>
                        <a:rPr lang="en-US" sz="1400" b="0" u="none" strike="noStrike">
                          <a:solidFill>
                            <a:srgbClr val="1F2937"/>
                          </a:solidFill>
                          <a:effectLst/>
                          <a:uFillTx/>
                          <a:latin typeface="BIZ UDPゴシック"/>
                          <a:ea typeface="BIZ UDPゴシック"/>
                        </a:rPr>
                        <a:t>CCB</a:t>
                      </a:r>
                      <a:r>
                        <a:rPr lang="ja-JP" sz="1400" b="0" u="none" strike="noStrike">
                          <a:solidFill>
                            <a:srgbClr val="1F2937"/>
                          </a:solidFill>
                          <a:effectLst/>
                          <a:uFillTx/>
                          <a:latin typeface="BIZ UDPゴシック"/>
                          <a:ea typeface="BIZ UDPゴシック"/>
                        </a:rPr>
                        <a:t>へ報告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課題消化率</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期限内完了</a:t>
                      </a:r>
                      <a:r>
                        <a:rPr lang="en-US" sz="1400" b="0" u="none" strike="noStrike">
                          <a:solidFill>
                            <a:srgbClr val="1F2937"/>
                          </a:solidFill>
                          <a:effectLst/>
                          <a:uFillTx/>
                          <a:latin typeface="BIZ UDPゴシック"/>
                          <a:ea typeface="BIZ UDPゴシック"/>
                        </a:rPr>
                        <a:t>÷</a:t>
                      </a:r>
                      <a:r>
                        <a:rPr lang="ja-JP" sz="1400" b="0" u="none" strike="noStrike">
                          <a:solidFill>
                            <a:srgbClr val="1F2937"/>
                          </a:solidFill>
                          <a:effectLst/>
                          <a:uFillTx/>
                          <a:latin typeface="BIZ UDPゴシック"/>
                          <a:ea typeface="BIZ UDPゴシック"/>
                        </a:rPr>
                        <a:t>期限到来済み課題</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週次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90%</a:t>
                      </a:r>
                      <a:r>
                        <a:rPr lang="ja-JP" sz="1400" b="0" u="none" strike="noStrike">
                          <a:solidFill>
                            <a:srgbClr val="1F2937"/>
                          </a:solidFill>
                          <a:effectLst/>
                          <a:uFillTx/>
                          <a:latin typeface="BIZ UDPゴシック"/>
                          <a:ea typeface="BIZ UDPゴシック"/>
                        </a:rPr>
                        <a:t>未満</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担当と期限を再設定する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0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0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30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30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0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1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1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12"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13"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1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1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31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5.8 </a:t>
            </a:r>
            <a:r>
              <a:rPr lang="ja-JP" sz="2400" b="1" u="none" strike="noStrike">
                <a:solidFill>
                  <a:srgbClr val="16213E"/>
                </a:solidFill>
                <a:effectLst/>
                <a:uFillTx/>
                <a:latin typeface="BIZ UDPゴシック"/>
                <a:ea typeface="BIZ UDPゴシック"/>
              </a:rPr>
              <a:t>予算・コスト管理</a:t>
            </a:r>
            <a:endParaRPr lang="en-US" sz="2400" b="0" u="none" strike="noStrike">
              <a:solidFill>
                <a:srgbClr val="000000"/>
              </a:solidFill>
              <a:effectLst/>
              <a:uFillTx/>
              <a:latin typeface="Arial"/>
            </a:endParaRPr>
          </a:p>
        </p:txBody>
      </p:sp>
      <p:sp>
        <p:nvSpPr>
          <p:cNvPr id="231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318" name="hdr-hair"/>
          <p:cNvCxnSpPr/>
          <p:nvPr/>
        </p:nvCxnSpPr>
        <p:spPr>
          <a:xfrm>
            <a:off x="502920" y="969120"/>
            <a:ext cx="11186280" cy="720"/>
          </a:xfrm>
          <a:prstGeom prst="straightConnector1">
            <a:avLst/>
          </a:prstGeom>
          <a:ln w="9525">
            <a:solidFill>
              <a:srgbClr val="D5DBE5"/>
            </a:solidFill>
            <a:round/>
          </a:ln>
        </p:spPr>
      </p:cxnSp>
      <p:cxnSp>
        <p:nvCxnSpPr>
          <p:cNvPr id="2319" name="ftr-hair"/>
          <p:cNvCxnSpPr/>
          <p:nvPr/>
        </p:nvCxnSpPr>
        <p:spPr>
          <a:xfrm>
            <a:off x="502920" y="6382440"/>
            <a:ext cx="11186280" cy="720"/>
          </a:xfrm>
          <a:prstGeom prst="straightConnector1">
            <a:avLst/>
          </a:prstGeom>
          <a:ln w="9525">
            <a:solidFill>
              <a:srgbClr val="D5DBE5"/>
            </a:solidFill>
            <a:round/>
          </a:ln>
        </p:spPr>
      </p:cxnSp>
      <p:sp>
        <p:nvSpPr>
          <p:cNvPr id="232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67 / 85</a:t>
            </a:r>
            <a:endParaRPr lang="en-US" sz="1100" b="0" u="none" strike="noStrike">
              <a:solidFill>
                <a:srgbClr val="000000"/>
              </a:solidFill>
              <a:effectLst/>
              <a:uFillTx/>
              <a:latin typeface="Arial"/>
            </a:endParaRPr>
          </a:p>
        </p:txBody>
      </p:sp>
      <p:sp>
        <p:nvSpPr>
          <p:cNvPr id="232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32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32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32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2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2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予算</a:t>
            </a:r>
            <a:r>
              <a:rPr lang="en-US" sz="1500" b="1" u="none" strike="noStrike">
                <a:solidFill>
                  <a:srgbClr val="16213E"/>
                </a:solidFill>
                <a:effectLst/>
                <a:uFillTx/>
                <a:latin typeface="BIZ UDPゴシック"/>
                <a:ea typeface="BIZ UDPゴシック"/>
              </a:rPr>
              <a:t>8,000</a:t>
            </a:r>
            <a:r>
              <a:rPr lang="ja-JP" sz="1500" b="1" u="none" strike="noStrike">
                <a:solidFill>
                  <a:srgbClr val="16213E"/>
                </a:solidFill>
                <a:effectLst/>
                <a:uFillTx/>
                <a:latin typeface="BIZ UDPゴシック"/>
                <a:ea typeface="BIZ UDPゴシック"/>
              </a:rPr>
              <a:t>万円 </a:t>
            </a:r>
            <a:r>
              <a:rPr lang="en-US" sz="1500" b="1" u="none" strike="noStrike">
                <a:solidFill>
                  <a:srgbClr val="16213E"/>
                </a:solidFill>
                <a:effectLst/>
                <a:uFillTx/>
                <a:latin typeface="BIZ UDPゴシック"/>
                <a:ea typeface="BIZ UDPゴシック"/>
              </a:rPr>
              <a:t>(</a:t>
            </a:r>
            <a:r>
              <a:rPr lang="ja-JP" sz="1500" b="1" u="none" strike="noStrike">
                <a:solidFill>
                  <a:srgbClr val="16213E"/>
                </a:solidFill>
                <a:effectLst/>
                <a:uFillTx/>
                <a:latin typeface="BIZ UDPゴシック"/>
                <a:ea typeface="BIZ UDPゴシック"/>
              </a:rPr>
              <a:t>税抜</a:t>
            </a:r>
            <a:r>
              <a:rPr lang="en-US" sz="1500" b="1" u="none" strike="noStrike">
                <a:solidFill>
                  <a:srgbClr val="16213E"/>
                </a:solidFill>
                <a:effectLst/>
                <a:uFillTx/>
                <a:latin typeface="BIZ UDPゴシック"/>
                <a:ea typeface="BIZ UDPゴシック"/>
              </a:rPr>
              <a:t>) </a:t>
            </a:r>
            <a:r>
              <a:rPr lang="ja-JP" sz="1500" b="1" u="none" strike="noStrike">
                <a:solidFill>
                  <a:srgbClr val="16213E"/>
                </a:solidFill>
                <a:effectLst/>
                <a:uFillTx/>
                <a:latin typeface="BIZ UDPゴシック"/>
                <a:ea typeface="BIZ UDPゴシック"/>
              </a:rPr>
              <a:t>を費目別に執行管理し、差異</a:t>
            </a:r>
            <a:r>
              <a:rPr lang="en-US" sz="1500" b="1" u="none" strike="noStrike">
                <a:solidFill>
                  <a:srgbClr val="16213E"/>
                </a:solidFill>
                <a:effectLst/>
                <a:uFillTx/>
                <a:latin typeface="BIZ UDPゴシック"/>
                <a:ea typeface="BIZ UDPゴシック"/>
              </a:rPr>
              <a:t>5%</a:t>
            </a:r>
            <a:r>
              <a:rPr lang="ja-JP" sz="1500" b="1" u="none" strike="noStrike">
                <a:solidFill>
                  <a:srgbClr val="16213E"/>
                </a:solidFill>
                <a:effectLst/>
                <a:uFillTx/>
                <a:latin typeface="BIZ UDPゴシック"/>
                <a:ea typeface="BIZ UDPゴシック"/>
              </a:rPr>
              <a:t>超は</a:t>
            </a:r>
            <a:r>
              <a:rPr lang="en-US" sz="1500" b="1" u="none" strike="noStrike">
                <a:solidFill>
                  <a:srgbClr val="16213E"/>
                </a:solidFill>
                <a:effectLst/>
                <a:uFillTx/>
                <a:latin typeface="BIZ UDPゴシック"/>
                <a:ea typeface="BIZ UDPゴシック"/>
              </a:rPr>
              <a:t>CCB</a:t>
            </a:r>
            <a:r>
              <a:rPr lang="ja-JP" sz="1500" b="1" u="none" strike="noStrike">
                <a:solidFill>
                  <a:srgbClr val="16213E"/>
                </a:solidFill>
                <a:effectLst/>
                <a:uFillTx/>
                <a:latin typeface="BIZ UDPゴシック"/>
                <a:ea typeface="BIZ UDPゴシック"/>
              </a:rPr>
              <a:t>に報告する</a:t>
            </a:r>
            <a:endParaRPr lang="en-US" sz="1500" b="0" u="none" strike="noStrike">
              <a:solidFill>
                <a:srgbClr val="000000"/>
              </a:solidFill>
              <a:effectLst/>
              <a:uFillTx/>
              <a:latin typeface="Arial"/>
            </a:endParaRPr>
          </a:p>
        </p:txBody>
      </p:sp>
      <p:graphicFrame>
        <p:nvGraphicFramePr>
          <p:cNvPr id="2327" name="blk-table"/>
          <p:cNvGraphicFramePr/>
          <p:nvPr/>
        </p:nvGraphicFramePr>
        <p:xfrm>
          <a:off x="502920" y="1627560"/>
          <a:ext cx="11184840" cy="2597400"/>
        </p:xfrm>
        <a:graphic>
          <a:graphicData uri="http://schemas.openxmlformats.org/drawingml/2006/table">
            <a:tbl>
              <a:tblPr/>
              <a:tblGrid>
                <a:gridCol w="2908080"/>
                <a:gridCol w="1789560"/>
                <a:gridCol w="4698000"/>
                <a:gridCol w="1789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費目</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r" defTabSz="457200">
                        <a:lnSpc>
                          <a:spcPct val="120000"/>
                        </a:lnSpc>
                      </a:pPr>
                      <a:r>
                        <a:rPr lang="ja-JP" sz="1400" b="1" u="none" strike="noStrike">
                          <a:solidFill>
                            <a:srgbClr val="FFFFFF"/>
                          </a:solidFill>
                          <a:effectLst/>
                          <a:uFillTx/>
                          <a:latin typeface="BIZ UDPゴシック"/>
                          <a:ea typeface="BIZ UDPゴシック"/>
                        </a:rPr>
                        <a:t>予算 </a:t>
                      </a:r>
                      <a:r>
                        <a:rPr lang="en-US" sz="1400" b="1" u="none" strike="noStrike">
                          <a:solidFill>
                            <a:srgbClr val="FFFFFF"/>
                          </a:solidFill>
                          <a:effectLst/>
                          <a:uFillTx/>
                          <a:latin typeface="BIZ UDPゴシック"/>
                          <a:ea typeface="BIZ UDPゴシック"/>
                        </a:rPr>
                        <a:t>(</a:t>
                      </a:r>
                      <a:r>
                        <a:rPr lang="ja-JP" sz="1400" b="1" u="none" strike="noStrike">
                          <a:solidFill>
                            <a:srgbClr val="FFFFFF"/>
                          </a:solidFill>
                          <a:effectLst/>
                          <a:uFillTx/>
                          <a:latin typeface="BIZ UDPゴシック"/>
                          <a:ea typeface="BIZ UDPゴシック"/>
                        </a:rPr>
                        <a:t>万円・税抜</a:t>
                      </a:r>
                      <a:r>
                        <a:rPr lang="en-US" sz="1400" b="1" u="none" strike="noStrike">
                          <a:solidFill>
                            <a:srgbClr val="FFFFFF"/>
                          </a:solidFill>
                          <a:effectLst/>
                          <a:uFillTx/>
                          <a:latin typeface="BIZ UDPゴシック"/>
                          <a:ea typeface="BIZ UDPゴシック"/>
                        </a:rPr>
                        <a:t>)</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管理方法</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差異の閾値</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現状分析・</a:t>
                      </a:r>
                      <a:r>
                        <a:rPr lang="en-US" sz="1400" b="0" u="none" strike="noStrike">
                          <a:solidFill>
                            <a:srgbClr val="1F2937"/>
                          </a:solidFill>
                          <a:effectLst/>
                          <a:uFillTx/>
                          <a:latin typeface="BIZ UDPゴシック"/>
                          <a:ea typeface="BIZ UDPゴシック"/>
                        </a:rPr>
                        <a:t>To-Be</a:t>
                      </a:r>
                      <a:r>
                        <a:rPr lang="ja-JP" sz="1400" b="0" u="none" strike="noStrike">
                          <a:solidFill>
                            <a:srgbClr val="1F2937"/>
                          </a:solidFill>
                          <a:effectLst/>
                          <a:uFillTx/>
                          <a:latin typeface="BIZ UDPゴシック"/>
                          <a:ea typeface="BIZ UDPゴシック"/>
                        </a:rPr>
                        <a:t>設計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400" b="0" u="none" strike="noStrike">
                          <a:solidFill>
                            <a:srgbClr val="1F2937"/>
                          </a:solidFill>
                          <a:effectLst/>
                          <a:uFillTx/>
                          <a:latin typeface="BIZ UDPゴシック"/>
                          <a:ea typeface="BIZ UDPゴシック"/>
                        </a:rPr>
                        <a:t>1,900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要員別の工数で管理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±5%</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サービス設定・連携開発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r" defTabSz="457200">
                        <a:lnSpc>
                          <a:spcPct val="120000"/>
                        </a:lnSpc>
                      </a:pPr>
                      <a:r>
                        <a:rPr lang="en-US" sz="1400" b="0" u="none" strike="noStrike">
                          <a:solidFill>
                            <a:srgbClr val="1F2937"/>
                          </a:solidFill>
                          <a:effectLst/>
                          <a:uFillTx/>
                          <a:latin typeface="BIZ UDPゴシック"/>
                          <a:ea typeface="BIZ UDPゴシック"/>
                        </a:rPr>
                        <a:t>2,500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作業別の進捗に連動</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±5%</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テスト・移行</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400" b="0" u="none" strike="noStrike">
                          <a:solidFill>
                            <a:srgbClr val="1F2937"/>
                          </a:solidFill>
                          <a:effectLst/>
                          <a:uFillTx/>
                          <a:latin typeface="BIZ UDPゴシック"/>
                          <a:ea typeface="BIZ UDPゴシック"/>
                        </a:rPr>
                        <a:t>1,400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テスト消化と移行リハーサルに連動</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±5%</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研修・定着化</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r" defTabSz="457200">
                        <a:lnSpc>
                          <a:spcPct val="120000"/>
                        </a:lnSpc>
                      </a:pPr>
                      <a:r>
                        <a:rPr lang="en-US" sz="1400" b="0" u="none" strike="noStrike">
                          <a:solidFill>
                            <a:srgbClr val="1F2937"/>
                          </a:solidFill>
                          <a:effectLst/>
                          <a:uFillTx/>
                          <a:latin typeface="BIZ UDPゴシック"/>
                          <a:ea typeface="BIZ UDPゴシック"/>
                        </a:rPr>
                        <a:t>1,500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実施回数と対象人数に連動</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±5%</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予備費</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r" defTabSz="457200">
                        <a:lnSpc>
                          <a:spcPct val="120000"/>
                        </a:lnSpc>
                      </a:pPr>
                      <a:r>
                        <a:rPr lang="en-US" sz="1400" b="0" u="none" strike="noStrike">
                          <a:solidFill>
                            <a:srgbClr val="1F2937"/>
                          </a:solidFill>
                          <a:effectLst/>
                          <a:uFillTx/>
                          <a:latin typeface="BIZ UDPゴシック"/>
                          <a:ea typeface="BIZ UDPゴシック"/>
                        </a:rPr>
                        <a:t>700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変更承認時のみ執行</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全額統制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合計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r" defTabSz="457200">
                        <a:lnSpc>
                          <a:spcPct val="120000"/>
                        </a:lnSpc>
                      </a:pPr>
                      <a:r>
                        <a:rPr lang="en-US" sz="1400" b="0" u="none" strike="noStrike">
                          <a:solidFill>
                            <a:srgbClr val="1F2937"/>
                          </a:solidFill>
                          <a:effectLst/>
                          <a:uFillTx/>
                          <a:latin typeface="BIZ UDPゴシック"/>
                          <a:ea typeface="BIZ UDPゴシック"/>
                        </a:rPr>
                        <a:t>8,000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月次で予実を報告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2328" name="blk-callout"/>
          <p:cNvSpPr/>
          <p:nvPr/>
        </p:nvSpPr>
        <p:spPr>
          <a:xfrm>
            <a:off x="502920" y="573012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en-US" sz="1200" b="0" u="none" strike="noStrike">
                <a:solidFill>
                  <a:srgbClr val="1F2937"/>
                </a:solidFill>
                <a:effectLst/>
                <a:uFillTx/>
                <a:latin typeface="BIZ UDPゴシック"/>
                <a:ea typeface="BIZ UDPゴシック"/>
              </a:rPr>
              <a:t>SaaS</a:t>
            </a:r>
            <a:r>
              <a:rPr lang="ja-JP" sz="1200" b="0" u="none" strike="noStrike">
                <a:solidFill>
                  <a:srgbClr val="1F2937"/>
                </a:solidFill>
                <a:effectLst/>
                <a:uFillTx/>
                <a:latin typeface="BIZ UDPゴシック"/>
                <a:ea typeface="BIZ UDPゴシック"/>
              </a:rPr>
              <a:t>利用料は貴社がサービス提供者と直接契約するため、本予算には含めない。</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9"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30"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31"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332"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333"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34"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35"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36"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37"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38"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39"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40"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341"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5.9 </a:t>
            </a:r>
            <a:r>
              <a:rPr lang="ja-JP" sz="2400" b="1" u="none" strike="noStrike">
                <a:solidFill>
                  <a:srgbClr val="16213E"/>
                </a:solidFill>
                <a:effectLst/>
                <a:uFillTx/>
                <a:latin typeface="BIZ UDPゴシック"/>
                <a:ea typeface="BIZ UDPゴシック"/>
              </a:rPr>
              <a:t>調達・外部委託管理</a:t>
            </a:r>
            <a:endParaRPr lang="en-US" sz="2400" b="0" u="none" strike="noStrike">
              <a:solidFill>
                <a:srgbClr val="000000"/>
              </a:solidFill>
              <a:effectLst/>
              <a:uFillTx/>
              <a:latin typeface="Arial"/>
            </a:endParaRPr>
          </a:p>
        </p:txBody>
      </p:sp>
      <p:sp>
        <p:nvSpPr>
          <p:cNvPr id="2342"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343" name="hdr-hair"/>
          <p:cNvCxnSpPr/>
          <p:nvPr/>
        </p:nvCxnSpPr>
        <p:spPr>
          <a:xfrm>
            <a:off x="502920" y="969120"/>
            <a:ext cx="11186280" cy="720"/>
          </a:xfrm>
          <a:prstGeom prst="straightConnector1">
            <a:avLst/>
          </a:prstGeom>
          <a:ln w="9525">
            <a:solidFill>
              <a:srgbClr val="D5DBE5"/>
            </a:solidFill>
            <a:round/>
          </a:ln>
        </p:spPr>
      </p:cxnSp>
      <p:cxnSp>
        <p:nvCxnSpPr>
          <p:cNvPr id="2344" name="ftr-hair"/>
          <p:cNvCxnSpPr/>
          <p:nvPr/>
        </p:nvCxnSpPr>
        <p:spPr>
          <a:xfrm>
            <a:off x="502920" y="6382440"/>
            <a:ext cx="11186280" cy="720"/>
          </a:xfrm>
          <a:prstGeom prst="straightConnector1">
            <a:avLst/>
          </a:prstGeom>
          <a:ln w="9525">
            <a:solidFill>
              <a:srgbClr val="D5DBE5"/>
            </a:solidFill>
            <a:round/>
          </a:ln>
        </p:spPr>
      </p:cxnSp>
      <p:sp>
        <p:nvSpPr>
          <p:cNvPr id="2345"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68 / 85</a:t>
            </a:r>
            <a:endParaRPr lang="en-US" sz="1100" b="0" u="none" strike="noStrike">
              <a:solidFill>
                <a:srgbClr val="000000"/>
              </a:solidFill>
              <a:effectLst/>
              <a:uFillTx/>
              <a:latin typeface="Arial"/>
            </a:endParaRPr>
          </a:p>
        </p:txBody>
      </p:sp>
      <p:sp>
        <p:nvSpPr>
          <p:cNvPr id="2346"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347"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348"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349"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50"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51"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en-US" sz="1500" b="1" u="none" strike="noStrike">
                <a:solidFill>
                  <a:srgbClr val="16213E"/>
                </a:solidFill>
                <a:effectLst/>
                <a:uFillTx/>
                <a:latin typeface="BIZ UDPゴシック"/>
                <a:ea typeface="BIZ UDPゴシック"/>
              </a:rPr>
              <a:t>SaaS</a:t>
            </a:r>
            <a:r>
              <a:rPr lang="ja-JP" sz="1500" b="1" u="none" strike="noStrike">
                <a:solidFill>
                  <a:srgbClr val="16213E"/>
                </a:solidFill>
                <a:effectLst/>
                <a:uFillTx/>
                <a:latin typeface="BIZ UDPゴシック"/>
                <a:ea typeface="BIZ UDPゴシック"/>
              </a:rPr>
              <a:t>契約は貴社直接契約とし、当社は再委託先を台帳で統制する</a:t>
            </a:r>
            <a:endParaRPr lang="en-US" sz="1500" b="0" u="none" strike="noStrike">
              <a:solidFill>
                <a:srgbClr val="000000"/>
              </a:solidFill>
              <a:effectLst/>
              <a:uFillTx/>
              <a:latin typeface="Arial"/>
            </a:endParaRPr>
          </a:p>
        </p:txBody>
      </p:sp>
      <p:graphicFrame>
        <p:nvGraphicFramePr>
          <p:cNvPr id="2352" name="blk-table"/>
          <p:cNvGraphicFramePr/>
          <p:nvPr/>
        </p:nvGraphicFramePr>
        <p:xfrm>
          <a:off x="502920" y="1627560"/>
          <a:ext cx="11184840" cy="2213640"/>
        </p:xfrm>
        <a:graphic>
          <a:graphicData uri="http://schemas.openxmlformats.org/drawingml/2006/table">
            <a:tbl>
              <a:tblPr/>
              <a:tblGrid>
                <a:gridCol w="3132000"/>
                <a:gridCol w="2237040"/>
                <a:gridCol w="1342080"/>
                <a:gridCol w="447408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調達対象</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方式</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契約主体</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管理方法</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クラウド経費精算サービス</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貴社直接契約</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貴社</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貴社が提供者と契約し当社は設定・連携を支援</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サービス選定</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貴社選定済み</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貴社</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選定済みを前提とし当社から再提案しない</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連携開発・設定作業</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当社請負</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当社</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契約・検収に基づき成果物と工数を管理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再委託先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当社再委託</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当社</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再委託台帳で管理し契約前に貴社へ報告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委託先セキュリティ確認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事前確認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当社</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ISMAP</a:t>
                      </a:r>
                      <a:r>
                        <a:rPr lang="ja-JP" sz="1400" b="0" u="none" strike="noStrike">
                          <a:solidFill>
                            <a:srgbClr val="1F2937"/>
                          </a:solidFill>
                          <a:effectLst/>
                          <a:uFillTx/>
                          <a:latin typeface="BIZ UDPゴシック"/>
                          <a:ea typeface="BIZ UDPゴシック"/>
                        </a:rPr>
                        <a:t>等の登録・第三者認証を確認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2353" name="blk-callout"/>
          <p:cNvSpPr/>
          <p:nvPr/>
        </p:nvSpPr>
        <p:spPr>
          <a:xfrm>
            <a:off x="502920" y="5730120"/>
            <a:ext cx="11185200" cy="523440"/>
          </a:xfrm>
          <a:prstGeom prst="roundRect">
            <a:avLst>
              <a:gd name="adj" fmla="val 8000"/>
            </a:avLst>
          </a:prstGeom>
          <a:solidFill>
            <a:srgbClr val="FCF4EB"/>
          </a:solidFill>
          <a:ln w="12700">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再委託先の追加・変更は、契約前に書面で貴社の承認を得る。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5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5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35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35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5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6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6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62"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63"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6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6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36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5.10 </a:t>
            </a:r>
            <a:r>
              <a:rPr lang="ja-JP" sz="2400" b="1" u="none" strike="noStrike">
                <a:solidFill>
                  <a:srgbClr val="16213E"/>
                </a:solidFill>
                <a:effectLst/>
                <a:uFillTx/>
                <a:latin typeface="BIZ UDPゴシック"/>
                <a:ea typeface="BIZ UDPゴシック"/>
              </a:rPr>
              <a:t>ドキュメント・構成管理 ─ フォルダ構成</a:t>
            </a:r>
            <a:endParaRPr lang="en-US" sz="2400" b="0" u="none" strike="noStrike">
              <a:solidFill>
                <a:srgbClr val="000000"/>
              </a:solidFill>
              <a:effectLst/>
              <a:uFillTx/>
              <a:latin typeface="Arial"/>
            </a:endParaRPr>
          </a:p>
        </p:txBody>
      </p:sp>
      <p:sp>
        <p:nvSpPr>
          <p:cNvPr id="236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368" name="hdr-hair"/>
          <p:cNvCxnSpPr/>
          <p:nvPr/>
        </p:nvCxnSpPr>
        <p:spPr>
          <a:xfrm>
            <a:off x="502920" y="969120"/>
            <a:ext cx="11186280" cy="720"/>
          </a:xfrm>
          <a:prstGeom prst="straightConnector1">
            <a:avLst/>
          </a:prstGeom>
          <a:ln w="9525">
            <a:solidFill>
              <a:srgbClr val="D5DBE5"/>
            </a:solidFill>
            <a:round/>
          </a:ln>
        </p:spPr>
      </p:cxnSp>
      <p:cxnSp>
        <p:nvCxnSpPr>
          <p:cNvPr id="2369" name="ftr-hair"/>
          <p:cNvCxnSpPr/>
          <p:nvPr/>
        </p:nvCxnSpPr>
        <p:spPr>
          <a:xfrm>
            <a:off x="502920" y="6382440"/>
            <a:ext cx="11186280" cy="720"/>
          </a:xfrm>
          <a:prstGeom prst="straightConnector1">
            <a:avLst/>
          </a:prstGeom>
          <a:ln w="9525">
            <a:solidFill>
              <a:srgbClr val="D5DBE5"/>
            </a:solidFill>
            <a:round/>
          </a:ln>
        </p:spPr>
      </p:cxnSp>
      <p:sp>
        <p:nvSpPr>
          <p:cNvPr id="237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69 / 85</a:t>
            </a:r>
            <a:endParaRPr lang="en-US" sz="1100" b="0" u="none" strike="noStrike">
              <a:solidFill>
                <a:srgbClr val="000000"/>
              </a:solidFill>
              <a:effectLst/>
              <a:uFillTx/>
              <a:latin typeface="Arial"/>
            </a:endParaRPr>
          </a:p>
        </p:txBody>
      </p:sp>
      <p:sp>
        <p:nvSpPr>
          <p:cNvPr id="237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37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37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37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7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7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成果物は共有ストレージの統一フォルダ規約で保管する</a:t>
            </a:r>
            <a:endParaRPr lang="en-US" sz="1500" b="0" u="none" strike="noStrike">
              <a:solidFill>
                <a:srgbClr val="000000"/>
              </a:solidFill>
              <a:effectLst/>
              <a:uFillTx/>
              <a:latin typeface="Arial"/>
            </a:endParaRPr>
          </a:p>
        </p:txBody>
      </p:sp>
      <p:sp>
        <p:nvSpPr>
          <p:cNvPr id="2377" name="drawio:root1"/>
          <p:cNvSpPr/>
          <p:nvPr/>
        </p:nvSpPr>
        <p:spPr>
          <a:xfrm>
            <a:off x="4677120" y="1627560"/>
            <a:ext cx="2825640" cy="564480"/>
          </a:xfrm>
          <a:prstGeom prst="roundRect">
            <a:avLst>
              <a:gd name="adj" fmla="val 16667"/>
            </a:avLst>
          </a:prstGeom>
          <a:solidFill>
            <a:srgbClr val="16213E"/>
          </a:solidFill>
          <a:ln w="1108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20" b="1" u="none" strike="noStrike">
                <a:solidFill>
                  <a:srgbClr val="FFFFFF"/>
                </a:solidFill>
                <a:effectLst/>
                <a:uFillTx/>
                <a:latin typeface="BIZ UDPゴシック"/>
                <a:ea typeface="BIZ UDPゴシック"/>
              </a:rPr>
              <a:t>経費精算業務改革プロジェクト</a:t>
            </a:r>
            <a:endParaRPr lang="en-US" sz="1220" b="0" u="none" strike="noStrike">
              <a:solidFill>
                <a:srgbClr val="FFFFFF"/>
              </a:solidFill>
              <a:effectLst/>
              <a:uFillTx/>
              <a:latin typeface="Arial"/>
            </a:endParaRPr>
          </a:p>
        </p:txBody>
      </p:sp>
      <p:sp>
        <p:nvSpPr>
          <p:cNvPr id="2378" name="drawio:f1"/>
          <p:cNvSpPr/>
          <p:nvPr/>
        </p:nvSpPr>
        <p:spPr>
          <a:xfrm>
            <a:off x="3735000" y="2758320"/>
            <a:ext cx="2171520" cy="464760"/>
          </a:xfrm>
          <a:prstGeom prst="roundRect">
            <a:avLst>
              <a:gd name="adj" fmla="val 16667"/>
            </a:avLst>
          </a:prstGeom>
          <a:solidFill>
            <a:srgbClr val="F4F6FA"/>
          </a:solidFill>
          <a:ln w="1108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20" b="0" u="none" strike="noStrike">
                <a:solidFill>
                  <a:srgbClr val="1F2937"/>
                </a:solidFill>
                <a:effectLst/>
                <a:uFillTx/>
                <a:latin typeface="BIZ UDPゴシック"/>
                <a:ea typeface="BIZ UDPゴシック"/>
              </a:rPr>
              <a:t>計画・要件・設計書</a:t>
            </a:r>
            <a:endParaRPr lang="en-US" sz="1220" b="0" u="none" strike="noStrike">
              <a:solidFill>
                <a:srgbClr val="000000"/>
              </a:solidFill>
              <a:effectLst/>
              <a:uFillTx/>
              <a:latin typeface="Arial"/>
            </a:endParaRPr>
          </a:p>
        </p:txBody>
      </p:sp>
      <p:sp>
        <p:nvSpPr>
          <p:cNvPr id="2379" name="drawio:f2"/>
          <p:cNvSpPr/>
          <p:nvPr/>
        </p:nvSpPr>
        <p:spPr>
          <a:xfrm>
            <a:off x="6284160" y="2758320"/>
            <a:ext cx="2171520" cy="464760"/>
          </a:xfrm>
          <a:prstGeom prst="roundRect">
            <a:avLst>
              <a:gd name="adj" fmla="val 16667"/>
            </a:avLst>
          </a:prstGeom>
          <a:solidFill>
            <a:srgbClr val="F4F6FA"/>
          </a:solidFill>
          <a:ln w="1108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20" b="0" u="none" strike="noStrike">
                <a:solidFill>
                  <a:srgbClr val="1F2937"/>
                </a:solidFill>
                <a:effectLst/>
                <a:uFillTx/>
                <a:latin typeface="BIZ UDPゴシック"/>
                <a:ea typeface="BIZ UDPゴシック"/>
              </a:rPr>
              <a:t>議事録・課題・リスク</a:t>
            </a:r>
            <a:endParaRPr lang="en-US" sz="1220" b="0" u="none" strike="noStrike">
              <a:solidFill>
                <a:srgbClr val="000000"/>
              </a:solidFill>
              <a:effectLst/>
              <a:uFillTx/>
              <a:latin typeface="Arial"/>
            </a:endParaRPr>
          </a:p>
        </p:txBody>
      </p:sp>
      <p:sp>
        <p:nvSpPr>
          <p:cNvPr id="2380" name="drawio:l1"/>
          <p:cNvSpPr/>
          <p:nvPr/>
        </p:nvSpPr>
        <p:spPr>
          <a:xfrm>
            <a:off x="3812760" y="3279240"/>
            <a:ext cx="2016360" cy="753120"/>
          </a:xfrm>
          <a:prstGeom prst="rect">
            <a:avLst/>
          </a:prstGeom>
          <a:noFill/>
          <a:ln w="0">
            <a:noFill/>
          </a:ln>
        </p:spPr>
        <p:style>
          <a:lnRef idx="0"/>
          <a:fillRef idx="0"/>
          <a:effectRef idx="0"/>
          <a:fontRef idx="minor"/>
        </p:style>
        <p:txBody>
          <a:bodyPr lIns="36720" tIns="18360" rIns="36720" bIns="18360" anchor="t">
            <a:spAutoFit/>
          </a:bodyPr>
          <a:p>
            <a:pPr defTabSz="457200">
              <a:lnSpc>
                <a:spcPct val="110000"/>
              </a:lnSpc>
            </a:pPr>
            <a:r>
              <a:rPr lang="ja-JP" sz="1220" b="0" u="none" strike="noStrike">
                <a:solidFill>
                  <a:srgbClr val="6B7280"/>
                </a:solidFill>
                <a:effectLst/>
                <a:uFillTx/>
                <a:latin typeface="BIZ UDPゴシック"/>
                <a:ea typeface="BIZ UDPゴシック"/>
              </a:rPr>
              <a:t>現状分析書・課題一覧</a:t>
            </a:r>
            <a:endParaRPr lang="en-US" sz="1220" b="0" u="none" strike="noStrike">
              <a:solidFill>
                <a:srgbClr val="000000"/>
              </a:solidFill>
              <a:effectLst/>
              <a:uFillTx/>
              <a:latin typeface="Arial"/>
            </a:endParaRPr>
          </a:p>
          <a:p>
            <a:pPr defTabSz="457200">
              <a:lnSpc>
                <a:spcPct val="110000"/>
              </a:lnSpc>
            </a:pPr>
            <a:r>
              <a:rPr lang="en-US" sz="1220" b="0" u="none" strike="noStrike">
                <a:solidFill>
                  <a:srgbClr val="6B7280"/>
                </a:solidFill>
                <a:effectLst/>
                <a:uFillTx/>
                <a:latin typeface="BIZ UDPゴシック"/>
                <a:ea typeface="BIZ UDPゴシック"/>
              </a:rPr>
              <a:t>To-Be</a:t>
            </a:r>
            <a:r>
              <a:rPr lang="ja-JP" sz="1220" b="0" u="none" strike="noStrike">
                <a:solidFill>
                  <a:srgbClr val="6B7280"/>
                </a:solidFill>
                <a:effectLst/>
                <a:uFillTx/>
                <a:latin typeface="BIZ UDPゴシック"/>
                <a:ea typeface="BIZ UDPゴシック"/>
              </a:rPr>
              <a:t>フロー・要件定義書</a:t>
            </a:r>
            <a:endParaRPr lang="en-US" sz="1220" b="0" u="none" strike="noStrike">
              <a:solidFill>
                <a:srgbClr val="000000"/>
              </a:solidFill>
              <a:effectLst/>
              <a:uFillTx/>
              <a:latin typeface="Arial"/>
            </a:endParaRPr>
          </a:p>
        </p:txBody>
      </p:sp>
      <p:sp>
        <p:nvSpPr>
          <p:cNvPr id="2381" name="drawio:l2"/>
          <p:cNvSpPr/>
          <p:nvPr/>
        </p:nvSpPr>
        <p:spPr>
          <a:xfrm>
            <a:off x="6350760" y="3279240"/>
            <a:ext cx="2016360" cy="753120"/>
          </a:xfrm>
          <a:prstGeom prst="rect">
            <a:avLst/>
          </a:prstGeom>
          <a:noFill/>
          <a:ln w="0">
            <a:noFill/>
          </a:ln>
        </p:spPr>
        <p:style>
          <a:lnRef idx="0"/>
          <a:fillRef idx="0"/>
          <a:effectRef idx="0"/>
          <a:fontRef idx="minor"/>
        </p:style>
        <p:txBody>
          <a:bodyPr lIns="36720" tIns="18360" rIns="36720" bIns="18360" anchor="t">
            <a:spAutoFit/>
          </a:bodyPr>
          <a:p>
            <a:pPr defTabSz="457200">
              <a:lnSpc>
                <a:spcPct val="110000"/>
              </a:lnSpc>
            </a:pPr>
            <a:r>
              <a:rPr lang="ja-JP" sz="1220" b="0" u="none" strike="noStrike">
                <a:solidFill>
                  <a:srgbClr val="6B7280"/>
                </a:solidFill>
                <a:effectLst/>
                <a:uFillTx/>
                <a:latin typeface="BIZ UDPゴシック"/>
                <a:ea typeface="BIZ UDPゴシック"/>
              </a:rPr>
              <a:t>議事録・課題管理表</a:t>
            </a:r>
            <a:endParaRPr lang="en-US" sz="1220" b="0" u="none" strike="noStrike">
              <a:solidFill>
                <a:srgbClr val="000000"/>
              </a:solidFill>
              <a:effectLst/>
              <a:uFillTx/>
              <a:latin typeface="Arial"/>
            </a:endParaRPr>
          </a:p>
          <a:p>
            <a:pPr defTabSz="457200">
              <a:lnSpc>
                <a:spcPct val="110000"/>
              </a:lnSpc>
            </a:pPr>
            <a:r>
              <a:rPr lang="ja-JP" sz="1220" b="0" u="none" strike="noStrike">
                <a:solidFill>
                  <a:srgbClr val="6B7280"/>
                </a:solidFill>
                <a:effectLst/>
                <a:uFillTx/>
                <a:latin typeface="BIZ UDPゴシック"/>
                <a:ea typeface="BIZ UDPゴシック"/>
              </a:rPr>
              <a:t>リスク登録簿・変更管理表</a:t>
            </a:r>
            <a:endParaRPr lang="en-US" sz="1220" b="0" u="none" strike="noStrike">
              <a:solidFill>
                <a:srgbClr val="000000"/>
              </a:solidFill>
              <a:effectLst/>
              <a:uFillTx/>
              <a:latin typeface="Arial"/>
            </a:endParaRPr>
          </a:p>
        </p:txBody>
      </p:sp>
      <p:sp>
        <p:nvSpPr>
          <p:cNvPr id="2382" name="drawio:f3"/>
          <p:cNvSpPr/>
          <p:nvPr/>
        </p:nvSpPr>
        <p:spPr>
          <a:xfrm>
            <a:off x="3735000" y="4830840"/>
            <a:ext cx="2171520" cy="464760"/>
          </a:xfrm>
          <a:prstGeom prst="roundRect">
            <a:avLst>
              <a:gd name="adj" fmla="val 16667"/>
            </a:avLst>
          </a:prstGeom>
          <a:solidFill>
            <a:srgbClr val="F4F6FA"/>
          </a:solidFill>
          <a:ln w="1108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20" b="0" u="none" strike="noStrike">
                <a:solidFill>
                  <a:srgbClr val="1F2937"/>
                </a:solidFill>
                <a:effectLst/>
                <a:uFillTx/>
                <a:latin typeface="BIZ UDPゴシック"/>
                <a:ea typeface="BIZ UDPゴシック"/>
              </a:rPr>
              <a:t>図 </a:t>
            </a:r>
            <a:r>
              <a:rPr lang="en-US" sz="1220" b="0" u="none" strike="noStrike">
                <a:solidFill>
                  <a:srgbClr val="1F2937"/>
                </a:solidFill>
                <a:effectLst/>
                <a:uFillTx/>
                <a:latin typeface="BIZ UDPゴシック"/>
                <a:ea typeface="BIZ UDPゴシック"/>
              </a:rPr>
              <a:t>(drawio)</a:t>
            </a:r>
            <a:endParaRPr lang="en-US" sz="1220" b="0" u="none" strike="noStrike">
              <a:solidFill>
                <a:srgbClr val="000000"/>
              </a:solidFill>
              <a:effectLst/>
              <a:uFillTx/>
              <a:latin typeface="Arial"/>
            </a:endParaRPr>
          </a:p>
        </p:txBody>
      </p:sp>
      <p:sp>
        <p:nvSpPr>
          <p:cNvPr id="2383" name="drawio:f4"/>
          <p:cNvSpPr/>
          <p:nvPr/>
        </p:nvSpPr>
        <p:spPr>
          <a:xfrm>
            <a:off x="6284160" y="4830840"/>
            <a:ext cx="2171520" cy="464760"/>
          </a:xfrm>
          <a:prstGeom prst="roundRect">
            <a:avLst>
              <a:gd name="adj" fmla="val 16667"/>
            </a:avLst>
          </a:prstGeom>
          <a:solidFill>
            <a:srgbClr val="F4F6FA"/>
          </a:solidFill>
          <a:ln w="11083">
            <a:solidFill>
              <a:srgbClr val="1621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6720" tIns="18360" rIns="36720" bIns="18360" anchor="ctr">
            <a:noAutofit/>
          </a:bodyPr>
          <a:p>
            <a:pPr algn="ctr" defTabSz="457200">
              <a:lnSpc>
                <a:spcPct val="110000"/>
              </a:lnSpc>
            </a:pPr>
            <a:r>
              <a:rPr lang="ja-JP" sz="1220" b="0" u="none" strike="noStrike">
                <a:solidFill>
                  <a:srgbClr val="1F2937"/>
                </a:solidFill>
                <a:effectLst/>
                <a:uFillTx/>
                <a:latin typeface="BIZ UDPゴシック"/>
                <a:ea typeface="BIZ UDPゴシック"/>
              </a:rPr>
              <a:t>検収・契約文書</a:t>
            </a:r>
            <a:endParaRPr lang="en-US" sz="1220" b="0" u="none" strike="noStrike">
              <a:solidFill>
                <a:srgbClr val="000000"/>
              </a:solidFill>
              <a:effectLst/>
              <a:uFillTx/>
              <a:latin typeface="Arial"/>
            </a:endParaRPr>
          </a:p>
        </p:txBody>
      </p:sp>
      <p:sp>
        <p:nvSpPr>
          <p:cNvPr id="2384" name="drawio:l3"/>
          <p:cNvSpPr/>
          <p:nvPr/>
        </p:nvSpPr>
        <p:spPr>
          <a:xfrm>
            <a:off x="3812760" y="5351760"/>
            <a:ext cx="2016360" cy="664200"/>
          </a:xfrm>
          <a:prstGeom prst="rect">
            <a:avLst/>
          </a:prstGeom>
          <a:noFill/>
          <a:ln w="0">
            <a:noFill/>
          </a:ln>
        </p:spPr>
        <p:style>
          <a:lnRef idx="0"/>
          <a:fillRef idx="0"/>
          <a:effectRef idx="0"/>
          <a:fontRef idx="minor"/>
        </p:style>
        <p:txBody>
          <a:bodyPr lIns="36720" tIns="18360" rIns="36720" bIns="18360" anchor="t">
            <a:spAutoFit/>
          </a:bodyPr>
          <a:p>
            <a:pPr defTabSz="457200">
              <a:lnSpc>
                <a:spcPct val="110000"/>
              </a:lnSpc>
            </a:pPr>
            <a:r>
              <a:rPr lang="en-US" sz="1220" b="0" u="none" strike="noStrike">
                <a:solidFill>
                  <a:srgbClr val="6B7280"/>
                </a:solidFill>
                <a:effectLst/>
                <a:uFillTx/>
                <a:latin typeface="BIZ UDPゴシック"/>
                <a:ea typeface="BIZ UDPゴシック"/>
              </a:rPr>
              <a:t>D01</a:t>
            </a:r>
            <a:r>
              <a:rPr lang="ja-JP" sz="1220" b="0" u="none" strike="noStrike">
                <a:solidFill>
                  <a:srgbClr val="6B7280"/>
                </a:solidFill>
                <a:effectLst/>
                <a:uFillTx/>
                <a:latin typeface="BIZ UDPゴシック"/>
                <a:ea typeface="BIZ UDPゴシック"/>
              </a:rPr>
              <a:t>〜</a:t>
            </a:r>
            <a:r>
              <a:rPr lang="en-US" sz="1220" b="0" u="none" strike="noStrike">
                <a:solidFill>
                  <a:srgbClr val="6B7280"/>
                </a:solidFill>
                <a:effectLst/>
                <a:uFillTx/>
                <a:latin typeface="BIZ UDPゴシック"/>
                <a:ea typeface="BIZ UDPゴシック"/>
              </a:rPr>
              <a:t>D33 </a:t>
            </a:r>
            <a:r>
              <a:rPr lang="ja-JP" sz="1220" b="0" u="none" strike="noStrike">
                <a:solidFill>
                  <a:srgbClr val="6B7280"/>
                </a:solidFill>
                <a:effectLst/>
                <a:uFillTx/>
                <a:latin typeface="BIZ UDPゴシック"/>
                <a:ea typeface="BIZ UDPゴシック"/>
              </a:rPr>
              <a:t>の</a:t>
            </a:r>
            <a:endParaRPr lang="en-US" sz="1220" b="0" u="none" strike="noStrike">
              <a:solidFill>
                <a:srgbClr val="000000"/>
              </a:solidFill>
              <a:effectLst/>
              <a:uFillTx/>
              <a:latin typeface="Arial"/>
            </a:endParaRPr>
          </a:p>
          <a:p>
            <a:pPr defTabSz="457200">
              <a:lnSpc>
                <a:spcPct val="110000"/>
              </a:lnSpc>
            </a:pPr>
            <a:r>
              <a:rPr lang="en-US" sz="1220" b="0" u="none" strike="noStrike">
                <a:solidFill>
                  <a:srgbClr val="6B7280"/>
                </a:solidFill>
                <a:effectLst/>
                <a:uFillTx/>
                <a:latin typeface="BIZ UDPゴシック"/>
                <a:ea typeface="BIZ UDPゴシック"/>
              </a:rPr>
              <a:t>drawio </a:t>
            </a:r>
            <a:r>
              <a:rPr lang="ja-JP" sz="1220" b="0" u="none" strike="noStrike">
                <a:solidFill>
                  <a:srgbClr val="6B7280"/>
                </a:solidFill>
                <a:effectLst/>
                <a:uFillTx/>
                <a:latin typeface="BIZ UDPゴシック"/>
                <a:ea typeface="BIZ UDPゴシック"/>
              </a:rPr>
              <a:t>正本 </a:t>
            </a:r>
            <a:r>
              <a:rPr lang="en-US" sz="1220" b="0" u="none" strike="noStrike">
                <a:solidFill>
                  <a:srgbClr val="6B7280"/>
                </a:solidFill>
                <a:effectLst/>
                <a:uFillTx/>
                <a:latin typeface="BIZ UDPゴシック"/>
                <a:ea typeface="BIZ UDPゴシック"/>
              </a:rPr>
              <a:t>(</a:t>
            </a:r>
            <a:r>
              <a:rPr lang="ja-JP" sz="1220" b="0" u="none" strike="noStrike">
                <a:solidFill>
                  <a:srgbClr val="6B7280"/>
                </a:solidFill>
                <a:effectLst/>
                <a:uFillTx/>
                <a:latin typeface="BIZ UDPゴシック"/>
                <a:ea typeface="BIZ UDPゴシック"/>
              </a:rPr>
              <a:t>命名規約</a:t>
            </a:r>
            <a:r>
              <a:rPr lang="en-US" sz="1220" b="0" u="none" strike="noStrike">
                <a:solidFill>
                  <a:srgbClr val="6B7280"/>
                </a:solidFill>
                <a:effectLst/>
                <a:uFillTx/>
                <a:latin typeface="BIZ UDPゴシック"/>
                <a:ea typeface="BIZ UDPゴシック"/>
              </a:rPr>
              <a:t>)</a:t>
            </a:r>
            <a:endParaRPr lang="en-US" sz="1220" b="0" u="none" strike="noStrike">
              <a:solidFill>
                <a:srgbClr val="000000"/>
              </a:solidFill>
              <a:effectLst/>
              <a:uFillTx/>
              <a:latin typeface="Arial"/>
            </a:endParaRPr>
          </a:p>
        </p:txBody>
      </p:sp>
      <p:sp>
        <p:nvSpPr>
          <p:cNvPr id="2385" name="drawio:l4"/>
          <p:cNvSpPr/>
          <p:nvPr/>
        </p:nvSpPr>
        <p:spPr>
          <a:xfrm>
            <a:off x="6350760" y="5351760"/>
            <a:ext cx="2016360" cy="664200"/>
          </a:xfrm>
          <a:prstGeom prst="rect">
            <a:avLst/>
          </a:prstGeom>
          <a:noFill/>
          <a:ln w="0">
            <a:noFill/>
          </a:ln>
        </p:spPr>
        <p:style>
          <a:lnRef idx="0"/>
          <a:fillRef idx="0"/>
          <a:effectRef idx="0"/>
          <a:fontRef idx="minor"/>
        </p:style>
        <p:txBody>
          <a:bodyPr lIns="36720" tIns="18360" rIns="36720" bIns="18360" anchor="t">
            <a:spAutoFit/>
          </a:bodyPr>
          <a:p>
            <a:pPr defTabSz="457200">
              <a:lnSpc>
                <a:spcPct val="110000"/>
              </a:lnSpc>
            </a:pPr>
            <a:r>
              <a:rPr lang="ja-JP" sz="1220" b="0" u="none" strike="noStrike">
                <a:solidFill>
                  <a:srgbClr val="6B7280"/>
                </a:solidFill>
                <a:effectLst/>
                <a:uFillTx/>
                <a:latin typeface="BIZ UDPゴシック"/>
                <a:ea typeface="BIZ UDPゴシック"/>
              </a:rPr>
              <a:t>契約書・検収書</a:t>
            </a:r>
            <a:endParaRPr lang="en-US" sz="1220" b="0" u="none" strike="noStrike">
              <a:solidFill>
                <a:srgbClr val="000000"/>
              </a:solidFill>
              <a:effectLst/>
              <a:uFillTx/>
              <a:latin typeface="Arial"/>
            </a:endParaRPr>
          </a:p>
          <a:p>
            <a:pPr defTabSz="457200">
              <a:lnSpc>
                <a:spcPct val="110000"/>
              </a:lnSpc>
            </a:pPr>
            <a:r>
              <a:rPr lang="en-US" sz="1220" b="0" u="none" strike="noStrike">
                <a:solidFill>
                  <a:srgbClr val="6B7280"/>
                </a:solidFill>
                <a:effectLst/>
                <a:uFillTx/>
                <a:latin typeface="BIZ UDPゴシック"/>
                <a:ea typeface="BIZ UDPゴシック"/>
              </a:rPr>
              <a:t>(</a:t>
            </a:r>
            <a:r>
              <a:rPr lang="ja-JP" sz="1220" b="0" u="none" strike="noStrike">
                <a:solidFill>
                  <a:srgbClr val="6B7280"/>
                </a:solidFill>
                <a:effectLst/>
                <a:uFillTx/>
                <a:latin typeface="BIZ UDPゴシック"/>
                <a:ea typeface="BIZ UDPゴシック"/>
              </a:rPr>
              <a:t>確定版を保管</a:t>
            </a:r>
            <a:r>
              <a:rPr lang="en-US" sz="1220" b="0" u="none" strike="noStrike">
                <a:solidFill>
                  <a:srgbClr val="6B7280"/>
                </a:solidFill>
                <a:effectLst/>
                <a:uFillTx/>
                <a:latin typeface="BIZ UDPゴシック"/>
                <a:ea typeface="BIZ UDPゴシック"/>
              </a:rPr>
              <a:t>)</a:t>
            </a:r>
            <a:endParaRPr lang="en-US" sz="1220" b="0" u="none" strike="noStrike">
              <a:solidFill>
                <a:srgbClr val="000000"/>
              </a:solidFill>
              <a:effectLst/>
              <a:uFillTx/>
              <a:latin typeface="Arial"/>
            </a:endParaRPr>
          </a:p>
        </p:txBody>
      </p:sp>
      <p:sp>
        <p:nvSpPr>
          <p:cNvPr id="2386" name="drawio:e1"/>
          <p:cNvSpPr/>
          <p:nvPr/>
        </p:nvSpPr>
        <p:spPr>
          <a:xfrm>
            <a:off x="4821120" y="2184480"/>
            <a:ext cx="1265760" cy="579960"/>
          </a:xfrm>
          <a:custGeom>
            <a:avLst/>
            <a:gdLst>
              <a:gd name="textAreaLeft" fmla="*/ 0 w 1265760"/>
              <a:gd name="textAreaRight" fmla="*/ 1266480 w 1265760"/>
              <a:gd name="textAreaTop" fmla="*/ 0 h 579960"/>
              <a:gd name="textAreaBottom" fmla="*/ 580680 h 579960"/>
            </a:gdLst>
            <a:ahLst/>
            <a:cxnLst/>
            <a:rect l="textAreaLeft" t="textAreaTop" r="textAreaRight" b="textAreaBottom"/>
            <a:pathLst>
              <a:path w="1266414" h="580727">
                <a:moveTo>
                  <a:pt x="1266414" y="0"/>
                </a:moveTo>
                <a:lnTo>
                  <a:pt x="1263534" y="296654"/>
                </a:lnTo>
                <a:lnTo>
                  <a:pt x="0" y="296654"/>
                </a:lnTo>
                <a:lnTo>
                  <a:pt x="0" y="580727"/>
                </a:lnTo>
              </a:path>
            </a:pathLst>
          </a:custGeom>
          <a:noFill/>
          <a:ln w="22167">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87" name="drawio:e2"/>
          <p:cNvSpPr/>
          <p:nvPr/>
        </p:nvSpPr>
        <p:spPr>
          <a:xfrm>
            <a:off x="6084720" y="2184480"/>
            <a:ext cx="1280160" cy="579960"/>
          </a:xfrm>
          <a:custGeom>
            <a:avLst/>
            <a:gdLst>
              <a:gd name="textAreaLeft" fmla="*/ 0 w 1280160"/>
              <a:gd name="textAreaRight" fmla="*/ 1280880 w 1280160"/>
              <a:gd name="textAreaTop" fmla="*/ 0 h 579960"/>
              <a:gd name="textAreaBottom" fmla="*/ 580680 h 579960"/>
            </a:gdLst>
            <a:ahLst/>
            <a:cxnLst/>
            <a:rect l="textAreaLeft" t="textAreaTop" r="textAreaRight" b="textAreaBottom"/>
            <a:pathLst>
              <a:path w="1280794" h="580727">
                <a:moveTo>
                  <a:pt x="2880" y="0"/>
                </a:moveTo>
                <a:lnTo>
                  <a:pt x="0" y="296654"/>
                </a:lnTo>
                <a:lnTo>
                  <a:pt x="1274619" y="296654"/>
                </a:lnTo>
                <a:lnTo>
                  <a:pt x="1280794" y="580727"/>
                </a:lnTo>
              </a:path>
            </a:pathLst>
          </a:custGeom>
          <a:noFill/>
          <a:ln w="22167">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88" name="drawio:e3"/>
          <p:cNvSpPr/>
          <p:nvPr/>
        </p:nvSpPr>
        <p:spPr>
          <a:xfrm>
            <a:off x="4821120" y="2184480"/>
            <a:ext cx="1265760" cy="2652480"/>
          </a:xfrm>
          <a:custGeom>
            <a:avLst/>
            <a:gdLst>
              <a:gd name="textAreaLeft" fmla="*/ 0 w 1265760"/>
              <a:gd name="textAreaRight" fmla="*/ 1266480 w 1265760"/>
              <a:gd name="textAreaTop" fmla="*/ 0 h 2652480"/>
              <a:gd name="textAreaBottom" fmla="*/ 2653200 h 2652480"/>
            </a:gdLst>
            <a:ahLst/>
            <a:cxnLst/>
            <a:rect l="textAreaLeft" t="textAreaTop" r="textAreaRight" b="textAreaBottom"/>
            <a:pathLst>
              <a:path w="1266414" h="2653367">
                <a:moveTo>
                  <a:pt x="1266414" y="0"/>
                </a:moveTo>
                <a:lnTo>
                  <a:pt x="1263534" y="296654"/>
                </a:lnTo>
                <a:lnTo>
                  <a:pt x="1263534" y="2358210"/>
                </a:lnTo>
                <a:lnTo>
                  <a:pt x="0" y="2358210"/>
                </a:lnTo>
                <a:lnTo>
                  <a:pt x="0" y="2653367"/>
                </a:lnTo>
              </a:path>
            </a:pathLst>
          </a:custGeom>
          <a:noFill/>
          <a:ln w="22167">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89" name="drawio:e4"/>
          <p:cNvSpPr/>
          <p:nvPr/>
        </p:nvSpPr>
        <p:spPr>
          <a:xfrm>
            <a:off x="6084720" y="2184480"/>
            <a:ext cx="1280160" cy="2652480"/>
          </a:xfrm>
          <a:custGeom>
            <a:avLst/>
            <a:gdLst>
              <a:gd name="textAreaLeft" fmla="*/ 0 w 1280160"/>
              <a:gd name="textAreaRight" fmla="*/ 1280880 w 1280160"/>
              <a:gd name="textAreaTop" fmla="*/ 0 h 2652480"/>
              <a:gd name="textAreaBottom" fmla="*/ 2653200 h 2652480"/>
            </a:gdLst>
            <a:ahLst/>
            <a:cxnLst/>
            <a:rect l="textAreaLeft" t="textAreaTop" r="textAreaRight" b="textAreaBottom"/>
            <a:pathLst>
              <a:path w="1280898" h="2653367">
                <a:moveTo>
                  <a:pt x="2880" y="0"/>
                </a:moveTo>
                <a:lnTo>
                  <a:pt x="0" y="296654"/>
                </a:lnTo>
                <a:lnTo>
                  <a:pt x="0" y="2358210"/>
                </a:lnTo>
                <a:lnTo>
                  <a:pt x="1274619" y="2358210"/>
                </a:lnTo>
                <a:lnTo>
                  <a:pt x="1280898" y="2653367"/>
                </a:lnTo>
              </a:path>
            </a:pathLst>
          </a:custGeom>
          <a:noFill/>
          <a:ln w="22167">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0" name="blk-diagram-cap"/>
          <p:cNvSpPr/>
          <p:nvPr/>
        </p:nvSpPr>
        <p:spPr>
          <a:xfrm>
            <a:off x="502920" y="6053400"/>
            <a:ext cx="111852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900" b="0" u="none" strike="noStrike">
                <a:solidFill>
                  <a:srgbClr val="6B7280"/>
                </a:solidFill>
                <a:effectLst/>
                <a:uFillTx/>
                <a:latin typeface="BIZ UDPゴシック"/>
                <a:ea typeface="BIZ UDPゴシック"/>
              </a:rPr>
              <a:t>凡例</a:t>
            </a:r>
            <a:r>
              <a:rPr lang="en-US" sz="900" b="0" u="none" strike="noStrike">
                <a:solidFill>
                  <a:srgbClr val="6B7280"/>
                </a:solidFill>
                <a:effectLst/>
                <a:uFillTx/>
                <a:latin typeface="BIZ UDPゴシック"/>
                <a:ea typeface="BIZ UDPゴシック"/>
              </a:rPr>
              <a:t>: </a:t>
            </a:r>
            <a:r>
              <a:rPr lang="ja-JP" sz="900" b="0" u="none" strike="noStrike">
                <a:solidFill>
                  <a:srgbClr val="6B7280"/>
                </a:solidFill>
                <a:effectLst/>
                <a:uFillTx/>
                <a:latin typeface="BIZ UDPゴシック"/>
                <a:ea typeface="BIZ UDPゴシック"/>
              </a:rPr>
              <a:t>フェーズ別フォルダと成果物の版管理を統一する</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1"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2"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93"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394"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395"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96"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97"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98"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399"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00"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01"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02"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403"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5.10 </a:t>
            </a:r>
            <a:r>
              <a:rPr lang="ja-JP" sz="2400" b="1" u="none" strike="noStrike">
                <a:solidFill>
                  <a:srgbClr val="16213E"/>
                </a:solidFill>
                <a:effectLst/>
                <a:uFillTx/>
                <a:latin typeface="BIZ UDPゴシック"/>
                <a:ea typeface="BIZ UDPゴシック"/>
              </a:rPr>
              <a:t>ドキュメント・構成管理 ─ ベースラインと版管理</a:t>
            </a:r>
            <a:endParaRPr lang="en-US" sz="2400" b="0" u="none" strike="noStrike">
              <a:solidFill>
                <a:srgbClr val="000000"/>
              </a:solidFill>
              <a:effectLst/>
              <a:uFillTx/>
              <a:latin typeface="Arial"/>
            </a:endParaRPr>
          </a:p>
        </p:txBody>
      </p:sp>
      <p:sp>
        <p:nvSpPr>
          <p:cNvPr id="2404"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405" name="hdr-hair"/>
          <p:cNvCxnSpPr/>
          <p:nvPr/>
        </p:nvCxnSpPr>
        <p:spPr>
          <a:xfrm>
            <a:off x="502920" y="969120"/>
            <a:ext cx="11186280" cy="720"/>
          </a:xfrm>
          <a:prstGeom prst="straightConnector1">
            <a:avLst/>
          </a:prstGeom>
          <a:ln w="9525">
            <a:solidFill>
              <a:srgbClr val="D5DBE5"/>
            </a:solidFill>
            <a:round/>
          </a:ln>
        </p:spPr>
      </p:cxnSp>
      <p:cxnSp>
        <p:nvCxnSpPr>
          <p:cNvPr id="2406" name="ftr-hair"/>
          <p:cNvCxnSpPr/>
          <p:nvPr/>
        </p:nvCxnSpPr>
        <p:spPr>
          <a:xfrm>
            <a:off x="502920" y="6382440"/>
            <a:ext cx="11186280" cy="720"/>
          </a:xfrm>
          <a:prstGeom prst="straightConnector1">
            <a:avLst/>
          </a:prstGeom>
          <a:ln w="9525">
            <a:solidFill>
              <a:srgbClr val="D5DBE5"/>
            </a:solidFill>
            <a:round/>
          </a:ln>
        </p:spPr>
      </p:cxnSp>
      <p:sp>
        <p:nvSpPr>
          <p:cNvPr id="2407"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70 / 85</a:t>
            </a:r>
            <a:endParaRPr lang="en-US" sz="1100" b="0" u="none" strike="noStrike">
              <a:solidFill>
                <a:srgbClr val="000000"/>
              </a:solidFill>
              <a:effectLst/>
              <a:uFillTx/>
              <a:latin typeface="Arial"/>
            </a:endParaRPr>
          </a:p>
        </p:txBody>
      </p:sp>
      <p:sp>
        <p:nvSpPr>
          <p:cNvPr id="2408"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409"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410"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411"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12"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13"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成果物は承認時にベースライン化し版番号と変更履歴で管理する</a:t>
            </a:r>
            <a:endParaRPr lang="en-US" sz="1500" b="0" u="none" strike="noStrike">
              <a:solidFill>
                <a:srgbClr val="000000"/>
              </a:solidFill>
              <a:effectLst/>
              <a:uFillTx/>
              <a:latin typeface="Arial"/>
            </a:endParaRPr>
          </a:p>
        </p:txBody>
      </p:sp>
      <p:graphicFrame>
        <p:nvGraphicFramePr>
          <p:cNvPr id="2414" name="blk-table"/>
          <p:cNvGraphicFramePr/>
          <p:nvPr/>
        </p:nvGraphicFramePr>
        <p:xfrm>
          <a:off x="502920" y="1627560"/>
          <a:ext cx="11184840" cy="1829880"/>
        </p:xfrm>
        <a:graphic>
          <a:graphicData uri="http://schemas.openxmlformats.org/drawingml/2006/table">
            <a:tbl>
              <a:tblPr/>
              <a:tblGrid>
                <a:gridCol w="3803040"/>
                <a:gridCol w="4026600"/>
                <a:gridCol w="3355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対象</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ベースライン設定</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版管理</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要件定義書</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要件確定時 </a:t>
                      </a:r>
                      <a:r>
                        <a:rPr lang="en-US" sz="1400" b="0" u="none" strike="noStrike">
                          <a:solidFill>
                            <a:srgbClr val="1F2937"/>
                          </a:solidFill>
                          <a:effectLst/>
                          <a:uFillTx/>
                          <a:latin typeface="BIZ UDPゴシック"/>
                          <a:ea typeface="BIZ UDPゴシック"/>
                        </a:rPr>
                        <a:t>(2027/03/31)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版番号と変更履歴を付与</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設計・連携仕様書</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設計承認時</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同上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テスト結果報告書</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各テスト完了時</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同上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操作マニュアル</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本番稼働前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同上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
        <p:nvSpPr>
          <p:cNvPr id="2415" name="blk-title"/>
          <p:cNvSpPr/>
          <p:nvPr/>
        </p:nvSpPr>
        <p:spPr>
          <a:xfrm>
            <a:off x="502920" y="4005000"/>
            <a:ext cx="11185200" cy="2368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1200" b="1" u="none" strike="noStrike">
                <a:solidFill>
                  <a:srgbClr val="B4235A"/>
                </a:solidFill>
                <a:effectLst/>
                <a:uFillTx/>
                <a:latin typeface="BIZ UDPゴシック"/>
                <a:ea typeface="BIZ UDPゴシック"/>
              </a:rPr>
              <a:t>版管理の手順</a:t>
            </a:r>
            <a:endParaRPr lang="en-US" sz="1200" b="0" u="none" strike="noStrike">
              <a:solidFill>
                <a:srgbClr val="000000"/>
              </a:solidFill>
              <a:effectLst/>
              <a:uFillTx/>
              <a:latin typeface="Arial"/>
            </a:endParaRPr>
          </a:p>
        </p:txBody>
      </p:sp>
      <p:sp>
        <p:nvSpPr>
          <p:cNvPr id="2416" name="blk-bullets"/>
          <p:cNvSpPr/>
          <p:nvPr/>
        </p:nvSpPr>
        <p:spPr>
          <a:xfrm>
            <a:off x="502920" y="4279320"/>
            <a:ext cx="11185200" cy="197424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版番号はドラフトを</a:t>
            </a:r>
            <a:r>
              <a:rPr lang="en-US" sz="1400" b="0" u="none" strike="noStrike">
                <a:solidFill>
                  <a:srgbClr val="1F2937"/>
                </a:solidFill>
                <a:effectLst/>
                <a:uFillTx/>
                <a:latin typeface="BIZ UDPゴシック"/>
                <a:ea typeface="BIZ UDPゴシック"/>
              </a:rPr>
              <a:t>0.x</a:t>
            </a:r>
            <a:r>
              <a:rPr lang="ja-JP" sz="1400" b="0" u="none" strike="noStrike">
                <a:solidFill>
                  <a:srgbClr val="1F2937"/>
                </a:solidFill>
                <a:effectLst/>
                <a:uFillTx/>
                <a:latin typeface="BIZ UDPゴシック"/>
                <a:ea typeface="BIZ UDPゴシック"/>
              </a:rPr>
              <a:t>、承認版を</a:t>
            </a:r>
            <a:r>
              <a:rPr lang="en-US" sz="1400" b="0" u="none" strike="noStrike">
                <a:solidFill>
                  <a:srgbClr val="1F2937"/>
                </a:solidFill>
                <a:effectLst/>
                <a:uFillTx/>
                <a:latin typeface="BIZ UDPゴシック"/>
                <a:ea typeface="BIZ UDPゴシック"/>
              </a:rPr>
              <a:t>1.0</a:t>
            </a:r>
            <a:r>
              <a:rPr lang="ja-JP" sz="1400" b="0" u="none" strike="noStrike">
                <a:solidFill>
                  <a:srgbClr val="1F2937"/>
                </a:solidFill>
                <a:effectLst/>
                <a:uFillTx/>
                <a:latin typeface="BIZ UDPゴシック"/>
                <a:ea typeface="BIZ UDPゴシック"/>
              </a:rPr>
              <a:t>とし、承認後の改訂ごとに</a:t>
            </a:r>
            <a:r>
              <a:rPr lang="en-US" sz="1400" b="0" u="none" strike="noStrike">
                <a:solidFill>
                  <a:srgbClr val="1F2937"/>
                </a:solidFill>
                <a:effectLst/>
                <a:uFillTx/>
                <a:latin typeface="BIZ UDPゴシック"/>
                <a:ea typeface="BIZ UDPゴシック"/>
              </a:rPr>
              <a:t>1.1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1.2</a:t>
            </a:r>
            <a:r>
              <a:rPr lang="ja-JP" sz="1400" b="0" u="none" strike="noStrike">
                <a:solidFill>
                  <a:srgbClr val="1F2937"/>
                </a:solidFill>
                <a:effectLst/>
                <a:uFillTx/>
                <a:latin typeface="BIZ UDPゴシック"/>
                <a:ea typeface="BIZ UDPゴシック"/>
              </a:rPr>
              <a:t>と付番する。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ベースライン化後の変更は変更要求台帳に起票し、変更区分に応じて</a:t>
            </a:r>
            <a:r>
              <a:rPr lang="en-US" sz="1400" b="0" u="none" strike="noStrike">
                <a:solidFill>
                  <a:srgbClr val="1F2937"/>
                </a:solidFill>
                <a:effectLst/>
                <a:uFillTx/>
                <a:latin typeface="BIZ UDPゴシック"/>
                <a:ea typeface="BIZ UDPゴシック"/>
              </a:rPr>
              <a:t>CCB</a:t>
            </a:r>
            <a:r>
              <a:rPr lang="ja-JP" sz="1400" b="0" u="none" strike="noStrike">
                <a:solidFill>
                  <a:srgbClr val="1F2937"/>
                </a:solidFill>
                <a:effectLst/>
                <a:uFillTx/>
                <a:latin typeface="BIZ UDPゴシック"/>
                <a:ea typeface="BIZ UDPゴシック"/>
              </a:rPr>
              <a:t>またはステアリングコミッティの承認を得る。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承認版は</a:t>
            </a:r>
            <a:r>
              <a:rPr lang="en-US" sz="1400" b="0" u="none" strike="noStrike">
                <a:solidFill>
                  <a:srgbClr val="1F2937"/>
                </a:solidFill>
                <a:effectLst/>
                <a:uFillTx/>
                <a:latin typeface="BIZ UDPゴシック"/>
                <a:ea typeface="BIZ UDPゴシック"/>
              </a:rPr>
              <a:t>PDF</a:t>
            </a:r>
            <a:r>
              <a:rPr lang="ja-JP" sz="1400" b="0" u="none" strike="noStrike">
                <a:solidFill>
                  <a:srgbClr val="1F2937"/>
                </a:solidFill>
                <a:effectLst/>
                <a:uFillTx/>
                <a:latin typeface="BIZ UDPゴシック"/>
                <a:ea typeface="BIZ UDPゴシック"/>
              </a:rPr>
              <a:t>化して確定フォルダに格納し、編集用の原本は版番号付きで保管する。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Draw.io </a:t>
            </a:r>
            <a:r>
              <a:rPr lang="ja-JP" sz="1400" b="0" u="none" strike="noStrike">
                <a:solidFill>
                  <a:srgbClr val="1F2937"/>
                </a:solidFill>
                <a:effectLst/>
                <a:uFillTx/>
                <a:latin typeface="BIZ UDPゴシック"/>
                <a:ea typeface="BIZ UDPゴシック"/>
              </a:rPr>
              <a:t>図 </a:t>
            </a:r>
            <a:r>
              <a:rPr lang="en-US" sz="1400" b="0" u="none" strike="noStrike">
                <a:solidFill>
                  <a:srgbClr val="1F2937"/>
                </a:solidFill>
                <a:effectLst/>
                <a:uFillTx/>
                <a:latin typeface="BIZ UDPゴシック"/>
                <a:ea typeface="BIZ UDPゴシック"/>
              </a:rPr>
              <a:t>(D01</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D33) </a:t>
            </a:r>
            <a:r>
              <a:rPr lang="ja-JP" sz="1400" b="0" u="none" strike="noStrike">
                <a:solidFill>
                  <a:srgbClr val="1F2937"/>
                </a:solidFill>
                <a:effectLst/>
                <a:uFillTx/>
                <a:latin typeface="BIZ UDPゴシック"/>
                <a:ea typeface="BIZ UDPゴシック"/>
              </a:rPr>
              <a:t>は原本 </a:t>
            </a:r>
            <a:r>
              <a:rPr lang="en-US" sz="1400" b="0" u="none" strike="noStrike">
                <a:solidFill>
                  <a:srgbClr val="1F2937"/>
                </a:solidFill>
                <a:effectLst/>
                <a:uFillTx/>
                <a:latin typeface="BIZ UDPゴシック"/>
                <a:ea typeface="BIZ UDPゴシック"/>
              </a:rPr>
              <a:t>.drawio </a:t>
            </a:r>
            <a:r>
              <a:rPr lang="ja-JP" sz="1400" b="0" u="none" strike="noStrike">
                <a:solidFill>
                  <a:srgbClr val="1F2937"/>
                </a:solidFill>
                <a:effectLst/>
                <a:uFillTx/>
                <a:latin typeface="BIZ UDPゴシック"/>
                <a:ea typeface="BIZ UDPゴシック"/>
              </a:rPr>
              <a:t>を正本とし、資料への貼付は正本から生成する。</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7"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18"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419"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420"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421"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2"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3"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4"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5"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6"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7"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28"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429"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5.11 </a:t>
            </a:r>
            <a:r>
              <a:rPr lang="ja-JP" sz="2400" b="1" u="none" strike="noStrike">
                <a:solidFill>
                  <a:srgbClr val="16213E"/>
                </a:solidFill>
                <a:effectLst/>
                <a:uFillTx/>
                <a:latin typeface="BIZ UDPゴシック"/>
                <a:ea typeface="BIZ UDPゴシック"/>
              </a:rPr>
              <a:t>情報セキュリティ管理 </a:t>
            </a:r>
            <a:r>
              <a:rPr lang="en-US" sz="2400" b="1" u="none" strike="noStrike">
                <a:solidFill>
                  <a:srgbClr val="16213E"/>
                </a:solidFill>
                <a:effectLst/>
                <a:uFillTx/>
                <a:latin typeface="BIZ UDPゴシック"/>
                <a:ea typeface="BIZ UDPゴシック"/>
              </a:rPr>
              <a:t>(1/2)</a:t>
            </a:r>
            <a:endParaRPr lang="en-US" sz="2400" b="0" u="none" strike="noStrike">
              <a:solidFill>
                <a:srgbClr val="000000"/>
              </a:solidFill>
              <a:effectLst/>
              <a:uFillTx/>
              <a:latin typeface="Arial"/>
            </a:endParaRPr>
          </a:p>
        </p:txBody>
      </p:sp>
      <p:sp>
        <p:nvSpPr>
          <p:cNvPr id="2430"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431" name="hdr-hair"/>
          <p:cNvCxnSpPr/>
          <p:nvPr/>
        </p:nvCxnSpPr>
        <p:spPr>
          <a:xfrm>
            <a:off x="502920" y="969120"/>
            <a:ext cx="11186280" cy="720"/>
          </a:xfrm>
          <a:prstGeom prst="straightConnector1">
            <a:avLst/>
          </a:prstGeom>
          <a:ln w="9525">
            <a:solidFill>
              <a:srgbClr val="D5DBE5"/>
            </a:solidFill>
            <a:round/>
          </a:ln>
        </p:spPr>
      </p:cxnSp>
      <p:cxnSp>
        <p:nvCxnSpPr>
          <p:cNvPr id="2432" name="ftr-hair"/>
          <p:cNvCxnSpPr/>
          <p:nvPr/>
        </p:nvCxnSpPr>
        <p:spPr>
          <a:xfrm>
            <a:off x="502920" y="6382440"/>
            <a:ext cx="11186280" cy="720"/>
          </a:xfrm>
          <a:prstGeom prst="straightConnector1">
            <a:avLst/>
          </a:prstGeom>
          <a:ln w="9525">
            <a:solidFill>
              <a:srgbClr val="D5DBE5"/>
            </a:solidFill>
            <a:round/>
          </a:ln>
        </p:spPr>
      </p:cxnSp>
      <p:sp>
        <p:nvSpPr>
          <p:cNvPr id="2433"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71 / 85</a:t>
            </a:r>
            <a:endParaRPr lang="en-US" sz="1100" b="0" u="none" strike="noStrike">
              <a:solidFill>
                <a:srgbClr val="000000"/>
              </a:solidFill>
              <a:effectLst/>
              <a:uFillTx/>
              <a:latin typeface="Arial"/>
            </a:endParaRPr>
          </a:p>
        </p:txBody>
      </p:sp>
      <p:sp>
        <p:nvSpPr>
          <p:cNvPr id="2434"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435"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436"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437"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8"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9"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情報は区分ごとに取扱を定め、アクセスは</a:t>
            </a:r>
            <a:r>
              <a:rPr lang="en-US" sz="1500" b="1" u="none" strike="noStrike">
                <a:solidFill>
                  <a:srgbClr val="16213E"/>
                </a:solidFill>
                <a:effectLst/>
                <a:uFillTx/>
                <a:latin typeface="BIZ UDPゴシック"/>
                <a:ea typeface="BIZ UDPゴシック"/>
              </a:rPr>
              <a:t>SSO</a:t>
            </a:r>
            <a:r>
              <a:rPr lang="ja-JP" sz="1500" b="1" u="none" strike="noStrike">
                <a:solidFill>
                  <a:srgbClr val="16213E"/>
                </a:solidFill>
                <a:effectLst/>
                <a:uFillTx/>
                <a:latin typeface="BIZ UDPゴシック"/>
                <a:ea typeface="BIZ UDPゴシック"/>
              </a:rPr>
              <a:t>と多要素認証で統制する</a:t>
            </a:r>
            <a:endParaRPr lang="en-US" sz="1500" b="0" u="none" strike="noStrike">
              <a:solidFill>
                <a:srgbClr val="000000"/>
              </a:solidFill>
              <a:effectLst/>
              <a:uFillTx/>
              <a:latin typeface="Arial"/>
            </a:endParaRPr>
          </a:p>
        </p:txBody>
      </p:sp>
      <p:graphicFrame>
        <p:nvGraphicFramePr>
          <p:cNvPr id="2440" name="blk-table"/>
          <p:cNvGraphicFramePr/>
          <p:nvPr/>
        </p:nvGraphicFramePr>
        <p:xfrm>
          <a:off x="502920" y="1627560"/>
          <a:ext cx="11184840" cy="1446120"/>
        </p:xfrm>
        <a:graphic>
          <a:graphicData uri="http://schemas.openxmlformats.org/drawingml/2006/table">
            <a:tbl>
              <a:tblPr/>
              <a:tblGrid>
                <a:gridCol w="1342080"/>
                <a:gridCol w="3355560"/>
                <a:gridCol w="6487560"/>
              </a:tblGrid>
              <a:tr h="294840">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情報区分</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例</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取扱ルール</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公開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公表資料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社外共有可。出所を明記する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社内</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設計書・課題台帳</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社内ネットワークからのみ閲覧し、持出しは承認制とする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400" b="0" u="none" strike="noStrike">
                          <a:solidFill>
                            <a:srgbClr val="1F2937"/>
                          </a:solidFill>
                          <a:effectLst/>
                          <a:uFillTx/>
                          <a:latin typeface="BIZ UDPゴシック"/>
                          <a:ea typeface="BIZ UDPゴシック"/>
                        </a:rPr>
                        <a:t>機密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個人情報・経費明細</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暗号化を必須とし、共有は最小権限、外部持出しは禁止する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
        <p:nvSpPr>
          <p:cNvPr id="2441" name="blk-bullets"/>
          <p:cNvSpPr/>
          <p:nvPr/>
        </p:nvSpPr>
        <p:spPr>
          <a:xfrm>
            <a:off x="502920" y="4005000"/>
            <a:ext cx="11185200" cy="22485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アクセスは</a:t>
            </a:r>
            <a:r>
              <a:rPr lang="en-US" sz="1400" b="0" u="none" strike="noStrike">
                <a:solidFill>
                  <a:srgbClr val="1F2937"/>
                </a:solidFill>
                <a:effectLst/>
                <a:uFillTx/>
                <a:latin typeface="BIZ UDPゴシック"/>
                <a:ea typeface="BIZ UDPゴシック"/>
              </a:rPr>
              <a:t>SSO (IdP</a:t>
            </a:r>
            <a:r>
              <a:rPr lang="ja-JP" sz="1400" b="0" u="none" strike="noStrike">
                <a:solidFill>
                  <a:srgbClr val="1F2937"/>
                </a:solidFill>
                <a:effectLst/>
                <a:uFillTx/>
                <a:latin typeface="BIZ UDPゴシック"/>
                <a:ea typeface="BIZ UDPゴシック"/>
              </a:rPr>
              <a:t>連携</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と多要素認証を必須とする。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権限は職務に応じて最小化し、四半期ごとに棚卸しする。</a:t>
            </a:r>
            <a:endParaRPr lang="en-US" sz="1400" b="0" u="none" strike="noStrike">
              <a:solidFill>
                <a:srgbClr val="000000"/>
              </a:solidFill>
              <a:effectLst/>
              <a:uFillTx/>
              <a:latin typeface="Arial"/>
            </a:endParaRPr>
          </a:p>
          <a:p>
            <a:pPr defTabSz="457200">
              <a:lnSpc>
                <a:spcPct val="122000"/>
              </a:lnSpc>
              <a:spcAft>
                <a:spcPts val="400"/>
              </a:spcAft>
            </a:pPr>
            <a:r>
              <a:rPr lang="en-US" sz="1000" b="0" u="none" strike="noStrike">
                <a:solidFill>
                  <a:srgbClr val="16213E"/>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 操作ログと管理ログを取得し</a:t>
            </a: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年間保管する。</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44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05</a:t>
            </a:r>
            <a:endParaRPr lang="en-US" sz="1500" b="0" u="none" strike="noStrike">
              <a:solidFill>
                <a:srgbClr val="FFFFFF"/>
              </a:solidFill>
              <a:effectLst/>
              <a:uFillTx/>
              <a:latin typeface="Arial"/>
            </a:endParaRPr>
          </a:p>
        </p:txBody>
      </p:sp>
      <p:sp>
        <p:nvSpPr>
          <p:cNvPr id="244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プロジェクト管理計画</a:t>
            </a:r>
            <a:endParaRPr lang="en-US" sz="1100" b="0" u="none" strike="noStrike">
              <a:solidFill>
                <a:srgbClr val="000000"/>
              </a:solidFill>
              <a:effectLst/>
              <a:uFillTx/>
              <a:latin typeface="Arial"/>
            </a:endParaRPr>
          </a:p>
        </p:txBody>
      </p:sp>
      <p:sp>
        <p:nvSpPr>
          <p:cNvPr id="2446"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47"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48"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49"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50" name="hdr-bar"/>
          <p:cNvSpPr/>
          <p:nvPr/>
        </p:nvSpPr>
        <p:spPr>
          <a:xfrm>
            <a:off x="1099368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51" name="hdr-bar"/>
          <p:cNvSpPr/>
          <p:nvPr/>
        </p:nvSpPr>
        <p:spPr>
          <a:xfrm>
            <a:off x="1124064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5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5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45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5.11 </a:t>
            </a:r>
            <a:r>
              <a:rPr lang="ja-JP" sz="2400" b="1" u="none" strike="noStrike">
                <a:solidFill>
                  <a:srgbClr val="16213E"/>
                </a:solidFill>
                <a:effectLst/>
                <a:uFillTx/>
                <a:latin typeface="BIZ UDPゴシック"/>
                <a:ea typeface="BIZ UDPゴシック"/>
              </a:rPr>
              <a:t>情報セキュリティ管理 ─ インシデント対応と個人情報</a:t>
            </a:r>
            <a:endParaRPr lang="en-US" sz="2400" b="0" u="none" strike="noStrike">
              <a:solidFill>
                <a:srgbClr val="000000"/>
              </a:solidFill>
              <a:effectLst/>
              <a:uFillTx/>
              <a:latin typeface="Arial"/>
            </a:endParaRPr>
          </a:p>
        </p:txBody>
      </p:sp>
      <p:sp>
        <p:nvSpPr>
          <p:cNvPr id="245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456" name="hdr-hair"/>
          <p:cNvCxnSpPr/>
          <p:nvPr/>
        </p:nvCxnSpPr>
        <p:spPr>
          <a:xfrm>
            <a:off x="502920" y="969120"/>
            <a:ext cx="11186280" cy="720"/>
          </a:xfrm>
          <a:prstGeom prst="straightConnector1">
            <a:avLst/>
          </a:prstGeom>
          <a:ln w="9525">
            <a:solidFill>
              <a:srgbClr val="D5DBE5"/>
            </a:solidFill>
            <a:round/>
          </a:ln>
        </p:spPr>
      </p:cxnSp>
      <p:cxnSp>
        <p:nvCxnSpPr>
          <p:cNvPr id="2457" name="ftr-hair"/>
          <p:cNvCxnSpPr/>
          <p:nvPr/>
        </p:nvCxnSpPr>
        <p:spPr>
          <a:xfrm>
            <a:off x="502920" y="6382440"/>
            <a:ext cx="11186280" cy="720"/>
          </a:xfrm>
          <a:prstGeom prst="straightConnector1">
            <a:avLst/>
          </a:prstGeom>
          <a:ln w="9525">
            <a:solidFill>
              <a:srgbClr val="D5DBE5"/>
            </a:solidFill>
            <a:round/>
          </a:ln>
        </p:spPr>
      </p:cxnSp>
      <p:sp>
        <p:nvSpPr>
          <p:cNvPr id="245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72 / 85</a:t>
            </a:r>
            <a:endParaRPr lang="en-US" sz="1100" b="0" u="none" strike="noStrike">
              <a:solidFill>
                <a:srgbClr val="000000"/>
              </a:solidFill>
              <a:effectLst/>
              <a:uFillTx/>
              <a:latin typeface="Arial"/>
            </a:endParaRPr>
          </a:p>
        </p:txBody>
      </p:sp>
      <p:sp>
        <p:nvSpPr>
          <p:cNvPr id="245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46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46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46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6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6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事故時は発覚後</a:t>
            </a:r>
            <a:r>
              <a:rPr lang="en-US" sz="1500" b="1" u="none" strike="noStrike">
                <a:solidFill>
                  <a:srgbClr val="16213E"/>
                </a:solidFill>
                <a:effectLst/>
                <a:uFillTx/>
                <a:latin typeface="BIZ UDPゴシック"/>
                <a:ea typeface="BIZ UDPゴシック"/>
              </a:rPr>
              <a:t>1</a:t>
            </a:r>
            <a:r>
              <a:rPr lang="ja-JP" sz="1500" b="1" u="none" strike="noStrike">
                <a:solidFill>
                  <a:srgbClr val="16213E"/>
                </a:solidFill>
                <a:effectLst/>
                <a:uFillTx/>
                <a:latin typeface="BIZ UDPゴシック"/>
                <a:ea typeface="BIZ UDPゴシック"/>
              </a:rPr>
              <a:t>時間以内に一次連絡し、個人情報は最小限取得する</a:t>
            </a:r>
            <a:endParaRPr lang="en-US" sz="1500" b="0" u="none" strike="noStrike">
              <a:solidFill>
                <a:srgbClr val="000000"/>
              </a:solidFill>
              <a:effectLst/>
              <a:uFillTx/>
              <a:latin typeface="Arial"/>
            </a:endParaRPr>
          </a:p>
        </p:txBody>
      </p:sp>
      <p:sp>
        <p:nvSpPr>
          <p:cNvPr id="2465" name="blk-bullets"/>
          <p:cNvSpPr/>
          <p:nvPr/>
        </p:nvSpPr>
        <p:spPr>
          <a:xfrm>
            <a:off x="502920" y="1627560"/>
            <a:ext cx="11185200" cy="31356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400"/>
              </a:spcAft>
            </a:pPr>
            <a:r>
              <a:rPr lang="en-US" sz="1400" b="1" u="none" strike="noStrike">
                <a:solidFill>
                  <a:srgbClr val="16213E"/>
                </a:solidFill>
                <a:effectLst/>
                <a:uFillTx/>
                <a:latin typeface="BIZ UDPゴシック"/>
                <a:ea typeface="BIZ UDPゴシック"/>
              </a:rPr>
              <a:t>1.</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検知した担当は発覚後</a:t>
            </a: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時間以内に一次連絡を行う。</a:t>
            </a:r>
            <a:endParaRPr lang="en-US" sz="1400" b="0" u="none" strike="noStrike">
              <a:solidFill>
                <a:srgbClr val="000000"/>
              </a:solidFill>
              <a:effectLst/>
              <a:uFillTx/>
              <a:latin typeface="Arial"/>
            </a:endParaRPr>
          </a:p>
          <a:p>
            <a:pPr defTabSz="457200">
              <a:lnSpc>
                <a:spcPct val="122000"/>
              </a:lnSpc>
              <a:spcAft>
                <a:spcPts val="400"/>
              </a:spcAft>
            </a:pPr>
            <a:r>
              <a:rPr lang="en-US" sz="1400" b="1" u="none" strike="noStrike">
                <a:solidFill>
                  <a:srgbClr val="16213E"/>
                </a:solidFill>
                <a:effectLst/>
                <a:uFillTx/>
                <a:latin typeface="BIZ UDPゴシック"/>
                <a:ea typeface="BIZ UDPゴシック"/>
              </a:rPr>
              <a:t>2.</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影響範囲と原因を調査し、</a:t>
            </a:r>
            <a:r>
              <a:rPr lang="en-US" sz="1400" b="0" u="none" strike="noStrike">
                <a:solidFill>
                  <a:srgbClr val="1F2937"/>
                </a:solidFill>
                <a:effectLst/>
                <a:uFillTx/>
                <a:latin typeface="BIZ UDPゴシック"/>
                <a:ea typeface="BIZ UDPゴシック"/>
              </a:rPr>
              <a:t>24</a:t>
            </a:r>
            <a:r>
              <a:rPr lang="ja-JP" sz="1400" b="0" u="none" strike="noStrike">
                <a:solidFill>
                  <a:srgbClr val="1F2937"/>
                </a:solidFill>
                <a:effectLst/>
                <a:uFillTx/>
                <a:latin typeface="BIZ UDPゴシック"/>
                <a:ea typeface="BIZ UDPゴシック"/>
              </a:rPr>
              <a:t>時間以内に中間報告する。</a:t>
            </a:r>
            <a:endParaRPr lang="en-US" sz="1400" b="0" u="none" strike="noStrike">
              <a:solidFill>
                <a:srgbClr val="000000"/>
              </a:solidFill>
              <a:effectLst/>
              <a:uFillTx/>
              <a:latin typeface="Arial"/>
            </a:endParaRPr>
          </a:p>
          <a:p>
            <a:pPr defTabSz="457200">
              <a:lnSpc>
                <a:spcPct val="122000"/>
              </a:lnSpc>
              <a:spcAft>
                <a:spcPts val="400"/>
              </a:spcAft>
            </a:pPr>
            <a:r>
              <a:rPr lang="en-US" sz="1400" b="1" u="none" strike="noStrike">
                <a:solidFill>
                  <a:srgbClr val="16213E"/>
                </a:solidFill>
                <a:effectLst/>
                <a:uFillTx/>
                <a:latin typeface="BIZ UDPゴシック"/>
                <a:ea typeface="BIZ UDPゴシック"/>
              </a:rPr>
              <a:t>3.</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貴社情報システム部と当社の窓口で初動を協議する。</a:t>
            </a:r>
            <a:endParaRPr lang="en-US" sz="1400" b="0" u="none" strike="noStrike">
              <a:solidFill>
                <a:srgbClr val="000000"/>
              </a:solidFill>
              <a:effectLst/>
              <a:uFillTx/>
              <a:latin typeface="Arial"/>
            </a:endParaRPr>
          </a:p>
          <a:p>
            <a:pPr defTabSz="457200">
              <a:lnSpc>
                <a:spcPct val="122000"/>
              </a:lnSpc>
              <a:spcAft>
                <a:spcPts val="400"/>
              </a:spcAft>
            </a:pPr>
            <a:r>
              <a:rPr lang="en-US" sz="1400" b="1" u="none" strike="noStrike">
                <a:solidFill>
                  <a:srgbClr val="16213E"/>
                </a:solidFill>
                <a:effectLst/>
                <a:uFillTx/>
                <a:latin typeface="BIZ UDPゴシック"/>
                <a:ea typeface="BIZ UDPゴシック"/>
              </a:rPr>
              <a:t>4.</a:t>
            </a:r>
            <a:r>
              <a:rPr lang="en-US" sz="1400" b="0" u="none" strike="noStrike">
                <a:solidFill>
                  <a:srgbClr val="1F2937"/>
                </a:solidFill>
                <a:effectLst/>
                <a:uFillTx/>
                <a:latin typeface="BIZ UDPゴシック"/>
                <a:ea typeface="BIZ UDPゴシック"/>
              </a:rPr>
              <a:t> </a:t>
            </a:r>
            <a:r>
              <a:rPr lang="ja-JP" sz="1400" b="0" u="none" strike="noStrike">
                <a:solidFill>
                  <a:srgbClr val="1F2937"/>
                </a:solidFill>
                <a:effectLst/>
                <a:uFillTx/>
                <a:latin typeface="BIZ UDPゴシック"/>
                <a:ea typeface="BIZ UDPゴシック"/>
              </a:rPr>
              <a:t>再発防止策を定め、</a:t>
            </a: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週間以内に報告書を提出する。</a:t>
            </a:r>
            <a:endParaRPr lang="en-US" sz="1400" b="0" u="none" strike="noStrike">
              <a:solidFill>
                <a:srgbClr val="000000"/>
              </a:solidFill>
              <a:effectLst/>
              <a:uFillTx/>
              <a:latin typeface="Arial"/>
            </a:endParaRPr>
          </a:p>
        </p:txBody>
      </p:sp>
      <p:sp>
        <p:nvSpPr>
          <p:cNvPr id="2466" name="blk-callout"/>
          <p:cNvSpPr/>
          <p:nvPr/>
        </p:nvSpPr>
        <p:spPr>
          <a:xfrm>
            <a:off x="502920" y="4892040"/>
            <a:ext cx="11185200" cy="523440"/>
          </a:xfrm>
          <a:prstGeom prst="roundRect">
            <a:avLst>
              <a:gd name="adj" fmla="val 8000"/>
            </a:avLst>
          </a:prstGeom>
          <a:solidFill>
            <a:srgbClr val="EEF3FD"/>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個人情報は経費精算対象者約</a:t>
            </a:r>
            <a:r>
              <a:rPr lang="en-US" sz="1200" b="0" u="none" strike="noStrike">
                <a:solidFill>
                  <a:srgbClr val="1F2937"/>
                </a:solidFill>
                <a:effectLst/>
                <a:uFillTx/>
                <a:latin typeface="BIZ UDPゴシック"/>
                <a:ea typeface="BIZ UDPゴシック"/>
              </a:rPr>
              <a:t>1,200</a:t>
            </a:r>
            <a:r>
              <a:rPr lang="ja-JP" sz="1200" b="0" u="none" strike="noStrike">
                <a:solidFill>
                  <a:srgbClr val="1F2937"/>
                </a:solidFill>
                <a:effectLst/>
                <a:uFillTx/>
                <a:latin typeface="BIZ UDPゴシック"/>
                <a:ea typeface="BIZ UDPゴシック"/>
              </a:rPr>
              <a:t>名分を最小限取得し、暗号化して保管する。</a:t>
            </a:r>
            <a:endParaRPr lang="en-US" sz="1200" b="0" u="none" strike="noStrike">
              <a:solidFill>
                <a:srgbClr val="000000"/>
              </a:solidFill>
              <a:effectLst/>
              <a:uFillTx/>
              <a:latin typeface="Arial"/>
            </a:endParaRPr>
          </a:p>
        </p:txBody>
      </p:sp>
      <p:sp>
        <p:nvSpPr>
          <p:cNvPr id="2467" name="blk-callout"/>
          <p:cNvSpPr/>
          <p:nvPr/>
        </p:nvSpPr>
        <p:spPr>
          <a:xfrm>
            <a:off x="502920" y="5544360"/>
            <a:ext cx="11185200" cy="709560"/>
          </a:xfrm>
          <a:prstGeom prst="roundRect">
            <a:avLst>
              <a:gd name="adj" fmla="val 8000"/>
            </a:avLst>
          </a:prstGeom>
          <a:solidFill>
            <a:srgbClr val="FCF4EB"/>
          </a:solidFill>
          <a:ln w="12700">
            <a:solidFill>
              <a:srgbClr val="D9770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tIns="45000" rIns="109800" bIns="45000" anchor="ctr">
            <a:noAutofit/>
          </a:bodyPr>
          <a:p>
            <a:pPr defTabSz="457200">
              <a:lnSpc>
                <a:spcPct val="120000"/>
              </a:lnSpc>
            </a:pPr>
            <a:r>
              <a:rPr lang="ja-JP" sz="1200" b="0" u="none" strike="noStrike">
                <a:solidFill>
                  <a:srgbClr val="1F2937"/>
                </a:solidFill>
                <a:effectLst/>
                <a:uFillTx/>
                <a:latin typeface="BIZ UDPゴシック"/>
                <a:ea typeface="BIZ UDPゴシック"/>
              </a:rPr>
              <a:t>提案前提</a:t>
            </a:r>
            <a:r>
              <a:rPr lang="en-US" sz="1200" b="0" u="none" strike="noStrike">
                <a:solidFill>
                  <a:srgbClr val="1F2937"/>
                </a:solidFill>
                <a:effectLst/>
                <a:uFillTx/>
                <a:latin typeface="BIZ UDPゴシック"/>
                <a:ea typeface="BIZ UDPゴシック"/>
              </a:rPr>
              <a:t>: </a:t>
            </a:r>
            <a:r>
              <a:rPr lang="ja-JP" sz="1200" b="0" u="none" strike="noStrike">
                <a:solidFill>
                  <a:srgbClr val="1F2937"/>
                </a:solidFill>
                <a:effectLst/>
                <a:uFillTx/>
                <a:latin typeface="BIZ UDPゴシック"/>
                <a:ea typeface="BIZ UDPゴシック"/>
              </a:rPr>
              <a:t>クラウドサービスは</a:t>
            </a:r>
            <a:r>
              <a:rPr lang="en-US" sz="1200" b="0" u="none" strike="noStrike">
                <a:solidFill>
                  <a:srgbClr val="1F2937"/>
                </a:solidFill>
                <a:effectLst/>
                <a:uFillTx/>
                <a:latin typeface="BIZ UDPゴシック"/>
                <a:ea typeface="BIZ UDPゴシック"/>
              </a:rPr>
              <a:t>ISMAP</a:t>
            </a:r>
            <a:r>
              <a:rPr lang="ja-JP" sz="1200" b="0" u="none" strike="noStrike">
                <a:solidFill>
                  <a:srgbClr val="1F2937"/>
                </a:solidFill>
                <a:effectLst/>
                <a:uFillTx/>
                <a:latin typeface="BIZ UDPゴシック"/>
                <a:ea typeface="BIZ UDPゴシック"/>
              </a:rPr>
              <a:t>または</a:t>
            </a:r>
            <a:r>
              <a:rPr lang="en-US" sz="1200" b="0" u="none" strike="noStrike">
                <a:solidFill>
                  <a:srgbClr val="1F2937"/>
                </a:solidFill>
                <a:effectLst/>
                <a:uFillTx/>
                <a:latin typeface="BIZ UDPゴシック"/>
                <a:ea typeface="BIZ UDPゴシック"/>
              </a:rPr>
              <a:t>ISMAP-LIU</a:t>
            </a:r>
            <a:r>
              <a:rPr lang="ja-JP" sz="1200" b="0" u="none" strike="noStrike">
                <a:solidFill>
                  <a:srgbClr val="1F2937"/>
                </a:solidFill>
                <a:effectLst/>
                <a:uFillTx/>
                <a:latin typeface="BIZ UDPゴシック"/>
                <a:ea typeface="BIZ UDPゴシック"/>
              </a:rPr>
              <a:t>に登録済み、または同等の統制を</a:t>
            </a:r>
            <a:r>
              <a:rPr lang="en-US" sz="1200" b="0" u="none" strike="noStrike">
                <a:solidFill>
                  <a:srgbClr val="1F2937"/>
                </a:solidFill>
                <a:effectLst/>
                <a:uFillTx/>
                <a:latin typeface="BIZ UDPゴシック"/>
                <a:ea typeface="BIZ UDPゴシック"/>
              </a:rPr>
              <a:t>2027/03</a:t>
            </a:r>
            <a:r>
              <a:rPr lang="ja-JP" sz="1200" b="0" u="none" strike="noStrike">
                <a:solidFill>
                  <a:srgbClr val="1F2937"/>
                </a:solidFill>
                <a:effectLst/>
                <a:uFillTx/>
                <a:latin typeface="BIZ UDPゴシック"/>
                <a:ea typeface="BIZ UDPゴシック"/>
              </a:rPr>
              <a:t>末までに確認する </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確認責任者 貴社情報システム部</a:t>
            </a:r>
            <a:r>
              <a:rPr lang="en-US" sz="1200" b="0" u="none" strike="noStrike">
                <a:solidFill>
                  <a:srgbClr val="1F2937"/>
                </a:solidFill>
                <a:effectLst/>
                <a:uFillTx/>
                <a:latin typeface="BIZ UDPゴシック"/>
                <a:ea typeface="BIZ UDPゴシック"/>
              </a:rPr>
              <a:t>)</a:t>
            </a:r>
            <a:r>
              <a:rPr lang="ja-JP" sz="1200" b="0" u="none" strike="noStrike">
                <a:solidFill>
                  <a:srgbClr val="1F2937"/>
                </a:solidFill>
                <a:effectLst/>
                <a:uFillTx/>
                <a:latin typeface="BIZ UDPゴシック"/>
                <a:ea typeface="BIZ UDPゴシック"/>
              </a:rPr>
              <a:t>。未確認の場合は本番稼働前に追加統制の要否を</a:t>
            </a:r>
            <a:r>
              <a:rPr lang="en-US" sz="1200" b="0" u="none" strike="noStrike">
                <a:solidFill>
                  <a:srgbClr val="1F2937"/>
                </a:solidFill>
                <a:effectLst/>
                <a:uFillTx/>
                <a:latin typeface="BIZ UDPゴシック"/>
                <a:ea typeface="BIZ UDPゴシック"/>
              </a:rPr>
              <a:t>CCB</a:t>
            </a:r>
            <a:r>
              <a:rPr lang="ja-JP" sz="1200" b="0" u="none" strike="noStrike">
                <a:solidFill>
                  <a:srgbClr val="1F2937"/>
                </a:solidFill>
                <a:effectLst/>
                <a:uFillTx/>
                <a:latin typeface="BIZ UDPゴシック"/>
                <a:ea typeface="BIZ UDPゴシック"/>
              </a:rPr>
              <a:t>で判断する。</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8"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69"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70"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71"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72"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2473"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06</a:t>
            </a:r>
            <a:endParaRPr lang="en-US" sz="9600" b="0" u="none" strike="noStrike">
              <a:solidFill>
                <a:srgbClr val="000000"/>
              </a:solidFill>
              <a:effectLst/>
              <a:uFillTx/>
              <a:latin typeface="Arial"/>
            </a:endParaRPr>
          </a:p>
        </p:txBody>
      </p:sp>
      <p:sp>
        <p:nvSpPr>
          <p:cNvPr id="2474"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プロジェクトルール</a:t>
            </a:r>
            <a:endParaRPr lang="en-US" sz="4000" b="0" u="none" strike="noStrike">
              <a:solidFill>
                <a:srgbClr val="000000"/>
              </a:solidFill>
              <a:effectLst/>
              <a:uFillTx/>
              <a:latin typeface="Arial"/>
            </a:endParaRPr>
          </a:p>
        </p:txBody>
      </p:sp>
      <p:sp>
        <p:nvSpPr>
          <p:cNvPr id="2475" name="dv-dot-6.1"/>
          <p:cNvSpPr/>
          <p:nvPr/>
        </p:nvSpPr>
        <p:spPr>
          <a:xfrm>
            <a:off x="896040" y="411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476" name="dv-sec-6.1"/>
          <p:cNvSpPr/>
          <p:nvPr/>
        </p:nvSpPr>
        <p:spPr>
          <a:xfrm>
            <a:off x="1097280" y="404172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6.1  </a:t>
            </a:r>
            <a:r>
              <a:rPr lang="ja-JP" sz="1300" b="0" u="none" strike="noStrike">
                <a:solidFill>
                  <a:srgbClr val="D2E1FC"/>
                </a:solidFill>
                <a:effectLst/>
                <a:uFillTx/>
                <a:latin typeface="BIZ UDPゴシック"/>
                <a:ea typeface="BIZ UDPゴシック"/>
              </a:rPr>
              <a:t>運営ルール</a:t>
            </a:r>
            <a:endParaRPr lang="en-US" sz="1300" b="0" u="none" strike="noStrike">
              <a:solidFill>
                <a:srgbClr val="000000"/>
              </a:solidFill>
              <a:effectLst/>
              <a:uFillTx/>
              <a:latin typeface="Arial"/>
            </a:endParaRPr>
          </a:p>
        </p:txBody>
      </p:sp>
      <p:sp>
        <p:nvSpPr>
          <p:cNvPr id="2477" name="dv-dot-6.2"/>
          <p:cNvSpPr/>
          <p:nvPr/>
        </p:nvSpPr>
        <p:spPr>
          <a:xfrm>
            <a:off x="896040" y="43347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478" name="dv-sec-6.2"/>
          <p:cNvSpPr/>
          <p:nvPr/>
        </p:nvSpPr>
        <p:spPr>
          <a:xfrm>
            <a:off x="1097280" y="426456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6.2  ID</a:t>
            </a:r>
            <a:r>
              <a:rPr lang="ja-JP" sz="1300" b="0" u="none" strike="noStrike">
                <a:solidFill>
                  <a:srgbClr val="D2E1FC"/>
                </a:solidFill>
                <a:effectLst/>
                <a:uFillTx/>
                <a:latin typeface="BIZ UDPゴシック"/>
                <a:ea typeface="BIZ UDPゴシック"/>
              </a:rPr>
              <a:t>管理</a:t>
            </a:r>
            <a:endParaRPr lang="en-US" sz="1300" b="0" u="none" strike="noStrike">
              <a:solidFill>
                <a:srgbClr val="000000"/>
              </a:solidFill>
              <a:effectLst/>
              <a:uFillTx/>
              <a:latin typeface="Arial"/>
            </a:endParaRPr>
          </a:p>
        </p:txBody>
      </p:sp>
      <p:sp>
        <p:nvSpPr>
          <p:cNvPr id="2479" name="dv-dot-6.3"/>
          <p:cNvSpPr/>
          <p:nvPr/>
        </p:nvSpPr>
        <p:spPr>
          <a:xfrm>
            <a:off x="896040" y="45576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480" name="dv-sec-6.3"/>
          <p:cNvSpPr/>
          <p:nvPr/>
        </p:nvSpPr>
        <p:spPr>
          <a:xfrm>
            <a:off x="1097280" y="448740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6.3  </a:t>
            </a:r>
            <a:r>
              <a:rPr lang="ja-JP" sz="1300" b="0" u="none" strike="noStrike">
                <a:solidFill>
                  <a:srgbClr val="D2E1FC"/>
                </a:solidFill>
                <a:effectLst/>
                <a:uFillTx/>
                <a:latin typeface="BIZ UDPゴシック"/>
                <a:ea typeface="BIZ UDPゴシック"/>
              </a:rPr>
              <a:t>略称・コード</a:t>
            </a:r>
            <a:endParaRPr lang="en-US" sz="1300" b="0" u="none" strike="noStrike">
              <a:solidFill>
                <a:srgbClr val="000000"/>
              </a:solidFill>
              <a:effectLst/>
              <a:uFillTx/>
              <a:latin typeface="Arial"/>
            </a:endParaRPr>
          </a:p>
        </p:txBody>
      </p:sp>
      <p:sp>
        <p:nvSpPr>
          <p:cNvPr id="2481" name="dv-dot-6.4"/>
          <p:cNvSpPr/>
          <p:nvPr/>
        </p:nvSpPr>
        <p:spPr>
          <a:xfrm>
            <a:off x="896040" y="478044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482" name="dv-sec-6.4"/>
          <p:cNvSpPr/>
          <p:nvPr/>
        </p:nvSpPr>
        <p:spPr>
          <a:xfrm>
            <a:off x="1097280" y="471024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6.4  </a:t>
            </a:r>
            <a:r>
              <a:rPr lang="ja-JP" sz="1300" b="0" u="none" strike="noStrike">
                <a:solidFill>
                  <a:srgbClr val="D2E1FC"/>
                </a:solidFill>
                <a:effectLst/>
                <a:uFillTx/>
                <a:latin typeface="BIZ UDPゴシック"/>
                <a:ea typeface="BIZ UDPゴシック"/>
              </a:rPr>
              <a:t>ファイル命名規約</a:t>
            </a:r>
            <a:endParaRPr lang="en-US" sz="1300" b="0" u="none" strike="noStrike">
              <a:solidFill>
                <a:srgbClr val="000000"/>
              </a:solidFill>
              <a:effectLst/>
              <a:uFillTx/>
              <a:latin typeface="Arial"/>
            </a:endParaRPr>
          </a:p>
        </p:txBody>
      </p:sp>
      <p:sp>
        <p:nvSpPr>
          <p:cNvPr id="2483"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73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8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48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06</a:t>
            </a:r>
            <a:endParaRPr lang="en-US" sz="1500" b="0" u="none" strike="noStrike">
              <a:solidFill>
                <a:srgbClr val="FFFFFF"/>
              </a:solidFill>
              <a:effectLst/>
              <a:uFillTx/>
              <a:latin typeface="Arial"/>
            </a:endParaRPr>
          </a:p>
        </p:txBody>
      </p:sp>
      <p:sp>
        <p:nvSpPr>
          <p:cNvPr id="248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プロジェクトルール</a:t>
            </a:r>
            <a:endParaRPr lang="en-US" sz="1100" b="0" u="none" strike="noStrike">
              <a:solidFill>
                <a:srgbClr val="000000"/>
              </a:solidFill>
              <a:effectLst/>
              <a:uFillTx/>
              <a:latin typeface="Arial"/>
            </a:endParaRPr>
          </a:p>
        </p:txBody>
      </p:sp>
      <p:sp>
        <p:nvSpPr>
          <p:cNvPr id="248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8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2"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3" name="hdr-bar"/>
          <p:cNvSpPr/>
          <p:nvPr/>
        </p:nvSpPr>
        <p:spPr>
          <a:xfrm>
            <a:off x="1124064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4"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49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49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6.1 </a:t>
            </a:r>
            <a:r>
              <a:rPr lang="ja-JP" sz="2400" b="1" u="none" strike="noStrike">
                <a:solidFill>
                  <a:srgbClr val="16213E"/>
                </a:solidFill>
                <a:effectLst/>
                <a:uFillTx/>
                <a:latin typeface="BIZ UDPゴシック"/>
                <a:ea typeface="BIZ UDPゴシック"/>
              </a:rPr>
              <a:t>運営ルール</a:t>
            </a:r>
            <a:endParaRPr lang="en-US" sz="2400" b="0" u="none" strike="noStrike">
              <a:solidFill>
                <a:srgbClr val="000000"/>
              </a:solidFill>
              <a:effectLst/>
              <a:uFillTx/>
              <a:latin typeface="Arial"/>
            </a:endParaRPr>
          </a:p>
        </p:txBody>
      </p:sp>
      <p:sp>
        <p:nvSpPr>
          <p:cNvPr id="249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498" name="hdr-hair"/>
          <p:cNvCxnSpPr/>
          <p:nvPr/>
        </p:nvCxnSpPr>
        <p:spPr>
          <a:xfrm>
            <a:off x="502920" y="969120"/>
            <a:ext cx="11186280" cy="720"/>
          </a:xfrm>
          <a:prstGeom prst="straightConnector1">
            <a:avLst/>
          </a:prstGeom>
          <a:ln w="9525">
            <a:solidFill>
              <a:srgbClr val="D5DBE5"/>
            </a:solidFill>
            <a:round/>
          </a:ln>
        </p:spPr>
      </p:cxnSp>
      <p:cxnSp>
        <p:nvCxnSpPr>
          <p:cNvPr id="2499" name="ftr-hair"/>
          <p:cNvCxnSpPr/>
          <p:nvPr/>
        </p:nvCxnSpPr>
        <p:spPr>
          <a:xfrm>
            <a:off x="502920" y="6382440"/>
            <a:ext cx="11186280" cy="720"/>
          </a:xfrm>
          <a:prstGeom prst="straightConnector1">
            <a:avLst/>
          </a:prstGeom>
          <a:ln w="9525">
            <a:solidFill>
              <a:srgbClr val="D5DBE5"/>
            </a:solidFill>
            <a:round/>
          </a:ln>
        </p:spPr>
      </p:cxnSp>
      <p:sp>
        <p:nvSpPr>
          <p:cNvPr id="250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74 / 85</a:t>
            </a:r>
            <a:endParaRPr lang="en-US" sz="1100" b="0" u="none" strike="noStrike">
              <a:solidFill>
                <a:srgbClr val="000000"/>
              </a:solidFill>
              <a:effectLst/>
              <a:uFillTx/>
              <a:latin typeface="Arial"/>
            </a:endParaRPr>
          </a:p>
        </p:txBody>
      </p:sp>
      <p:sp>
        <p:nvSpPr>
          <p:cNvPr id="250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50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50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50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0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0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勤務・工数・情報持出し等の運営ルールを定め日々の作業を統一する</a:t>
            </a:r>
            <a:endParaRPr lang="en-US" sz="1500" b="0" u="none" strike="noStrike">
              <a:solidFill>
                <a:srgbClr val="000000"/>
              </a:solidFill>
              <a:effectLst/>
              <a:uFillTx/>
              <a:latin typeface="Arial"/>
            </a:endParaRPr>
          </a:p>
        </p:txBody>
      </p:sp>
      <p:graphicFrame>
        <p:nvGraphicFramePr>
          <p:cNvPr id="2507" name="blk-table"/>
          <p:cNvGraphicFramePr/>
          <p:nvPr/>
        </p:nvGraphicFramePr>
        <p:xfrm>
          <a:off x="502920" y="1627560"/>
          <a:ext cx="11185200" cy="2981160"/>
        </p:xfrm>
        <a:graphic>
          <a:graphicData uri="http://schemas.openxmlformats.org/drawingml/2006/table">
            <a:tbl>
              <a:tblPr/>
              <a:tblGrid>
                <a:gridCol w="2684520"/>
                <a:gridCol w="850104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項目</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ルール</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作業時間</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標準作業時間は</a:t>
                      </a:r>
                      <a:r>
                        <a:rPr lang="en-US" sz="1400" b="0" u="none" strike="noStrike">
                          <a:solidFill>
                            <a:srgbClr val="1F2937"/>
                          </a:solidFill>
                          <a:effectLst/>
                          <a:uFillTx/>
                          <a:latin typeface="BIZ UDPゴシック"/>
                          <a:ea typeface="BIZ UDPゴシック"/>
                        </a:rPr>
                        <a:t>9:00</a:t>
                      </a:r>
                      <a:r>
                        <a:rPr lang="ja-JP" sz="1400" b="0" u="none" strike="noStrike">
                          <a:solidFill>
                            <a:srgbClr val="1F2937"/>
                          </a:solidFill>
                          <a:effectLst/>
                          <a:uFillTx/>
                          <a:latin typeface="BIZ UDPゴシック"/>
                          <a:ea typeface="BIZ UDPゴシック"/>
                        </a:rPr>
                        <a:t>〜</a:t>
                      </a:r>
                      <a:r>
                        <a:rPr lang="en-US" sz="1400" b="0" u="none" strike="noStrike">
                          <a:solidFill>
                            <a:srgbClr val="1F2937"/>
                          </a:solidFill>
                          <a:effectLst/>
                          <a:uFillTx/>
                          <a:latin typeface="BIZ UDPゴシック"/>
                          <a:ea typeface="BIZ UDPゴシック"/>
                        </a:rPr>
                        <a:t>18:00</a:t>
                      </a:r>
                      <a:r>
                        <a:rPr lang="ja-JP" sz="1400" b="0" u="none" strike="noStrike">
                          <a:solidFill>
                            <a:srgbClr val="1F2937"/>
                          </a:solidFill>
                          <a:effectLst/>
                          <a:uFillTx/>
                          <a:latin typeface="BIZ UDPゴシック"/>
                          <a:ea typeface="BIZ UDPゴシック"/>
                        </a:rPr>
                        <a:t>とし、時間外作業は事前申請する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工数報告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週次で工数を報告し、実績を管理する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経費精算</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プロジェクト経費は発生後</a:t>
                      </a:r>
                      <a:r>
                        <a:rPr lang="en-US" sz="1400" b="0" u="none" strike="noStrike">
                          <a:solidFill>
                            <a:srgbClr val="1F2937"/>
                          </a:solidFill>
                          <a:effectLst/>
                          <a:uFillTx/>
                          <a:latin typeface="BIZ UDPゴシック"/>
                          <a:ea typeface="BIZ UDPゴシック"/>
                        </a:rPr>
                        <a:t>1</a:t>
                      </a:r>
                      <a:r>
                        <a:rPr lang="ja-JP" sz="1400" b="0" u="none" strike="noStrike">
                          <a:solidFill>
                            <a:srgbClr val="1F2937"/>
                          </a:solidFill>
                          <a:effectLst/>
                          <a:uFillTx/>
                          <a:latin typeface="BIZ UDPゴシック"/>
                          <a:ea typeface="BIZ UDPゴシック"/>
                        </a:rPr>
                        <a:t>か月以内に精算する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情報持出し</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私物端末の業務利用を禁止し、貸与端末のみ使用する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成果物提出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レビュー依頼は会議の</a:t>
                      </a:r>
                      <a:r>
                        <a:rPr lang="en-US" sz="1400" b="0" u="none" strike="noStrike">
                          <a:solidFill>
                            <a:srgbClr val="1F2937"/>
                          </a:solidFill>
                          <a:effectLst/>
                          <a:uFillTx/>
                          <a:latin typeface="BIZ UDPゴシック"/>
                          <a:ea typeface="BIZ UDPゴシック"/>
                        </a:rPr>
                        <a:t>2</a:t>
                      </a:r>
                      <a:r>
                        <a:rPr lang="ja-JP" sz="1400" b="0" u="none" strike="noStrike">
                          <a:solidFill>
                            <a:srgbClr val="1F2937"/>
                          </a:solidFill>
                          <a:effectLst/>
                          <a:uFillTx/>
                          <a:latin typeface="BIZ UDPゴシック"/>
                          <a:ea typeface="BIZ UDPゴシック"/>
                        </a:rPr>
                        <a:t>営業日前までに提出する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参画・離任</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新規参画と離任は事前に届出し、秘密保持契約と貸与物を確認する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休暇・稼働連絡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休暇と稼働率の変更は前日</a:t>
                      </a:r>
                      <a:r>
                        <a:rPr lang="en-US" sz="1400" b="0" u="none" strike="noStrike">
                          <a:solidFill>
                            <a:srgbClr val="1F2937"/>
                          </a:solidFill>
                          <a:effectLst/>
                          <a:uFillTx/>
                          <a:latin typeface="BIZ UDPゴシック"/>
                          <a:ea typeface="BIZ UDPゴシック"/>
                        </a:rPr>
                        <a:t>17:00</a:t>
                      </a:r>
                      <a:r>
                        <a:rPr lang="ja-JP" sz="1400" b="0" u="none" strike="noStrike">
                          <a:solidFill>
                            <a:srgbClr val="1F2937"/>
                          </a:solidFill>
                          <a:effectLst/>
                          <a:uFillTx/>
                          <a:latin typeface="BIZ UDPゴシック"/>
                          <a:ea typeface="BIZ UDPゴシック"/>
                        </a:rPr>
                        <a:t>までに連絡する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8"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09"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10"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06</a:t>
            </a:r>
            <a:endParaRPr lang="en-US" sz="1500" b="0" u="none" strike="noStrike">
              <a:solidFill>
                <a:srgbClr val="FFFFFF"/>
              </a:solidFill>
              <a:effectLst/>
              <a:uFillTx/>
              <a:latin typeface="Arial"/>
            </a:endParaRPr>
          </a:p>
        </p:txBody>
      </p:sp>
      <p:sp>
        <p:nvSpPr>
          <p:cNvPr id="2511"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プロジェクトルール</a:t>
            </a:r>
            <a:endParaRPr lang="en-US" sz="1100" b="0" u="none" strike="noStrike">
              <a:solidFill>
                <a:srgbClr val="000000"/>
              </a:solidFill>
              <a:effectLst/>
              <a:uFillTx/>
              <a:latin typeface="Arial"/>
            </a:endParaRPr>
          </a:p>
        </p:txBody>
      </p:sp>
      <p:sp>
        <p:nvSpPr>
          <p:cNvPr id="2512"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3"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4"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5"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6"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7" name="hdr-bar"/>
          <p:cNvSpPr/>
          <p:nvPr/>
        </p:nvSpPr>
        <p:spPr>
          <a:xfrm>
            <a:off x="1124064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8"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19"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520"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6.2 ID</a:t>
            </a:r>
            <a:r>
              <a:rPr lang="ja-JP" sz="2400" b="1" u="none" strike="noStrike">
                <a:solidFill>
                  <a:srgbClr val="16213E"/>
                </a:solidFill>
                <a:effectLst/>
                <a:uFillTx/>
                <a:latin typeface="BIZ UDPゴシック"/>
                <a:ea typeface="BIZ UDPゴシック"/>
              </a:rPr>
              <a:t>管理</a:t>
            </a:r>
            <a:endParaRPr lang="en-US" sz="2400" b="0" u="none" strike="noStrike">
              <a:solidFill>
                <a:srgbClr val="000000"/>
              </a:solidFill>
              <a:effectLst/>
              <a:uFillTx/>
              <a:latin typeface="Arial"/>
            </a:endParaRPr>
          </a:p>
        </p:txBody>
      </p:sp>
      <p:sp>
        <p:nvSpPr>
          <p:cNvPr id="2521"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522" name="hdr-hair"/>
          <p:cNvCxnSpPr/>
          <p:nvPr/>
        </p:nvCxnSpPr>
        <p:spPr>
          <a:xfrm>
            <a:off x="502920" y="969120"/>
            <a:ext cx="11186280" cy="720"/>
          </a:xfrm>
          <a:prstGeom prst="straightConnector1">
            <a:avLst/>
          </a:prstGeom>
          <a:ln w="9525">
            <a:solidFill>
              <a:srgbClr val="D5DBE5"/>
            </a:solidFill>
            <a:round/>
          </a:ln>
        </p:spPr>
      </p:cxnSp>
      <p:cxnSp>
        <p:nvCxnSpPr>
          <p:cNvPr id="2523" name="ftr-hair"/>
          <p:cNvCxnSpPr/>
          <p:nvPr/>
        </p:nvCxnSpPr>
        <p:spPr>
          <a:xfrm>
            <a:off x="502920" y="6382440"/>
            <a:ext cx="11186280" cy="720"/>
          </a:xfrm>
          <a:prstGeom prst="straightConnector1">
            <a:avLst/>
          </a:prstGeom>
          <a:ln w="9525">
            <a:solidFill>
              <a:srgbClr val="D5DBE5"/>
            </a:solidFill>
            <a:round/>
          </a:ln>
        </p:spPr>
      </p:cxnSp>
      <p:sp>
        <p:nvSpPr>
          <p:cNvPr id="2524"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75 / 85</a:t>
            </a:r>
            <a:endParaRPr lang="en-US" sz="1100" b="0" u="none" strike="noStrike">
              <a:solidFill>
                <a:srgbClr val="000000"/>
              </a:solidFill>
              <a:effectLst/>
              <a:uFillTx/>
              <a:latin typeface="Arial"/>
            </a:endParaRPr>
          </a:p>
        </p:txBody>
      </p:sp>
      <p:sp>
        <p:nvSpPr>
          <p:cNvPr id="2525"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526"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527"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528"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29"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30"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台帳と本文で使う</a:t>
            </a:r>
            <a:r>
              <a:rPr lang="en-US" sz="1500" b="1" u="none" strike="noStrike">
                <a:solidFill>
                  <a:srgbClr val="16213E"/>
                </a:solidFill>
                <a:effectLst/>
                <a:uFillTx/>
                <a:latin typeface="BIZ UDPゴシック"/>
                <a:ea typeface="BIZ UDPゴシック"/>
              </a:rPr>
              <a:t>ID</a:t>
            </a:r>
            <a:r>
              <a:rPr lang="ja-JP" sz="1500" b="1" u="none" strike="noStrike">
                <a:solidFill>
                  <a:srgbClr val="16213E"/>
                </a:solidFill>
                <a:effectLst/>
                <a:uFillTx/>
                <a:latin typeface="BIZ UDPゴシック"/>
                <a:ea typeface="BIZ UDPゴシック"/>
              </a:rPr>
              <a:t>は</a:t>
            </a:r>
            <a:r>
              <a:rPr lang="en-US" sz="1500" b="1" u="none" strike="noStrike">
                <a:solidFill>
                  <a:srgbClr val="16213E"/>
                </a:solidFill>
                <a:effectLst/>
                <a:uFillTx/>
                <a:latin typeface="BIZ UDPゴシック"/>
                <a:ea typeface="BIZ UDPゴシック"/>
              </a:rPr>
              <a:t>3</a:t>
            </a:r>
            <a:r>
              <a:rPr lang="ja-JP" sz="1500" b="1" u="none" strike="noStrike">
                <a:solidFill>
                  <a:srgbClr val="16213E"/>
                </a:solidFill>
                <a:effectLst/>
                <a:uFillTx/>
                <a:latin typeface="BIZ UDPゴシック"/>
                <a:ea typeface="BIZ UDPゴシック"/>
              </a:rPr>
              <a:t>桁の連番とし採番と参照を一致させる</a:t>
            </a:r>
            <a:endParaRPr lang="en-US" sz="1500" b="0" u="none" strike="noStrike">
              <a:solidFill>
                <a:srgbClr val="000000"/>
              </a:solidFill>
              <a:effectLst/>
              <a:uFillTx/>
              <a:latin typeface="Arial"/>
            </a:endParaRPr>
          </a:p>
        </p:txBody>
      </p:sp>
      <p:graphicFrame>
        <p:nvGraphicFramePr>
          <p:cNvPr id="2531" name="blk-table"/>
          <p:cNvGraphicFramePr/>
          <p:nvPr/>
        </p:nvGraphicFramePr>
        <p:xfrm>
          <a:off x="502920" y="1627560"/>
          <a:ext cx="11184840" cy="2213640"/>
        </p:xfrm>
        <a:graphic>
          <a:graphicData uri="http://schemas.openxmlformats.org/drawingml/2006/table">
            <a:tbl>
              <a:tblPr/>
              <a:tblGrid>
                <a:gridCol w="2237040"/>
                <a:gridCol w="2237040"/>
                <a:gridCol w="4474080"/>
                <a:gridCol w="223704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対象</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形式</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採番ルール</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例</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リスク</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R001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001</a:t>
                      </a:r>
                      <a:r>
                        <a:rPr lang="ja-JP" sz="1400" b="0" u="none" strike="noStrike">
                          <a:solidFill>
                            <a:srgbClr val="1F2937"/>
                          </a:solidFill>
                          <a:effectLst/>
                          <a:uFillTx/>
                          <a:latin typeface="BIZ UDPゴシック"/>
                          <a:ea typeface="BIZ UDPゴシック"/>
                        </a:rPr>
                        <a:t>から連番で採番し欠番は理由を備考に記す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R001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課題</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I001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同上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I001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Q&amp;A</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Q001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同上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Q001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変更要求</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C001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同上</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C001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図</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D30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章に対応した連番で採番する</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D30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3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3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06</a:t>
            </a:r>
            <a:endParaRPr lang="en-US" sz="1500" b="0" u="none" strike="noStrike">
              <a:solidFill>
                <a:srgbClr val="FFFFFF"/>
              </a:solidFill>
              <a:effectLst/>
              <a:uFillTx/>
              <a:latin typeface="Arial"/>
            </a:endParaRPr>
          </a:p>
        </p:txBody>
      </p:sp>
      <p:sp>
        <p:nvSpPr>
          <p:cNvPr id="253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プロジェクトルール</a:t>
            </a:r>
            <a:endParaRPr lang="en-US" sz="1100" b="0" u="none" strike="noStrike">
              <a:solidFill>
                <a:srgbClr val="000000"/>
              </a:solidFill>
              <a:effectLst/>
              <a:uFillTx/>
              <a:latin typeface="Arial"/>
            </a:endParaRPr>
          </a:p>
        </p:txBody>
      </p:sp>
      <p:sp>
        <p:nvSpPr>
          <p:cNvPr id="2536"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37"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38"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39"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40"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41" name="hdr-bar"/>
          <p:cNvSpPr/>
          <p:nvPr/>
        </p:nvSpPr>
        <p:spPr>
          <a:xfrm>
            <a:off x="1124064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42"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4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54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6.3 </a:t>
            </a:r>
            <a:r>
              <a:rPr lang="ja-JP" sz="2400" b="1" u="none" strike="noStrike">
                <a:solidFill>
                  <a:srgbClr val="16213E"/>
                </a:solidFill>
                <a:effectLst/>
                <a:uFillTx/>
                <a:latin typeface="BIZ UDPゴシック"/>
                <a:ea typeface="BIZ UDPゴシック"/>
              </a:rPr>
              <a:t>略称・コード</a:t>
            </a:r>
            <a:endParaRPr lang="en-US" sz="2400" b="0" u="none" strike="noStrike">
              <a:solidFill>
                <a:srgbClr val="000000"/>
              </a:solidFill>
              <a:effectLst/>
              <a:uFillTx/>
              <a:latin typeface="Arial"/>
            </a:endParaRPr>
          </a:p>
        </p:txBody>
      </p:sp>
      <p:sp>
        <p:nvSpPr>
          <p:cNvPr id="254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546" name="hdr-hair"/>
          <p:cNvCxnSpPr/>
          <p:nvPr/>
        </p:nvCxnSpPr>
        <p:spPr>
          <a:xfrm>
            <a:off x="502920" y="969120"/>
            <a:ext cx="11186280" cy="720"/>
          </a:xfrm>
          <a:prstGeom prst="straightConnector1">
            <a:avLst/>
          </a:prstGeom>
          <a:ln w="9525">
            <a:solidFill>
              <a:srgbClr val="D5DBE5"/>
            </a:solidFill>
            <a:round/>
          </a:ln>
        </p:spPr>
      </p:cxnSp>
      <p:cxnSp>
        <p:nvCxnSpPr>
          <p:cNvPr id="2547" name="ftr-hair"/>
          <p:cNvCxnSpPr/>
          <p:nvPr/>
        </p:nvCxnSpPr>
        <p:spPr>
          <a:xfrm>
            <a:off x="502920" y="6382440"/>
            <a:ext cx="11186280" cy="720"/>
          </a:xfrm>
          <a:prstGeom prst="straightConnector1">
            <a:avLst/>
          </a:prstGeom>
          <a:ln w="9525">
            <a:solidFill>
              <a:srgbClr val="D5DBE5"/>
            </a:solidFill>
            <a:round/>
          </a:ln>
        </p:spPr>
      </p:cxnSp>
      <p:sp>
        <p:nvSpPr>
          <p:cNvPr id="254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76 / 85</a:t>
            </a:r>
            <a:endParaRPr lang="en-US" sz="1100" b="0" u="none" strike="noStrike">
              <a:solidFill>
                <a:srgbClr val="000000"/>
              </a:solidFill>
              <a:effectLst/>
              <a:uFillTx/>
              <a:latin typeface="Arial"/>
            </a:endParaRPr>
          </a:p>
        </p:txBody>
      </p:sp>
      <p:sp>
        <p:nvSpPr>
          <p:cNvPr id="254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55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55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55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本文で使う略称は正式名称と用途を一覧にして統一する</a:t>
            </a:r>
            <a:endParaRPr lang="en-US" sz="1500" b="0" u="none" strike="noStrike">
              <a:solidFill>
                <a:srgbClr val="000000"/>
              </a:solidFill>
              <a:effectLst/>
              <a:uFillTx/>
              <a:latin typeface="Arial"/>
            </a:endParaRPr>
          </a:p>
        </p:txBody>
      </p:sp>
      <p:graphicFrame>
        <p:nvGraphicFramePr>
          <p:cNvPr id="2555" name="blk-table"/>
          <p:cNvGraphicFramePr/>
          <p:nvPr/>
        </p:nvGraphicFramePr>
        <p:xfrm>
          <a:off x="502920" y="1627560"/>
          <a:ext cx="11185200" cy="3364920"/>
        </p:xfrm>
        <a:graphic>
          <a:graphicData uri="http://schemas.openxmlformats.org/drawingml/2006/table">
            <a:tbl>
              <a:tblPr/>
              <a:tblGrid>
                <a:gridCol w="1566000"/>
                <a:gridCol w="5816520"/>
                <a:gridCol w="3803040"/>
              </a:tblGrid>
              <a:tr h="294840">
                <a:tc>
                  <a:txBody>
                    <a:bodyPr lIns="45720" tIns="18000" rIns="45720" bIns="18000" anchor="t">
                      <a:noAutofit/>
                    </a:bodyPr>
                    <a:p>
                      <a:pPr algn="ctr" defTabSz="457200">
                        <a:lnSpc>
                          <a:spcPct val="120000"/>
                        </a:lnSpc>
                      </a:pPr>
                      <a:r>
                        <a:rPr lang="ja-JP" sz="1400" b="1" u="none" strike="noStrike">
                          <a:solidFill>
                            <a:srgbClr val="FFFFFF"/>
                          </a:solidFill>
                          <a:effectLst/>
                          <a:uFillTx/>
                          <a:latin typeface="BIZ UDPゴシック"/>
                          <a:ea typeface="BIZ UDPゴシック"/>
                        </a:rPr>
                        <a:t>略称</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正式名称</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用途</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SSO</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Single Sign-On (</a:t>
                      </a:r>
                      <a:r>
                        <a:rPr lang="ja-JP" sz="1400" b="0" u="none" strike="noStrike">
                          <a:solidFill>
                            <a:srgbClr val="1F2937"/>
                          </a:solidFill>
                          <a:effectLst/>
                          <a:uFillTx/>
                          <a:latin typeface="BIZ UDPゴシック"/>
                          <a:ea typeface="BIZ UDPゴシック"/>
                        </a:rPr>
                        <a:t>シングルサインオン</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認証基盤との連携</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MFA</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Multi-Factor Authentication (</a:t>
                      </a:r>
                      <a:r>
                        <a:rPr lang="ja-JP" sz="1400" b="0" u="none" strike="noStrike">
                          <a:solidFill>
                            <a:srgbClr val="1F2937"/>
                          </a:solidFill>
                          <a:effectLst/>
                          <a:uFillTx/>
                          <a:latin typeface="BIZ UDPゴシック"/>
                          <a:ea typeface="BIZ UDPゴシック"/>
                        </a:rPr>
                        <a:t>多要素認証</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ログイン時の追加認証</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IdP</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Identity Provider (</a:t>
                      </a:r>
                      <a:r>
                        <a:rPr lang="ja-JP" sz="1400" b="0" u="none" strike="noStrike">
                          <a:solidFill>
                            <a:srgbClr val="1F2937"/>
                          </a:solidFill>
                          <a:effectLst/>
                          <a:uFillTx/>
                          <a:latin typeface="BIZ UDPゴシック"/>
                          <a:ea typeface="BIZ UDPゴシック"/>
                        </a:rPr>
                        <a:t>識別プロバイダー</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認証情報の管理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ISMAP</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政府情報システムのためのセキュリティ評価制度</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クラウドの統制確認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CCB</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Change Control Board (</a:t>
                      </a:r>
                      <a:r>
                        <a:rPr lang="ja-JP" sz="1400" b="0" u="none" strike="noStrike">
                          <a:solidFill>
                            <a:srgbClr val="1F2937"/>
                          </a:solidFill>
                          <a:effectLst/>
                          <a:uFillTx/>
                          <a:latin typeface="BIZ UDPゴシック"/>
                          <a:ea typeface="BIZ UDPゴシック"/>
                        </a:rPr>
                        <a:t>変更管理委員会</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変更の承認</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SPI</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Schedule Performance Index (</a:t>
                      </a:r>
                      <a:r>
                        <a:rPr lang="ja-JP" sz="1400" b="0" u="none" strike="noStrike">
                          <a:solidFill>
                            <a:srgbClr val="1F2937"/>
                          </a:solidFill>
                          <a:effectLst/>
                          <a:uFillTx/>
                          <a:latin typeface="BIZ UDPゴシック"/>
                          <a:ea typeface="BIZ UDPゴシック"/>
                        </a:rPr>
                        <a:t>スケジュール効率指数</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進捗の評価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CPI</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Cost Performance Index (</a:t>
                      </a:r>
                      <a:r>
                        <a:rPr lang="ja-JP" sz="1400" b="0" u="none" strike="noStrike">
                          <a:solidFill>
                            <a:srgbClr val="1F2937"/>
                          </a:solidFill>
                          <a:effectLst/>
                          <a:uFillTx/>
                          <a:latin typeface="BIZ UDPゴシック"/>
                          <a:ea typeface="BIZ UDPゴシック"/>
                        </a:rPr>
                        <a:t>コスト効率指数</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コストの評価</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en-US" sz="1400" b="0" u="none" strike="noStrike">
                          <a:solidFill>
                            <a:srgbClr val="1F2937"/>
                          </a:solidFill>
                          <a:effectLst/>
                          <a:uFillTx/>
                          <a:latin typeface="BIZ UDPゴシック"/>
                          <a:ea typeface="BIZ UDPゴシック"/>
                        </a:rPr>
                        <a:t>EVM</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Earned Value Management (</a:t>
                      </a:r>
                      <a:r>
                        <a:rPr lang="ja-JP" sz="1400" b="0" u="none" strike="noStrike">
                          <a:solidFill>
                            <a:srgbClr val="1F2937"/>
                          </a:solidFill>
                          <a:effectLst/>
                          <a:uFillTx/>
                          <a:latin typeface="BIZ UDPゴシック"/>
                          <a:ea typeface="BIZ UDPゴシック"/>
                        </a:rPr>
                        <a:t>出来高管理</a:t>
                      </a:r>
                      <a:r>
                        <a:rPr lang="en-US" sz="1400" b="0" u="none" strike="noStrike">
                          <a:solidFill>
                            <a:srgbClr val="1F2937"/>
                          </a:solidFill>
                          <a:effectLst/>
                          <a:uFillTx/>
                          <a:latin typeface="BIZ UDPゴシック"/>
                          <a:ea typeface="BIZ UDPゴシック"/>
                        </a:rPr>
                        <a:t>)</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進捗とコストの統合管理</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5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06</a:t>
            </a:r>
            <a:endParaRPr lang="en-US" sz="1500" b="0" u="none" strike="noStrike">
              <a:solidFill>
                <a:srgbClr val="FFFFFF"/>
              </a:solidFill>
              <a:effectLst/>
              <a:uFillTx/>
              <a:latin typeface="Arial"/>
            </a:endParaRPr>
          </a:p>
        </p:txBody>
      </p:sp>
      <p:sp>
        <p:nvSpPr>
          <p:cNvPr id="255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プロジェクトルール</a:t>
            </a:r>
            <a:endParaRPr lang="en-US" sz="1100" b="0" u="none" strike="noStrike">
              <a:solidFill>
                <a:srgbClr val="000000"/>
              </a:solidFill>
              <a:effectLst/>
              <a:uFillTx/>
              <a:latin typeface="Arial"/>
            </a:endParaRPr>
          </a:p>
        </p:txBody>
      </p:sp>
      <p:sp>
        <p:nvSpPr>
          <p:cNvPr id="2560"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1"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2"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3"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4"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5" name="hdr-bar"/>
          <p:cNvSpPr/>
          <p:nvPr/>
        </p:nvSpPr>
        <p:spPr>
          <a:xfrm>
            <a:off x="1124064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6" name="hdr-bar"/>
          <p:cNvSpPr/>
          <p:nvPr/>
        </p:nvSpPr>
        <p:spPr>
          <a:xfrm>
            <a:off x="11487600" y="237600"/>
            <a:ext cx="200520" cy="49680"/>
          </a:xfrm>
          <a:prstGeom prst="rect">
            <a:avLst/>
          </a:prstGeom>
          <a:solidFill>
            <a:srgbClr val="D5DB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6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56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6.4 </a:t>
            </a:r>
            <a:r>
              <a:rPr lang="ja-JP" sz="2400" b="1" u="none" strike="noStrike">
                <a:solidFill>
                  <a:srgbClr val="16213E"/>
                </a:solidFill>
                <a:effectLst/>
                <a:uFillTx/>
                <a:latin typeface="BIZ UDPゴシック"/>
                <a:ea typeface="BIZ UDPゴシック"/>
              </a:rPr>
              <a:t>ファイル命名規約</a:t>
            </a:r>
            <a:endParaRPr lang="en-US" sz="2400" b="0" u="none" strike="noStrike">
              <a:solidFill>
                <a:srgbClr val="000000"/>
              </a:solidFill>
              <a:effectLst/>
              <a:uFillTx/>
              <a:latin typeface="Arial"/>
            </a:endParaRPr>
          </a:p>
        </p:txBody>
      </p:sp>
      <p:sp>
        <p:nvSpPr>
          <p:cNvPr id="256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570" name="hdr-hair"/>
          <p:cNvCxnSpPr/>
          <p:nvPr/>
        </p:nvCxnSpPr>
        <p:spPr>
          <a:xfrm>
            <a:off x="502920" y="969120"/>
            <a:ext cx="11186280" cy="720"/>
          </a:xfrm>
          <a:prstGeom prst="straightConnector1">
            <a:avLst/>
          </a:prstGeom>
          <a:ln w="9525">
            <a:solidFill>
              <a:srgbClr val="D5DBE5"/>
            </a:solidFill>
            <a:round/>
          </a:ln>
        </p:spPr>
      </p:cxnSp>
      <p:cxnSp>
        <p:nvCxnSpPr>
          <p:cNvPr id="2571" name="ftr-hair"/>
          <p:cNvCxnSpPr/>
          <p:nvPr/>
        </p:nvCxnSpPr>
        <p:spPr>
          <a:xfrm>
            <a:off x="502920" y="6382440"/>
            <a:ext cx="11186280" cy="720"/>
          </a:xfrm>
          <a:prstGeom prst="straightConnector1">
            <a:avLst/>
          </a:prstGeom>
          <a:ln w="9525">
            <a:solidFill>
              <a:srgbClr val="D5DBE5"/>
            </a:solidFill>
            <a:round/>
          </a:ln>
        </p:spPr>
      </p:cxnSp>
      <p:sp>
        <p:nvSpPr>
          <p:cNvPr id="257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77 / 85</a:t>
            </a:r>
            <a:endParaRPr lang="en-US" sz="1100" b="0" u="none" strike="noStrike">
              <a:solidFill>
                <a:srgbClr val="000000"/>
              </a:solidFill>
              <a:effectLst/>
              <a:uFillTx/>
              <a:latin typeface="Arial"/>
            </a:endParaRPr>
          </a:p>
        </p:txBody>
      </p:sp>
      <p:sp>
        <p:nvSpPr>
          <p:cNvPr id="257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57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57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57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ファイル命名の規則を定め、版と内容を一意にする</a:t>
            </a:r>
            <a:endParaRPr lang="en-US" sz="1500" b="0" u="none" strike="noStrike">
              <a:solidFill>
                <a:srgbClr val="000000"/>
              </a:solidFill>
              <a:effectLst/>
              <a:uFillTx/>
              <a:latin typeface="Arial"/>
            </a:endParaRPr>
          </a:p>
        </p:txBody>
      </p:sp>
      <p:graphicFrame>
        <p:nvGraphicFramePr>
          <p:cNvPr id="2579" name="blk-table"/>
          <p:cNvGraphicFramePr/>
          <p:nvPr/>
        </p:nvGraphicFramePr>
        <p:xfrm>
          <a:off x="502920" y="1627560"/>
          <a:ext cx="11184840" cy="2597400"/>
        </p:xfrm>
        <a:graphic>
          <a:graphicData uri="http://schemas.openxmlformats.org/drawingml/2006/table">
            <a:tbl>
              <a:tblPr/>
              <a:tblGrid>
                <a:gridCol w="2237040"/>
                <a:gridCol w="5592600"/>
                <a:gridCol w="3355560"/>
              </a:tblGrid>
              <a:tr h="294840">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種別</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命名規則</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400" b="1" u="none" strike="noStrike">
                          <a:solidFill>
                            <a:srgbClr val="FFFFFF"/>
                          </a:solidFill>
                          <a:effectLst/>
                          <a:uFillTx/>
                          <a:latin typeface="BIZ UDPゴシック"/>
                          <a:ea typeface="BIZ UDPゴシック"/>
                        </a:rPr>
                        <a:t>例</a:t>
                      </a:r>
                      <a:endParaRPr lang="en-US" sz="14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計画・報告書</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P_</a:t>
                      </a:r>
                      <a:r>
                        <a:rPr lang="ja-JP" sz="1400" b="0" u="none" strike="noStrike">
                          <a:solidFill>
                            <a:srgbClr val="1F2937"/>
                          </a:solidFill>
                          <a:effectLst/>
                          <a:uFillTx/>
                          <a:latin typeface="BIZ UDPゴシック"/>
                          <a:ea typeface="BIZ UDPゴシック"/>
                        </a:rPr>
                        <a:t>文書種別</a:t>
                      </a:r>
                      <a:r>
                        <a:rPr lang="en-US" sz="1400" b="0" u="none" strike="noStrike">
                          <a:solidFill>
                            <a:srgbClr val="1F2937"/>
                          </a:solidFill>
                          <a:effectLst/>
                          <a:uFillTx/>
                          <a:latin typeface="BIZ UDPゴシック"/>
                          <a:ea typeface="BIZ UDPゴシック"/>
                        </a:rPr>
                        <a:t>_</a:t>
                      </a:r>
                      <a:r>
                        <a:rPr lang="ja-JP" sz="1400" b="0" u="none" strike="noStrike">
                          <a:solidFill>
                            <a:srgbClr val="1F2937"/>
                          </a:solidFill>
                          <a:effectLst/>
                          <a:uFillTx/>
                          <a:latin typeface="BIZ UDPゴシック"/>
                          <a:ea typeface="BIZ UDPゴシック"/>
                        </a:rPr>
                        <a:t>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P_</a:t>
                      </a:r>
                      <a:r>
                        <a:rPr lang="ja-JP" sz="1400" b="0" u="none" strike="noStrike">
                          <a:solidFill>
                            <a:srgbClr val="1F2937"/>
                          </a:solidFill>
                          <a:effectLst/>
                          <a:uFillTx/>
                          <a:latin typeface="BIZ UDPゴシック"/>
                          <a:ea typeface="BIZ UDPゴシック"/>
                        </a:rPr>
                        <a:t>週次報告</a:t>
                      </a:r>
                      <a:r>
                        <a:rPr lang="en-US" sz="1400" b="0" u="none" strike="noStrike">
                          <a:solidFill>
                            <a:srgbClr val="1F2937"/>
                          </a:solidFill>
                          <a:effectLst/>
                          <a:uFillTx/>
                          <a:latin typeface="BIZ UDPゴシック"/>
                          <a:ea typeface="BIZ UDPゴシック"/>
                        </a:rPr>
                        <a:t>_v01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議事録</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M_</a:t>
                      </a:r>
                      <a:r>
                        <a:rPr lang="ja-JP" sz="1400" b="0" u="none" strike="noStrike">
                          <a:solidFill>
                            <a:srgbClr val="1F2937"/>
                          </a:solidFill>
                          <a:effectLst/>
                          <a:uFillTx/>
                          <a:latin typeface="BIZ UDPゴシック"/>
                          <a:ea typeface="BIZ UDPゴシック"/>
                        </a:rPr>
                        <a:t>会議体</a:t>
                      </a:r>
                      <a:r>
                        <a:rPr lang="en-US" sz="1400" b="0" u="none" strike="noStrike">
                          <a:solidFill>
                            <a:srgbClr val="1F2937"/>
                          </a:solidFill>
                          <a:effectLst/>
                          <a:uFillTx/>
                          <a:latin typeface="BIZ UDPゴシック"/>
                          <a:ea typeface="BIZ UDPゴシック"/>
                        </a:rPr>
                        <a:t>_YYYYMMDD</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M_</a:t>
                      </a:r>
                      <a:r>
                        <a:rPr lang="ja-JP" sz="1400" b="0" u="none" strike="noStrike">
                          <a:solidFill>
                            <a:srgbClr val="1F2937"/>
                          </a:solidFill>
                          <a:effectLst/>
                          <a:uFillTx/>
                          <a:latin typeface="BIZ UDPゴシック"/>
                          <a:ea typeface="BIZ UDPゴシック"/>
                        </a:rPr>
                        <a:t>定例</a:t>
                      </a:r>
                      <a:r>
                        <a:rPr lang="en-US" sz="1400" b="0" u="none" strike="noStrike">
                          <a:solidFill>
                            <a:srgbClr val="1F2937"/>
                          </a:solidFill>
                          <a:effectLst/>
                          <a:uFillTx/>
                          <a:latin typeface="BIZ UDPゴシック"/>
                          <a:ea typeface="BIZ UDPゴシック"/>
                        </a:rPr>
                        <a:t>_20260401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設計・要件</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S_</a:t>
                      </a:r>
                      <a:r>
                        <a:rPr lang="ja-JP" sz="1400" b="0" u="none" strike="noStrike">
                          <a:solidFill>
                            <a:srgbClr val="1F2937"/>
                          </a:solidFill>
                          <a:effectLst/>
                          <a:uFillTx/>
                          <a:latin typeface="BIZ UDPゴシック"/>
                          <a:ea typeface="BIZ UDPゴシック"/>
                        </a:rPr>
                        <a:t>対象</a:t>
                      </a:r>
                      <a:r>
                        <a:rPr lang="en-US" sz="1400" b="0" u="none" strike="noStrike">
                          <a:solidFill>
                            <a:srgbClr val="1F2937"/>
                          </a:solidFill>
                          <a:effectLst/>
                          <a:uFillTx/>
                          <a:latin typeface="BIZ UDPゴシック"/>
                          <a:ea typeface="BIZ UDPゴシック"/>
                        </a:rPr>
                        <a:t>_</a:t>
                      </a:r>
                      <a:r>
                        <a:rPr lang="ja-JP" sz="1400" b="0" u="none" strike="noStrike">
                          <a:solidFill>
                            <a:srgbClr val="1F2937"/>
                          </a:solidFill>
                          <a:effectLst/>
                          <a:uFillTx/>
                          <a:latin typeface="BIZ UDPゴシック"/>
                          <a:ea typeface="BIZ UDPゴシック"/>
                        </a:rPr>
                        <a:t>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S_</a:t>
                      </a:r>
                      <a:r>
                        <a:rPr lang="ja-JP" sz="1400" b="0" u="none" strike="noStrike">
                          <a:solidFill>
                            <a:srgbClr val="1F2937"/>
                          </a:solidFill>
                          <a:effectLst/>
                          <a:uFillTx/>
                          <a:latin typeface="BIZ UDPゴシック"/>
                          <a:ea typeface="BIZ UDPゴシック"/>
                        </a:rPr>
                        <a:t>経費精算</a:t>
                      </a:r>
                      <a:r>
                        <a:rPr lang="en-US" sz="1400" b="0" u="none" strike="noStrike">
                          <a:solidFill>
                            <a:srgbClr val="1F2937"/>
                          </a:solidFill>
                          <a:effectLst/>
                          <a:uFillTx/>
                          <a:latin typeface="BIZ UDPゴシック"/>
                          <a:ea typeface="BIZ UDPゴシック"/>
                        </a:rPr>
                        <a:t>_</a:t>
                      </a:r>
                      <a:r>
                        <a:rPr lang="ja-JP" sz="1400" b="0" u="none" strike="noStrike">
                          <a:solidFill>
                            <a:srgbClr val="1F2937"/>
                          </a:solidFill>
                          <a:effectLst/>
                          <a:uFillTx/>
                          <a:latin typeface="BIZ UDPゴシック"/>
                          <a:ea typeface="BIZ UDPゴシック"/>
                        </a:rPr>
                        <a:t>要件定義</a:t>
                      </a:r>
                      <a:r>
                        <a:rPr lang="en-US" sz="1400" b="0" u="none" strike="noStrike">
                          <a:solidFill>
                            <a:srgbClr val="1F2937"/>
                          </a:solidFill>
                          <a:effectLst/>
                          <a:uFillTx/>
                          <a:latin typeface="BIZ UDPゴシック"/>
                          <a:ea typeface="BIZ UDPゴシック"/>
                        </a:rPr>
                        <a:t>_v10</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テスト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T_</a:t>
                      </a:r>
                      <a:r>
                        <a:rPr lang="ja-JP" sz="1400" b="0" u="none" strike="noStrike">
                          <a:solidFill>
                            <a:srgbClr val="1F2937"/>
                          </a:solidFill>
                          <a:effectLst/>
                          <a:uFillTx/>
                          <a:latin typeface="BIZ UDPゴシック"/>
                          <a:ea typeface="BIZ UDPゴシック"/>
                        </a:rPr>
                        <a:t>種別</a:t>
                      </a:r>
                      <a:r>
                        <a:rPr lang="en-US" sz="1400" b="0" u="none" strike="noStrike">
                          <a:solidFill>
                            <a:srgbClr val="1F2937"/>
                          </a:solidFill>
                          <a:effectLst/>
                          <a:uFillTx/>
                          <a:latin typeface="BIZ UDPゴシック"/>
                          <a:ea typeface="BIZ UDPゴシック"/>
                        </a:rPr>
                        <a:t>_</a:t>
                      </a:r>
                      <a:r>
                        <a:rPr lang="ja-JP" sz="1400" b="0" u="none" strike="noStrike">
                          <a:solidFill>
                            <a:srgbClr val="1F2937"/>
                          </a:solidFill>
                          <a:effectLst/>
                          <a:uFillTx/>
                          <a:latin typeface="BIZ UDPゴシック"/>
                          <a:ea typeface="BIZ UDPゴシック"/>
                        </a:rPr>
                        <a:t>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T_</a:t>
                      </a:r>
                      <a:r>
                        <a:rPr lang="ja-JP" sz="1400" b="0" u="none" strike="noStrike">
                          <a:solidFill>
                            <a:srgbClr val="1F2937"/>
                          </a:solidFill>
                          <a:effectLst/>
                          <a:uFillTx/>
                          <a:latin typeface="BIZ UDPゴシック"/>
                          <a:ea typeface="BIZ UDPゴシック"/>
                        </a:rPr>
                        <a:t>結合テスト結果</a:t>
                      </a:r>
                      <a:r>
                        <a:rPr lang="en-US" sz="1400" b="0" u="none" strike="noStrike">
                          <a:solidFill>
                            <a:srgbClr val="1F2937"/>
                          </a:solidFill>
                          <a:effectLst/>
                          <a:uFillTx/>
                          <a:latin typeface="BIZ UDPゴシック"/>
                          <a:ea typeface="BIZ UDPゴシック"/>
                        </a:rPr>
                        <a:t>_v02</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図</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DNN_</a:t>
                      </a:r>
                      <a:r>
                        <a:rPr lang="ja-JP" sz="1400" b="0" u="none" strike="noStrike">
                          <a:solidFill>
                            <a:srgbClr val="1F2937"/>
                          </a:solidFill>
                          <a:effectLst/>
                          <a:uFillTx/>
                          <a:latin typeface="BIZ UDPゴシック"/>
                          <a:ea typeface="BIZ UDPゴシック"/>
                        </a:rPr>
                        <a:t>図名</a:t>
                      </a:r>
                      <a:r>
                        <a:rPr lang="en-US" sz="1400" b="0" u="none" strike="noStrike">
                          <a:solidFill>
                            <a:srgbClr val="1F2937"/>
                          </a:solidFill>
                          <a:effectLst/>
                          <a:uFillTx/>
                          <a:latin typeface="BIZ UDPゴシック"/>
                          <a:ea typeface="BIZ UDPゴシック"/>
                        </a:rPr>
                        <a:t>.drawio</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D01_</a:t>
                      </a:r>
                      <a:r>
                        <a:rPr lang="ja-JP" sz="1400" b="0" u="none" strike="noStrike">
                          <a:solidFill>
                            <a:srgbClr val="1F2937"/>
                          </a:solidFill>
                          <a:effectLst/>
                          <a:uFillTx/>
                          <a:latin typeface="BIZ UDPゴシック"/>
                          <a:ea typeface="BIZ UDPゴシック"/>
                        </a:rPr>
                        <a:t>全体像</a:t>
                      </a:r>
                      <a:r>
                        <a:rPr lang="en-US" sz="1400" b="0" u="none" strike="noStrike">
                          <a:solidFill>
                            <a:srgbClr val="1F2937"/>
                          </a:solidFill>
                          <a:effectLst/>
                          <a:uFillTx/>
                          <a:latin typeface="BIZ UDPゴシック"/>
                          <a:ea typeface="BIZ UDPゴシック"/>
                        </a:rPr>
                        <a:t>.drawio</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defTabSz="457200">
                        <a:lnSpc>
                          <a:spcPct val="120000"/>
                        </a:lnSpc>
                      </a:pPr>
                      <a:r>
                        <a:rPr lang="ja-JP" sz="1400" b="0" u="none" strike="noStrike">
                          <a:solidFill>
                            <a:srgbClr val="1F2937"/>
                          </a:solidFill>
                          <a:effectLst/>
                          <a:uFillTx/>
                          <a:latin typeface="BIZ UDPゴシック"/>
                          <a:ea typeface="BIZ UDPゴシック"/>
                        </a:rPr>
                        <a:t>研修資料</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E_</a:t>
                      </a:r>
                      <a:r>
                        <a:rPr lang="ja-JP" sz="1400" b="0" u="none" strike="noStrike">
                          <a:solidFill>
                            <a:srgbClr val="1F2937"/>
                          </a:solidFill>
                          <a:effectLst/>
                          <a:uFillTx/>
                          <a:latin typeface="BIZ UDPゴシック"/>
                          <a:ea typeface="BIZ UDPゴシック"/>
                        </a:rPr>
                        <a:t>対象</a:t>
                      </a:r>
                      <a:r>
                        <a:rPr lang="en-US" sz="1400" b="0" u="none" strike="noStrike">
                          <a:solidFill>
                            <a:srgbClr val="1F2937"/>
                          </a:solidFill>
                          <a:effectLst/>
                          <a:uFillTx/>
                          <a:latin typeface="BIZ UDPゴシック"/>
                          <a:ea typeface="BIZ UDPゴシック"/>
                        </a:rPr>
                        <a:t>_</a:t>
                      </a:r>
                      <a:r>
                        <a:rPr lang="ja-JP" sz="1400" b="0" u="none" strike="noStrike">
                          <a:solidFill>
                            <a:srgbClr val="1F2937"/>
                          </a:solidFill>
                          <a:effectLst/>
                          <a:uFillTx/>
                          <a:latin typeface="BIZ UDPゴシック"/>
                          <a:ea typeface="BIZ UDPゴシック"/>
                        </a:rPr>
                        <a:t>版</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400" b="0" u="none" strike="noStrike">
                          <a:solidFill>
                            <a:srgbClr val="1F2937"/>
                          </a:solidFill>
                          <a:effectLst/>
                          <a:uFillTx/>
                          <a:latin typeface="BIZ UDPゴシック"/>
                          <a:ea typeface="BIZ UDPゴシック"/>
                        </a:rPr>
                        <a:t>E_</a:t>
                      </a:r>
                      <a:r>
                        <a:rPr lang="ja-JP" sz="1400" b="0" u="none" strike="noStrike">
                          <a:solidFill>
                            <a:srgbClr val="1F2937"/>
                          </a:solidFill>
                          <a:effectLst/>
                          <a:uFillTx/>
                          <a:latin typeface="BIZ UDPゴシック"/>
                          <a:ea typeface="BIZ UDPゴシック"/>
                        </a:rPr>
                        <a:t>操作研修</a:t>
                      </a:r>
                      <a:r>
                        <a:rPr lang="en-US" sz="1400" b="0" u="none" strike="noStrike">
                          <a:solidFill>
                            <a:srgbClr val="1F2937"/>
                          </a:solidFill>
                          <a:effectLst/>
                          <a:uFillTx/>
                          <a:latin typeface="BIZ UDPゴシック"/>
                          <a:ea typeface="BIZ UDPゴシック"/>
                        </a:rPr>
                        <a:t>_v01</a:t>
                      </a:r>
                      <a:endParaRPr lang="en-US" sz="14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0" name="dv-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81" name="dv-acc1"/>
          <p:cNvSpPr/>
          <p:nvPr/>
        </p:nvSpPr>
        <p:spPr>
          <a:xfrm>
            <a:off x="0" y="0"/>
            <a:ext cx="163800" cy="6857280"/>
          </a:xfrm>
          <a:prstGeom prst="rect">
            <a:avLst/>
          </a:prstGeom>
          <a:solidFill>
            <a:srgbClr val="B4235A">
              <a:alpha val="8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82" name="dv-acc2"/>
          <p:cNvSpPr/>
          <p:nvPr/>
        </p:nvSpPr>
        <p:spPr>
          <a:xfrm>
            <a:off x="9905760" y="4572000"/>
            <a:ext cx="3748320" cy="3748320"/>
          </a:xfrm>
          <a:prstGeom prst="rect">
            <a:avLst/>
          </a:prstGeom>
          <a:solidFill>
            <a:srgbClr val="B4235A">
              <a:alpha val="14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83" name="dv-acc3"/>
          <p:cNvSpPr/>
          <p:nvPr/>
        </p:nvSpPr>
        <p:spPr>
          <a:xfrm>
            <a:off x="10500120" y="685800"/>
            <a:ext cx="1142280" cy="114228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84" name="dv-kicker"/>
          <p:cNvSpPr/>
          <p:nvPr/>
        </p:nvSpPr>
        <p:spPr>
          <a:xfrm>
            <a:off x="896040" y="932760"/>
            <a:ext cx="2742480" cy="255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1" u="none" spc="400" strike="noStrike">
                <a:solidFill>
                  <a:srgbClr val="0E7490"/>
                </a:solidFill>
                <a:effectLst/>
                <a:uFillTx/>
                <a:latin typeface="BIZ UDPゴシック"/>
                <a:ea typeface="BIZ UDPゴシック"/>
              </a:rPr>
              <a:t>CHAPTER</a:t>
            </a:r>
            <a:endParaRPr lang="en-US" sz="1200" b="0" u="none" strike="noStrike">
              <a:solidFill>
                <a:srgbClr val="000000"/>
              </a:solidFill>
              <a:effectLst/>
              <a:uFillTx/>
              <a:latin typeface="Arial"/>
            </a:endParaRPr>
          </a:p>
        </p:txBody>
      </p:sp>
      <p:sp>
        <p:nvSpPr>
          <p:cNvPr id="2585" name="dv-num"/>
          <p:cNvSpPr/>
          <p:nvPr/>
        </p:nvSpPr>
        <p:spPr>
          <a:xfrm>
            <a:off x="850320" y="1207080"/>
            <a:ext cx="3108240" cy="175536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9600" b="1" u="none" strike="noStrike">
                <a:solidFill>
                  <a:srgbClr val="B4235A"/>
                </a:solidFill>
                <a:effectLst/>
                <a:uFillTx/>
                <a:latin typeface="BIZ UDPゴシック"/>
                <a:ea typeface="BIZ UDPゴシック"/>
              </a:rPr>
              <a:t>07</a:t>
            </a:r>
            <a:endParaRPr lang="en-US" sz="9600" b="0" u="none" strike="noStrike">
              <a:solidFill>
                <a:srgbClr val="000000"/>
              </a:solidFill>
              <a:effectLst/>
              <a:uFillTx/>
              <a:latin typeface="Arial"/>
            </a:endParaRPr>
          </a:p>
        </p:txBody>
      </p:sp>
      <p:sp>
        <p:nvSpPr>
          <p:cNvPr id="2586" name="dv-title"/>
          <p:cNvSpPr/>
          <p:nvPr/>
        </p:nvSpPr>
        <p:spPr>
          <a:xfrm>
            <a:off x="896040" y="2853000"/>
            <a:ext cx="9301320" cy="7311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ja-JP" sz="4000" b="1" u="none" strike="noStrike">
                <a:solidFill>
                  <a:srgbClr val="FFFFFF"/>
                </a:solidFill>
                <a:effectLst/>
                <a:uFillTx/>
                <a:latin typeface="BIZ UDPゴシック"/>
                <a:ea typeface="BIZ UDPゴシック"/>
              </a:rPr>
              <a:t>その他</a:t>
            </a:r>
            <a:endParaRPr lang="en-US" sz="4000" b="0" u="none" strike="noStrike">
              <a:solidFill>
                <a:srgbClr val="000000"/>
              </a:solidFill>
              <a:effectLst/>
              <a:uFillTx/>
              <a:latin typeface="Arial"/>
            </a:endParaRPr>
          </a:p>
        </p:txBody>
      </p:sp>
      <p:sp>
        <p:nvSpPr>
          <p:cNvPr id="2587" name="dv-dot-7.1"/>
          <p:cNvSpPr/>
          <p:nvPr/>
        </p:nvSpPr>
        <p:spPr>
          <a:xfrm>
            <a:off x="896040" y="411192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588" name="dv-sec-7.1"/>
          <p:cNvSpPr/>
          <p:nvPr/>
        </p:nvSpPr>
        <p:spPr>
          <a:xfrm>
            <a:off x="1097280" y="404172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7.1  </a:t>
            </a:r>
            <a:r>
              <a:rPr lang="ja-JP" sz="1300" b="0" u="none" strike="noStrike">
                <a:solidFill>
                  <a:srgbClr val="D2E1FC"/>
                </a:solidFill>
                <a:effectLst/>
                <a:uFillTx/>
                <a:latin typeface="BIZ UDPゴシック"/>
                <a:ea typeface="BIZ UDPゴシック"/>
              </a:rPr>
              <a:t>成果物一覧</a:t>
            </a:r>
            <a:endParaRPr lang="en-US" sz="1300" b="0" u="none" strike="noStrike">
              <a:solidFill>
                <a:srgbClr val="000000"/>
              </a:solidFill>
              <a:effectLst/>
              <a:uFillTx/>
              <a:latin typeface="Arial"/>
            </a:endParaRPr>
          </a:p>
        </p:txBody>
      </p:sp>
      <p:sp>
        <p:nvSpPr>
          <p:cNvPr id="2589" name="dv-dot-7.2"/>
          <p:cNvSpPr/>
          <p:nvPr/>
        </p:nvSpPr>
        <p:spPr>
          <a:xfrm>
            <a:off x="896040" y="433476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590" name="dv-sec-7.2"/>
          <p:cNvSpPr/>
          <p:nvPr/>
        </p:nvSpPr>
        <p:spPr>
          <a:xfrm>
            <a:off x="1097280" y="426456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7.2  </a:t>
            </a:r>
            <a:r>
              <a:rPr lang="ja-JP" sz="1300" b="0" u="none" strike="noStrike">
                <a:solidFill>
                  <a:srgbClr val="D2E1FC"/>
                </a:solidFill>
                <a:effectLst/>
                <a:uFillTx/>
                <a:latin typeface="BIZ UDPゴシック"/>
                <a:ea typeface="BIZ UDPゴシック"/>
              </a:rPr>
              <a:t>用語集</a:t>
            </a:r>
            <a:endParaRPr lang="en-US" sz="1300" b="0" u="none" strike="noStrike">
              <a:solidFill>
                <a:srgbClr val="000000"/>
              </a:solidFill>
              <a:effectLst/>
              <a:uFillTx/>
              <a:latin typeface="Arial"/>
            </a:endParaRPr>
          </a:p>
        </p:txBody>
      </p:sp>
      <p:sp>
        <p:nvSpPr>
          <p:cNvPr id="2591" name="dv-dot-7.3"/>
          <p:cNvSpPr/>
          <p:nvPr/>
        </p:nvSpPr>
        <p:spPr>
          <a:xfrm>
            <a:off x="896040" y="4557600"/>
            <a:ext cx="81720" cy="81720"/>
          </a:xfrm>
          <a:prstGeom prst="rect">
            <a:avLst/>
          </a:prstGeom>
          <a:solidFill>
            <a:srgbClr val="0E749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440" rIns="90000" bIns="37440" anchor="ctr">
            <a:noAutofit/>
          </a:bodyPr>
          <a:p>
            <a:endParaRPr lang="en-US" sz="1800" b="0" u="none" strike="noStrike">
              <a:solidFill>
                <a:schemeClr val="lt1"/>
              </a:solidFill>
              <a:effectLst/>
              <a:uFillTx/>
              <a:latin typeface="Calibri"/>
            </a:endParaRPr>
          </a:p>
        </p:txBody>
      </p:sp>
      <p:sp>
        <p:nvSpPr>
          <p:cNvPr id="2592" name="dv-sec-7.3"/>
          <p:cNvSpPr/>
          <p:nvPr/>
        </p:nvSpPr>
        <p:spPr>
          <a:xfrm>
            <a:off x="1097280" y="4487400"/>
            <a:ext cx="10197720" cy="2379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300" b="0" u="none" strike="noStrike">
                <a:solidFill>
                  <a:srgbClr val="D2E1FC"/>
                </a:solidFill>
                <a:effectLst/>
                <a:uFillTx/>
                <a:latin typeface="BIZ UDPゴシック"/>
                <a:ea typeface="BIZ UDPゴシック"/>
              </a:rPr>
              <a:t>7.3  </a:t>
            </a:r>
            <a:r>
              <a:rPr lang="ja-JP" sz="1300" b="0" u="none" strike="noStrike">
                <a:solidFill>
                  <a:srgbClr val="D2E1FC"/>
                </a:solidFill>
                <a:effectLst/>
                <a:uFillTx/>
                <a:latin typeface="BIZ UDPゴシック"/>
                <a:ea typeface="BIZ UDPゴシック"/>
              </a:rPr>
              <a:t>参考資料</a:t>
            </a:r>
            <a:endParaRPr lang="en-US" sz="1300" b="0" u="none" strike="noStrike">
              <a:solidFill>
                <a:srgbClr val="000000"/>
              </a:solidFill>
              <a:effectLst/>
              <a:uFillTx/>
              <a:latin typeface="Arial"/>
            </a:endParaRPr>
          </a:p>
        </p:txBody>
      </p:sp>
      <p:sp>
        <p:nvSpPr>
          <p:cNvPr id="2593"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78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9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9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07</a:t>
            </a:r>
            <a:endParaRPr lang="en-US" sz="1500" b="0" u="none" strike="noStrike">
              <a:solidFill>
                <a:srgbClr val="FFFFFF"/>
              </a:solidFill>
              <a:effectLst/>
              <a:uFillTx/>
              <a:latin typeface="Arial"/>
            </a:endParaRPr>
          </a:p>
        </p:txBody>
      </p:sp>
      <p:sp>
        <p:nvSpPr>
          <p:cNvPr id="259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その他</a:t>
            </a:r>
            <a:endParaRPr lang="en-US" sz="1100" b="0" u="none" strike="noStrike">
              <a:solidFill>
                <a:srgbClr val="000000"/>
              </a:solidFill>
              <a:effectLst/>
              <a:uFillTx/>
              <a:latin typeface="Arial"/>
            </a:endParaRPr>
          </a:p>
        </p:txBody>
      </p:sp>
      <p:sp>
        <p:nvSpPr>
          <p:cNvPr id="259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59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0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0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02"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03" name="hdr-bar"/>
          <p:cNvSpPr/>
          <p:nvPr/>
        </p:nvSpPr>
        <p:spPr>
          <a:xfrm>
            <a:off x="1124064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04" name="hdr-bar"/>
          <p:cNvSpPr/>
          <p:nvPr/>
        </p:nvSpPr>
        <p:spPr>
          <a:xfrm>
            <a:off x="114876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0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60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7.1 </a:t>
            </a:r>
            <a:r>
              <a:rPr lang="ja-JP" sz="2400" b="1" u="none" strike="noStrike">
                <a:solidFill>
                  <a:srgbClr val="16213E"/>
                </a:solidFill>
                <a:effectLst/>
                <a:uFillTx/>
                <a:latin typeface="BIZ UDPゴシック"/>
                <a:ea typeface="BIZ UDPゴシック"/>
              </a:rPr>
              <a:t>成果物一覧 ─ 現状分析〜導入・設定</a:t>
            </a:r>
            <a:endParaRPr lang="en-US" sz="2400" b="0" u="none" strike="noStrike">
              <a:solidFill>
                <a:srgbClr val="000000"/>
              </a:solidFill>
              <a:effectLst/>
              <a:uFillTx/>
              <a:latin typeface="Arial"/>
            </a:endParaRPr>
          </a:p>
        </p:txBody>
      </p:sp>
      <p:sp>
        <p:nvSpPr>
          <p:cNvPr id="260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608" name="hdr-hair"/>
          <p:cNvCxnSpPr/>
          <p:nvPr/>
        </p:nvCxnSpPr>
        <p:spPr>
          <a:xfrm>
            <a:off x="502920" y="969120"/>
            <a:ext cx="11186280" cy="720"/>
          </a:xfrm>
          <a:prstGeom prst="straightConnector1">
            <a:avLst/>
          </a:prstGeom>
          <a:ln w="9525">
            <a:solidFill>
              <a:srgbClr val="D5DBE5"/>
            </a:solidFill>
            <a:round/>
          </a:ln>
        </p:spPr>
      </p:cxnSp>
      <p:cxnSp>
        <p:nvCxnSpPr>
          <p:cNvPr id="2609" name="ftr-hair"/>
          <p:cNvCxnSpPr/>
          <p:nvPr/>
        </p:nvCxnSpPr>
        <p:spPr>
          <a:xfrm>
            <a:off x="502920" y="6382440"/>
            <a:ext cx="11186280" cy="720"/>
          </a:xfrm>
          <a:prstGeom prst="straightConnector1">
            <a:avLst/>
          </a:prstGeom>
          <a:ln w="9525">
            <a:solidFill>
              <a:srgbClr val="D5DBE5"/>
            </a:solidFill>
            <a:round/>
          </a:ln>
        </p:spPr>
      </p:cxnSp>
      <p:sp>
        <p:nvSpPr>
          <p:cNvPr id="261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79 / 85</a:t>
            </a:r>
            <a:endParaRPr lang="en-US" sz="1100" b="0" u="none" strike="noStrike">
              <a:solidFill>
                <a:srgbClr val="000000"/>
              </a:solidFill>
              <a:effectLst/>
              <a:uFillTx/>
              <a:latin typeface="Arial"/>
            </a:endParaRPr>
          </a:p>
        </p:txBody>
      </p:sp>
      <p:sp>
        <p:nvSpPr>
          <p:cNvPr id="261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61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61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61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1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1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前半工程の成果物と作成責任者、レビュー要否を一覧化する</a:t>
            </a:r>
            <a:endParaRPr lang="en-US" sz="1500" b="0" u="none" strike="noStrike">
              <a:solidFill>
                <a:srgbClr val="000000"/>
              </a:solidFill>
              <a:effectLst/>
              <a:uFillTx/>
              <a:latin typeface="Arial"/>
            </a:endParaRPr>
          </a:p>
        </p:txBody>
      </p:sp>
      <p:graphicFrame>
        <p:nvGraphicFramePr>
          <p:cNvPr id="2617" name="blk-table"/>
          <p:cNvGraphicFramePr/>
          <p:nvPr/>
        </p:nvGraphicFramePr>
        <p:xfrm>
          <a:off x="502920" y="1627560"/>
          <a:ext cx="11184840" cy="2531520"/>
        </p:xfrm>
        <a:graphic>
          <a:graphicData uri="http://schemas.openxmlformats.org/drawingml/2006/table">
            <a:tbl>
              <a:tblPr/>
              <a:tblGrid>
                <a:gridCol w="1566000"/>
                <a:gridCol w="2684520"/>
                <a:gridCol w="3579120"/>
                <a:gridCol w="2237040"/>
                <a:gridCol w="1118520"/>
              </a:tblGrid>
              <a:tr h="228960">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工程</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成果物</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内容</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作成責任者</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レビュー</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現状分析</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現状業務分析書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As-Is</a:t>
                      </a:r>
                      <a:r>
                        <a:rPr lang="ja-JP" sz="1000" b="0" u="none" strike="noStrike">
                          <a:solidFill>
                            <a:srgbClr val="1F2937"/>
                          </a:solidFill>
                          <a:effectLst/>
                          <a:uFillTx/>
                          <a:latin typeface="BIZ UDPゴシック"/>
                          <a:ea typeface="BIZ UDPゴシック"/>
                        </a:rPr>
                        <a:t>業務フローと課題の整理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業務コンサルタント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現状分析</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課題一覧</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課題と対応方針の一覧</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業務コンサルタント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en-US" sz="1000" b="0" u="none" strike="noStrike">
                          <a:solidFill>
                            <a:srgbClr val="1F2937"/>
                          </a:solidFill>
                          <a:effectLst/>
                          <a:uFillTx/>
                          <a:latin typeface="BIZ UDPゴシック"/>
                          <a:ea typeface="BIZ UDPゴシック"/>
                        </a:rPr>
                        <a:t>To-Be</a:t>
                      </a:r>
                      <a:r>
                        <a:rPr lang="ja-JP" sz="1000" b="0" u="none" strike="noStrike">
                          <a:solidFill>
                            <a:srgbClr val="1F2937"/>
                          </a:solidFill>
                          <a:effectLst/>
                          <a:uFillTx/>
                          <a:latin typeface="BIZ UDPゴシック"/>
                          <a:ea typeface="BIZ UDPゴシック"/>
                        </a:rPr>
                        <a:t>設計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To-Be</a:t>
                      </a:r>
                      <a:r>
                        <a:rPr lang="ja-JP" sz="1000" b="0" u="none" strike="noStrike">
                          <a:solidFill>
                            <a:srgbClr val="1F2937"/>
                          </a:solidFill>
                          <a:effectLst/>
                          <a:uFillTx/>
                          <a:latin typeface="BIZ UDPゴシック"/>
                          <a:ea typeface="BIZ UDPゴシック"/>
                        </a:rPr>
                        <a:t>業務フロー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改革後の業務フロー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業務コンサルタント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en-US" sz="1000" b="0" u="none" strike="noStrike">
                          <a:solidFill>
                            <a:srgbClr val="1F2937"/>
                          </a:solidFill>
                          <a:effectLst/>
                          <a:uFillTx/>
                          <a:latin typeface="BIZ UDPゴシック"/>
                          <a:ea typeface="BIZ UDPゴシック"/>
                        </a:rPr>
                        <a:t>To-Be</a:t>
                      </a:r>
                      <a:r>
                        <a:rPr lang="ja-JP" sz="1000" b="0" u="none" strike="noStrike">
                          <a:solidFill>
                            <a:srgbClr val="1F2937"/>
                          </a:solidFill>
                          <a:effectLst/>
                          <a:uFillTx/>
                          <a:latin typeface="BIZ UDPゴシック"/>
                          <a:ea typeface="BIZ UDPゴシック"/>
                        </a:rPr>
                        <a:t>設計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要件定義書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機能・非機能・業務要件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業務コンサルタント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導入・設定</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設定完了報告書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SaaS</a:t>
                      </a:r>
                      <a:r>
                        <a:rPr lang="ja-JP" sz="1000" b="0" u="none" strike="noStrike">
                          <a:solidFill>
                            <a:srgbClr val="1F2937"/>
                          </a:solidFill>
                          <a:effectLst/>
                          <a:uFillTx/>
                          <a:latin typeface="BIZ UDPゴシック"/>
                          <a:ea typeface="BIZ UDPゴシック"/>
                        </a:rPr>
                        <a:t>設定の完了報告</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導入エンジニア</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導入・設定</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連携設計書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基幹システム連携の設計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導入エンジニア</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8"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19"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20"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07</a:t>
            </a:r>
            <a:endParaRPr lang="en-US" sz="1500" b="0" u="none" strike="noStrike">
              <a:solidFill>
                <a:srgbClr val="FFFFFF"/>
              </a:solidFill>
              <a:effectLst/>
              <a:uFillTx/>
              <a:latin typeface="Arial"/>
            </a:endParaRPr>
          </a:p>
        </p:txBody>
      </p:sp>
      <p:sp>
        <p:nvSpPr>
          <p:cNvPr id="2621"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その他</a:t>
            </a:r>
            <a:endParaRPr lang="en-US" sz="1100" b="0" u="none" strike="noStrike">
              <a:solidFill>
                <a:srgbClr val="000000"/>
              </a:solidFill>
              <a:effectLst/>
              <a:uFillTx/>
              <a:latin typeface="Arial"/>
            </a:endParaRPr>
          </a:p>
        </p:txBody>
      </p:sp>
      <p:sp>
        <p:nvSpPr>
          <p:cNvPr id="2622"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3"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4"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5"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6"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7" name="hdr-bar"/>
          <p:cNvSpPr/>
          <p:nvPr/>
        </p:nvSpPr>
        <p:spPr>
          <a:xfrm>
            <a:off x="1124064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8" name="hdr-bar"/>
          <p:cNvSpPr/>
          <p:nvPr/>
        </p:nvSpPr>
        <p:spPr>
          <a:xfrm>
            <a:off x="114876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29"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630"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7.1 </a:t>
            </a:r>
            <a:r>
              <a:rPr lang="ja-JP" sz="2400" b="1" u="none" strike="noStrike">
                <a:solidFill>
                  <a:srgbClr val="16213E"/>
                </a:solidFill>
                <a:effectLst/>
                <a:uFillTx/>
                <a:latin typeface="BIZ UDPゴシック"/>
                <a:ea typeface="BIZ UDPゴシック"/>
              </a:rPr>
              <a:t>成果物一覧 ─ テスト〜移行・定着化</a:t>
            </a:r>
            <a:endParaRPr lang="en-US" sz="2400" b="0" u="none" strike="noStrike">
              <a:solidFill>
                <a:srgbClr val="000000"/>
              </a:solidFill>
              <a:effectLst/>
              <a:uFillTx/>
              <a:latin typeface="Arial"/>
            </a:endParaRPr>
          </a:p>
        </p:txBody>
      </p:sp>
      <p:sp>
        <p:nvSpPr>
          <p:cNvPr id="2631"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632" name="hdr-hair"/>
          <p:cNvCxnSpPr/>
          <p:nvPr/>
        </p:nvCxnSpPr>
        <p:spPr>
          <a:xfrm>
            <a:off x="502920" y="969120"/>
            <a:ext cx="11186280" cy="720"/>
          </a:xfrm>
          <a:prstGeom prst="straightConnector1">
            <a:avLst/>
          </a:prstGeom>
          <a:ln w="9525">
            <a:solidFill>
              <a:srgbClr val="D5DBE5"/>
            </a:solidFill>
            <a:round/>
          </a:ln>
        </p:spPr>
      </p:cxnSp>
      <p:cxnSp>
        <p:nvCxnSpPr>
          <p:cNvPr id="2633" name="ftr-hair"/>
          <p:cNvCxnSpPr/>
          <p:nvPr/>
        </p:nvCxnSpPr>
        <p:spPr>
          <a:xfrm>
            <a:off x="502920" y="6382440"/>
            <a:ext cx="11186280" cy="720"/>
          </a:xfrm>
          <a:prstGeom prst="straightConnector1">
            <a:avLst/>
          </a:prstGeom>
          <a:ln w="9525">
            <a:solidFill>
              <a:srgbClr val="D5DBE5"/>
            </a:solidFill>
            <a:round/>
          </a:ln>
        </p:spPr>
      </p:cxnSp>
      <p:sp>
        <p:nvSpPr>
          <p:cNvPr id="2634"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80 / 85</a:t>
            </a:r>
            <a:endParaRPr lang="en-US" sz="1100" b="0" u="none" strike="noStrike">
              <a:solidFill>
                <a:srgbClr val="000000"/>
              </a:solidFill>
              <a:effectLst/>
              <a:uFillTx/>
              <a:latin typeface="Arial"/>
            </a:endParaRPr>
          </a:p>
        </p:txBody>
      </p:sp>
      <p:sp>
        <p:nvSpPr>
          <p:cNvPr id="2635"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636"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637"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638"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39"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40"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後半工程の成果物と作成責任者、レビュー要否を一覧化する</a:t>
            </a:r>
            <a:endParaRPr lang="en-US" sz="1500" b="0" u="none" strike="noStrike">
              <a:solidFill>
                <a:srgbClr val="000000"/>
              </a:solidFill>
              <a:effectLst/>
              <a:uFillTx/>
              <a:latin typeface="Arial"/>
            </a:endParaRPr>
          </a:p>
        </p:txBody>
      </p:sp>
      <p:graphicFrame>
        <p:nvGraphicFramePr>
          <p:cNvPr id="2641" name="blk-table"/>
          <p:cNvGraphicFramePr/>
          <p:nvPr/>
        </p:nvGraphicFramePr>
        <p:xfrm>
          <a:off x="502920" y="1627560"/>
          <a:ext cx="11184840" cy="2549880"/>
        </p:xfrm>
        <a:graphic>
          <a:graphicData uri="http://schemas.openxmlformats.org/drawingml/2006/table">
            <a:tbl>
              <a:tblPr/>
              <a:tblGrid>
                <a:gridCol w="1566000"/>
                <a:gridCol w="2684520"/>
                <a:gridCol w="3579120"/>
                <a:gridCol w="2237040"/>
                <a:gridCol w="1118520"/>
              </a:tblGrid>
              <a:tr h="228960">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工程</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成果物</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内容</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作成責任者</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レビュー</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結合テスト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テスト結果報告書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結合テストの結果</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導入エンジニア</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受入・研修</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受入テスト結果報告書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受入テストの結果</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貴社経理部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受入・研修</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研修資料</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研修テキスト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変更管理リード</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受入・研修</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操作マニュアル</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利用者向け手順書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変更管理リード</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移行・定着化</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移行計画書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本番移行の手順と切戻し計画</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当社</a:t>
                      </a:r>
                      <a:r>
                        <a:rPr lang="en-US" sz="1000" b="0" u="none" strike="noStrike">
                          <a:solidFill>
                            <a:srgbClr val="1F2937"/>
                          </a:solidFill>
                          <a:effectLst/>
                          <a:uFillTx/>
                          <a:latin typeface="BIZ UDPゴシック"/>
                          <a:ea typeface="BIZ UDPゴシック"/>
                        </a:rPr>
                        <a:t>PM</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3760">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移行・定着化</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定着化報告書</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11/30</a:t>
                      </a:r>
                      <a:r>
                        <a:rPr lang="ja-JP" sz="1000" b="0" u="none" strike="noStrike">
                          <a:solidFill>
                            <a:srgbClr val="1F2937"/>
                          </a:solidFill>
                          <a:effectLst/>
                          <a:uFillTx/>
                          <a:latin typeface="BIZ UDPゴシック"/>
                          <a:ea typeface="BIZ UDPゴシック"/>
                        </a:rPr>
                        <a:t>時点の定着化支援実績・利用率・中間モニタリング結果 </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効果</a:t>
                      </a:r>
                      <a:r>
                        <a:rPr lang="en-US" sz="1000" b="0" u="none" strike="noStrike">
                          <a:solidFill>
                            <a:srgbClr val="1F2937"/>
                          </a:solidFill>
                          <a:effectLst/>
                          <a:uFillTx/>
                          <a:latin typeface="BIZ UDPゴシック"/>
                          <a:ea typeface="BIZ UDPゴシック"/>
                        </a:rPr>
                        <a:t>KPI</a:t>
                      </a:r>
                      <a:r>
                        <a:rPr lang="ja-JP" sz="1000" b="0" u="none" strike="noStrike">
                          <a:solidFill>
                            <a:srgbClr val="1F2937"/>
                          </a:solidFill>
                          <a:effectLst/>
                          <a:uFillTx/>
                          <a:latin typeface="BIZ UDPゴシック"/>
                          <a:ea typeface="BIZ UDPゴシック"/>
                        </a:rPr>
                        <a:t>の最終測定は完了後に別途報告し検収対象外</a:t>
                      </a:r>
                      <a:r>
                        <a:rPr lang="en-US" sz="1000" b="0" u="none" strike="noStrike">
                          <a:solidFill>
                            <a:srgbClr val="1F2937"/>
                          </a:solidFill>
                          <a:effectLst/>
                          <a:uFillTx/>
                          <a:latin typeface="BIZ UDPゴシック"/>
                          <a:ea typeface="BIZ UDPゴシック"/>
                        </a:rPr>
                        <a:t>)</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変更管理リード</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要</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2"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43"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44"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07</a:t>
            </a:r>
            <a:endParaRPr lang="en-US" sz="1500" b="0" u="none" strike="noStrike">
              <a:solidFill>
                <a:srgbClr val="FFFFFF"/>
              </a:solidFill>
              <a:effectLst/>
              <a:uFillTx/>
              <a:latin typeface="Arial"/>
            </a:endParaRPr>
          </a:p>
        </p:txBody>
      </p:sp>
      <p:sp>
        <p:nvSpPr>
          <p:cNvPr id="2645"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その他</a:t>
            </a:r>
            <a:endParaRPr lang="en-US" sz="1100" b="0" u="none" strike="noStrike">
              <a:solidFill>
                <a:srgbClr val="000000"/>
              </a:solidFill>
              <a:effectLst/>
              <a:uFillTx/>
              <a:latin typeface="Arial"/>
            </a:endParaRPr>
          </a:p>
        </p:txBody>
      </p:sp>
      <p:sp>
        <p:nvSpPr>
          <p:cNvPr id="2646"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47"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48"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49"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50"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51" name="hdr-bar"/>
          <p:cNvSpPr/>
          <p:nvPr/>
        </p:nvSpPr>
        <p:spPr>
          <a:xfrm>
            <a:off x="1124064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52" name="hdr-bar"/>
          <p:cNvSpPr/>
          <p:nvPr/>
        </p:nvSpPr>
        <p:spPr>
          <a:xfrm>
            <a:off x="114876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53"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654"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7.2 </a:t>
            </a:r>
            <a:r>
              <a:rPr lang="ja-JP" sz="2400" b="1" u="none" strike="noStrike">
                <a:solidFill>
                  <a:srgbClr val="16213E"/>
                </a:solidFill>
                <a:effectLst/>
                <a:uFillTx/>
                <a:latin typeface="BIZ UDPゴシック"/>
                <a:ea typeface="BIZ UDPゴシック"/>
              </a:rPr>
              <a:t>用語集 ─ 制度・法令用語</a:t>
            </a:r>
            <a:endParaRPr lang="en-US" sz="2400" b="0" u="none" strike="noStrike">
              <a:solidFill>
                <a:srgbClr val="000000"/>
              </a:solidFill>
              <a:effectLst/>
              <a:uFillTx/>
              <a:latin typeface="Arial"/>
            </a:endParaRPr>
          </a:p>
        </p:txBody>
      </p:sp>
      <p:sp>
        <p:nvSpPr>
          <p:cNvPr id="2655"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656" name="hdr-hair"/>
          <p:cNvCxnSpPr/>
          <p:nvPr/>
        </p:nvCxnSpPr>
        <p:spPr>
          <a:xfrm>
            <a:off x="502920" y="969120"/>
            <a:ext cx="11186280" cy="720"/>
          </a:xfrm>
          <a:prstGeom prst="straightConnector1">
            <a:avLst/>
          </a:prstGeom>
          <a:ln w="9525">
            <a:solidFill>
              <a:srgbClr val="D5DBE5"/>
            </a:solidFill>
            <a:round/>
          </a:ln>
        </p:spPr>
      </p:cxnSp>
      <p:cxnSp>
        <p:nvCxnSpPr>
          <p:cNvPr id="2657" name="ftr-hair"/>
          <p:cNvCxnSpPr/>
          <p:nvPr/>
        </p:nvCxnSpPr>
        <p:spPr>
          <a:xfrm>
            <a:off x="502920" y="6382440"/>
            <a:ext cx="11186280" cy="720"/>
          </a:xfrm>
          <a:prstGeom prst="straightConnector1">
            <a:avLst/>
          </a:prstGeom>
          <a:ln w="9525">
            <a:solidFill>
              <a:srgbClr val="D5DBE5"/>
            </a:solidFill>
            <a:round/>
          </a:ln>
        </p:spPr>
      </p:cxnSp>
      <p:sp>
        <p:nvSpPr>
          <p:cNvPr id="2658"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81 / 85</a:t>
            </a:r>
            <a:endParaRPr lang="en-US" sz="1100" b="0" u="none" strike="noStrike">
              <a:solidFill>
                <a:srgbClr val="000000"/>
              </a:solidFill>
              <a:effectLst/>
              <a:uFillTx/>
              <a:latin typeface="Arial"/>
            </a:endParaRPr>
          </a:p>
        </p:txBody>
      </p:sp>
      <p:sp>
        <p:nvSpPr>
          <p:cNvPr id="2659"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660"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661"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662"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63"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64"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電子帳簿保存法とインボイス制度の要件を定義する</a:t>
            </a:r>
            <a:endParaRPr lang="en-US" sz="1500" b="0" u="none" strike="noStrike">
              <a:solidFill>
                <a:srgbClr val="000000"/>
              </a:solidFill>
              <a:effectLst/>
              <a:uFillTx/>
              <a:latin typeface="Arial"/>
            </a:endParaRPr>
          </a:p>
        </p:txBody>
      </p:sp>
      <p:graphicFrame>
        <p:nvGraphicFramePr>
          <p:cNvPr id="2665" name="blk-table"/>
          <p:cNvGraphicFramePr/>
          <p:nvPr/>
        </p:nvGraphicFramePr>
        <p:xfrm>
          <a:off x="502920" y="1627560"/>
          <a:ext cx="11184840" cy="4646520"/>
        </p:xfrm>
        <a:graphic>
          <a:graphicData uri="http://schemas.openxmlformats.org/drawingml/2006/table">
            <a:tbl>
              <a:tblPr/>
              <a:tblGrid>
                <a:gridCol w="2237040"/>
                <a:gridCol w="1789560"/>
                <a:gridCol w="1342080"/>
                <a:gridCol w="5816520"/>
              </a:tblGrid>
              <a:tr h="228960">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用語</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読み</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分類</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説明</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電子帳簿保存法</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でんしちょうぼほぞんほう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帳簿書類を電子データで保存する際の要件を定める法律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電子帳簿保存</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でんしちょうぼほぞん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会計ソフト等で作成した帳簿を電子データで保存すること </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任意</a:t>
                      </a:r>
                      <a:r>
                        <a:rPr lang="en-US" sz="1000" b="0" u="none" strike="noStrike">
                          <a:solidFill>
                            <a:srgbClr val="1F2937"/>
                          </a:solidFill>
                          <a:effectLst/>
                          <a:uFillTx/>
                          <a:latin typeface="BIZ UDPゴシック"/>
                          <a:ea typeface="BIZ UDPゴシック"/>
                        </a:rPr>
                        <a:t>)</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電子取引</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でんしとりひき</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取引情報を電子データで授受すること。データ保存が原則義務</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電子取引データ保存</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でんしとりひきでーたほぞん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電子取引のデータを真実性・可視性の要件に従い保存すること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スキャナ保存</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すきゃなほぞん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紙の領収書等を読み取って電子保存すること </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任意。真実性・可視性の要件あり</a:t>
                      </a:r>
                      <a:r>
                        <a:rPr lang="en-US" sz="1000" b="0" u="none" strike="noStrike">
                          <a:solidFill>
                            <a:srgbClr val="1F2937"/>
                          </a:solidFill>
                          <a:effectLst/>
                          <a:uFillTx/>
                          <a:latin typeface="BIZ UDPゴシック"/>
                          <a:ea typeface="BIZ UDPゴシック"/>
                        </a:rPr>
                        <a:t>)</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タイムスタンプ</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たいむすたんぷ</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データの存在時刻を証明し真実性を確保する仕組み。スキャナ保存では真実性確保の方法の一つ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真実性の確保</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しんじつせいのかくほ</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訂正削除の防止や改ざん検知によりデータの真正性を保つ要件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可視性の確保</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かしせいのかくほ</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見読可能な状態と検索機能 </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日付・金額・取引先</a:t>
                      </a:r>
                      <a:r>
                        <a:rPr lang="en-US" sz="1000" b="0" u="none" strike="noStrike">
                          <a:solidFill>
                            <a:srgbClr val="1F2937"/>
                          </a:solidFill>
                          <a:effectLst/>
                          <a:uFillTx/>
                          <a:latin typeface="BIZ UDPゴシック"/>
                          <a:ea typeface="BIZ UDPゴシック"/>
                        </a:rPr>
                        <a:t>) </a:t>
                      </a:r>
                      <a:r>
                        <a:rPr lang="ja-JP" sz="1000" b="0" u="none" strike="noStrike">
                          <a:solidFill>
                            <a:srgbClr val="1F2937"/>
                          </a:solidFill>
                          <a:effectLst/>
                          <a:uFillTx/>
                          <a:latin typeface="BIZ UDPゴシック"/>
                          <a:ea typeface="BIZ UDPゴシック"/>
                        </a:rPr>
                        <a:t>を確保する要件</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インボイス </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適格請求書</a:t>
                      </a:r>
                      <a:r>
                        <a:rPr lang="en-US" sz="1000" b="0" u="none" strike="noStrike">
                          <a:solidFill>
                            <a:srgbClr val="1F2937"/>
                          </a:solidFill>
                          <a:effectLst/>
                          <a:uFillTx/>
                          <a:latin typeface="BIZ UDPゴシック"/>
                          <a:ea typeface="BIZ UDPゴシック"/>
                        </a:rPr>
                        <a:t>)</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いんぼいす</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消費税の仕入税額控除に必要となる請求書。適格請求書等保存方式</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8160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適格請求書発行事業者</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てきかくせいきゅうしょはっこうじぎょうしゃ</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インボイスを発行できる登録事業者</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経過措置</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けいかそち</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免税事業者等からの課税仕入れの控除割合を段階的に引き下げる措置</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5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課税仕入れ</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かぜいしいれ</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法令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事業者が課税対象の仕入れを行うこと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6"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67"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68"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07</a:t>
            </a:r>
            <a:endParaRPr lang="en-US" sz="1500" b="0" u="none" strike="noStrike">
              <a:solidFill>
                <a:srgbClr val="FFFFFF"/>
              </a:solidFill>
              <a:effectLst/>
              <a:uFillTx/>
              <a:latin typeface="Arial"/>
            </a:endParaRPr>
          </a:p>
        </p:txBody>
      </p:sp>
      <p:sp>
        <p:nvSpPr>
          <p:cNvPr id="2669"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その他</a:t>
            </a:r>
            <a:endParaRPr lang="en-US" sz="1100" b="0" u="none" strike="noStrike">
              <a:solidFill>
                <a:srgbClr val="000000"/>
              </a:solidFill>
              <a:effectLst/>
              <a:uFillTx/>
              <a:latin typeface="Arial"/>
            </a:endParaRPr>
          </a:p>
        </p:txBody>
      </p:sp>
      <p:sp>
        <p:nvSpPr>
          <p:cNvPr id="2670"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1"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2"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3"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4"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5" name="hdr-bar"/>
          <p:cNvSpPr/>
          <p:nvPr/>
        </p:nvSpPr>
        <p:spPr>
          <a:xfrm>
            <a:off x="1124064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6" name="hdr-bar"/>
          <p:cNvSpPr/>
          <p:nvPr/>
        </p:nvSpPr>
        <p:spPr>
          <a:xfrm>
            <a:off x="114876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77"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678"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7.2 </a:t>
            </a:r>
            <a:r>
              <a:rPr lang="ja-JP" sz="2400" b="1" u="none" strike="noStrike">
                <a:solidFill>
                  <a:srgbClr val="16213E"/>
                </a:solidFill>
                <a:effectLst/>
                <a:uFillTx/>
                <a:latin typeface="BIZ UDPゴシック"/>
                <a:ea typeface="BIZ UDPゴシック"/>
              </a:rPr>
              <a:t>用語集 ─ 技術・管理用語</a:t>
            </a:r>
            <a:endParaRPr lang="en-US" sz="2400" b="0" u="none" strike="noStrike">
              <a:solidFill>
                <a:srgbClr val="000000"/>
              </a:solidFill>
              <a:effectLst/>
              <a:uFillTx/>
              <a:latin typeface="Arial"/>
            </a:endParaRPr>
          </a:p>
        </p:txBody>
      </p:sp>
      <p:sp>
        <p:nvSpPr>
          <p:cNvPr id="2679"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680" name="hdr-hair"/>
          <p:cNvCxnSpPr/>
          <p:nvPr/>
        </p:nvCxnSpPr>
        <p:spPr>
          <a:xfrm>
            <a:off x="502920" y="969120"/>
            <a:ext cx="11186280" cy="720"/>
          </a:xfrm>
          <a:prstGeom prst="straightConnector1">
            <a:avLst/>
          </a:prstGeom>
          <a:ln w="9525">
            <a:solidFill>
              <a:srgbClr val="D5DBE5"/>
            </a:solidFill>
            <a:round/>
          </a:ln>
        </p:spPr>
      </p:cxnSp>
      <p:cxnSp>
        <p:nvCxnSpPr>
          <p:cNvPr id="2681" name="ftr-hair"/>
          <p:cNvCxnSpPr/>
          <p:nvPr/>
        </p:nvCxnSpPr>
        <p:spPr>
          <a:xfrm>
            <a:off x="502920" y="6382440"/>
            <a:ext cx="11186280" cy="720"/>
          </a:xfrm>
          <a:prstGeom prst="straightConnector1">
            <a:avLst/>
          </a:prstGeom>
          <a:ln w="9525">
            <a:solidFill>
              <a:srgbClr val="D5DBE5"/>
            </a:solidFill>
            <a:round/>
          </a:ln>
        </p:spPr>
      </p:cxnSp>
      <p:sp>
        <p:nvSpPr>
          <p:cNvPr id="2682"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82 / 85</a:t>
            </a:r>
            <a:endParaRPr lang="en-US" sz="1100" b="0" u="none" strike="noStrike">
              <a:solidFill>
                <a:srgbClr val="000000"/>
              </a:solidFill>
              <a:effectLst/>
              <a:uFillTx/>
              <a:latin typeface="Arial"/>
            </a:endParaRPr>
          </a:p>
        </p:txBody>
      </p:sp>
      <p:sp>
        <p:nvSpPr>
          <p:cNvPr id="2683"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684"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685"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686"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87"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88"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認証やクラウド、プロジェクト管理で使う略語を定義する</a:t>
            </a:r>
            <a:endParaRPr lang="en-US" sz="1500" b="0" u="none" strike="noStrike">
              <a:solidFill>
                <a:srgbClr val="000000"/>
              </a:solidFill>
              <a:effectLst/>
              <a:uFillTx/>
              <a:latin typeface="Arial"/>
            </a:endParaRPr>
          </a:p>
        </p:txBody>
      </p:sp>
      <p:graphicFrame>
        <p:nvGraphicFramePr>
          <p:cNvPr id="2689" name="blk-table"/>
          <p:cNvGraphicFramePr/>
          <p:nvPr/>
        </p:nvGraphicFramePr>
        <p:xfrm>
          <a:off x="502920" y="1627560"/>
          <a:ext cx="11184840" cy="4623840"/>
        </p:xfrm>
        <a:graphic>
          <a:graphicData uri="http://schemas.openxmlformats.org/drawingml/2006/table">
            <a:tbl>
              <a:tblPr/>
              <a:tblGrid>
                <a:gridCol w="2237040"/>
                <a:gridCol w="1789560"/>
                <a:gridCol w="1342080"/>
                <a:gridCol w="5816520"/>
              </a:tblGrid>
              <a:tr h="228960">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用語</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読み</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分類</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説明</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SSO</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しんぐるさいんおん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Single Sign-On</a:t>
                      </a:r>
                      <a:r>
                        <a:rPr lang="ja-JP" sz="1000" b="0" u="none" strike="noStrike">
                          <a:solidFill>
                            <a:srgbClr val="1F2937"/>
                          </a:solidFill>
                          <a:effectLst/>
                          <a:uFillTx/>
                          <a:latin typeface="BIZ UDPゴシック"/>
                          <a:ea typeface="BIZ UDPゴシック"/>
                        </a:rPr>
                        <a:t>。一度の認証で複数システムを利用する仕組み</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多要素認証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たようそにんしょう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MFA</a:t>
                      </a:r>
                      <a:r>
                        <a:rPr lang="ja-JP" sz="1000" b="0" u="none" strike="noStrike">
                          <a:solidFill>
                            <a:srgbClr val="1F2937"/>
                          </a:solidFill>
                          <a:effectLst/>
                          <a:uFillTx/>
                          <a:latin typeface="BIZ UDPゴシック"/>
                          <a:ea typeface="BIZ UDPゴシック"/>
                        </a:rPr>
                        <a:t>。パスワード以外の要素を組み合わせる認証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IdP</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あいでぃーぴー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Identity Provider</a:t>
                      </a:r>
                      <a:r>
                        <a:rPr lang="ja-JP" sz="1000" b="0" u="none" strike="noStrike">
                          <a:solidFill>
                            <a:srgbClr val="1F2937"/>
                          </a:solidFill>
                          <a:effectLst/>
                          <a:uFillTx/>
                          <a:latin typeface="BIZ UDPゴシック"/>
                          <a:ea typeface="BIZ UDPゴシック"/>
                        </a:rPr>
                        <a:t>。認証情報を管理する基盤</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ISMAP</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いずまっぷ</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政府のセキュリティ評価制度。クラウドの登録状況を確認する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CCB</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しーしーびー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Change Control Board</a:t>
                      </a:r>
                      <a:r>
                        <a:rPr lang="ja-JP" sz="1000" b="0" u="none" strike="noStrike">
                          <a:solidFill>
                            <a:srgbClr val="1F2937"/>
                          </a:solidFill>
                          <a:effectLst/>
                          <a:uFillTx/>
                          <a:latin typeface="BIZ UDPゴシック"/>
                          <a:ea typeface="BIZ UDPゴシック"/>
                        </a:rPr>
                        <a:t>。変更要求を承認する変更管理委員会</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SPI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えすぴーあい</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Schedule Performance Index</a:t>
                      </a:r>
                      <a:r>
                        <a:rPr lang="ja-JP" sz="1000" b="0" u="none" strike="noStrike">
                          <a:solidFill>
                            <a:srgbClr val="1F2937"/>
                          </a:solidFill>
                          <a:effectLst/>
                          <a:uFillTx/>
                          <a:latin typeface="BIZ UDPゴシック"/>
                          <a:ea typeface="BIZ UDPゴシック"/>
                        </a:rPr>
                        <a:t>。</a:t>
                      </a:r>
                      <a:r>
                        <a:rPr lang="en-US" sz="1000" b="0" u="none" strike="noStrike">
                          <a:solidFill>
                            <a:srgbClr val="1F2937"/>
                          </a:solidFill>
                          <a:effectLst/>
                          <a:uFillTx/>
                          <a:latin typeface="BIZ UDPゴシック"/>
                          <a:ea typeface="BIZ UDPゴシック"/>
                        </a:rPr>
                        <a:t>EV÷PV</a:t>
                      </a:r>
                      <a:r>
                        <a:rPr lang="ja-JP" sz="1000" b="0" u="none" strike="noStrike">
                          <a:solidFill>
                            <a:srgbClr val="1F2937"/>
                          </a:solidFill>
                          <a:effectLst/>
                          <a:uFillTx/>
                          <a:latin typeface="BIZ UDPゴシック"/>
                          <a:ea typeface="BIZ UDPゴシック"/>
                        </a:rPr>
                        <a:t>で測るスケジュール効率</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CPI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しーぴーあい</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Cost Performance Index</a:t>
                      </a:r>
                      <a:r>
                        <a:rPr lang="ja-JP" sz="1000" b="0" u="none" strike="noStrike">
                          <a:solidFill>
                            <a:srgbClr val="1F2937"/>
                          </a:solidFill>
                          <a:effectLst/>
                          <a:uFillTx/>
                          <a:latin typeface="BIZ UDPゴシック"/>
                          <a:ea typeface="BIZ UDPゴシック"/>
                        </a:rPr>
                        <a:t>。</a:t>
                      </a:r>
                      <a:r>
                        <a:rPr lang="en-US" sz="1000" b="0" u="none" strike="noStrike">
                          <a:solidFill>
                            <a:srgbClr val="1F2937"/>
                          </a:solidFill>
                          <a:effectLst/>
                          <a:uFillTx/>
                          <a:latin typeface="BIZ UDPゴシック"/>
                          <a:ea typeface="BIZ UDPゴシック"/>
                        </a:rPr>
                        <a:t>EV÷AC</a:t>
                      </a:r>
                      <a:r>
                        <a:rPr lang="ja-JP" sz="1000" b="0" u="none" strike="noStrike">
                          <a:solidFill>
                            <a:srgbClr val="1F2937"/>
                          </a:solidFill>
                          <a:effectLst/>
                          <a:uFillTx/>
                          <a:latin typeface="BIZ UDPゴシック"/>
                          <a:ea typeface="BIZ UDPゴシック"/>
                        </a:rPr>
                        <a:t>で測るコスト効率</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EVM</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いーぶいえむ</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Earned Value Management</a:t>
                      </a:r>
                      <a:r>
                        <a:rPr lang="ja-JP" sz="1000" b="0" u="none" strike="noStrike">
                          <a:solidFill>
                            <a:srgbClr val="1F2937"/>
                          </a:solidFill>
                          <a:effectLst/>
                          <a:uFillTx/>
                          <a:latin typeface="BIZ UDPゴシック"/>
                          <a:ea typeface="BIZ UDPゴシック"/>
                        </a:rPr>
                        <a:t>。出来高で進捗とコストを統合管理する手法</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SaaS</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さーす</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Software as a Service</a:t>
                      </a:r>
                      <a:r>
                        <a:rPr lang="ja-JP" sz="1000" b="0" u="none" strike="noStrike">
                          <a:solidFill>
                            <a:srgbClr val="1F2937"/>
                          </a:solidFill>
                          <a:effectLst/>
                          <a:uFillTx/>
                          <a:latin typeface="BIZ UDPゴシック"/>
                          <a:ea typeface="BIZ UDPゴシック"/>
                        </a:rPr>
                        <a:t>。クラウドで提供されるソフトウェア</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KPI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けーぴーあい</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Key Performance Indicator</a:t>
                      </a:r>
                      <a:r>
                        <a:rPr lang="ja-JP" sz="1000" b="0" u="none" strike="noStrike">
                          <a:solidFill>
                            <a:srgbClr val="1F2937"/>
                          </a:solidFill>
                          <a:effectLst/>
                          <a:uFillTx/>
                          <a:latin typeface="BIZ UDPゴシック"/>
                          <a:ea typeface="BIZ UDPゴシック"/>
                        </a:rPr>
                        <a:t>。重要業績評価指標</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1392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RACI</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らしー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責任分担の整理手法 </a:t>
                      </a:r>
                      <a:r>
                        <a:rPr lang="en-US" sz="1000" b="0" u="none" strike="noStrike">
                          <a:solidFill>
                            <a:srgbClr val="1F2937"/>
                          </a:solidFill>
                          <a:effectLst/>
                          <a:uFillTx/>
                          <a:latin typeface="BIZ UDPゴシック"/>
                          <a:ea typeface="BIZ UDPゴシック"/>
                        </a:rPr>
                        <a:t>(</a:t>
                      </a:r>
                      <a:r>
                        <a:rPr lang="ja-JP" sz="1000" b="0" u="none" strike="noStrike">
                          <a:solidFill>
                            <a:srgbClr val="1F2937"/>
                          </a:solidFill>
                          <a:effectLst/>
                          <a:uFillTx/>
                          <a:latin typeface="BIZ UDPゴシック"/>
                          <a:ea typeface="BIZ UDPゴシック"/>
                        </a:rPr>
                        <a:t>実行・説明・協議・報告</a:t>
                      </a:r>
                      <a:r>
                        <a:rPr lang="en-US" sz="1000" b="0" u="none" strike="noStrike">
                          <a:solidFill>
                            <a:srgbClr val="1F2937"/>
                          </a:solidFill>
                          <a:effectLst/>
                          <a:uFillTx/>
                          <a:latin typeface="BIZ UDPゴシック"/>
                          <a:ea typeface="BIZ UDPゴシック"/>
                        </a:rPr>
                        <a:t>)</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インシデント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いんしでんと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情報セキュリティ上の事故・問題</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1392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定着化</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ていちゃくか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新しい運用が日常業務として根付くこと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1392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パイロット稼働</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ぱいろっとかどう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工程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本番前に一部の組織で先行運用し効果と課題を確認する期間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0"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91"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92"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07</a:t>
            </a:r>
            <a:endParaRPr lang="en-US" sz="1500" b="0" u="none" strike="noStrike">
              <a:solidFill>
                <a:srgbClr val="FFFFFF"/>
              </a:solidFill>
              <a:effectLst/>
              <a:uFillTx/>
              <a:latin typeface="Arial"/>
            </a:endParaRPr>
          </a:p>
        </p:txBody>
      </p:sp>
      <p:sp>
        <p:nvSpPr>
          <p:cNvPr id="2693"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その他</a:t>
            </a:r>
            <a:endParaRPr lang="en-US" sz="1100" b="0" u="none" strike="noStrike">
              <a:solidFill>
                <a:srgbClr val="000000"/>
              </a:solidFill>
              <a:effectLst/>
              <a:uFillTx/>
              <a:latin typeface="Arial"/>
            </a:endParaRPr>
          </a:p>
        </p:txBody>
      </p:sp>
      <p:sp>
        <p:nvSpPr>
          <p:cNvPr id="2694"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95"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96"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97"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98"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699" name="hdr-bar"/>
          <p:cNvSpPr/>
          <p:nvPr/>
        </p:nvSpPr>
        <p:spPr>
          <a:xfrm>
            <a:off x="1124064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00" name="hdr-bar"/>
          <p:cNvSpPr/>
          <p:nvPr/>
        </p:nvSpPr>
        <p:spPr>
          <a:xfrm>
            <a:off x="114876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01"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702"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7.2 </a:t>
            </a:r>
            <a:r>
              <a:rPr lang="ja-JP" sz="2400" b="1" u="none" strike="noStrike">
                <a:solidFill>
                  <a:srgbClr val="16213E"/>
                </a:solidFill>
                <a:effectLst/>
                <a:uFillTx/>
                <a:latin typeface="BIZ UDPゴシック"/>
                <a:ea typeface="BIZ UDPゴシック"/>
              </a:rPr>
              <a:t>用語集 ─ 業務・工程用語</a:t>
            </a:r>
            <a:endParaRPr lang="en-US" sz="2400" b="0" u="none" strike="noStrike">
              <a:solidFill>
                <a:srgbClr val="000000"/>
              </a:solidFill>
              <a:effectLst/>
              <a:uFillTx/>
              <a:latin typeface="Arial"/>
            </a:endParaRPr>
          </a:p>
        </p:txBody>
      </p:sp>
      <p:sp>
        <p:nvSpPr>
          <p:cNvPr id="2703"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704" name="hdr-hair"/>
          <p:cNvCxnSpPr/>
          <p:nvPr/>
        </p:nvCxnSpPr>
        <p:spPr>
          <a:xfrm>
            <a:off x="502920" y="969120"/>
            <a:ext cx="11186280" cy="720"/>
          </a:xfrm>
          <a:prstGeom prst="straightConnector1">
            <a:avLst/>
          </a:prstGeom>
          <a:ln w="9525">
            <a:solidFill>
              <a:srgbClr val="D5DBE5"/>
            </a:solidFill>
            <a:round/>
          </a:ln>
        </p:spPr>
      </p:cxnSp>
      <p:cxnSp>
        <p:nvCxnSpPr>
          <p:cNvPr id="2705" name="ftr-hair"/>
          <p:cNvCxnSpPr/>
          <p:nvPr/>
        </p:nvCxnSpPr>
        <p:spPr>
          <a:xfrm>
            <a:off x="502920" y="6382440"/>
            <a:ext cx="11186280" cy="720"/>
          </a:xfrm>
          <a:prstGeom prst="straightConnector1">
            <a:avLst/>
          </a:prstGeom>
          <a:ln w="9525">
            <a:solidFill>
              <a:srgbClr val="D5DBE5"/>
            </a:solidFill>
            <a:round/>
          </a:ln>
        </p:spPr>
      </p:cxnSp>
      <p:sp>
        <p:nvSpPr>
          <p:cNvPr id="2706"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83 / 85</a:t>
            </a:r>
            <a:endParaRPr lang="en-US" sz="1100" b="0" u="none" strike="noStrike">
              <a:solidFill>
                <a:srgbClr val="000000"/>
              </a:solidFill>
              <a:effectLst/>
              <a:uFillTx/>
              <a:latin typeface="Arial"/>
            </a:endParaRPr>
          </a:p>
        </p:txBody>
      </p:sp>
      <p:sp>
        <p:nvSpPr>
          <p:cNvPr id="2707"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708"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709"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710"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11"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12"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業務改革と工程で使う用語を定義する</a:t>
            </a:r>
            <a:endParaRPr lang="en-US" sz="1500" b="0" u="none" strike="noStrike">
              <a:solidFill>
                <a:srgbClr val="000000"/>
              </a:solidFill>
              <a:effectLst/>
              <a:uFillTx/>
              <a:latin typeface="Arial"/>
            </a:endParaRPr>
          </a:p>
        </p:txBody>
      </p:sp>
      <p:graphicFrame>
        <p:nvGraphicFramePr>
          <p:cNvPr id="2713" name="blk-table"/>
          <p:cNvGraphicFramePr/>
          <p:nvPr/>
        </p:nvGraphicFramePr>
        <p:xfrm>
          <a:off x="502920" y="1627560"/>
          <a:ext cx="11184840" cy="4623480"/>
        </p:xfrm>
        <a:graphic>
          <a:graphicData uri="http://schemas.openxmlformats.org/drawingml/2006/table">
            <a:tbl>
              <a:tblPr/>
              <a:tblGrid>
                <a:gridCol w="2237040"/>
                <a:gridCol w="1789560"/>
                <a:gridCol w="1342080"/>
                <a:gridCol w="5816520"/>
              </a:tblGrid>
              <a:tr h="228960">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用語</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読み</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1000" b="1" u="none" strike="noStrike">
                          <a:solidFill>
                            <a:srgbClr val="FFFFFF"/>
                          </a:solidFill>
                          <a:effectLst/>
                          <a:uFillTx/>
                          <a:latin typeface="BIZ UDPゴシック"/>
                          <a:ea typeface="BIZ UDPゴシック"/>
                        </a:rPr>
                        <a:t>分類</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1000" b="1" u="none" strike="noStrike">
                          <a:solidFill>
                            <a:srgbClr val="FFFFFF"/>
                          </a:solidFill>
                          <a:effectLst/>
                          <a:uFillTx/>
                          <a:latin typeface="BIZ UDPゴシック"/>
                          <a:ea typeface="BIZ UDPゴシック"/>
                        </a:rPr>
                        <a:t>説明</a:t>
                      </a:r>
                      <a:endParaRPr lang="en-US" sz="10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3804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To-Be</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とぅーびー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改革後に目指す業務の姿</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804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As-Is</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あずいず</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現状の業務の姿</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804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BPR</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びーぴーあーる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Business Process Re-engineering</a:t>
                      </a:r>
                      <a:r>
                        <a:rPr lang="ja-JP" sz="1000" b="0" u="none" strike="noStrike">
                          <a:solidFill>
                            <a:srgbClr val="1F2937"/>
                          </a:solidFill>
                          <a:effectLst/>
                          <a:uFillTx/>
                          <a:latin typeface="BIZ UDPゴシック"/>
                          <a:ea typeface="BIZ UDPゴシック"/>
                        </a:rPr>
                        <a:t>。業務プロセスの抜本的な改革</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804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PMO</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ぴーえむおー</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略語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Project Management Office</a:t>
                      </a:r>
                      <a:r>
                        <a:rPr lang="ja-JP" sz="1000" b="0" u="none" strike="noStrike">
                          <a:solidFill>
                            <a:srgbClr val="1F2937"/>
                          </a:solidFill>
                          <a:effectLst/>
                          <a:uFillTx/>
                          <a:latin typeface="BIZ UDPゴシック"/>
                          <a:ea typeface="BIZ UDPゴシック"/>
                        </a:rPr>
                        <a:t>。プロジェクト管理事務局</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ステアリングコミッティ</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すてありんぐこみってぃ</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会議体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プロジェクトの重要課題を意思決定する上位会議体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804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Fit to Standard</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ふぃっととぅすたんだーど</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標準機能に業務を合わせる導入方針。差分はギャップとして管理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現状分析</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げんじょうぶんせき</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工程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As-Is</a:t>
                      </a:r>
                      <a:r>
                        <a:rPr lang="ja-JP" sz="1000" b="0" u="none" strike="noStrike">
                          <a:solidFill>
                            <a:srgbClr val="1F2937"/>
                          </a:solidFill>
                          <a:effectLst/>
                          <a:uFillTx/>
                          <a:latin typeface="BIZ UDPゴシック"/>
                          <a:ea typeface="BIZ UDPゴシック"/>
                        </a:rPr>
                        <a:t>業務を調査・分析する工程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8040">
                <a:tc>
                  <a:txBody>
                    <a:bodyPr lIns="45720" tIns="18000" rIns="45720" bIns="18000" anchor="t">
                      <a:noAutofit/>
                    </a:bodyPr>
                    <a:p>
                      <a:pPr defTabSz="457200">
                        <a:lnSpc>
                          <a:spcPct val="120000"/>
                        </a:lnSpc>
                      </a:pPr>
                      <a:r>
                        <a:rPr lang="en-US" sz="1000" b="0" u="none" strike="noStrike">
                          <a:solidFill>
                            <a:srgbClr val="1F2937"/>
                          </a:solidFill>
                          <a:effectLst/>
                          <a:uFillTx/>
                          <a:latin typeface="BIZ UDPゴシック"/>
                          <a:ea typeface="BIZ UDPゴシック"/>
                        </a:rPr>
                        <a:t>To-Be</a:t>
                      </a:r>
                      <a:r>
                        <a:rPr lang="ja-JP" sz="1000" b="0" u="none" strike="noStrike">
                          <a:solidFill>
                            <a:srgbClr val="1F2937"/>
                          </a:solidFill>
                          <a:effectLst/>
                          <a:uFillTx/>
                          <a:latin typeface="BIZ UDPゴシック"/>
                          <a:ea typeface="BIZ UDPゴシック"/>
                        </a:rPr>
                        <a:t>設計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とぅーびーせっけい</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工程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目指す業務とシステムを設計する工程</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受入テスト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うけいれてすと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オーナー側が要件の充足を確認するテスト</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移行</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いこう</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旧運用から新運用へ切り替えること</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経費精算</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けいひせいさん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従業員の経費を申請・承認・支払する業務</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リードタイム</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りーどたいむ</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申請から支払までの所要時間</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38040">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基幹システム</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きかんしすてむ</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1000" b="0" u="none" strike="noStrike">
                          <a:solidFill>
                            <a:srgbClr val="1F2937"/>
                          </a:solidFill>
                          <a:effectLst/>
                          <a:uFillTx/>
                          <a:latin typeface="BIZ UDPゴシック"/>
                          <a:ea typeface="BIZ UDPゴシック"/>
                        </a:rPr>
                        <a:t>用語</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1000" b="0" u="none" strike="noStrike">
                          <a:solidFill>
                            <a:srgbClr val="1F2937"/>
                          </a:solidFill>
                          <a:effectLst/>
                          <a:uFillTx/>
                          <a:latin typeface="BIZ UDPゴシック"/>
                          <a:ea typeface="BIZ UDPゴシック"/>
                        </a:rPr>
                        <a:t>会計・人事などの中核となる業務システム</a:t>
                      </a:r>
                      <a:endParaRPr lang="en-US" sz="10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4" name="bg"/>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15" name="hdr-strip"/>
          <p:cNvSpPr/>
          <p:nvPr/>
        </p:nvSpPr>
        <p:spPr>
          <a:xfrm>
            <a:off x="0" y="0"/>
            <a:ext cx="12191040" cy="5400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716" name="hdr-pill"/>
          <p:cNvSpPr/>
          <p:nvPr/>
        </p:nvSpPr>
        <p:spPr>
          <a:xfrm>
            <a:off x="502920" y="118800"/>
            <a:ext cx="401760" cy="401760"/>
          </a:xfrm>
          <a:prstGeom prst="roundRect">
            <a:avLst>
              <a:gd name="adj" fmla="val 24000"/>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en-US" sz="1500" b="1" u="none" strike="noStrike">
                <a:solidFill>
                  <a:srgbClr val="FFFFFF"/>
                </a:solidFill>
                <a:effectLst/>
                <a:uFillTx/>
                <a:latin typeface="BIZ UDPゴシック"/>
                <a:ea typeface="BIZ UDPゴシック"/>
              </a:rPr>
              <a:t>07</a:t>
            </a:r>
            <a:endParaRPr lang="en-US" sz="1500" b="0" u="none" strike="noStrike">
              <a:solidFill>
                <a:srgbClr val="FFFFFF"/>
              </a:solidFill>
              <a:effectLst/>
              <a:uFillTx/>
              <a:latin typeface="Arial"/>
            </a:endParaRPr>
          </a:p>
        </p:txBody>
      </p:sp>
      <p:sp>
        <p:nvSpPr>
          <p:cNvPr id="2717" name="hdr-chap"/>
          <p:cNvSpPr/>
          <p:nvPr/>
        </p:nvSpPr>
        <p:spPr>
          <a:xfrm>
            <a:off x="1033200" y="118800"/>
            <a:ext cx="9219240" cy="401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100" b="1" u="none" strike="noStrike">
                <a:solidFill>
                  <a:srgbClr val="B4235A"/>
                </a:solidFill>
                <a:effectLst/>
                <a:uFillTx/>
                <a:latin typeface="BIZ UDPゴシック"/>
                <a:ea typeface="BIZ UDPゴシック"/>
              </a:rPr>
              <a:t>その他</a:t>
            </a:r>
            <a:endParaRPr lang="en-US" sz="1100" b="0" u="none" strike="noStrike">
              <a:solidFill>
                <a:srgbClr val="000000"/>
              </a:solidFill>
              <a:effectLst/>
              <a:uFillTx/>
              <a:latin typeface="Arial"/>
            </a:endParaRPr>
          </a:p>
        </p:txBody>
      </p:sp>
      <p:sp>
        <p:nvSpPr>
          <p:cNvPr id="2718" name="hdr-bar"/>
          <p:cNvSpPr/>
          <p:nvPr/>
        </p:nvSpPr>
        <p:spPr>
          <a:xfrm>
            <a:off x="1000620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19" name="hdr-bar"/>
          <p:cNvSpPr/>
          <p:nvPr/>
        </p:nvSpPr>
        <p:spPr>
          <a:xfrm>
            <a:off x="1025316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20" name="hdr-bar"/>
          <p:cNvSpPr/>
          <p:nvPr/>
        </p:nvSpPr>
        <p:spPr>
          <a:xfrm>
            <a:off x="1050012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21" name="hdr-bar"/>
          <p:cNvSpPr/>
          <p:nvPr/>
        </p:nvSpPr>
        <p:spPr>
          <a:xfrm>
            <a:off x="107470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22" name="hdr-bar"/>
          <p:cNvSpPr/>
          <p:nvPr/>
        </p:nvSpPr>
        <p:spPr>
          <a:xfrm>
            <a:off x="1099368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23" name="hdr-bar"/>
          <p:cNvSpPr/>
          <p:nvPr/>
        </p:nvSpPr>
        <p:spPr>
          <a:xfrm>
            <a:off x="11240640" y="237600"/>
            <a:ext cx="200520" cy="496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24" name="hdr-bar"/>
          <p:cNvSpPr/>
          <p:nvPr/>
        </p:nvSpPr>
        <p:spPr>
          <a:xfrm>
            <a:off x="11487600" y="237600"/>
            <a:ext cx="200520" cy="4968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p>
            <a:endParaRPr lang="en-US" sz="1800" b="0" u="none" strike="noStrike">
              <a:solidFill>
                <a:schemeClr val="lt1"/>
              </a:solidFill>
              <a:effectLst/>
              <a:uFillTx/>
              <a:latin typeface="Calibri"/>
            </a:endParaRPr>
          </a:p>
        </p:txBody>
      </p:sp>
      <p:sp>
        <p:nvSpPr>
          <p:cNvPr id="2725" name="hdr-doc"/>
          <p:cNvSpPr/>
          <p:nvPr/>
        </p:nvSpPr>
        <p:spPr>
          <a:xfrm>
            <a:off x="9549000" y="493920"/>
            <a:ext cx="2139120" cy="218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ja-JP" sz="900" b="0" u="none" strike="noStrike">
                <a:solidFill>
                  <a:srgbClr val="6B7280"/>
                </a:solidFill>
                <a:effectLst/>
                <a:uFillTx/>
                <a:latin typeface="BIZ UDPゴシック"/>
                <a:ea typeface="BIZ UDPゴシック"/>
              </a:rPr>
              <a:t>サンプル商事株式会社 御中</a:t>
            </a:r>
            <a:endParaRPr lang="en-US" sz="900" b="0" u="none" strike="noStrike">
              <a:solidFill>
                <a:srgbClr val="000000"/>
              </a:solidFill>
              <a:effectLst/>
              <a:uFillTx/>
              <a:latin typeface="Arial"/>
            </a:endParaRPr>
          </a:p>
        </p:txBody>
      </p:sp>
      <p:sp>
        <p:nvSpPr>
          <p:cNvPr id="2726" name="hdr-title"/>
          <p:cNvSpPr/>
          <p:nvPr/>
        </p:nvSpPr>
        <p:spPr>
          <a:xfrm>
            <a:off x="502920" y="567000"/>
            <a:ext cx="9585000" cy="438840"/>
          </a:xfrm>
          <a:prstGeom prst="rect">
            <a:avLst/>
          </a:prstGeom>
          <a:noFill/>
          <a:ln w="0">
            <a:noFill/>
          </a:ln>
        </p:spPr>
        <p:style>
          <a:lnRef idx="0"/>
          <a:fillRef idx="0"/>
          <a:effectRef idx="0"/>
          <a:fontRef idx="minor"/>
        </p:style>
        <p:txBody>
          <a:bodyPr wrap="none" lIns="0" tIns="0" rIns="0" bIns="0" anchor="t">
            <a:spAutoFit/>
          </a:bodyPr>
          <a:p>
            <a:pPr defTabSz="457200">
              <a:lnSpc>
                <a:spcPct val="120000"/>
              </a:lnSpc>
            </a:pPr>
            <a:r>
              <a:rPr lang="en-US" sz="2400" b="1" u="none" strike="noStrike">
                <a:solidFill>
                  <a:srgbClr val="16213E"/>
                </a:solidFill>
                <a:effectLst/>
                <a:uFillTx/>
                <a:latin typeface="BIZ UDPゴシック"/>
                <a:ea typeface="BIZ UDPゴシック"/>
              </a:rPr>
              <a:t>7.3 </a:t>
            </a:r>
            <a:r>
              <a:rPr lang="ja-JP" sz="2400" b="1" u="none" strike="noStrike">
                <a:solidFill>
                  <a:srgbClr val="16213E"/>
                </a:solidFill>
                <a:effectLst/>
                <a:uFillTx/>
                <a:latin typeface="BIZ UDPゴシック"/>
                <a:ea typeface="BIZ UDPゴシック"/>
              </a:rPr>
              <a:t>参考資料</a:t>
            </a:r>
            <a:endParaRPr lang="en-US" sz="2400" b="0" u="none" strike="noStrike">
              <a:solidFill>
                <a:srgbClr val="000000"/>
              </a:solidFill>
              <a:effectLst/>
              <a:uFillTx/>
              <a:latin typeface="Arial"/>
            </a:endParaRPr>
          </a:p>
        </p:txBody>
      </p:sp>
      <p:sp>
        <p:nvSpPr>
          <p:cNvPr id="2727" name="hdr-accent"/>
          <p:cNvSpPr/>
          <p:nvPr/>
        </p:nvSpPr>
        <p:spPr>
          <a:xfrm>
            <a:off x="502920" y="987480"/>
            <a:ext cx="1005120" cy="4032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cxnSp>
        <p:nvCxnSpPr>
          <p:cNvPr id="2728" name="hdr-hair"/>
          <p:cNvCxnSpPr/>
          <p:nvPr/>
        </p:nvCxnSpPr>
        <p:spPr>
          <a:xfrm>
            <a:off x="502920" y="969120"/>
            <a:ext cx="11186280" cy="720"/>
          </a:xfrm>
          <a:prstGeom prst="straightConnector1">
            <a:avLst/>
          </a:prstGeom>
          <a:ln w="9525">
            <a:solidFill>
              <a:srgbClr val="D5DBE5"/>
            </a:solidFill>
            <a:round/>
          </a:ln>
        </p:spPr>
      </p:cxnSp>
      <p:cxnSp>
        <p:nvCxnSpPr>
          <p:cNvPr id="2729" name="ftr-hair"/>
          <p:cNvCxnSpPr/>
          <p:nvPr/>
        </p:nvCxnSpPr>
        <p:spPr>
          <a:xfrm>
            <a:off x="502920" y="6382440"/>
            <a:ext cx="11186280" cy="720"/>
          </a:xfrm>
          <a:prstGeom prst="straightConnector1">
            <a:avLst/>
          </a:prstGeom>
          <a:ln w="9525">
            <a:solidFill>
              <a:srgbClr val="D5DBE5"/>
            </a:solidFill>
            <a:round/>
          </a:ln>
        </p:spPr>
      </p:cxnSp>
      <p:sp>
        <p:nvSpPr>
          <p:cNvPr id="2730" name="ftr-page"/>
          <p:cNvSpPr/>
          <p:nvPr/>
        </p:nvSpPr>
        <p:spPr>
          <a:xfrm>
            <a:off x="10545840" y="6455520"/>
            <a:ext cx="1142280" cy="23688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16213E"/>
                </a:solidFill>
                <a:effectLst/>
                <a:uFillTx/>
                <a:latin typeface="BIZ UDPゴシック"/>
                <a:ea typeface="BIZ UDPゴシック"/>
              </a:rPr>
              <a:t>84 / 85</a:t>
            </a:r>
            <a:endParaRPr lang="en-US" sz="1100" b="0" u="none" strike="noStrike">
              <a:solidFill>
                <a:srgbClr val="000000"/>
              </a:solidFill>
              <a:effectLst/>
              <a:uFillTx/>
              <a:latin typeface="Arial"/>
            </a:endParaRPr>
          </a:p>
        </p:txBody>
      </p:sp>
      <p:sp>
        <p:nvSpPr>
          <p:cNvPr id="2731" name="ftr-docid"/>
          <p:cNvSpPr/>
          <p:nvPr/>
        </p:nvSpPr>
        <p:spPr>
          <a:xfrm>
            <a:off x="9432360" y="6473880"/>
            <a:ext cx="1002960" cy="200520"/>
          </a:xfrm>
          <a:prstGeom prst="rect">
            <a:avLst/>
          </a:prstGeom>
          <a:noFill/>
          <a:ln w="0">
            <a:noFill/>
          </a:ln>
        </p:spPr>
        <p:style>
          <a:lnRef idx="0"/>
          <a:fillRef idx="0"/>
          <a:effectRef idx="0"/>
          <a:fontRef idx="minor"/>
        </p:style>
        <p:txBody>
          <a:bodyPr wrap="none" lIns="0" tIns="0" rIns="0" bIns="0" anchor="t">
            <a:noAutofit/>
          </a:bodyPr>
          <a:p>
            <a:pPr algn="r" defTabSz="457200">
              <a:lnSpc>
                <a:spcPct val="120000"/>
              </a:lnSpc>
            </a:pPr>
            <a:r>
              <a:rPr lang="en-US" sz="800" b="0" u="none" strike="noStrike">
                <a:solidFill>
                  <a:srgbClr val="6B7280"/>
                </a:solidFill>
                <a:effectLst/>
                <a:uFillTx/>
                <a:latin typeface="BIZ UDPゴシック"/>
                <a:ea typeface="BIZ UDPゴシック"/>
              </a:rPr>
              <a:t>EXS-PRP-2026-014</a:t>
            </a:r>
            <a:endParaRPr lang="en-US" sz="800" b="0" u="none" strike="noStrike">
              <a:solidFill>
                <a:srgbClr val="000000"/>
              </a:solidFill>
              <a:effectLst/>
              <a:uFillTx/>
              <a:latin typeface="Arial"/>
            </a:endParaRPr>
          </a:p>
        </p:txBody>
      </p:sp>
      <p:sp>
        <p:nvSpPr>
          <p:cNvPr id="2732" name="ftr-copy"/>
          <p:cNvSpPr/>
          <p:nvPr/>
        </p:nvSpPr>
        <p:spPr>
          <a:xfrm>
            <a:off x="502920" y="6473880"/>
            <a:ext cx="4943160" cy="2005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800" b="0" u="none" strike="noStrike">
                <a:solidFill>
                  <a:srgbClr val="6B7280"/>
                </a:solidFill>
                <a:effectLst/>
                <a:uFillTx/>
                <a:latin typeface="BIZ UDPゴシック"/>
                <a:ea typeface="BIZ UDPゴシック"/>
              </a:rPr>
              <a:t>© 2026 </a:t>
            </a:r>
            <a:r>
              <a:rPr lang="ja-JP" sz="800" b="0" u="none" strike="noStrike">
                <a:solidFill>
                  <a:srgbClr val="6B7280"/>
                </a:solidFill>
                <a:effectLst/>
                <a:uFillTx/>
                <a:latin typeface="BIZ UDPゴシック"/>
                <a:ea typeface="BIZ UDPゴシック"/>
              </a:rPr>
              <a:t>エグザンプルシステムズ株式会社 </a:t>
            </a:r>
            <a:r>
              <a:rPr lang="en-US" sz="800" b="0" u="none" strike="noStrike">
                <a:solidFill>
                  <a:srgbClr val="6B7280"/>
                </a:solidFill>
                <a:effectLst/>
                <a:uFillTx/>
                <a:latin typeface="BIZ UDPゴシック"/>
                <a:ea typeface="BIZ UDPゴシック"/>
              </a:rPr>
              <a:t>All Rights Reserved.</a:t>
            </a:r>
            <a:endParaRPr lang="en-US" sz="800" b="0" u="none" strike="noStrike">
              <a:solidFill>
                <a:srgbClr val="000000"/>
              </a:solidFill>
              <a:effectLst/>
              <a:uFillTx/>
              <a:latin typeface="Arial"/>
            </a:endParaRPr>
          </a:p>
        </p:txBody>
      </p:sp>
      <p:sp>
        <p:nvSpPr>
          <p:cNvPr id="2733" name="ftr-conf"/>
          <p:cNvSpPr/>
          <p:nvPr/>
        </p:nvSpPr>
        <p:spPr>
          <a:xfrm>
            <a:off x="5675400" y="6437520"/>
            <a:ext cx="840600" cy="218880"/>
          </a:xfrm>
          <a:prstGeom prst="roundRect">
            <a:avLst>
              <a:gd name="adj" fmla="val 50000"/>
            </a:avLst>
          </a:prstGeom>
          <a:noFill/>
          <a:ln w="12700">
            <a:solidFill>
              <a:srgbClr val="B423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p>
            <a:pPr algn="ctr" defTabSz="457200">
              <a:lnSpc>
                <a:spcPct val="120000"/>
              </a:lnSpc>
            </a:pPr>
            <a:r>
              <a:rPr lang="ja-JP" sz="800" b="1" u="none" strike="noStrike">
                <a:solidFill>
                  <a:srgbClr val="B4235A"/>
                </a:solidFill>
                <a:effectLst/>
                <a:uFillTx/>
                <a:latin typeface="BIZ UDPゴシック"/>
                <a:ea typeface="BIZ UDPゴシック"/>
              </a:rPr>
              <a:t>社外秘</a:t>
            </a:r>
            <a:endParaRPr lang="en-US" sz="800" b="0" u="none" strike="noStrike">
              <a:solidFill>
                <a:srgbClr val="000000"/>
              </a:solidFill>
              <a:effectLst/>
              <a:uFillTx/>
              <a:latin typeface="Arial"/>
            </a:endParaRPr>
          </a:p>
        </p:txBody>
      </p:sp>
      <p:sp>
        <p:nvSpPr>
          <p:cNvPr id="2734" name="lead-box"/>
          <p:cNvSpPr/>
          <p:nvPr/>
        </p:nvSpPr>
        <p:spPr>
          <a:xfrm>
            <a:off x="502920" y="1078920"/>
            <a:ext cx="11185200" cy="419760"/>
          </a:xfrm>
          <a:prstGeom prst="rect">
            <a:avLst/>
          </a:prstGeom>
          <a:solidFill>
            <a:srgbClr val="F4F6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35" name="lead-bar"/>
          <p:cNvSpPr/>
          <p:nvPr/>
        </p:nvSpPr>
        <p:spPr>
          <a:xfrm>
            <a:off x="502920" y="1078920"/>
            <a:ext cx="72360" cy="419760"/>
          </a:xfrm>
          <a:prstGeom prst="rect">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36" name="lead-text"/>
          <p:cNvSpPr/>
          <p:nvPr/>
        </p:nvSpPr>
        <p:spPr>
          <a:xfrm>
            <a:off x="722520" y="1078920"/>
            <a:ext cx="10929240" cy="419760"/>
          </a:xfrm>
          <a:prstGeom prst="rect">
            <a:avLst/>
          </a:prstGeom>
          <a:noFill/>
          <a:ln w="0">
            <a:noFill/>
          </a:ln>
        </p:spPr>
        <p:style>
          <a:lnRef idx="0"/>
          <a:fillRef idx="0"/>
          <a:effectRef idx="0"/>
          <a:fontRef idx="minor"/>
        </p:style>
        <p:txBody>
          <a:bodyPr lIns="0" tIns="0" rIns="0" bIns="0" anchor="ctr">
            <a:spAutoFit/>
          </a:bodyPr>
          <a:p>
            <a:pPr defTabSz="457200">
              <a:lnSpc>
                <a:spcPct val="120000"/>
              </a:lnSpc>
            </a:pPr>
            <a:r>
              <a:rPr lang="ja-JP" sz="1500" b="1" u="none" strike="noStrike">
                <a:solidFill>
                  <a:srgbClr val="16213E"/>
                </a:solidFill>
                <a:effectLst/>
                <a:uFillTx/>
                <a:latin typeface="BIZ UDPゴシック"/>
                <a:ea typeface="BIZ UDPゴシック"/>
              </a:rPr>
              <a:t>準拠・参照した標準と</a:t>
            </a:r>
            <a:r>
              <a:rPr lang="en-US" sz="1500" b="1" u="none" strike="noStrike">
                <a:solidFill>
                  <a:srgbClr val="16213E"/>
                </a:solidFill>
                <a:effectLst/>
                <a:uFillTx/>
                <a:latin typeface="BIZ UDPゴシック"/>
                <a:ea typeface="BIZ UDPゴシック"/>
              </a:rPr>
              <a:t>Web</a:t>
            </a:r>
            <a:r>
              <a:rPr lang="ja-JP" sz="1500" b="1" u="none" strike="noStrike">
                <a:solidFill>
                  <a:srgbClr val="16213E"/>
                </a:solidFill>
                <a:effectLst/>
                <a:uFillTx/>
                <a:latin typeface="BIZ UDPゴシック"/>
                <a:ea typeface="BIZ UDPゴシック"/>
              </a:rPr>
              <a:t>調査の出典を示す</a:t>
            </a:r>
            <a:endParaRPr lang="en-US" sz="1500" b="0" u="none" strike="noStrike">
              <a:solidFill>
                <a:srgbClr val="000000"/>
              </a:solidFill>
              <a:effectLst/>
              <a:uFillTx/>
              <a:latin typeface="Arial"/>
            </a:endParaRPr>
          </a:p>
        </p:txBody>
      </p:sp>
      <p:graphicFrame>
        <p:nvGraphicFramePr>
          <p:cNvPr id="2737" name="blk-table"/>
          <p:cNvGraphicFramePr/>
          <p:nvPr/>
        </p:nvGraphicFramePr>
        <p:xfrm>
          <a:off x="502920" y="1627560"/>
          <a:ext cx="11184840" cy="4786560"/>
        </p:xfrm>
        <a:graphic>
          <a:graphicData uri="http://schemas.openxmlformats.org/drawingml/2006/table">
            <a:tbl>
              <a:tblPr/>
              <a:tblGrid>
                <a:gridCol w="3355560"/>
                <a:gridCol w="1118520"/>
                <a:gridCol w="1789560"/>
                <a:gridCol w="3803040"/>
                <a:gridCol w="1118520"/>
              </a:tblGrid>
              <a:tr h="212400">
                <a:tc>
                  <a:txBody>
                    <a:bodyPr lIns="45720" tIns="18000" rIns="45720" bIns="18000" anchor="t">
                      <a:noAutofit/>
                    </a:bodyPr>
                    <a:p>
                      <a:pPr defTabSz="457200">
                        <a:lnSpc>
                          <a:spcPct val="120000"/>
                        </a:lnSpc>
                      </a:pPr>
                      <a:r>
                        <a:rPr lang="ja-JP" sz="900" b="1" u="none" strike="noStrike">
                          <a:solidFill>
                            <a:srgbClr val="FFFFFF"/>
                          </a:solidFill>
                          <a:effectLst/>
                          <a:uFillTx/>
                          <a:latin typeface="BIZ UDPゴシック"/>
                          <a:ea typeface="BIZ UDPゴシック"/>
                        </a:rPr>
                        <a:t>名称</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900" b="1" u="none" strike="noStrike">
                          <a:solidFill>
                            <a:srgbClr val="FFFFFF"/>
                          </a:solidFill>
                          <a:effectLst/>
                          <a:uFillTx/>
                          <a:latin typeface="BIZ UDPゴシック"/>
                          <a:ea typeface="BIZ UDPゴシック"/>
                        </a:rPr>
                        <a:t>版</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ja-JP" sz="900" b="1" u="none" strike="noStrike">
                          <a:solidFill>
                            <a:srgbClr val="FFFFFF"/>
                          </a:solidFill>
                          <a:effectLst/>
                          <a:uFillTx/>
                          <a:latin typeface="BIZ UDPゴシック"/>
                          <a:ea typeface="BIZ UDPゴシック"/>
                        </a:rPr>
                        <a:t>発行元</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defTabSz="457200">
                        <a:lnSpc>
                          <a:spcPct val="120000"/>
                        </a:lnSpc>
                      </a:pPr>
                      <a:r>
                        <a:rPr lang="en-US" sz="900" b="1" u="none" strike="noStrike">
                          <a:solidFill>
                            <a:srgbClr val="FFFFFF"/>
                          </a:solidFill>
                          <a:effectLst/>
                          <a:uFillTx/>
                          <a:latin typeface="BIZ UDPゴシック"/>
                          <a:ea typeface="BIZ UDPゴシック"/>
                        </a:rPr>
                        <a:t>URL</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c>
                  <a:txBody>
                    <a:bodyPr lIns="45720" tIns="18000" rIns="45720" bIns="18000" anchor="t">
                      <a:noAutofit/>
                    </a:bodyPr>
                    <a:p>
                      <a:pPr algn="ctr" defTabSz="457200">
                        <a:lnSpc>
                          <a:spcPct val="120000"/>
                        </a:lnSpc>
                      </a:pPr>
                      <a:r>
                        <a:rPr lang="ja-JP" sz="900" b="1" u="none" strike="noStrike">
                          <a:solidFill>
                            <a:srgbClr val="FFFFFF"/>
                          </a:solidFill>
                          <a:effectLst/>
                          <a:uFillTx/>
                          <a:latin typeface="BIZ UDPゴシック"/>
                          <a:ea typeface="BIZ UDPゴシック"/>
                        </a:rPr>
                        <a:t>参照日</a:t>
                      </a:r>
                      <a:endParaRPr lang="en-US" sz="900" b="0" u="none" strike="noStrike">
                        <a:solidFill>
                          <a:srgbClr val="FFFFFF"/>
                        </a:solidFill>
                        <a:effectLst/>
                        <a:uFillTx/>
                        <a:latin typeface="Arial"/>
                      </a:endParaRPr>
                    </a:p>
                  </a:txBody>
                  <a:tcPr anchor="t" marL="45720" marR="45720" marT="18000" marB="18000">
                    <a:lnL w="9360">
                      <a:solidFill>
                        <a:srgbClr val="16213E"/>
                      </a:solidFill>
                      <a:prstDash val="solid"/>
                    </a:lnL>
                    <a:lnR w="9360">
                      <a:solidFill>
                        <a:srgbClr val="16213E"/>
                      </a:solidFill>
                      <a:prstDash val="solid"/>
                    </a:lnR>
                    <a:lnT w="9360">
                      <a:solidFill>
                        <a:srgbClr val="16213E"/>
                      </a:solidFill>
                      <a:prstDash val="solid"/>
                    </a:lnT>
                    <a:lnB w="9360">
                      <a:solidFill>
                        <a:srgbClr val="16213E"/>
                      </a:solidFill>
                      <a:prstDash val="solid"/>
                    </a:lnB>
                    <a:solidFill>
                      <a:srgbClr val="16213E"/>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電子帳簿保存法の内容が改正されました</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国税庁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https://www.nta.go.jp/law/joho-zeikaishaku/sonota/jirei/pdf/0023003-082.pdf</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75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No.5930 </a:t>
                      </a:r>
                      <a:r>
                        <a:rPr lang="ja-JP" sz="900" b="0" u="none" strike="noStrike">
                          <a:solidFill>
                            <a:srgbClr val="1F2937"/>
                          </a:solidFill>
                          <a:effectLst/>
                          <a:uFillTx/>
                          <a:latin typeface="BIZ UDPゴシック"/>
                          <a:ea typeface="BIZ UDPゴシック"/>
                        </a:rPr>
                        <a:t>帳簿書類等の保存期間</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令和</a:t>
                      </a:r>
                      <a:r>
                        <a:rPr lang="en-US" sz="900" b="0" u="none" strike="noStrike">
                          <a:solidFill>
                            <a:srgbClr val="1F2937"/>
                          </a:solidFill>
                          <a:effectLst/>
                          <a:uFillTx/>
                          <a:latin typeface="BIZ UDPゴシック"/>
                          <a:ea typeface="BIZ UDPゴシック"/>
                        </a:rPr>
                        <a:t>8</a:t>
                      </a:r>
                      <a:r>
                        <a:rPr lang="ja-JP" sz="900" b="0" u="none" strike="noStrike">
                          <a:solidFill>
                            <a:srgbClr val="1F2937"/>
                          </a:solidFill>
                          <a:effectLst/>
                          <a:uFillTx/>
                          <a:latin typeface="BIZ UDPゴシック"/>
                          <a:ea typeface="BIZ UDPゴシック"/>
                        </a:rPr>
                        <a:t>年</a:t>
                      </a:r>
                      <a:r>
                        <a:rPr lang="en-US" sz="900" b="0" u="none" strike="noStrike">
                          <a:solidFill>
                            <a:srgbClr val="1F2937"/>
                          </a:solidFill>
                          <a:effectLst/>
                          <a:uFillTx/>
                          <a:latin typeface="BIZ UDPゴシック"/>
                          <a:ea typeface="BIZ UDPゴシック"/>
                        </a:rPr>
                        <a:t>4</a:t>
                      </a:r>
                      <a:r>
                        <a:rPr lang="ja-JP" sz="900" b="0" u="none" strike="noStrike">
                          <a:solidFill>
                            <a:srgbClr val="1F2937"/>
                          </a:solidFill>
                          <a:effectLst/>
                          <a:uFillTx/>
                          <a:latin typeface="BIZ UDPゴシック"/>
                          <a:ea typeface="BIZ UDPゴシック"/>
                        </a:rPr>
                        <a:t>月</a:t>
                      </a:r>
                      <a:r>
                        <a:rPr lang="en-US" sz="900" b="0" u="none" strike="noStrike">
                          <a:solidFill>
                            <a:srgbClr val="1F2937"/>
                          </a:solidFill>
                          <a:effectLst/>
                          <a:uFillTx/>
                          <a:latin typeface="BIZ UDPゴシック"/>
                          <a:ea typeface="BIZ UDPゴシック"/>
                        </a:rPr>
                        <a:t>1</a:t>
                      </a:r>
                      <a:r>
                        <a:rPr lang="ja-JP" sz="900" b="0" u="none" strike="noStrike">
                          <a:solidFill>
                            <a:srgbClr val="1F2937"/>
                          </a:solidFill>
                          <a:effectLst/>
                          <a:uFillTx/>
                          <a:latin typeface="BIZ UDPゴシック"/>
                          <a:ea typeface="BIZ UDPゴシック"/>
                        </a:rPr>
                        <a:t>日現在</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国税庁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https://www.nta.go.jp/taxes/shiraberu/taxanswer/hojin/5930.htm</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電子帳簿保存法一問一答【電子取引関係】</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令和</a:t>
                      </a:r>
                      <a:r>
                        <a:rPr lang="en-US" sz="900" b="0" u="none" strike="noStrike">
                          <a:solidFill>
                            <a:srgbClr val="1F2937"/>
                          </a:solidFill>
                          <a:effectLst/>
                          <a:uFillTx/>
                          <a:latin typeface="BIZ UDPゴシック"/>
                          <a:ea typeface="BIZ UDPゴシック"/>
                        </a:rPr>
                        <a:t>6</a:t>
                      </a:r>
                      <a:r>
                        <a:rPr lang="ja-JP" sz="900" b="0" u="none" strike="noStrike">
                          <a:solidFill>
                            <a:srgbClr val="1F2937"/>
                          </a:solidFill>
                          <a:effectLst/>
                          <a:uFillTx/>
                          <a:latin typeface="BIZ UDPゴシック"/>
                          <a:ea typeface="BIZ UDPゴシック"/>
                        </a:rPr>
                        <a:t>年</a:t>
                      </a:r>
                      <a:r>
                        <a:rPr lang="en-US" sz="900" b="0" u="none" strike="noStrike">
                          <a:solidFill>
                            <a:srgbClr val="1F2937"/>
                          </a:solidFill>
                          <a:effectLst/>
                          <a:uFillTx/>
                          <a:latin typeface="BIZ UDPゴシック"/>
                          <a:ea typeface="BIZ UDPゴシック"/>
                        </a:rPr>
                        <a:t>6</a:t>
                      </a:r>
                      <a:r>
                        <a:rPr lang="ja-JP" sz="900" b="0" u="none" strike="noStrike">
                          <a:solidFill>
                            <a:srgbClr val="1F2937"/>
                          </a:solidFill>
                          <a:effectLst/>
                          <a:uFillTx/>
                          <a:latin typeface="BIZ UDPゴシック"/>
                          <a:ea typeface="BIZ UDPゴシック"/>
                        </a:rPr>
                        <a:t>月</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国税庁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https://www.nta.go.jp/law/joho-zeikaishaku/sonota/jirei/pdf/0024005-113_r603.pdf</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電子帳簿保存法一問一答【スキャナ保存関係】</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国税庁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https://www.nta.go.jp/law/joho-zeikaishaku/sonota/jirei/pdf/0026007-006_04.pdf</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インボイス制度に関する令和</a:t>
                      </a:r>
                      <a:r>
                        <a:rPr lang="en-US" sz="900" b="0" u="none" strike="noStrike">
                          <a:solidFill>
                            <a:srgbClr val="1F2937"/>
                          </a:solidFill>
                          <a:effectLst/>
                          <a:uFillTx/>
                          <a:latin typeface="BIZ UDPゴシック"/>
                          <a:ea typeface="BIZ UDPゴシック"/>
                        </a:rPr>
                        <a:t>8</a:t>
                      </a:r>
                      <a:r>
                        <a:rPr lang="ja-JP" sz="900" b="0" u="none" strike="noStrike">
                          <a:solidFill>
                            <a:srgbClr val="1F2937"/>
                          </a:solidFill>
                          <a:effectLst/>
                          <a:uFillTx/>
                          <a:latin typeface="BIZ UDPゴシック"/>
                          <a:ea typeface="BIZ UDPゴシック"/>
                        </a:rPr>
                        <a:t>年度税制改正について</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国税庁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https://www.nta.go.jp/taxes/shiraberu/zeimokubetsu/shohi/keigenzeiritsu/invoice-review/pdf/0026002-095.pdf</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適格請求書等保存方式に関する</a:t>
                      </a:r>
                      <a:r>
                        <a:rPr lang="en-US" sz="900" b="0" u="none" strike="noStrike">
                          <a:solidFill>
                            <a:srgbClr val="1F2937"/>
                          </a:solidFill>
                          <a:effectLst/>
                          <a:uFillTx/>
                          <a:latin typeface="BIZ UDPゴシック"/>
                          <a:ea typeface="BIZ UDPゴシック"/>
                        </a:rPr>
                        <a:t>Q&amp;A (</a:t>
                      </a:r>
                      <a:r>
                        <a:rPr lang="ja-JP" sz="900" b="0" u="none" strike="noStrike">
                          <a:solidFill>
                            <a:srgbClr val="1F2937"/>
                          </a:solidFill>
                          <a:effectLst/>
                          <a:uFillTx/>
                          <a:latin typeface="BIZ UDPゴシック"/>
                          <a:ea typeface="BIZ UDPゴシック"/>
                        </a:rPr>
                        <a:t>経過措置</a:t>
                      </a: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国税庁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https://www.nta.go.jp/taxes/shiraberu/zeimokubetsu/shohi/keigenzeiritsu/pdf/qa/01-15.pdf</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情報セキュリティ</a:t>
                      </a:r>
                      <a:r>
                        <a:rPr lang="en-US" sz="900" b="0" u="none" strike="noStrike">
                          <a:solidFill>
                            <a:srgbClr val="1F2937"/>
                          </a:solidFill>
                          <a:effectLst/>
                          <a:uFillTx/>
                          <a:latin typeface="BIZ UDPゴシック"/>
                          <a:ea typeface="BIZ UDPゴシック"/>
                        </a:rPr>
                        <a:t>10</a:t>
                      </a:r>
                      <a:r>
                        <a:rPr lang="ja-JP" sz="900" b="0" u="none" strike="noStrike">
                          <a:solidFill>
                            <a:srgbClr val="1F2937"/>
                          </a:solidFill>
                          <a:effectLst/>
                          <a:uFillTx/>
                          <a:latin typeface="BIZ UDPゴシック"/>
                          <a:ea typeface="BIZ UDPゴシック"/>
                        </a:rPr>
                        <a:t>大脅威 </a:t>
                      </a:r>
                      <a:r>
                        <a:rPr lang="en-US" sz="900" b="0" u="none" strike="noStrike">
                          <a:solidFill>
                            <a:srgbClr val="1F2937"/>
                          </a:solidFill>
                          <a:effectLst/>
                          <a:uFillTx/>
                          <a:latin typeface="BIZ UDPゴシック"/>
                          <a:ea typeface="BIZ UDPゴシック"/>
                        </a:rPr>
                        <a:t>2026</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IPA</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https://www.ipa.go.jp/security/10threats/10threats2026.html</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75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ISMAP</a:t>
                      </a:r>
                      <a:r>
                        <a:rPr lang="ja-JP" sz="900" b="0" u="none" strike="noStrike">
                          <a:solidFill>
                            <a:srgbClr val="1F2937"/>
                          </a:solidFill>
                          <a:effectLst/>
                          <a:uFillTx/>
                          <a:latin typeface="BIZ UDPゴシック"/>
                          <a:ea typeface="BIZ UDPゴシック"/>
                        </a:rPr>
                        <a:t>概要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デジタル庁 </a:t>
                      </a:r>
                      <a:r>
                        <a:rPr lang="en-US" sz="900" b="0" u="none" strike="noStrike">
                          <a:solidFill>
                            <a:srgbClr val="1F2937"/>
                          </a:solidFill>
                          <a:effectLst/>
                          <a:uFillTx/>
                          <a:latin typeface="BIZ UDPゴシック"/>
                          <a:ea typeface="BIZ UDPゴシック"/>
                        </a:rPr>
                        <a:t>ISMAP</a:t>
                      </a:r>
                      <a:r>
                        <a:rPr lang="ja-JP" sz="900" b="0" u="none" strike="noStrike">
                          <a:solidFill>
                            <a:srgbClr val="1F2937"/>
                          </a:solidFill>
                          <a:effectLst/>
                          <a:uFillTx/>
                          <a:latin typeface="BIZ UDPゴシック"/>
                          <a:ea typeface="BIZ UDPゴシック"/>
                        </a:rPr>
                        <a:t>ポータル</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https://www.ismap.go.jp/csm?id=kb_article_view&amp;sysparm_article=KB0010005</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75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PMBOK </a:t>
                      </a:r>
                      <a:r>
                        <a:rPr lang="ja-JP" sz="900" b="0" u="none" strike="noStrike">
                          <a:solidFill>
                            <a:srgbClr val="1F2937"/>
                          </a:solidFill>
                          <a:effectLst/>
                          <a:uFillTx/>
                          <a:latin typeface="BIZ UDPゴシック"/>
                          <a:ea typeface="BIZ UDPゴシック"/>
                        </a:rPr>
                        <a:t>ガイド</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第</a:t>
                      </a:r>
                      <a:r>
                        <a:rPr lang="en-US" sz="900" b="0" u="none" strike="noStrike">
                          <a:solidFill>
                            <a:srgbClr val="1F2937"/>
                          </a:solidFill>
                          <a:effectLst/>
                          <a:uFillTx/>
                          <a:latin typeface="BIZ UDPゴシック"/>
                          <a:ea typeface="BIZ UDPゴシック"/>
                        </a:rPr>
                        <a:t>8</a:t>
                      </a:r>
                      <a:r>
                        <a:rPr lang="ja-JP" sz="900" b="0" u="none" strike="noStrike">
                          <a:solidFill>
                            <a:srgbClr val="1F2937"/>
                          </a:solidFill>
                          <a:effectLst/>
                          <a:uFillTx/>
                          <a:latin typeface="BIZ UDPゴシック"/>
                          <a:ea typeface="BIZ UDPゴシック"/>
                        </a:rPr>
                        <a:t>版</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PMI</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https://www.pmi.org/standards/pmbok</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7560">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ISO 21502:2020</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2020</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ISO</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https://www.iso.org/standard/74947.html</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標準ガイドライン群</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ja-JP" sz="900" b="0" u="none" strike="noStrike">
                          <a:solidFill>
                            <a:srgbClr val="1F2937"/>
                          </a:solidFill>
                          <a:effectLst/>
                          <a:uFillTx/>
                          <a:latin typeface="BIZ UDPゴシック"/>
                          <a:ea typeface="BIZ UDPゴシック"/>
                        </a:rPr>
                        <a:t>最新版</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デジタル庁</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https://www.digital.go.jp/resources/standard_guidelines</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2026/10/13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FFFFF"/>
                    </a:solidFill>
                  </a:tcPr>
                </a:tc>
              </a:tr>
              <a:tr h="367560">
                <a:tc>
                  <a:txBody>
                    <a:bodyPr lIns="45720" tIns="18000" rIns="45720" bIns="18000" anchor="t">
                      <a:noAutofit/>
                    </a:bodyPr>
                    <a:p>
                      <a:pPr defTabSz="457200">
                        <a:lnSpc>
                          <a:spcPct val="120000"/>
                        </a:lnSpc>
                      </a:pPr>
                      <a:r>
                        <a:rPr lang="ja-JP" sz="900" b="0" u="none" strike="noStrike">
                          <a:solidFill>
                            <a:srgbClr val="1F2937"/>
                          </a:solidFill>
                          <a:effectLst/>
                          <a:uFillTx/>
                          <a:latin typeface="BIZ UDPゴシック"/>
                          <a:ea typeface="BIZ UDPゴシック"/>
                        </a:rPr>
                        <a:t>共通フレーム</a:t>
                      </a:r>
                      <a:r>
                        <a:rPr lang="en-US" sz="900" b="0" u="none" strike="noStrike">
                          <a:solidFill>
                            <a:srgbClr val="1F2937"/>
                          </a:solidFill>
                          <a:effectLst/>
                          <a:uFillTx/>
                          <a:latin typeface="BIZ UDPゴシック"/>
                          <a:ea typeface="BIZ UDPゴシック"/>
                        </a:rPr>
                        <a:t>2013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2013</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IPA</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defTabSz="457200">
                        <a:lnSpc>
                          <a:spcPct val="120000"/>
                        </a:lnSpc>
                      </a:pPr>
                      <a:r>
                        <a:rPr lang="en-US" sz="900" b="0" u="none" strike="noStrike">
                          <a:solidFill>
                            <a:srgbClr val="1F2937"/>
                          </a:solidFill>
                          <a:effectLst/>
                          <a:uFillTx/>
                          <a:latin typeface="BIZ UDPゴシック"/>
                          <a:ea typeface="BIZ UDPゴシック"/>
                        </a:rPr>
                        <a:t>https://www.ipa.go.jp/publish/</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c>
                  <a:txBody>
                    <a:bodyPr lIns="45720" tIns="18000" rIns="45720" bIns="18000" anchor="t">
                      <a:noAutofit/>
                    </a:bodyPr>
                    <a:p>
                      <a:pPr algn="ctr" defTabSz="457200">
                        <a:lnSpc>
                          <a:spcPct val="120000"/>
                        </a:lnSpc>
                      </a:pPr>
                      <a:r>
                        <a:rPr lang="en-US" sz="900" b="0" u="none" strike="noStrike">
                          <a:solidFill>
                            <a:srgbClr val="1F2937"/>
                          </a:solidFill>
                          <a:effectLst/>
                          <a:uFillTx/>
                          <a:latin typeface="BIZ UDPゴシック"/>
                          <a:ea typeface="BIZ UDPゴシック"/>
                        </a:rPr>
                        <a:t>-</a:t>
                      </a:r>
                      <a:endParaRPr lang="en-US" sz="900" b="0" u="none" strike="noStrike">
                        <a:solidFill>
                          <a:srgbClr val="000000"/>
                        </a:solidFill>
                        <a:effectLst/>
                        <a:uFillTx/>
                        <a:latin typeface="Arial"/>
                      </a:endParaRPr>
                    </a:p>
                  </a:txBody>
                  <a:tcPr anchor="t" marL="45720" marR="45720" marT="18000" marB="18000">
                    <a:lnL w="6480">
                      <a:solidFill>
                        <a:srgbClr val="D5DBE5"/>
                      </a:solidFill>
                      <a:prstDash val="solid"/>
                    </a:lnL>
                    <a:lnR w="6480">
                      <a:solidFill>
                        <a:srgbClr val="D5DBE5"/>
                      </a:solidFill>
                      <a:prstDash val="solid"/>
                    </a:lnR>
                    <a:lnT w="6480">
                      <a:solidFill>
                        <a:srgbClr val="D5DBE5"/>
                      </a:solidFill>
                      <a:prstDash val="solid"/>
                    </a:lnT>
                    <a:lnB w="6480">
                      <a:solidFill>
                        <a:srgbClr val="D5DBE5"/>
                      </a:solidFill>
                      <a:prstDash val="solid"/>
                    </a:lnB>
                    <a:solidFill>
                      <a:srgbClr val="F4F6FA"/>
                    </a:solidFill>
                  </a:tcPr>
                </a:tc>
              </a:tr>
            </a:tbl>
          </a:graphicData>
        </a:graphic>
      </p:graphicFrame>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8" name="cl-bg"/>
          <p:cNvSpPr/>
          <p:nvPr/>
        </p:nvSpPr>
        <p:spPr>
          <a:xfrm>
            <a:off x="0" y="0"/>
            <a:ext cx="12191040" cy="6857280"/>
          </a:xfrm>
          <a:prstGeom prst="rect">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39" name="cl-acc1"/>
          <p:cNvSpPr/>
          <p:nvPr/>
        </p:nvSpPr>
        <p:spPr>
          <a:xfrm>
            <a:off x="10088640" y="-1188720"/>
            <a:ext cx="3108240" cy="3108240"/>
          </a:xfrm>
          <a:prstGeom prst="ellipse">
            <a:avLst/>
          </a:prstGeom>
          <a:solidFill>
            <a:srgbClr val="B423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0" name="cl-acc2"/>
          <p:cNvSpPr/>
          <p:nvPr/>
        </p:nvSpPr>
        <p:spPr>
          <a:xfrm>
            <a:off x="502920" y="4983480"/>
            <a:ext cx="1188000" cy="1188000"/>
          </a:xfrm>
          <a:prstGeom prst="ellipse">
            <a:avLst/>
          </a:prstGeom>
          <a:noFill/>
          <a:ln w="22860">
            <a:solidFill>
              <a:srgbClr val="0E749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1" name="cl-msg"/>
          <p:cNvSpPr/>
          <p:nvPr/>
        </p:nvSpPr>
        <p:spPr>
          <a:xfrm>
            <a:off x="731520" y="2148840"/>
            <a:ext cx="10728000" cy="100512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ja-JP" sz="3000" b="1" u="none" strike="noStrike">
                <a:solidFill>
                  <a:srgbClr val="FFFFFF"/>
                </a:solidFill>
                <a:effectLst/>
                <a:uFillTx/>
                <a:latin typeface="BIZ UDPゴシック"/>
                <a:ea typeface="BIZ UDPゴシック"/>
              </a:rPr>
              <a:t>ご提案の機会をいただきありがとうございました</a:t>
            </a:r>
            <a:endParaRPr lang="en-US" sz="3000" b="0" u="none" strike="noStrike">
              <a:solidFill>
                <a:srgbClr val="000000"/>
              </a:solidFill>
              <a:effectLst/>
              <a:uFillTx/>
              <a:latin typeface="Arial"/>
            </a:endParaRPr>
          </a:p>
        </p:txBody>
      </p:sp>
      <p:sp>
        <p:nvSpPr>
          <p:cNvPr id="2742" name="cl-kicker"/>
          <p:cNvSpPr/>
          <p:nvPr/>
        </p:nvSpPr>
        <p:spPr>
          <a:xfrm>
            <a:off x="731520" y="1783080"/>
            <a:ext cx="10728000" cy="25524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en-US" sz="1200" b="1" u="none" spc="400" strike="noStrike">
                <a:solidFill>
                  <a:srgbClr val="0E7490"/>
                </a:solidFill>
                <a:effectLst/>
                <a:uFillTx/>
                <a:latin typeface="BIZ UDPゴシック"/>
                <a:ea typeface="BIZ UDPゴシック"/>
              </a:rPr>
              <a:t>THANK YOU</a:t>
            </a:r>
            <a:endParaRPr lang="en-US" sz="1200" b="0" u="none" strike="noStrike">
              <a:solidFill>
                <a:srgbClr val="000000"/>
              </a:solidFill>
              <a:effectLst/>
              <a:uFillTx/>
              <a:latin typeface="Arial"/>
            </a:endParaRPr>
          </a:p>
        </p:txBody>
      </p:sp>
      <p:sp>
        <p:nvSpPr>
          <p:cNvPr id="2743" name="cl-contact"/>
          <p:cNvSpPr/>
          <p:nvPr/>
        </p:nvSpPr>
        <p:spPr>
          <a:xfrm>
            <a:off x="731520" y="3429000"/>
            <a:ext cx="10728000" cy="27360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1200" b="0" u="none" strike="noStrike">
                <a:solidFill>
                  <a:srgbClr val="CADCFC"/>
                </a:solidFill>
                <a:effectLst/>
                <a:uFillTx/>
                <a:latin typeface="BIZ UDPゴシック"/>
                <a:ea typeface="BIZ UDPゴシック"/>
              </a:rPr>
              <a:t>提案責任者</a:t>
            </a:r>
            <a:r>
              <a:rPr lang="en-US" sz="1200" b="0" u="none" strike="noStrike">
                <a:solidFill>
                  <a:srgbClr val="CADCFC"/>
                </a:solidFill>
                <a:effectLst/>
                <a:uFillTx/>
                <a:latin typeface="BIZ UDPゴシック"/>
                <a:ea typeface="BIZ UDPゴシック"/>
              </a:rPr>
              <a:t>: </a:t>
            </a:r>
            <a:r>
              <a:rPr lang="ja-JP" sz="1200" b="0" u="none" strike="noStrike">
                <a:solidFill>
                  <a:srgbClr val="CADCFC"/>
                </a:solidFill>
                <a:effectLst/>
                <a:uFillTx/>
                <a:latin typeface="BIZ UDPゴシック"/>
                <a:ea typeface="BIZ UDPゴシック"/>
              </a:rPr>
              <a:t>架空 太郎</a:t>
            </a:r>
            <a:endParaRPr lang="en-US" sz="1200" b="0" u="none" strike="noStrike">
              <a:solidFill>
                <a:srgbClr val="000000"/>
              </a:solidFill>
              <a:effectLst/>
              <a:uFillTx/>
              <a:latin typeface="Arial"/>
            </a:endParaRPr>
          </a:p>
        </p:txBody>
      </p:sp>
      <p:sp>
        <p:nvSpPr>
          <p:cNvPr id="2744" name="cl-contact"/>
          <p:cNvSpPr/>
          <p:nvPr/>
        </p:nvSpPr>
        <p:spPr>
          <a:xfrm>
            <a:off x="731520" y="3740040"/>
            <a:ext cx="10728000" cy="27360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1200" b="0" u="none" strike="noStrike">
                <a:solidFill>
                  <a:srgbClr val="CADCFC"/>
                </a:solidFill>
                <a:effectLst/>
                <a:uFillTx/>
                <a:latin typeface="BIZ UDPゴシック"/>
                <a:ea typeface="BIZ UDPゴシック"/>
              </a:rPr>
              <a:t>エグザンプルシステムズ株式会社 ソリューション事業部</a:t>
            </a:r>
            <a:endParaRPr lang="en-US" sz="1200" b="0" u="none" strike="noStrike">
              <a:solidFill>
                <a:srgbClr val="000000"/>
              </a:solidFill>
              <a:effectLst/>
              <a:uFillTx/>
              <a:latin typeface="Arial"/>
            </a:endParaRPr>
          </a:p>
        </p:txBody>
      </p:sp>
      <p:sp>
        <p:nvSpPr>
          <p:cNvPr id="2745" name="cl-contact"/>
          <p:cNvSpPr/>
          <p:nvPr/>
        </p:nvSpPr>
        <p:spPr>
          <a:xfrm>
            <a:off x="731520" y="4050720"/>
            <a:ext cx="10728000" cy="27360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en-US" sz="1200" b="0" u="none" strike="noStrike">
                <a:solidFill>
                  <a:srgbClr val="CADCFC"/>
                </a:solidFill>
                <a:effectLst/>
                <a:uFillTx/>
                <a:latin typeface="BIZ UDPゴシック"/>
                <a:ea typeface="BIZ UDPゴシック"/>
              </a:rPr>
              <a:t>mail: taro.kakuno@example.com</a:t>
            </a:r>
            <a:endParaRPr lang="en-US" sz="1200" b="0" u="none" strike="noStrike">
              <a:solidFill>
                <a:srgbClr val="000000"/>
              </a:solidFill>
              <a:effectLst/>
              <a:uFillTx/>
              <a:latin typeface="Arial"/>
            </a:endParaRPr>
          </a:p>
        </p:txBody>
      </p:sp>
      <p:sp>
        <p:nvSpPr>
          <p:cNvPr id="2746" name="cl-contact"/>
          <p:cNvSpPr/>
          <p:nvPr/>
        </p:nvSpPr>
        <p:spPr>
          <a:xfrm>
            <a:off x="731520" y="4361760"/>
            <a:ext cx="10728000" cy="27360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en-US" sz="1200" b="0" u="none" strike="noStrike">
                <a:solidFill>
                  <a:srgbClr val="CADCFC"/>
                </a:solidFill>
                <a:effectLst/>
                <a:uFillTx/>
                <a:latin typeface="BIZ UDPゴシック"/>
                <a:ea typeface="BIZ UDPゴシック"/>
              </a:rPr>
              <a:t>tel: 03-0000-0000</a:t>
            </a:r>
            <a:endParaRPr lang="en-US" sz="1200" b="0" u="none" strike="noStrike">
              <a:solidFill>
                <a:srgbClr val="000000"/>
              </a:solidFill>
              <a:effectLst/>
              <a:uFillTx/>
              <a:latin typeface="Arial"/>
            </a:endParaRPr>
          </a:p>
        </p:txBody>
      </p:sp>
      <p:sp>
        <p:nvSpPr>
          <p:cNvPr id="2747" name="cl-org"/>
          <p:cNvSpPr/>
          <p:nvPr/>
        </p:nvSpPr>
        <p:spPr>
          <a:xfrm>
            <a:off x="731520" y="5257800"/>
            <a:ext cx="10728000" cy="27360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ja-JP" sz="1300" b="1" u="none" strike="noStrike">
                <a:solidFill>
                  <a:srgbClr val="FFFFFF"/>
                </a:solidFill>
                <a:effectLst/>
                <a:uFillTx/>
                <a:latin typeface="BIZ UDPゴシック"/>
                <a:ea typeface="BIZ UDPゴシック"/>
              </a:rPr>
              <a:t>エグザンプルシステムズ株式会社</a:t>
            </a:r>
            <a:endParaRPr lang="en-US" sz="1300" b="0" u="none" strike="noStrike">
              <a:solidFill>
                <a:srgbClr val="000000"/>
              </a:solidFill>
              <a:effectLst/>
              <a:uFillTx/>
              <a:latin typeface="Arial"/>
            </a:endParaRPr>
          </a:p>
        </p:txBody>
      </p:sp>
      <p:sp>
        <p:nvSpPr>
          <p:cNvPr id="2748" name="cl-tail"/>
          <p:cNvSpPr/>
          <p:nvPr/>
        </p:nvSpPr>
        <p:spPr>
          <a:xfrm>
            <a:off x="731520" y="5559480"/>
            <a:ext cx="10728000" cy="236880"/>
          </a:xfrm>
          <a:prstGeom prst="rect">
            <a:avLst/>
          </a:prstGeom>
          <a:noFill/>
          <a:ln w="0">
            <a:noFill/>
          </a:ln>
        </p:spPr>
        <p:style>
          <a:lnRef idx="0"/>
          <a:fillRef idx="0"/>
          <a:effectRef idx="0"/>
          <a:fontRef idx="minor"/>
        </p:style>
        <p:txBody>
          <a:bodyPr lIns="0" tIns="0" rIns="0" bIns="0" anchor="t">
            <a:spAutoFit/>
          </a:bodyPr>
          <a:p>
            <a:pPr algn="ctr" defTabSz="457200">
              <a:lnSpc>
                <a:spcPct val="120000"/>
              </a:lnSpc>
            </a:pPr>
            <a:r>
              <a:rPr lang="en-US" sz="1000" b="0" u="none" strike="noStrike">
                <a:solidFill>
                  <a:srgbClr val="DDE8FD"/>
                </a:solidFill>
                <a:effectLst/>
                <a:uFillTx/>
                <a:latin typeface="BIZ UDPゴシック"/>
                <a:ea typeface="BIZ UDPゴシック"/>
              </a:rPr>
              <a:t>EXS-PRP-2026-014 / Version 1.0</a:t>
            </a:r>
            <a:endParaRPr lang="en-US" sz="1000" b="0" u="none" strike="noStrike">
              <a:solidFill>
                <a:srgbClr val="000000"/>
              </a:solidFill>
              <a:effectLst/>
              <a:uFillTx/>
              <a:latin typeface="Arial"/>
            </a:endParaRPr>
          </a:p>
        </p:txBody>
      </p:sp>
      <p:sp>
        <p:nvSpPr>
          <p:cNvPr id="2749" name="ftr-page"/>
          <p:cNvSpPr/>
          <p:nvPr/>
        </p:nvSpPr>
        <p:spPr>
          <a:xfrm>
            <a:off x="10545840" y="6400800"/>
            <a:ext cx="1142280" cy="273600"/>
          </a:xfrm>
          <a:prstGeom prst="rect">
            <a:avLst/>
          </a:prstGeom>
          <a:noFill/>
          <a:ln w="0">
            <a:noFill/>
          </a:ln>
        </p:spPr>
        <p:style>
          <a:lnRef idx="0"/>
          <a:fillRef idx="0"/>
          <a:effectRef idx="0"/>
          <a:fontRef idx="minor"/>
        </p:style>
        <p:txBody>
          <a:bodyPr lIns="0" tIns="0" rIns="0" bIns="0" anchor="t">
            <a:spAutoFit/>
          </a:bodyPr>
          <a:p>
            <a:pPr algn="r" defTabSz="457200">
              <a:lnSpc>
                <a:spcPct val="120000"/>
              </a:lnSpc>
            </a:pPr>
            <a:r>
              <a:rPr lang="en-US" sz="1100" b="1" u="none" strike="noStrike">
                <a:solidFill>
                  <a:srgbClr val="FFFFFF"/>
                </a:solidFill>
                <a:effectLst/>
                <a:uFillTx/>
                <a:latin typeface="BIZ UDPゴシック"/>
                <a:ea typeface="BIZ UDPゴシック"/>
              </a:rPr>
              <a:t>85 / 85</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68</TotalTime>
  <Application>Collabora_Office/26.04.0.20260110$Linux_X86_64 LibreOffice_project/978acf71136df9e491c0de78423f55da49bae4fd</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ja-JP</dc:language>
  <cp:lastModifiedBy/>
  <dcterms:modified xsi:type="dcterms:W3CDTF">2026-10-14T14:13:26Z</dcterms:modified>
  <cp:revision>15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