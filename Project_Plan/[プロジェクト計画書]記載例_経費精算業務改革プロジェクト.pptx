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経営課題と投資判断の前提を最初に共有する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v-bg"/>
          <p:cNvSpPr/>
          <p:nvPr/>
        </p:nvSpPr>
        <p:spPr>
          <a:xfrm>
            <a:off x="0" y="0"/>
            <a:ext cx="12191695" cy="6858000"/>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v-acc1"/>
          <p:cNvSpPr/>
          <p:nvPr/>
        </p:nvSpPr>
        <p:spPr>
          <a:xfrm>
            <a:off x="9357055" y="-1234440"/>
            <a:ext cx="3108960" cy="3108960"/>
          </a:xfrm>
          <a:prstGeom prst="rect">
            <a:avLst/>
          </a:prstGeom>
          <a:solidFill>
            <a:srgbClr val="B4235A">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v-acc2"/>
          <p:cNvSpPr/>
          <p:nvPr/>
        </p:nvSpPr>
        <p:spPr>
          <a:xfrm>
            <a:off x="10042855" y="4572000"/>
            <a:ext cx="1737360" cy="1737360"/>
          </a:xfrm>
          <a:prstGeom prst="ellipse">
            <a:avLst/>
          </a:prstGeom>
          <a:noFill/>
          <a:ln w="2794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v-acc3"/>
          <p:cNvSpPr/>
          <p:nvPr/>
        </p:nvSpPr>
        <p:spPr>
          <a:xfrm rot="2700000">
            <a:off x="11414455" y="5806440"/>
            <a:ext cx="914400" cy="914400"/>
          </a:xfrm>
          <a:prstGeom prst="rect">
            <a:avLst/>
          </a:prstGeom>
          <a:solidFill>
            <a:srgbClr val="0E749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v-kicker"/>
          <p:cNvSpPr txBox="1"/>
          <p:nvPr/>
        </p:nvSpPr>
        <p:spPr>
          <a:xfrm>
            <a:off x="777240" y="1188720"/>
            <a:ext cx="10637215" cy="274320"/>
          </a:xfrm>
          <a:prstGeom prst="rect">
            <a:avLst/>
          </a:prstGeom>
          <a:noFill/>
        </p:spPr>
        <p:txBody>
          <a:bodyPr wrap="square" lIns="0" tIns="0" rIns="0" bIns="0" anchor="t">
            <a:spAutoFit/>
          </a:bodyPr>
          <a:lstStyle/>
          <a:p>
            <a:pPr algn="l">
              <a:lnSpc>
                <a:spcPct val="120000"/>
              </a:lnSpc>
            </a:pPr>
            <a:r>
              <a:rPr sz="1300" b="1" spc="400">
                <a:solidFill>
                  <a:srgbClr val="0E7490"/>
                </a:solidFill>
                <a:latin typeface="BIZ UDPゴシック"/>
                <a:ea typeface="BIZ UDPゴシック"/>
              </a:rPr>
              <a:t>PROJECT PLAN</a:t>
            </a:r>
          </a:p>
        </p:txBody>
      </p:sp>
      <p:sp>
        <p:nvSpPr>
          <p:cNvPr id="7" name="cv-doc"/>
          <p:cNvSpPr txBox="1"/>
          <p:nvPr/>
        </p:nvSpPr>
        <p:spPr>
          <a:xfrm>
            <a:off x="777240" y="1572768"/>
            <a:ext cx="10637215" cy="685800"/>
          </a:xfrm>
          <a:prstGeom prst="rect">
            <a:avLst/>
          </a:prstGeom>
          <a:noFill/>
        </p:spPr>
        <p:txBody>
          <a:bodyPr wrap="square" lIns="0" tIns="0" rIns="0" bIns="0" anchor="t">
            <a:spAutoFit/>
          </a:bodyPr>
          <a:lstStyle/>
          <a:p>
            <a:pPr algn="l">
              <a:lnSpc>
                <a:spcPct val="120000"/>
              </a:lnSpc>
            </a:pPr>
            <a:r>
              <a:rPr sz="4000" b="1">
                <a:solidFill>
                  <a:srgbClr val="FFFFFF"/>
                </a:solidFill>
                <a:latin typeface="BIZ UDPゴシック"/>
                <a:ea typeface="BIZ UDPゴシック"/>
              </a:rPr>
              <a:t>プロジェクト計画書</a:t>
            </a:r>
          </a:p>
        </p:txBody>
      </p:sp>
      <p:sp>
        <p:nvSpPr>
          <p:cNvPr id="8" name="cv-proj"/>
          <p:cNvSpPr txBox="1"/>
          <p:nvPr/>
        </p:nvSpPr>
        <p:spPr>
          <a:xfrm>
            <a:off x="777240" y="2450592"/>
            <a:ext cx="10637215" cy="384048"/>
          </a:xfrm>
          <a:prstGeom prst="rect">
            <a:avLst/>
          </a:prstGeom>
          <a:noFill/>
        </p:spPr>
        <p:txBody>
          <a:bodyPr wrap="square" lIns="0" tIns="0" rIns="0" bIns="0" anchor="t">
            <a:spAutoFit/>
          </a:bodyPr>
          <a:lstStyle/>
          <a:p>
            <a:pPr algn="l">
              <a:lnSpc>
                <a:spcPct val="120000"/>
              </a:lnSpc>
            </a:pPr>
            <a:r>
              <a:rPr sz="2000" b="1">
                <a:solidFill>
                  <a:srgbClr val="CADCFC"/>
                </a:solidFill>
                <a:latin typeface="BIZ UDPゴシック"/>
                <a:ea typeface="BIZ UDPゴシック"/>
              </a:rPr>
              <a:t>経費精算業務改革プロジェクト</a:t>
            </a:r>
          </a:p>
        </p:txBody>
      </p:sp>
      <p:sp>
        <p:nvSpPr>
          <p:cNvPr id="9" name="cv-sub"/>
          <p:cNvSpPr txBox="1"/>
          <p:nvPr/>
        </p:nvSpPr>
        <p:spPr>
          <a:xfrm>
            <a:off x="777240" y="2907792"/>
            <a:ext cx="10637215" cy="292608"/>
          </a:xfrm>
          <a:prstGeom prst="rect">
            <a:avLst/>
          </a:prstGeom>
          <a:noFill/>
        </p:spPr>
        <p:txBody>
          <a:bodyPr wrap="square" lIns="0" tIns="0" rIns="0" bIns="0" anchor="t">
            <a:spAutoFit/>
          </a:bodyPr>
          <a:lstStyle/>
          <a:p>
            <a:pPr algn="l">
              <a:lnSpc>
                <a:spcPct val="120000"/>
              </a:lnSpc>
            </a:pPr>
            <a:r>
              <a:rPr sz="1400" b="0">
                <a:solidFill>
                  <a:srgbClr val="D7E5FD"/>
                </a:solidFill>
                <a:latin typeface="BIZ UDPゴシック"/>
                <a:ea typeface="BIZ UDPゴシック"/>
              </a:rPr>
              <a:t>現状分析〜本番移行・定着化</a:t>
            </a:r>
          </a:p>
        </p:txBody>
      </p:sp>
      <p:sp>
        <p:nvSpPr>
          <p:cNvPr id="10" name="cv-addr"/>
          <p:cNvSpPr txBox="1"/>
          <p:nvPr/>
        </p:nvSpPr>
        <p:spPr>
          <a:xfrm>
            <a:off x="777240" y="3794760"/>
            <a:ext cx="10637215" cy="274320"/>
          </a:xfrm>
          <a:prstGeom prst="rect">
            <a:avLst/>
          </a:prstGeom>
          <a:noFill/>
        </p:spPr>
        <p:txBody>
          <a:bodyPr wrap="square" lIns="0" tIns="0" rIns="0" bIns="0" anchor="t">
            <a:spAutoFit/>
          </a:bodyPr>
          <a:lstStyle/>
          <a:p>
            <a:pPr algn="l">
              <a:lnSpc>
                <a:spcPct val="120000"/>
              </a:lnSpc>
            </a:pPr>
            <a:r>
              <a:rPr sz="1400" b="0">
                <a:solidFill>
                  <a:srgbClr val="FFFFFF"/>
                </a:solidFill>
                <a:latin typeface="BIZ UDPゴシック"/>
                <a:ea typeface="BIZ UDPゴシック"/>
              </a:rPr>
              <a:t>サンプル商事株式会社 御中</a:t>
            </a:r>
          </a:p>
        </p:txBody>
      </p:sp>
      <p:sp>
        <p:nvSpPr>
          <p:cNvPr id="11" name="cv-org"/>
          <p:cNvSpPr txBox="1"/>
          <p:nvPr/>
        </p:nvSpPr>
        <p:spPr>
          <a:xfrm>
            <a:off x="777240" y="5349240"/>
            <a:ext cx="10637215" cy="274320"/>
          </a:xfrm>
          <a:prstGeom prst="rect">
            <a:avLst/>
          </a:prstGeom>
          <a:noFill/>
        </p:spPr>
        <p:txBody>
          <a:bodyPr wrap="square" lIns="0" tIns="0" rIns="0" bIns="0" anchor="t">
            <a:spAutoFit/>
          </a:bodyPr>
          <a:lstStyle/>
          <a:p>
            <a:pPr algn="l">
              <a:lnSpc>
                <a:spcPct val="120000"/>
              </a:lnSpc>
            </a:pPr>
            <a:r>
              <a:rPr sz="1300" b="1">
                <a:solidFill>
                  <a:srgbClr val="FFFFFF"/>
                </a:solidFill>
                <a:latin typeface="BIZ UDPゴシック"/>
                <a:ea typeface="BIZ UDPゴシック"/>
              </a:rPr>
              <a:t>エグザンプルシステムズ株式会社</a:t>
            </a:r>
          </a:p>
        </p:txBody>
      </p:sp>
      <p:sp>
        <p:nvSpPr>
          <p:cNvPr id="12" name="cv-date"/>
          <p:cNvSpPr txBox="1"/>
          <p:nvPr/>
        </p:nvSpPr>
        <p:spPr>
          <a:xfrm>
            <a:off x="777240" y="5650992"/>
            <a:ext cx="10637215" cy="256032"/>
          </a:xfrm>
          <a:prstGeom prst="rect">
            <a:avLst/>
          </a:prstGeom>
          <a:noFill/>
        </p:spPr>
        <p:txBody>
          <a:bodyPr wrap="square" lIns="0" tIns="0" rIns="0" bIns="0" anchor="t">
            <a:spAutoFit/>
          </a:bodyPr>
          <a:lstStyle/>
          <a:p>
            <a:pPr algn="l">
              <a:lnSpc>
                <a:spcPct val="120000"/>
              </a:lnSpc>
            </a:pPr>
            <a:r>
              <a:rPr sz="1100" b="0">
                <a:solidFill>
                  <a:srgbClr val="CADCFC"/>
                </a:solidFill>
                <a:latin typeface="BIZ UDPゴシック"/>
                <a:ea typeface="BIZ UDPゴシック"/>
              </a:rPr>
              <a:t>2026/04/01 作成 / 2026/07/01 改訂</a:t>
            </a:r>
          </a:p>
        </p:txBody>
      </p:sp>
      <p:sp>
        <p:nvSpPr>
          <p:cNvPr id="13" name="cv-badge"/>
          <p:cNvSpPr/>
          <p:nvPr/>
        </p:nvSpPr>
        <p:spPr>
          <a:xfrm>
            <a:off x="777240" y="6053328"/>
            <a:ext cx="1234440" cy="310896"/>
          </a:xfrm>
          <a:prstGeom prst="roundRect">
            <a:avLst>
              <a:gd name="adj" fmla="val 50000"/>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1000" b="1">
                <a:solidFill>
                  <a:srgbClr val="FFFFFF"/>
                </a:solidFill>
                <a:latin typeface="BIZ UDPゴシック"/>
                <a:ea typeface="BIZ UDPゴシック"/>
              </a:rPr>
              <a:t>Version 1.0</a:t>
            </a:r>
          </a:p>
        </p:txBody>
      </p:sp>
      <p:sp>
        <p:nvSpPr>
          <p:cNvPr id="14" name="cv-conf"/>
          <p:cNvSpPr/>
          <p:nvPr/>
        </p:nvSpPr>
        <p:spPr>
          <a:xfrm>
            <a:off x="2148840" y="6053328"/>
            <a:ext cx="914400" cy="31089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1000" b="1">
                <a:solidFill>
                  <a:srgbClr val="B4235A"/>
                </a:solidFill>
                <a:latin typeface="BIZ UDPゴシック"/>
                <a:ea typeface="BIZ UDPゴシック"/>
              </a:rPr>
              <a:t>社外秘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title"/>
          <p:cNvSpPr txBox="1"/>
          <p:nvPr/>
        </p:nvSpPr>
        <p:spPr>
          <a:xfrm>
            <a:off x="502920" y="365760"/>
            <a:ext cx="9219895" cy="457200"/>
          </a:xfrm>
          <a:prstGeom prst="rect">
            <a:avLst/>
          </a:prstGeom>
          <a:noFill/>
        </p:spPr>
        <p:txBody>
          <a:bodyPr wrap="square" lIns="0" tIns="0" rIns="0" bIns="0" anchor="t">
            <a:spAutoFit/>
          </a:bodyPr>
          <a:lstStyle/>
          <a:p>
            <a:pPr algn="l">
              <a:lnSpc>
                <a:spcPct val="120000"/>
              </a:lnSpc>
            </a:pPr>
            <a:r>
              <a:rPr sz="2400" b="1">
                <a:solidFill>
                  <a:srgbClr val="16213E"/>
                </a:solidFill>
                <a:latin typeface="BIZ UDPゴシック"/>
                <a:ea typeface="BIZ UDPゴシック"/>
              </a:rPr>
              <a:t>目次</a:t>
            </a:r>
          </a:p>
        </p:txBody>
      </p:sp>
      <p:sp>
        <p:nvSpPr>
          <p:cNvPr id="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1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2</a:t>
            </a:r>
          </a:p>
        </p:txBody>
      </p:sp>
      <p:sp>
        <p:nvSpPr>
          <p:cNvPr id="11" name="toc-card-1"/>
          <p:cNvSpPr/>
          <p:nvPr/>
        </p:nvSpPr>
        <p:spPr>
          <a:xfrm>
            <a:off x="502920" y="1170432"/>
            <a:ext cx="5455767" cy="1437894"/>
          </a:xfrm>
          <a:prstGeom prst="roundRect">
            <a:avLst>
              <a:gd name="adj" fmla="val 6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oc-ch-1"/>
          <p:cNvSpPr txBox="1"/>
          <p:nvPr/>
        </p:nvSpPr>
        <p:spPr>
          <a:xfrm>
            <a:off x="630936" y="1225296"/>
            <a:ext cx="502920" cy="212598"/>
          </a:xfrm>
          <a:prstGeom prst="rect">
            <a:avLst/>
          </a:prstGeom>
          <a:noFill/>
        </p:spPr>
        <p:txBody>
          <a:bodyPr wrap="square" lIns="0" tIns="0" rIns="0" bIns="0" anchor="ctr">
            <a:spAutoFit/>
          </a:bodyPr>
          <a:lstStyle/>
          <a:p>
            <a:pPr algn="l">
              <a:lnSpc>
                <a:spcPct val="120000"/>
              </a:lnSpc>
            </a:pPr>
            <a:r>
              <a:rPr sz="1115" b="1">
                <a:solidFill>
                  <a:srgbClr val="B4235A"/>
                </a:solidFill>
                <a:latin typeface="BIZ UDPゴシック"/>
                <a:ea typeface="BIZ UDPゴシック"/>
              </a:rPr>
              <a:t>01</a:t>
            </a:r>
          </a:p>
        </p:txBody>
      </p:sp>
      <p:sp>
        <p:nvSpPr>
          <p:cNvPr id="13" name="TextBox 12"/>
          <p:cNvSpPr txBox="1"/>
          <p:nvPr/>
        </p:nvSpPr>
        <p:spPr>
          <a:xfrm>
            <a:off x="1161288" y="1225296"/>
            <a:ext cx="3992727" cy="212598"/>
          </a:xfrm>
          <a:prstGeom prst="rect">
            <a:avLst/>
          </a:prstGeom>
          <a:noFill/>
        </p:spPr>
        <p:txBody>
          <a:bodyPr wrap="square" lIns="0" tIns="0" rIns="0" bIns="0" anchor="ctr">
            <a:spAutoFit/>
          </a:bodyPr>
          <a:lstStyle/>
          <a:p>
            <a:pPr algn="l">
              <a:lnSpc>
                <a:spcPct val="120000"/>
              </a:lnSpc>
            </a:pPr>
            <a:r>
              <a:rPr sz="1115" b="1">
                <a:solidFill>
                  <a:srgbClr val="16213E"/>
                </a:solidFill>
                <a:latin typeface="BIZ UDPゴシック"/>
                <a:ea typeface="BIZ UDPゴシック"/>
              </a:rPr>
              <a:t>方針</a:t>
            </a:r>
          </a:p>
        </p:txBody>
      </p:sp>
      <p:sp>
        <p:nvSpPr>
          <p:cNvPr id="14" name="toc-pg-ch-1"/>
          <p:cNvSpPr txBox="1"/>
          <p:nvPr/>
        </p:nvSpPr>
        <p:spPr>
          <a:xfrm>
            <a:off x="5227167" y="1225296"/>
            <a:ext cx="603504" cy="212598"/>
          </a:xfrm>
          <a:prstGeom prst="rect">
            <a:avLst/>
          </a:prstGeom>
          <a:noFill/>
        </p:spPr>
        <p:txBody>
          <a:bodyPr wrap="square" lIns="0" tIns="0" rIns="0" bIns="0" anchor="ctr">
            <a:spAutoFit/>
          </a:bodyPr>
          <a:lstStyle/>
          <a:p>
            <a:pPr algn="r">
              <a:lnSpc>
                <a:spcPct val="120000"/>
              </a:lnSpc>
            </a:pPr>
            <a:r>
              <a:rPr sz="1050" b="0">
                <a:solidFill>
                  <a:srgbClr val="6B7280"/>
                </a:solidFill>
                <a:latin typeface="BIZ UDPゴシック"/>
                <a:ea typeface="BIZ UDPゴシック"/>
              </a:rPr>
              <a:t>4</a:t>
            </a:r>
          </a:p>
        </p:txBody>
      </p:sp>
      <p:sp>
        <p:nvSpPr>
          <p:cNvPr id="15" name="TextBox 14"/>
          <p:cNvSpPr txBox="1"/>
          <p:nvPr/>
        </p:nvSpPr>
        <p:spPr>
          <a:xfrm>
            <a:off x="777240" y="1419606"/>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1.1  背景と目的</a:t>
            </a:r>
          </a:p>
        </p:txBody>
      </p:sp>
      <p:sp>
        <p:nvSpPr>
          <p:cNvPr id="16" name="toc-pg-1.1"/>
          <p:cNvSpPr txBox="1"/>
          <p:nvPr/>
        </p:nvSpPr>
        <p:spPr>
          <a:xfrm>
            <a:off x="5227167" y="1419606"/>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5</a:t>
            </a:r>
          </a:p>
        </p:txBody>
      </p:sp>
      <p:sp>
        <p:nvSpPr>
          <p:cNvPr id="17" name="TextBox 16"/>
          <p:cNvSpPr txBox="1"/>
          <p:nvPr/>
        </p:nvSpPr>
        <p:spPr>
          <a:xfrm>
            <a:off x="777240" y="1561338"/>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1.2  実施方針</a:t>
            </a:r>
          </a:p>
        </p:txBody>
      </p:sp>
      <p:sp>
        <p:nvSpPr>
          <p:cNvPr id="18" name="toc-pg-1.2"/>
          <p:cNvSpPr txBox="1"/>
          <p:nvPr/>
        </p:nvSpPr>
        <p:spPr>
          <a:xfrm>
            <a:off x="5227167" y="1561338"/>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6</a:t>
            </a:r>
          </a:p>
        </p:txBody>
      </p:sp>
      <p:sp>
        <p:nvSpPr>
          <p:cNvPr id="19" name="TextBox 18"/>
          <p:cNvSpPr txBox="1"/>
          <p:nvPr/>
        </p:nvSpPr>
        <p:spPr>
          <a:xfrm>
            <a:off x="777240" y="1703070"/>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1.3  全体像</a:t>
            </a:r>
          </a:p>
        </p:txBody>
      </p:sp>
      <p:sp>
        <p:nvSpPr>
          <p:cNvPr id="20" name="toc-pg-1.3"/>
          <p:cNvSpPr txBox="1"/>
          <p:nvPr/>
        </p:nvSpPr>
        <p:spPr>
          <a:xfrm>
            <a:off x="5227167" y="1703070"/>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7</a:t>
            </a:r>
          </a:p>
        </p:txBody>
      </p:sp>
      <p:sp>
        <p:nvSpPr>
          <p:cNvPr id="21" name="TextBox 20"/>
          <p:cNvSpPr txBox="1"/>
          <p:nvPr/>
        </p:nvSpPr>
        <p:spPr>
          <a:xfrm>
            <a:off x="777240" y="1844802"/>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1.4  対象の概要</a:t>
            </a:r>
          </a:p>
        </p:txBody>
      </p:sp>
      <p:sp>
        <p:nvSpPr>
          <p:cNvPr id="22" name="toc-pg-1.4"/>
          <p:cNvSpPr txBox="1"/>
          <p:nvPr/>
        </p:nvSpPr>
        <p:spPr>
          <a:xfrm>
            <a:off x="5227167" y="1844802"/>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8</a:t>
            </a:r>
          </a:p>
        </p:txBody>
      </p:sp>
      <p:sp>
        <p:nvSpPr>
          <p:cNvPr id="23" name="TextBox 22"/>
          <p:cNvSpPr txBox="1"/>
          <p:nvPr/>
        </p:nvSpPr>
        <p:spPr>
          <a:xfrm>
            <a:off x="777240" y="1986534"/>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1.5  スコープ (対象・対象外)</a:t>
            </a:r>
          </a:p>
        </p:txBody>
      </p:sp>
      <p:sp>
        <p:nvSpPr>
          <p:cNvPr id="24" name="toc-pg-1.5"/>
          <p:cNvSpPr txBox="1"/>
          <p:nvPr/>
        </p:nvSpPr>
        <p:spPr>
          <a:xfrm>
            <a:off x="5227167" y="1986534"/>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9</a:t>
            </a:r>
          </a:p>
        </p:txBody>
      </p:sp>
      <p:sp>
        <p:nvSpPr>
          <p:cNvPr id="25" name="TextBox 24"/>
          <p:cNvSpPr txBox="1"/>
          <p:nvPr/>
        </p:nvSpPr>
        <p:spPr>
          <a:xfrm>
            <a:off x="777240" y="2128265"/>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1.6  目標と成功基準</a:t>
            </a:r>
          </a:p>
        </p:txBody>
      </p:sp>
      <p:sp>
        <p:nvSpPr>
          <p:cNvPr id="26" name="toc-pg-1.6"/>
          <p:cNvSpPr txBox="1"/>
          <p:nvPr/>
        </p:nvSpPr>
        <p:spPr>
          <a:xfrm>
            <a:off x="5227167" y="2128265"/>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10</a:t>
            </a:r>
          </a:p>
        </p:txBody>
      </p:sp>
      <p:sp>
        <p:nvSpPr>
          <p:cNvPr id="27" name="TextBox 26"/>
          <p:cNvSpPr txBox="1"/>
          <p:nvPr/>
        </p:nvSpPr>
        <p:spPr>
          <a:xfrm>
            <a:off x="777240" y="2269997"/>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1.7  前提条件・制約条件</a:t>
            </a:r>
          </a:p>
        </p:txBody>
      </p:sp>
      <p:sp>
        <p:nvSpPr>
          <p:cNvPr id="28" name="toc-pg-1.7"/>
          <p:cNvSpPr txBox="1"/>
          <p:nvPr/>
        </p:nvSpPr>
        <p:spPr>
          <a:xfrm>
            <a:off x="5227167" y="2269997"/>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11</a:t>
            </a:r>
          </a:p>
        </p:txBody>
      </p:sp>
      <p:sp>
        <p:nvSpPr>
          <p:cNvPr id="29" name="TextBox 28"/>
          <p:cNvSpPr txBox="1"/>
          <p:nvPr/>
        </p:nvSpPr>
        <p:spPr>
          <a:xfrm>
            <a:off x="777240" y="2411729"/>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1.8  要求・要件の定義方針</a:t>
            </a:r>
          </a:p>
        </p:txBody>
      </p:sp>
      <p:sp>
        <p:nvSpPr>
          <p:cNvPr id="30" name="toc-pg-1.8"/>
          <p:cNvSpPr txBox="1"/>
          <p:nvPr/>
        </p:nvSpPr>
        <p:spPr>
          <a:xfrm>
            <a:off x="5227167" y="2411729"/>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12</a:t>
            </a:r>
          </a:p>
        </p:txBody>
      </p:sp>
      <p:sp>
        <p:nvSpPr>
          <p:cNvPr id="31" name="toc-card-2"/>
          <p:cNvSpPr/>
          <p:nvPr/>
        </p:nvSpPr>
        <p:spPr>
          <a:xfrm>
            <a:off x="502920" y="2699766"/>
            <a:ext cx="5455767" cy="729234"/>
          </a:xfrm>
          <a:prstGeom prst="roundRect">
            <a:avLst>
              <a:gd name="adj" fmla="val 6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oc-ch-2"/>
          <p:cNvSpPr txBox="1"/>
          <p:nvPr/>
        </p:nvSpPr>
        <p:spPr>
          <a:xfrm>
            <a:off x="630936" y="2754630"/>
            <a:ext cx="502920" cy="212598"/>
          </a:xfrm>
          <a:prstGeom prst="rect">
            <a:avLst/>
          </a:prstGeom>
          <a:noFill/>
        </p:spPr>
        <p:txBody>
          <a:bodyPr wrap="square" lIns="0" tIns="0" rIns="0" bIns="0" anchor="ctr">
            <a:spAutoFit/>
          </a:bodyPr>
          <a:lstStyle/>
          <a:p>
            <a:pPr algn="l">
              <a:lnSpc>
                <a:spcPct val="120000"/>
              </a:lnSpc>
            </a:pPr>
            <a:r>
              <a:rPr sz="1115" b="1">
                <a:solidFill>
                  <a:srgbClr val="B4235A"/>
                </a:solidFill>
                <a:latin typeface="BIZ UDPゴシック"/>
                <a:ea typeface="BIZ UDPゴシック"/>
              </a:rPr>
              <a:t>02</a:t>
            </a:r>
          </a:p>
        </p:txBody>
      </p:sp>
      <p:sp>
        <p:nvSpPr>
          <p:cNvPr id="33" name="TextBox 32"/>
          <p:cNvSpPr txBox="1"/>
          <p:nvPr/>
        </p:nvSpPr>
        <p:spPr>
          <a:xfrm>
            <a:off x="1161288" y="2754630"/>
            <a:ext cx="3992727" cy="212598"/>
          </a:xfrm>
          <a:prstGeom prst="rect">
            <a:avLst/>
          </a:prstGeom>
          <a:noFill/>
        </p:spPr>
        <p:txBody>
          <a:bodyPr wrap="square" lIns="0" tIns="0" rIns="0" bIns="0" anchor="ctr">
            <a:spAutoFit/>
          </a:bodyPr>
          <a:lstStyle/>
          <a:p>
            <a:pPr algn="l">
              <a:lnSpc>
                <a:spcPct val="120000"/>
              </a:lnSpc>
            </a:pPr>
            <a:r>
              <a:rPr sz="1115" b="1">
                <a:solidFill>
                  <a:srgbClr val="16213E"/>
                </a:solidFill>
                <a:latin typeface="BIZ UDPゴシック"/>
                <a:ea typeface="BIZ UDPゴシック"/>
              </a:rPr>
              <a:t>スケジュール</a:t>
            </a:r>
          </a:p>
        </p:txBody>
      </p:sp>
      <p:sp>
        <p:nvSpPr>
          <p:cNvPr id="34" name="toc-pg-ch-2"/>
          <p:cNvSpPr txBox="1"/>
          <p:nvPr/>
        </p:nvSpPr>
        <p:spPr>
          <a:xfrm>
            <a:off x="5227167" y="2754630"/>
            <a:ext cx="603504" cy="212598"/>
          </a:xfrm>
          <a:prstGeom prst="rect">
            <a:avLst/>
          </a:prstGeom>
          <a:noFill/>
        </p:spPr>
        <p:txBody>
          <a:bodyPr wrap="square" lIns="0" tIns="0" rIns="0" bIns="0" anchor="ctr">
            <a:spAutoFit/>
          </a:bodyPr>
          <a:lstStyle/>
          <a:p>
            <a:pPr algn="r">
              <a:lnSpc>
                <a:spcPct val="120000"/>
              </a:lnSpc>
            </a:pPr>
            <a:r>
              <a:rPr sz="1050" b="0">
                <a:solidFill>
                  <a:srgbClr val="6B7280"/>
                </a:solidFill>
                <a:latin typeface="BIZ UDPゴシック"/>
                <a:ea typeface="BIZ UDPゴシック"/>
              </a:rPr>
              <a:t>13</a:t>
            </a:r>
          </a:p>
        </p:txBody>
      </p:sp>
      <p:sp>
        <p:nvSpPr>
          <p:cNvPr id="35" name="TextBox 34"/>
          <p:cNvSpPr txBox="1"/>
          <p:nvPr/>
        </p:nvSpPr>
        <p:spPr>
          <a:xfrm>
            <a:off x="777240" y="2948940"/>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2.1  全体スケジュール</a:t>
            </a:r>
          </a:p>
        </p:txBody>
      </p:sp>
      <p:sp>
        <p:nvSpPr>
          <p:cNvPr id="36" name="toc-pg-2.1"/>
          <p:cNvSpPr txBox="1"/>
          <p:nvPr/>
        </p:nvSpPr>
        <p:spPr>
          <a:xfrm>
            <a:off x="5227167" y="2948940"/>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14</a:t>
            </a:r>
          </a:p>
        </p:txBody>
      </p:sp>
      <p:sp>
        <p:nvSpPr>
          <p:cNvPr id="37" name="TextBox 36"/>
          <p:cNvSpPr txBox="1"/>
          <p:nvPr/>
        </p:nvSpPr>
        <p:spPr>
          <a:xfrm>
            <a:off x="777240" y="3090672"/>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2.2  マイルストーンと完了基準</a:t>
            </a:r>
          </a:p>
        </p:txBody>
      </p:sp>
      <p:sp>
        <p:nvSpPr>
          <p:cNvPr id="38" name="toc-pg-2.2"/>
          <p:cNvSpPr txBox="1"/>
          <p:nvPr/>
        </p:nvSpPr>
        <p:spPr>
          <a:xfrm>
            <a:off x="5227167" y="3090672"/>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15</a:t>
            </a:r>
          </a:p>
        </p:txBody>
      </p:sp>
      <p:sp>
        <p:nvSpPr>
          <p:cNvPr id="39" name="TextBox 38"/>
          <p:cNvSpPr txBox="1"/>
          <p:nvPr/>
        </p:nvSpPr>
        <p:spPr>
          <a:xfrm>
            <a:off x="777240" y="3232403"/>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2.3  フェーズ別スケジュール</a:t>
            </a:r>
          </a:p>
        </p:txBody>
      </p:sp>
      <p:sp>
        <p:nvSpPr>
          <p:cNvPr id="40" name="toc-pg-2.3"/>
          <p:cNvSpPr txBox="1"/>
          <p:nvPr/>
        </p:nvSpPr>
        <p:spPr>
          <a:xfrm>
            <a:off x="5227167" y="3232403"/>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16</a:t>
            </a:r>
          </a:p>
        </p:txBody>
      </p:sp>
      <p:sp>
        <p:nvSpPr>
          <p:cNvPr id="41" name="toc-card-3"/>
          <p:cNvSpPr/>
          <p:nvPr/>
        </p:nvSpPr>
        <p:spPr>
          <a:xfrm>
            <a:off x="502920" y="3520440"/>
            <a:ext cx="5455767" cy="870966"/>
          </a:xfrm>
          <a:prstGeom prst="roundRect">
            <a:avLst>
              <a:gd name="adj" fmla="val 6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oc-ch-3"/>
          <p:cNvSpPr txBox="1"/>
          <p:nvPr/>
        </p:nvSpPr>
        <p:spPr>
          <a:xfrm>
            <a:off x="630936" y="3575304"/>
            <a:ext cx="502920" cy="212598"/>
          </a:xfrm>
          <a:prstGeom prst="rect">
            <a:avLst/>
          </a:prstGeom>
          <a:noFill/>
        </p:spPr>
        <p:txBody>
          <a:bodyPr wrap="square" lIns="0" tIns="0" rIns="0" bIns="0" anchor="ctr">
            <a:spAutoFit/>
          </a:bodyPr>
          <a:lstStyle/>
          <a:p>
            <a:pPr algn="l">
              <a:lnSpc>
                <a:spcPct val="120000"/>
              </a:lnSpc>
            </a:pPr>
            <a:r>
              <a:rPr sz="1115" b="1">
                <a:solidFill>
                  <a:srgbClr val="B4235A"/>
                </a:solidFill>
                <a:latin typeface="BIZ UDPゴシック"/>
                <a:ea typeface="BIZ UDPゴシック"/>
              </a:rPr>
              <a:t>03</a:t>
            </a:r>
          </a:p>
        </p:txBody>
      </p:sp>
      <p:sp>
        <p:nvSpPr>
          <p:cNvPr id="43" name="TextBox 42"/>
          <p:cNvSpPr txBox="1"/>
          <p:nvPr/>
        </p:nvSpPr>
        <p:spPr>
          <a:xfrm>
            <a:off x="1161288" y="3575304"/>
            <a:ext cx="3992727" cy="212598"/>
          </a:xfrm>
          <a:prstGeom prst="rect">
            <a:avLst/>
          </a:prstGeom>
          <a:noFill/>
        </p:spPr>
        <p:txBody>
          <a:bodyPr wrap="square" lIns="0" tIns="0" rIns="0" bIns="0" anchor="ctr">
            <a:spAutoFit/>
          </a:bodyPr>
          <a:lstStyle/>
          <a:p>
            <a:pPr algn="l">
              <a:lnSpc>
                <a:spcPct val="120000"/>
              </a:lnSpc>
            </a:pPr>
            <a:r>
              <a:rPr sz="1115" b="1">
                <a:solidFill>
                  <a:srgbClr val="16213E"/>
                </a:solidFill>
                <a:latin typeface="BIZ UDPゴシック"/>
                <a:ea typeface="BIZ UDPゴシック"/>
              </a:rPr>
              <a:t>体制</a:t>
            </a:r>
          </a:p>
        </p:txBody>
      </p:sp>
      <p:sp>
        <p:nvSpPr>
          <p:cNvPr id="44" name="toc-pg-ch-3"/>
          <p:cNvSpPr txBox="1"/>
          <p:nvPr/>
        </p:nvSpPr>
        <p:spPr>
          <a:xfrm>
            <a:off x="5227167" y="3575304"/>
            <a:ext cx="603504" cy="212598"/>
          </a:xfrm>
          <a:prstGeom prst="rect">
            <a:avLst/>
          </a:prstGeom>
          <a:noFill/>
        </p:spPr>
        <p:txBody>
          <a:bodyPr wrap="square" lIns="0" tIns="0" rIns="0" bIns="0" anchor="ctr">
            <a:spAutoFit/>
          </a:bodyPr>
          <a:lstStyle/>
          <a:p>
            <a:pPr algn="r">
              <a:lnSpc>
                <a:spcPct val="120000"/>
              </a:lnSpc>
            </a:pPr>
            <a:r>
              <a:rPr sz="1050" b="0">
                <a:solidFill>
                  <a:srgbClr val="6B7280"/>
                </a:solidFill>
                <a:latin typeface="BIZ UDPゴシック"/>
                <a:ea typeface="BIZ UDPゴシック"/>
              </a:rPr>
              <a:t>18</a:t>
            </a:r>
          </a:p>
        </p:txBody>
      </p:sp>
      <p:sp>
        <p:nvSpPr>
          <p:cNvPr id="45" name="TextBox 44"/>
          <p:cNvSpPr txBox="1"/>
          <p:nvPr/>
        </p:nvSpPr>
        <p:spPr>
          <a:xfrm>
            <a:off x="777240" y="3769614"/>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3.1  オーナー側体制</a:t>
            </a:r>
          </a:p>
        </p:txBody>
      </p:sp>
      <p:sp>
        <p:nvSpPr>
          <p:cNvPr id="46" name="toc-pg-3.1"/>
          <p:cNvSpPr txBox="1"/>
          <p:nvPr/>
        </p:nvSpPr>
        <p:spPr>
          <a:xfrm>
            <a:off x="5227167" y="3769614"/>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19</a:t>
            </a:r>
          </a:p>
        </p:txBody>
      </p:sp>
      <p:sp>
        <p:nvSpPr>
          <p:cNvPr id="47" name="TextBox 46"/>
          <p:cNvSpPr txBox="1"/>
          <p:nvPr/>
        </p:nvSpPr>
        <p:spPr>
          <a:xfrm>
            <a:off x="777240" y="3911346"/>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3.2  実施側体制</a:t>
            </a:r>
          </a:p>
        </p:txBody>
      </p:sp>
      <p:sp>
        <p:nvSpPr>
          <p:cNvPr id="48" name="toc-pg-3.2"/>
          <p:cNvSpPr txBox="1"/>
          <p:nvPr/>
        </p:nvSpPr>
        <p:spPr>
          <a:xfrm>
            <a:off x="5227167" y="3911346"/>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20</a:t>
            </a:r>
          </a:p>
        </p:txBody>
      </p:sp>
      <p:sp>
        <p:nvSpPr>
          <p:cNvPr id="49" name="TextBox 48"/>
          <p:cNvSpPr txBox="1"/>
          <p:nvPr/>
        </p:nvSpPr>
        <p:spPr>
          <a:xfrm>
            <a:off x="777240" y="4053078"/>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3.3  役割と責任</a:t>
            </a:r>
          </a:p>
        </p:txBody>
      </p:sp>
      <p:sp>
        <p:nvSpPr>
          <p:cNvPr id="50" name="toc-pg-3.3"/>
          <p:cNvSpPr txBox="1"/>
          <p:nvPr/>
        </p:nvSpPr>
        <p:spPr>
          <a:xfrm>
            <a:off x="5227167" y="4053078"/>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21</a:t>
            </a:r>
          </a:p>
        </p:txBody>
      </p:sp>
      <p:sp>
        <p:nvSpPr>
          <p:cNvPr id="51" name="TextBox 50"/>
          <p:cNvSpPr txBox="1"/>
          <p:nvPr/>
        </p:nvSpPr>
        <p:spPr>
          <a:xfrm>
            <a:off x="777240" y="4194810"/>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3.4  ステークホルダー</a:t>
            </a:r>
          </a:p>
        </p:txBody>
      </p:sp>
      <p:sp>
        <p:nvSpPr>
          <p:cNvPr id="52" name="toc-pg-3.4"/>
          <p:cNvSpPr txBox="1"/>
          <p:nvPr/>
        </p:nvSpPr>
        <p:spPr>
          <a:xfrm>
            <a:off x="5227167" y="4194810"/>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22</a:t>
            </a:r>
          </a:p>
        </p:txBody>
      </p:sp>
      <p:sp>
        <p:nvSpPr>
          <p:cNvPr id="53" name="toc-card-4"/>
          <p:cNvSpPr/>
          <p:nvPr/>
        </p:nvSpPr>
        <p:spPr>
          <a:xfrm>
            <a:off x="502920" y="4482846"/>
            <a:ext cx="5455767" cy="870966"/>
          </a:xfrm>
          <a:prstGeom prst="roundRect">
            <a:avLst>
              <a:gd name="adj" fmla="val 6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oc-ch-4"/>
          <p:cNvSpPr txBox="1"/>
          <p:nvPr/>
        </p:nvSpPr>
        <p:spPr>
          <a:xfrm>
            <a:off x="630936" y="4537709"/>
            <a:ext cx="502920" cy="212598"/>
          </a:xfrm>
          <a:prstGeom prst="rect">
            <a:avLst/>
          </a:prstGeom>
          <a:noFill/>
        </p:spPr>
        <p:txBody>
          <a:bodyPr wrap="square" lIns="0" tIns="0" rIns="0" bIns="0" anchor="ctr">
            <a:spAutoFit/>
          </a:bodyPr>
          <a:lstStyle/>
          <a:p>
            <a:pPr algn="l">
              <a:lnSpc>
                <a:spcPct val="120000"/>
              </a:lnSpc>
            </a:pPr>
            <a:r>
              <a:rPr sz="1115" b="1">
                <a:solidFill>
                  <a:srgbClr val="B4235A"/>
                </a:solidFill>
                <a:latin typeface="BIZ UDPゴシック"/>
                <a:ea typeface="BIZ UDPゴシック"/>
              </a:rPr>
              <a:t>04</a:t>
            </a:r>
          </a:p>
        </p:txBody>
      </p:sp>
      <p:sp>
        <p:nvSpPr>
          <p:cNvPr id="55" name="TextBox 54"/>
          <p:cNvSpPr txBox="1"/>
          <p:nvPr/>
        </p:nvSpPr>
        <p:spPr>
          <a:xfrm>
            <a:off x="1161288" y="4537709"/>
            <a:ext cx="3992727" cy="212598"/>
          </a:xfrm>
          <a:prstGeom prst="rect">
            <a:avLst/>
          </a:prstGeom>
          <a:noFill/>
        </p:spPr>
        <p:txBody>
          <a:bodyPr wrap="square" lIns="0" tIns="0" rIns="0" bIns="0" anchor="ctr">
            <a:spAutoFit/>
          </a:bodyPr>
          <a:lstStyle/>
          <a:p>
            <a:pPr algn="l">
              <a:lnSpc>
                <a:spcPct val="120000"/>
              </a:lnSpc>
            </a:pPr>
            <a:r>
              <a:rPr sz="1115" b="1">
                <a:solidFill>
                  <a:srgbClr val="16213E"/>
                </a:solidFill>
                <a:latin typeface="BIZ UDPゴシック"/>
                <a:ea typeface="BIZ UDPゴシック"/>
              </a:rPr>
              <a:t>コミュニケーション計画</a:t>
            </a:r>
          </a:p>
        </p:txBody>
      </p:sp>
      <p:sp>
        <p:nvSpPr>
          <p:cNvPr id="56" name="toc-pg-ch-4"/>
          <p:cNvSpPr txBox="1"/>
          <p:nvPr/>
        </p:nvSpPr>
        <p:spPr>
          <a:xfrm>
            <a:off x="5227167" y="4537709"/>
            <a:ext cx="603504" cy="212598"/>
          </a:xfrm>
          <a:prstGeom prst="rect">
            <a:avLst/>
          </a:prstGeom>
          <a:noFill/>
        </p:spPr>
        <p:txBody>
          <a:bodyPr wrap="square" lIns="0" tIns="0" rIns="0" bIns="0" anchor="ctr">
            <a:spAutoFit/>
          </a:bodyPr>
          <a:lstStyle/>
          <a:p>
            <a:pPr algn="r">
              <a:lnSpc>
                <a:spcPct val="120000"/>
              </a:lnSpc>
            </a:pPr>
            <a:r>
              <a:rPr sz="1050" b="0">
                <a:solidFill>
                  <a:srgbClr val="6B7280"/>
                </a:solidFill>
                <a:latin typeface="BIZ UDPゴシック"/>
                <a:ea typeface="BIZ UDPゴシック"/>
              </a:rPr>
              <a:t>23</a:t>
            </a:r>
          </a:p>
        </p:txBody>
      </p:sp>
      <p:sp>
        <p:nvSpPr>
          <p:cNvPr id="57" name="TextBox 56"/>
          <p:cNvSpPr txBox="1"/>
          <p:nvPr/>
        </p:nvSpPr>
        <p:spPr>
          <a:xfrm>
            <a:off x="777240" y="4732020"/>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4.1  会議体</a:t>
            </a:r>
          </a:p>
        </p:txBody>
      </p:sp>
      <p:sp>
        <p:nvSpPr>
          <p:cNvPr id="58" name="toc-pg-4.1"/>
          <p:cNvSpPr txBox="1"/>
          <p:nvPr/>
        </p:nvSpPr>
        <p:spPr>
          <a:xfrm>
            <a:off x="5227167" y="4732020"/>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24</a:t>
            </a:r>
          </a:p>
        </p:txBody>
      </p:sp>
      <p:sp>
        <p:nvSpPr>
          <p:cNvPr id="59" name="TextBox 58"/>
          <p:cNvSpPr txBox="1"/>
          <p:nvPr/>
        </p:nvSpPr>
        <p:spPr>
          <a:xfrm>
            <a:off x="777240" y="4873752"/>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4.2  会議招集・議事録</a:t>
            </a:r>
          </a:p>
        </p:txBody>
      </p:sp>
      <p:sp>
        <p:nvSpPr>
          <p:cNvPr id="60" name="toc-pg-4.2"/>
          <p:cNvSpPr txBox="1"/>
          <p:nvPr/>
        </p:nvSpPr>
        <p:spPr>
          <a:xfrm>
            <a:off x="5227167" y="4873752"/>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25</a:t>
            </a:r>
          </a:p>
        </p:txBody>
      </p:sp>
      <p:sp>
        <p:nvSpPr>
          <p:cNvPr id="61" name="TextBox 60"/>
          <p:cNvSpPr txBox="1"/>
          <p:nvPr/>
        </p:nvSpPr>
        <p:spPr>
          <a:xfrm>
            <a:off x="777240" y="5015484"/>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4.3  進捗報告とエスカレーション</a:t>
            </a:r>
          </a:p>
        </p:txBody>
      </p:sp>
      <p:sp>
        <p:nvSpPr>
          <p:cNvPr id="62" name="toc-pg-4.3"/>
          <p:cNvSpPr txBox="1"/>
          <p:nvPr/>
        </p:nvSpPr>
        <p:spPr>
          <a:xfrm>
            <a:off x="5227167" y="5015484"/>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26</a:t>
            </a:r>
          </a:p>
        </p:txBody>
      </p:sp>
      <p:sp>
        <p:nvSpPr>
          <p:cNvPr id="63" name="TextBox 62"/>
          <p:cNvSpPr txBox="1"/>
          <p:nvPr/>
        </p:nvSpPr>
        <p:spPr>
          <a:xfrm>
            <a:off x="777240" y="5157216"/>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4.4  連絡手段 (メール・チャット等)</a:t>
            </a:r>
          </a:p>
        </p:txBody>
      </p:sp>
      <p:sp>
        <p:nvSpPr>
          <p:cNvPr id="64" name="toc-pg-4.4"/>
          <p:cNvSpPr txBox="1"/>
          <p:nvPr/>
        </p:nvSpPr>
        <p:spPr>
          <a:xfrm>
            <a:off x="5227167" y="5157216"/>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27</a:t>
            </a:r>
          </a:p>
        </p:txBody>
      </p:sp>
      <p:sp>
        <p:nvSpPr>
          <p:cNvPr id="65" name="toc-card-5"/>
          <p:cNvSpPr/>
          <p:nvPr/>
        </p:nvSpPr>
        <p:spPr>
          <a:xfrm>
            <a:off x="6233007" y="1170432"/>
            <a:ext cx="5455767" cy="1721358"/>
          </a:xfrm>
          <a:prstGeom prst="roundRect">
            <a:avLst>
              <a:gd name="adj" fmla="val 6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oc-ch-5"/>
          <p:cNvSpPr txBox="1"/>
          <p:nvPr/>
        </p:nvSpPr>
        <p:spPr>
          <a:xfrm>
            <a:off x="6361023" y="1225296"/>
            <a:ext cx="502920" cy="212598"/>
          </a:xfrm>
          <a:prstGeom prst="rect">
            <a:avLst/>
          </a:prstGeom>
          <a:noFill/>
        </p:spPr>
        <p:txBody>
          <a:bodyPr wrap="square" lIns="0" tIns="0" rIns="0" bIns="0" anchor="ctr">
            <a:spAutoFit/>
          </a:bodyPr>
          <a:lstStyle/>
          <a:p>
            <a:pPr algn="l">
              <a:lnSpc>
                <a:spcPct val="120000"/>
              </a:lnSpc>
            </a:pPr>
            <a:r>
              <a:rPr sz="1115" b="1">
                <a:solidFill>
                  <a:srgbClr val="B4235A"/>
                </a:solidFill>
                <a:latin typeface="BIZ UDPゴシック"/>
                <a:ea typeface="BIZ UDPゴシック"/>
              </a:rPr>
              <a:t>05</a:t>
            </a:r>
          </a:p>
        </p:txBody>
      </p:sp>
      <p:sp>
        <p:nvSpPr>
          <p:cNvPr id="67" name="TextBox 66"/>
          <p:cNvSpPr txBox="1"/>
          <p:nvPr/>
        </p:nvSpPr>
        <p:spPr>
          <a:xfrm>
            <a:off x="6891375" y="1225296"/>
            <a:ext cx="3992727" cy="212598"/>
          </a:xfrm>
          <a:prstGeom prst="rect">
            <a:avLst/>
          </a:prstGeom>
          <a:noFill/>
        </p:spPr>
        <p:txBody>
          <a:bodyPr wrap="square" lIns="0" tIns="0" rIns="0" bIns="0" anchor="ctr">
            <a:spAutoFit/>
          </a:bodyPr>
          <a:lstStyle/>
          <a:p>
            <a:pPr algn="l">
              <a:lnSpc>
                <a:spcPct val="120000"/>
              </a:lnSpc>
            </a:pPr>
            <a:r>
              <a:rPr sz="1115" b="1">
                <a:solidFill>
                  <a:srgbClr val="16213E"/>
                </a:solidFill>
                <a:latin typeface="BIZ UDPゴシック"/>
                <a:ea typeface="BIZ UDPゴシック"/>
              </a:rPr>
              <a:t>プロジェクト管理計画</a:t>
            </a:r>
          </a:p>
        </p:txBody>
      </p:sp>
      <p:sp>
        <p:nvSpPr>
          <p:cNvPr id="68" name="toc-pg-ch-5"/>
          <p:cNvSpPr txBox="1"/>
          <p:nvPr/>
        </p:nvSpPr>
        <p:spPr>
          <a:xfrm>
            <a:off x="10957255" y="1225296"/>
            <a:ext cx="603504" cy="212598"/>
          </a:xfrm>
          <a:prstGeom prst="rect">
            <a:avLst/>
          </a:prstGeom>
          <a:noFill/>
        </p:spPr>
        <p:txBody>
          <a:bodyPr wrap="square" lIns="0" tIns="0" rIns="0" bIns="0" anchor="ctr">
            <a:spAutoFit/>
          </a:bodyPr>
          <a:lstStyle/>
          <a:p>
            <a:pPr algn="r">
              <a:lnSpc>
                <a:spcPct val="120000"/>
              </a:lnSpc>
            </a:pPr>
            <a:r>
              <a:rPr sz="1050" b="0">
                <a:solidFill>
                  <a:srgbClr val="6B7280"/>
                </a:solidFill>
                <a:latin typeface="BIZ UDPゴシック"/>
                <a:ea typeface="BIZ UDPゴシック"/>
              </a:rPr>
              <a:t>28</a:t>
            </a:r>
          </a:p>
        </p:txBody>
      </p:sp>
      <p:sp>
        <p:nvSpPr>
          <p:cNvPr id="69" name="TextBox 68"/>
          <p:cNvSpPr txBox="1"/>
          <p:nvPr/>
        </p:nvSpPr>
        <p:spPr>
          <a:xfrm>
            <a:off x="6507327" y="1419606"/>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5.1  課題関連図</a:t>
            </a:r>
          </a:p>
        </p:txBody>
      </p:sp>
      <p:sp>
        <p:nvSpPr>
          <p:cNvPr id="70" name="toc-pg-5.1"/>
          <p:cNvSpPr txBox="1"/>
          <p:nvPr/>
        </p:nvSpPr>
        <p:spPr>
          <a:xfrm>
            <a:off x="10957255" y="1419606"/>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29</a:t>
            </a:r>
          </a:p>
        </p:txBody>
      </p:sp>
      <p:sp>
        <p:nvSpPr>
          <p:cNvPr id="71" name="TextBox 70"/>
          <p:cNvSpPr txBox="1"/>
          <p:nvPr/>
        </p:nvSpPr>
        <p:spPr>
          <a:xfrm>
            <a:off x="6507327" y="1561338"/>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5.2  Q&amp;A 管理</a:t>
            </a:r>
          </a:p>
        </p:txBody>
      </p:sp>
      <p:sp>
        <p:nvSpPr>
          <p:cNvPr id="72" name="toc-pg-5.2"/>
          <p:cNvSpPr txBox="1"/>
          <p:nvPr/>
        </p:nvSpPr>
        <p:spPr>
          <a:xfrm>
            <a:off x="10957255" y="1561338"/>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30</a:t>
            </a:r>
          </a:p>
        </p:txBody>
      </p:sp>
      <p:sp>
        <p:nvSpPr>
          <p:cNvPr id="73" name="TextBox 72"/>
          <p:cNvSpPr txBox="1"/>
          <p:nvPr/>
        </p:nvSpPr>
        <p:spPr>
          <a:xfrm>
            <a:off x="6507327" y="1703070"/>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5.3  課題管理</a:t>
            </a:r>
          </a:p>
        </p:txBody>
      </p:sp>
      <p:sp>
        <p:nvSpPr>
          <p:cNvPr id="74" name="toc-pg-5.3"/>
          <p:cNvSpPr txBox="1"/>
          <p:nvPr/>
        </p:nvSpPr>
        <p:spPr>
          <a:xfrm>
            <a:off x="10957255" y="1703070"/>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31</a:t>
            </a:r>
          </a:p>
        </p:txBody>
      </p:sp>
      <p:sp>
        <p:nvSpPr>
          <p:cNvPr id="75" name="TextBox 74"/>
          <p:cNvSpPr txBox="1"/>
          <p:nvPr/>
        </p:nvSpPr>
        <p:spPr>
          <a:xfrm>
            <a:off x="6507327" y="1844802"/>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5.4  リスク管理</a:t>
            </a:r>
          </a:p>
        </p:txBody>
      </p:sp>
      <p:sp>
        <p:nvSpPr>
          <p:cNvPr id="76" name="toc-pg-5.4"/>
          <p:cNvSpPr txBox="1"/>
          <p:nvPr/>
        </p:nvSpPr>
        <p:spPr>
          <a:xfrm>
            <a:off x="10957255" y="1844802"/>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32</a:t>
            </a:r>
          </a:p>
        </p:txBody>
      </p:sp>
      <p:sp>
        <p:nvSpPr>
          <p:cNvPr id="77" name="TextBox 76"/>
          <p:cNvSpPr txBox="1"/>
          <p:nvPr/>
        </p:nvSpPr>
        <p:spPr>
          <a:xfrm>
            <a:off x="6507327" y="1986534"/>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5.5  変更管理</a:t>
            </a:r>
          </a:p>
        </p:txBody>
      </p:sp>
      <p:sp>
        <p:nvSpPr>
          <p:cNvPr id="78" name="toc-pg-5.5"/>
          <p:cNvSpPr txBox="1"/>
          <p:nvPr/>
        </p:nvSpPr>
        <p:spPr>
          <a:xfrm>
            <a:off x="10957255" y="1986534"/>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33</a:t>
            </a:r>
          </a:p>
        </p:txBody>
      </p:sp>
      <p:sp>
        <p:nvSpPr>
          <p:cNvPr id="79" name="TextBox 78"/>
          <p:cNvSpPr txBox="1"/>
          <p:nvPr/>
        </p:nvSpPr>
        <p:spPr>
          <a:xfrm>
            <a:off x="6507327" y="2128265"/>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5.6  品質管理</a:t>
            </a:r>
          </a:p>
        </p:txBody>
      </p:sp>
      <p:sp>
        <p:nvSpPr>
          <p:cNvPr id="80" name="toc-pg-5.6"/>
          <p:cNvSpPr txBox="1"/>
          <p:nvPr/>
        </p:nvSpPr>
        <p:spPr>
          <a:xfrm>
            <a:off x="10957255" y="2128265"/>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34</a:t>
            </a:r>
          </a:p>
        </p:txBody>
      </p:sp>
      <p:sp>
        <p:nvSpPr>
          <p:cNvPr id="81" name="TextBox 80"/>
          <p:cNvSpPr txBox="1"/>
          <p:nvPr/>
        </p:nvSpPr>
        <p:spPr>
          <a:xfrm>
            <a:off x="6507327" y="2269997"/>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5.7  進捗管理</a:t>
            </a:r>
          </a:p>
        </p:txBody>
      </p:sp>
      <p:sp>
        <p:nvSpPr>
          <p:cNvPr id="82" name="toc-pg-5.7"/>
          <p:cNvSpPr txBox="1"/>
          <p:nvPr/>
        </p:nvSpPr>
        <p:spPr>
          <a:xfrm>
            <a:off x="10957255" y="2269997"/>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35</a:t>
            </a:r>
          </a:p>
        </p:txBody>
      </p:sp>
      <p:sp>
        <p:nvSpPr>
          <p:cNvPr id="83" name="TextBox 82"/>
          <p:cNvSpPr txBox="1"/>
          <p:nvPr/>
        </p:nvSpPr>
        <p:spPr>
          <a:xfrm>
            <a:off x="6507327" y="2411729"/>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5.8  予算・コスト管理</a:t>
            </a:r>
          </a:p>
        </p:txBody>
      </p:sp>
      <p:sp>
        <p:nvSpPr>
          <p:cNvPr id="84" name="toc-pg-5.8"/>
          <p:cNvSpPr txBox="1"/>
          <p:nvPr/>
        </p:nvSpPr>
        <p:spPr>
          <a:xfrm>
            <a:off x="10957255" y="2411729"/>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36</a:t>
            </a:r>
          </a:p>
        </p:txBody>
      </p:sp>
      <p:sp>
        <p:nvSpPr>
          <p:cNvPr id="85" name="TextBox 84"/>
          <p:cNvSpPr txBox="1"/>
          <p:nvPr/>
        </p:nvSpPr>
        <p:spPr>
          <a:xfrm>
            <a:off x="6507327" y="2553461"/>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5.9  ドキュメント・構成管理</a:t>
            </a:r>
          </a:p>
        </p:txBody>
      </p:sp>
      <p:sp>
        <p:nvSpPr>
          <p:cNvPr id="86" name="toc-pg-5.9"/>
          <p:cNvSpPr txBox="1"/>
          <p:nvPr/>
        </p:nvSpPr>
        <p:spPr>
          <a:xfrm>
            <a:off x="10957255" y="2553461"/>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37</a:t>
            </a:r>
          </a:p>
        </p:txBody>
      </p:sp>
      <p:sp>
        <p:nvSpPr>
          <p:cNvPr id="87" name="TextBox 86"/>
          <p:cNvSpPr txBox="1"/>
          <p:nvPr/>
        </p:nvSpPr>
        <p:spPr>
          <a:xfrm>
            <a:off x="6507327" y="2695193"/>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5.10  情報セキュリティ管理</a:t>
            </a:r>
          </a:p>
        </p:txBody>
      </p:sp>
      <p:sp>
        <p:nvSpPr>
          <p:cNvPr id="88" name="toc-pg-5.10"/>
          <p:cNvSpPr txBox="1"/>
          <p:nvPr/>
        </p:nvSpPr>
        <p:spPr>
          <a:xfrm>
            <a:off x="10957255" y="2695193"/>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38</a:t>
            </a:r>
          </a:p>
        </p:txBody>
      </p:sp>
      <p:sp>
        <p:nvSpPr>
          <p:cNvPr id="89" name="toc-card-6"/>
          <p:cNvSpPr/>
          <p:nvPr/>
        </p:nvSpPr>
        <p:spPr>
          <a:xfrm>
            <a:off x="6233007" y="2983230"/>
            <a:ext cx="5455767" cy="587502"/>
          </a:xfrm>
          <a:prstGeom prst="roundRect">
            <a:avLst>
              <a:gd name="adj" fmla="val 6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oc-ch-6"/>
          <p:cNvSpPr txBox="1"/>
          <p:nvPr/>
        </p:nvSpPr>
        <p:spPr>
          <a:xfrm>
            <a:off x="6361023" y="3038094"/>
            <a:ext cx="502920" cy="212598"/>
          </a:xfrm>
          <a:prstGeom prst="rect">
            <a:avLst/>
          </a:prstGeom>
          <a:noFill/>
        </p:spPr>
        <p:txBody>
          <a:bodyPr wrap="square" lIns="0" tIns="0" rIns="0" bIns="0" anchor="ctr">
            <a:spAutoFit/>
          </a:bodyPr>
          <a:lstStyle/>
          <a:p>
            <a:pPr algn="l">
              <a:lnSpc>
                <a:spcPct val="120000"/>
              </a:lnSpc>
            </a:pPr>
            <a:r>
              <a:rPr sz="1115" b="1">
                <a:solidFill>
                  <a:srgbClr val="B4235A"/>
                </a:solidFill>
                <a:latin typeface="BIZ UDPゴシック"/>
                <a:ea typeface="BIZ UDPゴシック"/>
              </a:rPr>
              <a:t>06</a:t>
            </a:r>
          </a:p>
        </p:txBody>
      </p:sp>
      <p:sp>
        <p:nvSpPr>
          <p:cNvPr id="91" name="TextBox 90"/>
          <p:cNvSpPr txBox="1"/>
          <p:nvPr/>
        </p:nvSpPr>
        <p:spPr>
          <a:xfrm>
            <a:off x="6891375" y="3038094"/>
            <a:ext cx="3992727" cy="212598"/>
          </a:xfrm>
          <a:prstGeom prst="rect">
            <a:avLst/>
          </a:prstGeom>
          <a:noFill/>
        </p:spPr>
        <p:txBody>
          <a:bodyPr wrap="square" lIns="0" tIns="0" rIns="0" bIns="0" anchor="ctr">
            <a:spAutoFit/>
          </a:bodyPr>
          <a:lstStyle/>
          <a:p>
            <a:pPr algn="l">
              <a:lnSpc>
                <a:spcPct val="120000"/>
              </a:lnSpc>
            </a:pPr>
            <a:r>
              <a:rPr sz="1115" b="1">
                <a:solidFill>
                  <a:srgbClr val="16213E"/>
                </a:solidFill>
                <a:latin typeface="BIZ UDPゴシック"/>
                <a:ea typeface="BIZ UDPゴシック"/>
              </a:rPr>
              <a:t>プロジェクトルール</a:t>
            </a:r>
          </a:p>
        </p:txBody>
      </p:sp>
      <p:sp>
        <p:nvSpPr>
          <p:cNvPr id="92" name="toc-pg-ch-6"/>
          <p:cNvSpPr txBox="1"/>
          <p:nvPr/>
        </p:nvSpPr>
        <p:spPr>
          <a:xfrm>
            <a:off x="10957255" y="3038094"/>
            <a:ext cx="603504" cy="212598"/>
          </a:xfrm>
          <a:prstGeom prst="rect">
            <a:avLst/>
          </a:prstGeom>
          <a:noFill/>
        </p:spPr>
        <p:txBody>
          <a:bodyPr wrap="square" lIns="0" tIns="0" rIns="0" bIns="0" anchor="ctr">
            <a:spAutoFit/>
          </a:bodyPr>
          <a:lstStyle/>
          <a:p>
            <a:pPr algn="r">
              <a:lnSpc>
                <a:spcPct val="120000"/>
              </a:lnSpc>
            </a:pPr>
            <a:r>
              <a:rPr sz="1050" b="0">
                <a:solidFill>
                  <a:srgbClr val="6B7280"/>
                </a:solidFill>
                <a:latin typeface="BIZ UDPゴシック"/>
                <a:ea typeface="BIZ UDPゴシック"/>
              </a:rPr>
              <a:t>39</a:t>
            </a:r>
          </a:p>
        </p:txBody>
      </p:sp>
      <p:sp>
        <p:nvSpPr>
          <p:cNvPr id="93" name="TextBox 92"/>
          <p:cNvSpPr txBox="1"/>
          <p:nvPr/>
        </p:nvSpPr>
        <p:spPr>
          <a:xfrm>
            <a:off x="6507327" y="3232404"/>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6.1  運営ルール</a:t>
            </a:r>
          </a:p>
        </p:txBody>
      </p:sp>
      <p:sp>
        <p:nvSpPr>
          <p:cNvPr id="94" name="toc-pg-6.1"/>
          <p:cNvSpPr txBox="1"/>
          <p:nvPr/>
        </p:nvSpPr>
        <p:spPr>
          <a:xfrm>
            <a:off x="10957255" y="3232404"/>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40</a:t>
            </a:r>
          </a:p>
        </p:txBody>
      </p:sp>
      <p:sp>
        <p:nvSpPr>
          <p:cNvPr id="95" name="TextBox 94"/>
          <p:cNvSpPr txBox="1"/>
          <p:nvPr/>
        </p:nvSpPr>
        <p:spPr>
          <a:xfrm>
            <a:off x="6507327" y="3374136"/>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6.2  ファイル命名規約</a:t>
            </a:r>
          </a:p>
        </p:txBody>
      </p:sp>
      <p:sp>
        <p:nvSpPr>
          <p:cNvPr id="96" name="toc-pg-6.2"/>
          <p:cNvSpPr txBox="1"/>
          <p:nvPr/>
        </p:nvSpPr>
        <p:spPr>
          <a:xfrm>
            <a:off x="10957255" y="3374136"/>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41</a:t>
            </a:r>
          </a:p>
        </p:txBody>
      </p:sp>
      <p:sp>
        <p:nvSpPr>
          <p:cNvPr id="97" name="toc-card-7"/>
          <p:cNvSpPr/>
          <p:nvPr/>
        </p:nvSpPr>
        <p:spPr>
          <a:xfrm>
            <a:off x="6233007" y="3662172"/>
            <a:ext cx="5455767" cy="729234"/>
          </a:xfrm>
          <a:prstGeom prst="roundRect">
            <a:avLst>
              <a:gd name="adj" fmla="val 6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oc-ch-7"/>
          <p:cNvSpPr txBox="1"/>
          <p:nvPr/>
        </p:nvSpPr>
        <p:spPr>
          <a:xfrm>
            <a:off x="6361023" y="3717035"/>
            <a:ext cx="502920" cy="212598"/>
          </a:xfrm>
          <a:prstGeom prst="rect">
            <a:avLst/>
          </a:prstGeom>
          <a:noFill/>
        </p:spPr>
        <p:txBody>
          <a:bodyPr wrap="square" lIns="0" tIns="0" rIns="0" bIns="0" anchor="ctr">
            <a:spAutoFit/>
          </a:bodyPr>
          <a:lstStyle/>
          <a:p>
            <a:pPr algn="l">
              <a:lnSpc>
                <a:spcPct val="120000"/>
              </a:lnSpc>
            </a:pPr>
            <a:r>
              <a:rPr sz="1115" b="1">
                <a:solidFill>
                  <a:srgbClr val="B4235A"/>
                </a:solidFill>
                <a:latin typeface="BIZ UDPゴシック"/>
                <a:ea typeface="BIZ UDPゴシック"/>
              </a:rPr>
              <a:t>07</a:t>
            </a:r>
          </a:p>
        </p:txBody>
      </p:sp>
      <p:sp>
        <p:nvSpPr>
          <p:cNvPr id="99" name="TextBox 98"/>
          <p:cNvSpPr txBox="1"/>
          <p:nvPr/>
        </p:nvSpPr>
        <p:spPr>
          <a:xfrm>
            <a:off x="6891375" y="3717035"/>
            <a:ext cx="3992727" cy="212598"/>
          </a:xfrm>
          <a:prstGeom prst="rect">
            <a:avLst/>
          </a:prstGeom>
          <a:noFill/>
        </p:spPr>
        <p:txBody>
          <a:bodyPr wrap="square" lIns="0" tIns="0" rIns="0" bIns="0" anchor="ctr">
            <a:spAutoFit/>
          </a:bodyPr>
          <a:lstStyle/>
          <a:p>
            <a:pPr algn="l">
              <a:lnSpc>
                <a:spcPct val="120000"/>
              </a:lnSpc>
            </a:pPr>
            <a:r>
              <a:rPr sz="1115" b="1">
                <a:solidFill>
                  <a:srgbClr val="16213E"/>
                </a:solidFill>
                <a:latin typeface="BIZ UDPゴシック"/>
                <a:ea typeface="BIZ UDPゴシック"/>
              </a:rPr>
              <a:t>その他</a:t>
            </a:r>
          </a:p>
        </p:txBody>
      </p:sp>
      <p:sp>
        <p:nvSpPr>
          <p:cNvPr id="100" name="toc-pg-ch-7"/>
          <p:cNvSpPr txBox="1"/>
          <p:nvPr/>
        </p:nvSpPr>
        <p:spPr>
          <a:xfrm>
            <a:off x="10957255" y="3717035"/>
            <a:ext cx="603504" cy="212598"/>
          </a:xfrm>
          <a:prstGeom prst="rect">
            <a:avLst/>
          </a:prstGeom>
          <a:noFill/>
        </p:spPr>
        <p:txBody>
          <a:bodyPr wrap="square" lIns="0" tIns="0" rIns="0" bIns="0" anchor="ctr">
            <a:spAutoFit/>
          </a:bodyPr>
          <a:lstStyle/>
          <a:p>
            <a:pPr algn="r">
              <a:lnSpc>
                <a:spcPct val="120000"/>
              </a:lnSpc>
            </a:pPr>
            <a:r>
              <a:rPr sz="1050" b="0">
                <a:solidFill>
                  <a:srgbClr val="6B7280"/>
                </a:solidFill>
                <a:latin typeface="BIZ UDPゴシック"/>
                <a:ea typeface="BIZ UDPゴシック"/>
              </a:rPr>
              <a:t>42</a:t>
            </a:r>
          </a:p>
        </p:txBody>
      </p:sp>
      <p:sp>
        <p:nvSpPr>
          <p:cNvPr id="101" name="TextBox 100"/>
          <p:cNvSpPr txBox="1"/>
          <p:nvPr/>
        </p:nvSpPr>
        <p:spPr>
          <a:xfrm>
            <a:off x="6507327" y="3911346"/>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7.1  成果物一覧</a:t>
            </a:r>
          </a:p>
        </p:txBody>
      </p:sp>
      <p:sp>
        <p:nvSpPr>
          <p:cNvPr id="102" name="toc-pg-7.1"/>
          <p:cNvSpPr txBox="1"/>
          <p:nvPr/>
        </p:nvSpPr>
        <p:spPr>
          <a:xfrm>
            <a:off x="10957255" y="3911346"/>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43</a:t>
            </a:r>
          </a:p>
        </p:txBody>
      </p:sp>
      <p:sp>
        <p:nvSpPr>
          <p:cNvPr id="103" name="TextBox 102"/>
          <p:cNvSpPr txBox="1"/>
          <p:nvPr/>
        </p:nvSpPr>
        <p:spPr>
          <a:xfrm>
            <a:off x="6507327" y="4053078"/>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7.2  用語集</a:t>
            </a:r>
          </a:p>
        </p:txBody>
      </p:sp>
      <p:sp>
        <p:nvSpPr>
          <p:cNvPr id="104" name="toc-pg-7.2"/>
          <p:cNvSpPr txBox="1"/>
          <p:nvPr/>
        </p:nvSpPr>
        <p:spPr>
          <a:xfrm>
            <a:off x="10957255" y="4053078"/>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44</a:t>
            </a:r>
          </a:p>
        </p:txBody>
      </p:sp>
      <p:sp>
        <p:nvSpPr>
          <p:cNvPr id="105" name="TextBox 104"/>
          <p:cNvSpPr txBox="1"/>
          <p:nvPr/>
        </p:nvSpPr>
        <p:spPr>
          <a:xfrm>
            <a:off x="6507327" y="4194810"/>
            <a:ext cx="4312767" cy="141732"/>
          </a:xfrm>
          <a:prstGeom prst="rect">
            <a:avLst/>
          </a:prstGeom>
          <a:noFill/>
        </p:spPr>
        <p:txBody>
          <a:bodyPr wrap="square" lIns="0" tIns="0" rIns="0" bIns="0" anchor="ctr">
            <a:spAutoFit/>
          </a:bodyPr>
          <a:lstStyle/>
          <a:p>
            <a:pPr algn="l">
              <a:lnSpc>
                <a:spcPct val="120000"/>
              </a:lnSpc>
            </a:pPr>
            <a:r>
              <a:rPr sz="850" b="0">
                <a:solidFill>
                  <a:srgbClr val="1F2937"/>
                </a:solidFill>
                <a:latin typeface="BIZ UDPゴシック"/>
                <a:ea typeface="BIZ UDPゴシック"/>
              </a:rPr>
              <a:t>7.3  参考資料</a:t>
            </a:r>
          </a:p>
        </p:txBody>
      </p:sp>
      <p:sp>
        <p:nvSpPr>
          <p:cNvPr id="106" name="toc-pg-7.3"/>
          <p:cNvSpPr txBox="1"/>
          <p:nvPr/>
        </p:nvSpPr>
        <p:spPr>
          <a:xfrm>
            <a:off x="10957255" y="4194810"/>
            <a:ext cx="603504" cy="141732"/>
          </a:xfrm>
          <a:prstGeom prst="rect">
            <a:avLst/>
          </a:prstGeom>
          <a:noFill/>
        </p:spPr>
        <p:txBody>
          <a:bodyPr wrap="square" lIns="0" tIns="0" rIns="0" bIns="0" anchor="ctr">
            <a:spAutoFit/>
          </a:bodyPr>
          <a:lstStyle/>
          <a:p>
            <a:pPr algn="r">
              <a:lnSpc>
                <a:spcPct val="120000"/>
              </a:lnSpc>
            </a:pPr>
            <a:r>
              <a:rPr sz="900" b="0">
                <a:solidFill>
                  <a:srgbClr val="6B7280"/>
                </a:solidFill>
                <a:latin typeface="BIZ UDPゴシック"/>
                <a:ea typeface="BIZ UDPゴシック"/>
              </a:rPr>
              <a:t>46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FRONT</a:t>
            </a:r>
          </a:p>
        </p:txBody>
      </p:sp>
      <p:sp>
        <p:nvSpPr>
          <p:cNvPr id="5" name="hdr-bar"/>
          <p:cNvSpPr/>
          <p:nvPr/>
        </p:nvSpPr>
        <p:spPr>
          <a:xfrm>
            <a:off x="1000627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dr-bar"/>
          <p:cNvSpPr/>
          <p:nvPr/>
        </p:nvSpPr>
        <p:spPr>
          <a:xfrm>
            <a:off x="1025316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500055"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746943"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993831"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3" name="hdr-title"/>
          <p:cNvSpPr txBox="1"/>
          <p:nvPr/>
        </p:nvSpPr>
        <p:spPr>
          <a:xfrm>
            <a:off x="502920" y="365760"/>
            <a:ext cx="9219895" cy="457200"/>
          </a:xfrm>
          <a:prstGeom prst="rect">
            <a:avLst/>
          </a:prstGeom>
          <a:noFill/>
        </p:spPr>
        <p:txBody>
          <a:bodyPr wrap="square" lIns="0" tIns="0" rIns="0" bIns="0" anchor="t">
            <a:spAutoFit/>
          </a:bodyPr>
          <a:lstStyle/>
          <a:p>
            <a:pPr algn="l">
              <a:lnSpc>
                <a:spcPct val="120000"/>
              </a:lnSpc>
            </a:pPr>
            <a:r>
              <a:rPr sz="2400" b="1">
                <a:solidFill>
                  <a:srgbClr val="16213E"/>
                </a:solidFill>
                <a:latin typeface="BIZ UDPゴシック"/>
                <a:ea typeface="BIZ UDPゴシック"/>
              </a:rPr>
              <a:t>更新履歴</a:t>
            </a:r>
          </a:p>
        </p:txBody>
      </p:sp>
      <p:sp>
        <p:nvSpPr>
          <p:cNvPr id="14"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6"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7"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8"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19"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3</a:t>
            </a:r>
          </a:p>
        </p:txBody>
      </p:sp>
      <p:graphicFrame>
        <p:nvGraphicFramePr>
          <p:cNvPr id="20" name="blk-table"/>
          <p:cNvGraphicFramePr>
            <a:graphicFrameLocks noGrp="1"/>
          </p:cNvGraphicFramePr>
          <p:nvPr/>
        </p:nvGraphicFramePr>
        <p:xfrm>
          <a:off x="502920" y="1289304"/>
          <a:ext cx="11185852" cy="1447292"/>
        </p:xfrm>
        <a:graphic>
          <a:graphicData uri="http://schemas.openxmlformats.org/drawingml/2006/table">
            <a:tbl>
              <a:tblPr>
                <a:tableStyleId>{5C22544A-7EE6-4342-B048-85BDC9FD1C3A}</a:tableStyleId>
              </a:tblPr>
              <a:tblGrid>
                <a:gridCol w="579577"/>
                <a:gridCol w="1333029"/>
                <a:gridCol w="1390987"/>
                <a:gridCol w="811409"/>
                <a:gridCol w="5332117"/>
                <a:gridCol w="1738733"/>
              </a:tblGrid>
              <a:tr h="295148">
                <a:tc>
                  <a:txBody>
                    <a:bodyPr wrap="square" lIns="45720" tIns="18288" rIns="45720" bIns="18288" anchor="ctr"/>
                    <a:lstStyle/>
                    <a:p>
                      <a:pPr algn="ctr">
                        <a:lnSpc>
                          <a:spcPct val="120000"/>
                        </a:lnSpc>
                      </a:pPr>
                      <a:r>
                        <a:rPr sz="1400" b="1">
                          <a:solidFill>
                            <a:srgbClr val="FFFFFF"/>
                          </a:solidFill>
                          <a:latin typeface="BIZ UDPゴシック"/>
                          <a:ea typeface="BIZ UDPゴシック"/>
                        </a:rPr>
                        <a:t>No.</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ctr">
                        <a:lnSpc>
                          <a:spcPct val="120000"/>
                        </a:lnSpc>
                      </a:pPr>
                      <a:r>
                        <a:rPr sz="1400" b="1">
                          <a:solidFill>
                            <a:srgbClr val="FFFFFF"/>
                          </a:solidFill>
                          <a:latin typeface="BIZ UDPゴシック"/>
                          <a:ea typeface="BIZ UDPゴシック"/>
                        </a:rPr>
                        <a:t>日付</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ctr">
                        <a:lnSpc>
                          <a:spcPct val="120000"/>
                        </a:lnSpc>
                      </a:pPr>
                      <a:r>
                        <a:rPr sz="1400" b="1">
                          <a:solidFill>
                            <a:srgbClr val="FFFFFF"/>
                          </a:solidFill>
                          <a:latin typeface="BIZ UDPゴシック"/>
                          <a:ea typeface="BIZ UDPゴシック"/>
                        </a:rPr>
                        <a:t>更新者</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ctr">
                        <a:lnSpc>
                          <a:spcPct val="120000"/>
                        </a:lnSpc>
                      </a:pPr>
                      <a:r>
                        <a:rPr sz="1400" b="1">
                          <a:solidFill>
                            <a:srgbClr val="FFFFFF"/>
                          </a:solidFill>
                          <a:latin typeface="BIZ UDPゴシック"/>
                          <a:ea typeface="BIZ UDPゴシック"/>
                        </a:rPr>
                        <a:t>版</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主な変更点</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備考</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384048">
                <a:tc>
                  <a:txBody>
                    <a:bodyPr wrap="square" lIns="45720" tIns="18288" rIns="45720" bIns="18288" anchor="ctr"/>
                    <a:lstStyle/>
                    <a:p>
                      <a:pPr algn="ctr">
                        <a:lnSpc>
                          <a:spcPct val="120000"/>
                        </a:lnSpc>
                      </a:pPr>
                      <a:r>
                        <a:rPr sz="1400" b="0">
                          <a:solidFill>
                            <a:srgbClr val="1F2937"/>
                          </a:solidFill>
                          <a:latin typeface="BIZ UDPゴシック"/>
                          <a:ea typeface="BIZ UDPゴシック"/>
                        </a:rPr>
                        <a:t>1</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ctr">
                        <a:lnSpc>
                          <a:spcPct val="120000"/>
                        </a:lnSpc>
                      </a:pPr>
                      <a:r>
                        <a:rPr sz="1400" b="0">
                          <a:solidFill>
                            <a:srgbClr val="1F2937"/>
                          </a:solidFill>
                          <a:latin typeface="BIZ UDPゴシック"/>
                          <a:ea typeface="BIZ UDPゴシック"/>
                        </a:rPr>
                        <a:t>2026/04/01</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ctr">
                        <a:lnSpc>
                          <a:spcPct val="120000"/>
                        </a:lnSpc>
                      </a:pPr>
                      <a:r>
                        <a:rPr sz="1400" b="0">
                          <a:solidFill>
                            <a:srgbClr val="1F2937"/>
                          </a:solidFill>
                          <a:latin typeface="BIZ UDPゴシック"/>
                          <a:ea typeface="BIZ UDPゴシック"/>
                        </a:rPr>
                        <a:t>架空 太郎</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ctr">
                        <a:lnSpc>
                          <a:spcPct val="120000"/>
                        </a:lnSpc>
                      </a:pPr>
                      <a:r>
                        <a:rPr sz="1400" b="0">
                          <a:solidFill>
                            <a:srgbClr val="1F2937"/>
                          </a:solidFill>
                          <a:latin typeface="BIZ UDPゴシック"/>
                          <a:ea typeface="BIZ UDPゴシック"/>
                        </a:rPr>
                        <a:t>0.1</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初版作成 (計画概要)</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ctr">
                        <a:lnSpc>
                          <a:spcPct val="120000"/>
                        </a:lnSpc>
                      </a:pPr>
                      <a:r>
                        <a:rPr sz="1400" b="0">
                          <a:solidFill>
                            <a:srgbClr val="1F2937"/>
                          </a:solidFill>
                          <a:latin typeface="BIZ UDPゴシック"/>
                          <a:ea typeface="BIZ UDPゴシック"/>
                        </a:rPr>
                        <a:t>2</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ctr">
                        <a:lnSpc>
                          <a:spcPct val="120000"/>
                        </a:lnSpc>
                      </a:pPr>
                      <a:r>
                        <a:rPr sz="1400" b="0">
                          <a:solidFill>
                            <a:srgbClr val="1F2937"/>
                          </a:solidFill>
                          <a:latin typeface="BIZ UDPゴシック"/>
                          <a:ea typeface="BIZ UDPゴシック"/>
                        </a:rPr>
                        <a:t>2026/06/15</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ctr">
                        <a:lnSpc>
                          <a:spcPct val="120000"/>
                        </a:lnSpc>
                      </a:pPr>
                      <a:r>
                        <a:rPr sz="1400" b="0">
                          <a:solidFill>
                            <a:srgbClr val="1F2937"/>
                          </a:solidFill>
                          <a:latin typeface="BIZ UDPゴシック"/>
                          <a:ea typeface="BIZ UDPゴシック"/>
                        </a:rPr>
                        <a:t>架空 太郎</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ctr">
                        <a:lnSpc>
                          <a:spcPct val="120000"/>
                        </a:lnSpc>
                      </a:pPr>
                      <a:r>
                        <a:rPr sz="1400" b="0">
                          <a:solidFill>
                            <a:srgbClr val="1F2937"/>
                          </a:solidFill>
                          <a:latin typeface="BIZ UDPゴシック"/>
                          <a:ea typeface="BIZ UDPゴシック"/>
                        </a:rPr>
                        <a:t>0.9</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レビュー指摘反映、スケジュールと体制を更新</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ctr">
                        <a:lnSpc>
                          <a:spcPct val="120000"/>
                        </a:lnSpc>
                      </a:pPr>
                      <a:r>
                        <a:rPr sz="1400" b="0">
                          <a:solidFill>
                            <a:srgbClr val="1F2937"/>
                          </a:solidFill>
                          <a:latin typeface="BIZ UDPゴシック"/>
                          <a:ea typeface="BIZ UDPゴシック"/>
                        </a:rPr>
                        <a:t>3</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ctr">
                        <a:lnSpc>
                          <a:spcPct val="120000"/>
                        </a:lnSpc>
                      </a:pPr>
                      <a:r>
                        <a:rPr sz="1400" b="0">
                          <a:solidFill>
                            <a:srgbClr val="1F2937"/>
                          </a:solidFill>
                          <a:latin typeface="BIZ UDPゴシック"/>
                          <a:ea typeface="BIZ UDPゴシック"/>
                        </a:rPr>
                        <a:t>2026/07/01</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ctr">
                        <a:lnSpc>
                          <a:spcPct val="120000"/>
                        </a:lnSpc>
                      </a:pPr>
                      <a:r>
                        <a:rPr sz="1400" b="0">
                          <a:solidFill>
                            <a:srgbClr val="1F2937"/>
                          </a:solidFill>
                          <a:latin typeface="BIZ UDPゴシック"/>
                          <a:ea typeface="BIZ UDPゴシック"/>
                        </a:rPr>
                        <a:t>架空 太郎</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ctr">
                        <a:lnSpc>
                          <a:spcPct val="120000"/>
                        </a:lnSpc>
                      </a:pPr>
                      <a:r>
                        <a:rPr sz="1400" b="0">
                          <a:solidFill>
                            <a:srgbClr val="1F2937"/>
                          </a:solidFill>
                          <a:latin typeface="BIZ UDPゴシック"/>
                          <a:ea typeface="BIZ UDPゴシック"/>
                        </a:rPr>
                        <a:t>1.0</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初版制定 (ステアリングコミッティ承認)</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v-bg"/>
          <p:cNvSpPr/>
          <p:nvPr/>
        </p:nvSpPr>
        <p:spPr>
          <a:xfrm>
            <a:off x="0" y="0"/>
            <a:ext cx="12191695" cy="6858000"/>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v-acc1"/>
          <p:cNvSpPr/>
          <p:nvPr/>
        </p:nvSpPr>
        <p:spPr>
          <a:xfrm>
            <a:off x="9814255" y="-1005840"/>
            <a:ext cx="2560320" cy="2560320"/>
          </a:xfrm>
          <a:prstGeom prst="rect">
            <a:avLst/>
          </a:prstGeom>
          <a:solidFill>
            <a:srgbClr val="B4235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v-acc2"/>
          <p:cNvSpPr/>
          <p:nvPr/>
        </p:nvSpPr>
        <p:spPr>
          <a:xfrm>
            <a:off x="10637215" y="5120640"/>
            <a:ext cx="1188720" cy="1188720"/>
          </a:xfrm>
          <a:prstGeom prst="ellipse">
            <a:avLst/>
          </a:prstGeom>
          <a:noFill/>
          <a:ln w="254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v-acc3"/>
          <p:cNvSpPr/>
          <p:nvPr/>
        </p:nvSpPr>
        <p:spPr>
          <a:xfrm rot="1320000">
            <a:off x="11643055" y="2468879"/>
            <a:ext cx="502920" cy="3108960"/>
          </a:xfrm>
          <a:prstGeom prst="rect">
            <a:avLst/>
          </a:prstGeom>
          <a:solidFill>
            <a:srgbClr val="B4235A">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v-kicker"/>
          <p:cNvSpPr txBox="1"/>
          <p:nvPr/>
        </p:nvSpPr>
        <p:spPr>
          <a:xfrm>
            <a:off x="777240" y="960120"/>
            <a:ext cx="2743200" cy="256032"/>
          </a:xfrm>
          <a:prstGeom prst="rect">
            <a:avLst/>
          </a:prstGeom>
          <a:noFill/>
        </p:spPr>
        <p:txBody>
          <a:bodyPr wrap="square" lIns="0" tIns="0" rIns="0" bIns="0" anchor="t">
            <a:spAutoFit/>
          </a:bodyPr>
          <a:lstStyle/>
          <a:p>
            <a:pPr algn="l">
              <a:lnSpc>
                <a:spcPct val="120000"/>
              </a:lnSpc>
            </a:pPr>
            <a:r>
              <a:rPr sz="1200" b="1" spc="400">
                <a:solidFill>
                  <a:srgbClr val="0E7490"/>
                </a:solidFill>
                <a:latin typeface="BIZ UDPゴシック"/>
                <a:ea typeface="BIZ UDPゴシック"/>
              </a:rPr>
              <a:t>CHAPTER</a:t>
            </a:r>
          </a:p>
        </p:txBody>
      </p:sp>
      <p:sp>
        <p:nvSpPr>
          <p:cNvPr id="7" name="dv-num"/>
          <p:cNvSpPr txBox="1"/>
          <p:nvPr/>
        </p:nvSpPr>
        <p:spPr>
          <a:xfrm>
            <a:off x="731519" y="1234440"/>
            <a:ext cx="3108960" cy="1417320"/>
          </a:xfrm>
          <a:prstGeom prst="rect">
            <a:avLst/>
          </a:prstGeom>
          <a:noFill/>
        </p:spPr>
        <p:txBody>
          <a:bodyPr wrap="none" lIns="0" tIns="0" rIns="0" bIns="0" anchor="t">
            <a:spAutoFit/>
          </a:bodyPr>
          <a:lstStyle/>
          <a:p>
            <a:pPr algn="l">
              <a:lnSpc>
                <a:spcPct val="120000"/>
              </a:lnSpc>
            </a:pPr>
            <a:r>
              <a:rPr sz="9600" b="1">
                <a:solidFill>
                  <a:srgbClr val="B4235A"/>
                </a:solidFill>
                <a:latin typeface="BIZ UDPゴシック"/>
                <a:ea typeface="BIZ UDPゴシック"/>
              </a:rPr>
              <a:t>01</a:t>
            </a:r>
          </a:p>
        </p:txBody>
      </p:sp>
      <p:sp>
        <p:nvSpPr>
          <p:cNvPr id="8" name="dv-title"/>
          <p:cNvSpPr txBox="1"/>
          <p:nvPr/>
        </p:nvSpPr>
        <p:spPr>
          <a:xfrm>
            <a:off x="777240" y="2880360"/>
            <a:ext cx="9539935" cy="685800"/>
          </a:xfrm>
          <a:prstGeom prst="rect">
            <a:avLst/>
          </a:prstGeom>
          <a:noFill/>
        </p:spPr>
        <p:txBody>
          <a:bodyPr wrap="square" lIns="0" tIns="0" rIns="0" bIns="0" anchor="t">
            <a:spAutoFit/>
          </a:bodyPr>
          <a:lstStyle/>
          <a:p>
            <a:pPr algn="l">
              <a:lnSpc>
                <a:spcPct val="120000"/>
              </a:lnSpc>
            </a:pPr>
            <a:r>
              <a:rPr sz="4000" b="1">
                <a:solidFill>
                  <a:srgbClr val="FFFFFF"/>
                </a:solidFill>
                <a:latin typeface="BIZ UDPゴシック"/>
                <a:ea typeface="BIZ UDPゴシック"/>
              </a:rPr>
              <a:t>方針</a:t>
            </a:r>
          </a:p>
        </p:txBody>
      </p:sp>
      <p:sp>
        <p:nvSpPr>
          <p:cNvPr id="9" name="dv-sec-1.1"/>
          <p:cNvSpPr txBox="1"/>
          <p:nvPr/>
        </p:nvSpPr>
        <p:spPr>
          <a:xfrm>
            <a:off x="777240" y="4069080"/>
            <a:ext cx="10637215" cy="256032"/>
          </a:xfrm>
          <a:prstGeom prst="rect">
            <a:avLst/>
          </a:prstGeom>
          <a:noFill/>
        </p:spPr>
        <p:txBody>
          <a:bodyPr wrap="square" lIns="0" tIns="0" rIns="0" bIns="0" anchor="t">
            <a:spAutoFit/>
          </a:bodyPr>
          <a:lstStyle/>
          <a:p>
            <a:pPr algn="l">
              <a:lnSpc>
                <a:spcPct val="120000"/>
              </a:lnSpc>
            </a:pPr>
            <a:r>
              <a:rPr sz="1300" b="0">
                <a:solidFill>
                  <a:srgbClr val="D2E1FC"/>
                </a:solidFill>
                <a:latin typeface="BIZ UDPゴシック"/>
                <a:ea typeface="BIZ UDPゴシック"/>
              </a:rPr>
              <a:t>1.1  背景と目的</a:t>
            </a:r>
          </a:p>
        </p:txBody>
      </p:sp>
      <p:sp>
        <p:nvSpPr>
          <p:cNvPr id="10" name="dv-sec-1.2"/>
          <p:cNvSpPr txBox="1"/>
          <p:nvPr/>
        </p:nvSpPr>
        <p:spPr>
          <a:xfrm>
            <a:off x="777240" y="4291965"/>
            <a:ext cx="10637215" cy="256032"/>
          </a:xfrm>
          <a:prstGeom prst="rect">
            <a:avLst/>
          </a:prstGeom>
          <a:noFill/>
        </p:spPr>
        <p:txBody>
          <a:bodyPr wrap="square" lIns="0" tIns="0" rIns="0" bIns="0" anchor="t">
            <a:spAutoFit/>
          </a:bodyPr>
          <a:lstStyle/>
          <a:p>
            <a:pPr algn="l">
              <a:lnSpc>
                <a:spcPct val="120000"/>
              </a:lnSpc>
            </a:pPr>
            <a:r>
              <a:rPr sz="1300" b="0">
                <a:solidFill>
                  <a:srgbClr val="D2E1FC"/>
                </a:solidFill>
                <a:latin typeface="BIZ UDPゴシック"/>
                <a:ea typeface="BIZ UDPゴシック"/>
              </a:rPr>
              <a:t>1.2  実施方針</a:t>
            </a:r>
          </a:p>
        </p:txBody>
      </p:sp>
      <p:sp>
        <p:nvSpPr>
          <p:cNvPr id="11" name="dv-sec-1.3"/>
          <p:cNvSpPr txBox="1"/>
          <p:nvPr/>
        </p:nvSpPr>
        <p:spPr>
          <a:xfrm>
            <a:off x="777240" y="4514850"/>
            <a:ext cx="10637215" cy="256032"/>
          </a:xfrm>
          <a:prstGeom prst="rect">
            <a:avLst/>
          </a:prstGeom>
          <a:noFill/>
        </p:spPr>
        <p:txBody>
          <a:bodyPr wrap="square" lIns="0" tIns="0" rIns="0" bIns="0" anchor="t">
            <a:spAutoFit/>
          </a:bodyPr>
          <a:lstStyle/>
          <a:p>
            <a:pPr algn="l">
              <a:lnSpc>
                <a:spcPct val="120000"/>
              </a:lnSpc>
            </a:pPr>
            <a:r>
              <a:rPr sz="1300" b="0">
                <a:solidFill>
                  <a:srgbClr val="D2E1FC"/>
                </a:solidFill>
                <a:latin typeface="BIZ UDPゴシック"/>
                <a:ea typeface="BIZ UDPゴシック"/>
              </a:rPr>
              <a:t>1.3  全体像</a:t>
            </a:r>
          </a:p>
        </p:txBody>
      </p:sp>
      <p:sp>
        <p:nvSpPr>
          <p:cNvPr id="12" name="dv-sec-1.4"/>
          <p:cNvSpPr txBox="1"/>
          <p:nvPr/>
        </p:nvSpPr>
        <p:spPr>
          <a:xfrm>
            <a:off x="777240" y="4737735"/>
            <a:ext cx="10637215" cy="256032"/>
          </a:xfrm>
          <a:prstGeom prst="rect">
            <a:avLst/>
          </a:prstGeom>
          <a:noFill/>
        </p:spPr>
        <p:txBody>
          <a:bodyPr wrap="square" lIns="0" tIns="0" rIns="0" bIns="0" anchor="t">
            <a:spAutoFit/>
          </a:bodyPr>
          <a:lstStyle/>
          <a:p>
            <a:pPr algn="l">
              <a:lnSpc>
                <a:spcPct val="120000"/>
              </a:lnSpc>
            </a:pPr>
            <a:r>
              <a:rPr sz="1300" b="0">
                <a:solidFill>
                  <a:srgbClr val="D2E1FC"/>
                </a:solidFill>
                <a:latin typeface="BIZ UDPゴシック"/>
                <a:ea typeface="BIZ UDPゴシック"/>
              </a:rPr>
              <a:t>1.4  対象の概要</a:t>
            </a:r>
          </a:p>
        </p:txBody>
      </p:sp>
      <p:sp>
        <p:nvSpPr>
          <p:cNvPr id="13" name="dv-sec-1.5"/>
          <p:cNvSpPr txBox="1"/>
          <p:nvPr/>
        </p:nvSpPr>
        <p:spPr>
          <a:xfrm>
            <a:off x="777240" y="4960620"/>
            <a:ext cx="10637215" cy="256032"/>
          </a:xfrm>
          <a:prstGeom prst="rect">
            <a:avLst/>
          </a:prstGeom>
          <a:noFill/>
        </p:spPr>
        <p:txBody>
          <a:bodyPr wrap="square" lIns="0" tIns="0" rIns="0" bIns="0" anchor="t">
            <a:spAutoFit/>
          </a:bodyPr>
          <a:lstStyle/>
          <a:p>
            <a:pPr algn="l">
              <a:lnSpc>
                <a:spcPct val="120000"/>
              </a:lnSpc>
            </a:pPr>
            <a:r>
              <a:rPr sz="1300" b="0">
                <a:solidFill>
                  <a:srgbClr val="D2E1FC"/>
                </a:solidFill>
                <a:latin typeface="BIZ UDPゴシック"/>
                <a:ea typeface="BIZ UDPゴシック"/>
              </a:rPr>
              <a:t>1.5  スコープ (対象・対象外)</a:t>
            </a:r>
          </a:p>
        </p:txBody>
      </p:sp>
      <p:sp>
        <p:nvSpPr>
          <p:cNvPr id="14" name="dv-sec-1.6"/>
          <p:cNvSpPr txBox="1"/>
          <p:nvPr/>
        </p:nvSpPr>
        <p:spPr>
          <a:xfrm>
            <a:off x="777240" y="5183505"/>
            <a:ext cx="10637215" cy="256032"/>
          </a:xfrm>
          <a:prstGeom prst="rect">
            <a:avLst/>
          </a:prstGeom>
          <a:noFill/>
        </p:spPr>
        <p:txBody>
          <a:bodyPr wrap="square" lIns="0" tIns="0" rIns="0" bIns="0" anchor="t">
            <a:spAutoFit/>
          </a:bodyPr>
          <a:lstStyle/>
          <a:p>
            <a:pPr algn="l">
              <a:lnSpc>
                <a:spcPct val="120000"/>
              </a:lnSpc>
            </a:pPr>
            <a:r>
              <a:rPr sz="1300" b="0">
                <a:solidFill>
                  <a:srgbClr val="D2E1FC"/>
                </a:solidFill>
                <a:latin typeface="BIZ UDPゴシック"/>
                <a:ea typeface="BIZ UDPゴシック"/>
              </a:rPr>
              <a:t>1.6  目標と成功基準</a:t>
            </a:r>
          </a:p>
        </p:txBody>
      </p:sp>
      <p:sp>
        <p:nvSpPr>
          <p:cNvPr id="15" name="dv-sec-1.7"/>
          <p:cNvSpPr txBox="1"/>
          <p:nvPr/>
        </p:nvSpPr>
        <p:spPr>
          <a:xfrm>
            <a:off x="777240" y="5406390"/>
            <a:ext cx="10637215" cy="256032"/>
          </a:xfrm>
          <a:prstGeom prst="rect">
            <a:avLst/>
          </a:prstGeom>
          <a:noFill/>
        </p:spPr>
        <p:txBody>
          <a:bodyPr wrap="square" lIns="0" tIns="0" rIns="0" bIns="0" anchor="t">
            <a:spAutoFit/>
          </a:bodyPr>
          <a:lstStyle/>
          <a:p>
            <a:pPr algn="l">
              <a:lnSpc>
                <a:spcPct val="120000"/>
              </a:lnSpc>
            </a:pPr>
            <a:r>
              <a:rPr sz="1300" b="0">
                <a:solidFill>
                  <a:srgbClr val="D2E1FC"/>
                </a:solidFill>
                <a:latin typeface="BIZ UDPゴシック"/>
                <a:ea typeface="BIZ UDPゴシック"/>
              </a:rPr>
              <a:t>1.7  前提条件・制約条件</a:t>
            </a:r>
          </a:p>
        </p:txBody>
      </p:sp>
      <p:sp>
        <p:nvSpPr>
          <p:cNvPr id="16" name="dv-sec-1.8"/>
          <p:cNvSpPr txBox="1"/>
          <p:nvPr/>
        </p:nvSpPr>
        <p:spPr>
          <a:xfrm>
            <a:off x="777240" y="5629275"/>
            <a:ext cx="10637215" cy="256032"/>
          </a:xfrm>
          <a:prstGeom prst="rect">
            <a:avLst/>
          </a:prstGeom>
          <a:noFill/>
        </p:spPr>
        <p:txBody>
          <a:bodyPr wrap="square" lIns="0" tIns="0" rIns="0" bIns="0" anchor="t">
            <a:spAutoFit/>
          </a:bodyPr>
          <a:lstStyle/>
          <a:p>
            <a:pPr algn="l">
              <a:lnSpc>
                <a:spcPct val="120000"/>
              </a:lnSpc>
            </a:pPr>
            <a:r>
              <a:rPr sz="1300" b="0">
                <a:solidFill>
                  <a:srgbClr val="D2E1FC"/>
                </a:solidFill>
                <a:latin typeface="BIZ UDPゴシック"/>
                <a:ea typeface="BIZ UDPゴシック"/>
              </a:rPr>
              <a:t>1.8  要求・要件の定義方針</a:t>
            </a:r>
          </a:p>
        </p:txBody>
      </p:sp>
      <p:sp>
        <p:nvSpPr>
          <p:cNvPr id="17" name="ftr-page"/>
          <p:cNvSpPr txBox="1"/>
          <p:nvPr/>
        </p:nvSpPr>
        <p:spPr>
          <a:xfrm>
            <a:off x="10774375" y="6400800"/>
            <a:ext cx="914400" cy="274320"/>
          </a:xfrm>
          <a:prstGeom prst="rect">
            <a:avLst/>
          </a:prstGeom>
          <a:noFill/>
        </p:spPr>
        <p:txBody>
          <a:bodyPr wrap="square" lIns="0" tIns="0" rIns="0" bIns="0" anchor="t">
            <a:spAutoFit/>
          </a:bodyPr>
          <a:lstStyle/>
          <a:p>
            <a:pPr algn="r">
              <a:lnSpc>
                <a:spcPct val="120000"/>
              </a:lnSpc>
            </a:pPr>
            <a:r>
              <a:rPr sz="1100" b="1">
                <a:solidFill>
                  <a:srgbClr val="FFFFFF"/>
                </a:solidFill>
                <a:latin typeface="BIZ UDPゴシック"/>
                <a:ea typeface="BIZ UDPゴシック"/>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01  方針</a:t>
            </a:r>
          </a:p>
        </p:txBody>
      </p:sp>
      <p:sp>
        <p:nvSpPr>
          <p:cNvPr id="6" name="hdr-bar"/>
          <p:cNvSpPr/>
          <p:nvPr/>
        </p:nvSpPr>
        <p:spPr>
          <a:xfrm>
            <a:off x="10006279"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1.1 背景と目的</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5</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経費精算業務を改革し、リードタイム半減と月80時間の工数削減を実現する</a:t>
            </a:r>
          </a:p>
        </p:txBody>
      </p:sp>
      <p:sp>
        <p:nvSpPr>
          <p:cNvPr id="24" name="blk-card"/>
          <p:cNvSpPr/>
          <p:nvPr/>
        </p:nvSpPr>
        <p:spPr>
          <a:xfrm>
            <a:off x="502920" y="1591055"/>
            <a:ext cx="3618890" cy="2117344"/>
          </a:xfrm>
          <a:prstGeom prst="roundRect">
            <a:avLst>
              <a:gd name="adj" fmla="val 7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lk-card-band"/>
          <p:cNvSpPr/>
          <p:nvPr/>
        </p:nvSpPr>
        <p:spPr>
          <a:xfrm>
            <a:off x="502920" y="1591055"/>
            <a:ext cx="3618890" cy="82296"/>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lk-card-title"/>
          <p:cNvSpPr txBox="1"/>
          <p:nvPr/>
        </p:nvSpPr>
        <p:spPr>
          <a:xfrm>
            <a:off x="630936" y="1737359"/>
            <a:ext cx="3362858" cy="274320"/>
          </a:xfrm>
          <a:prstGeom prst="rect">
            <a:avLst/>
          </a:prstGeom>
          <a:noFill/>
        </p:spPr>
        <p:txBody>
          <a:bodyPr wrap="none" lIns="0" tIns="0" rIns="0" bIns="0" anchor="t">
            <a:spAutoFit/>
          </a:bodyPr>
          <a:lstStyle/>
          <a:p>
            <a:pPr algn="l">
              <a:lnSpc>
                <a:spcPct val="120000"/>
              </a:lnSpc>
            </a:pPr>
            <a:r>
              <a:rPr sz="1250" b="1">
                <a:solidFill>
                  <a:srgbClr val="16213E"/>
                </a:solidFill>
                <a:latin typeface="BIZ UDPゴシック"/>
                <a:ea typeface="BIZ UDPゴシック"/>
              </a:rPr>
              <a:t>背景</a:t>
            </a:r>
          </a:p>
        </p:txBody>
      </p:sp>
      <p:sp>
        <p:nvSpPr>
          <p:cNvPr id="27" name="blk-card-text"/>
          <p:cNvSpPr txBox="1"/>
          <p:nvPr/>
        </p:nvSpPr>
        <p:spPr>
          <a:xfrm>
            <a:off x="630936" y="2048255"/>
            <a:ext cx="3362858" cy="1550416"/>
          </a:xfrm>
          <a:prstGeom prst="rect">
            <a:avLst/>
          </a:prstGeom>
          <a:noFill/>
        </p:spPr>
        <p:txBody>
          <a:bodyPr wrap="square" lIns="0" tIns="0" rIns="0" bIns="0" anchor="t">
            <a:spAutoFit/>
          </a:bodyPr>
          <a:lstStyle/>
          <a:p>
            <a:pPr algn="l">
              <a:lnSpc>
                <a:spcPct val="125000"/>
              </a:lnSpc>
            </a:pPr>
            <a:r>
              <a:rPr sz="1100" b="0">
                <a:solidFill>
                  <a:srgbClr val="1F2937"/>
                </a:solidFill>
                <a:latin typeface="BIZ UDPゴシック"/>
                <a:ea typeface="BIZ UDPゴシック"/>
              </a:rPr>
              <a:t>経費精算が紙と手作業中心で、申請から支払まで5営業日、月120時間の工数を要している</a:t>
            </a:r>
          </a:p>
        </p:txBody>
      </p:sp>
      <p:sp>
        <p:nvSpPr>
          <p:cNvPr id="28" name="blk-card"/>
          <p:cNvSpPr/>
          <p:nvPr/>
        </p:nvSpPr>
        <p:spPr>
          <a:xfrm>
            <a:off x="4286402" y="1591055"/>
            <a:ext cx="3618890" cy="2117344"/>
          </a:xfrm>
          <a:prstGeom prst="roundRect">
            <a:avLst>
              <a:gd name="adj" fmla="val 7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lk-card-band"/>
          <p:cNvSpPr/>
          <p:nvPr/>
        </p:nvSpPr>
        <p:spPr>
          <a:xfrm>
            <a:off x="4286402" y="1591055"/>
            <a:ext cx="3618890" cy="8229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lk-card-title"/>
          <p:cNvSpPr txBox="1"/>
          <p:nvPr/>
        </p:nvSpPr>
        <p:spPr>
          <a:xfrm>
            <a:off x="4414418" y="1737359"/>
            <a:ext cx="3362858" cy="274320"/>
          </a:xfrm>
          <a:prstGeom prst="rect">
            <a:avLst/>
          </a:prstGeom>
          <a:noFill/>
        </p:spPr>
        <p:txBody>
          <a:bodyPr wrap="none" lIns="0" tIns="0" rIns="0" bIns="0" anchor="t">
            <a:spAutoFit/>
          </a:bodyPr>
          <a:lstStyle/>
          <a:p>
            <a:pPr algn="l">
              <a:lnSpc>
                <a:spcPct val="120000"/>
              </a:lnSpc>
            </a:pPr>
            <a:r>
              <a:rPr sz="1250" b="1">
                <a:solidFill>
                  <a:srgbClr val="16213E"/>
                </a:solidFill>
                <a:latin typeface="BIZ UDPゴシック"/>
                <a:ea typeface="BIZ UDPゴシック"/>
              </a:rPr>
              <a:t>問題</a:t>
            </a:r>
          </a:p>
        </p:txBody>
      </p:sp>
      <p:sp>
        <p:nvSpPr>
          <p:cNvPr id="31" name="blk-card-text"/>
          <p:cNvSpPr txBox="1"/>
          <p:nvPr/>
        </p:nvSpPr>
        <p:spPr>
          <a:xfrm>
            <a:off x="4414418" y="2048255"/>
            <a:ext cx="3362858" cy="1550416"/>
          </a:xfrm>
          <a:prstGeom prst="rect">
            <a:avLst/>
          </a:prstGeom>
          <a:noFill/>
        </p:spPr>
        <p:txBody>
          <a:bodyPr wrap="square" lIns="0" tIns="0" rIns="0" bIns="0" anchor="t">
            <a:spAutoFit/>
          </a:bodyPr>
          <a:lstStyle/>
          <a:p>
            <a:pPr algn="l">
              <a:lnSpc>
                <a:spcPct val="125000"/>
              </a:lnSpc>
            </a:pPr>
            <a:r>
              <a:rPr sz="1100" b="0">
                <a:solidFill>
                  <a:srgbClr val="1F2937"/>
                </a:solidFill>
                <a:latin typeface="BIZ UDPゴシック"/>
                <a:ea typeface="BIZ UDPゴシック"/>
              </a:rPr>
              <a:t>属人化と転記ミスが多く、締め処理の遅延が経営情報の迅速な把握を妨げている</a:t>
            </a:r>
          </a:p>
        </p:txBody>
      </p:sp>
      <p:sp>
        <p:nvSpPr>
          <p:cNvPr id="32" name="blk-card"/>
          <p:cNvSpPr/>
          <p:nvPr/>
        </p:nvSpPr>
        <p:spPr>
          <a:xfrm>
            <a:off x="8069884" y="1591055"/>
            <a:ext cx="3618890" cy="2117344"/>
          </a:xfrm>
          <a:prstGeom prst="roundRect">
            <a:avLst>
              <a:gd name="adj" fmla="val 7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lk-card-band"/>
          <p:cNvSpPr/>
          <p:nvPr/>
        </p:nvSpPr>
        <p:spPr>
          <a:xfrm>
            <a:off x="8069884" y="1591055"/>
            <a:ext cx="3618890"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lk-card-title"/>
          <p:cNvSpPr txBox="1"/>
          <p:nvPr/>
        </p:nvSpPr>
        <p:spPr>
          <a:xfrm>
            <a:off x="8197900" y="1737359"/>
            <a:ext cx="3362858" cy="274320"/>
          </a:xfrm>
          <a:prstGeom prst="rect">
            <a:avLst/>
          </a:prstGeom>
          <a:noFill/>
        </p:spPr>
        <p:txBody>
          <a:bodyPr wrap="none" lIns="0" tIns="0" rIns="0" bIns="0" anchor="t">
            <a:spAutoFit/>
          </a:bodyPr>
          <a:lstStyle/>
          <a:p>
            <a:pPr algn="l">
              <a:lnSpc>
                <a:spcPct val="120000"/>
              </a:lnSpc>
            </a:pPr>
            <a:r>
              <a:rPr sz="1250" b="1">
                <a:solidFill>
                  <a:srgbClr val="16213E"/>
                </a:solidFill>
                <a:latin typeface="BIZ UDPゴシック"/>
                <a:ea typeface="BIZ UDPゴシック"/>
              </a:rPr>
              <a:t>目的</a:t>
            </a:r>
          </a:p>
        </p:txBody>
      </p:sp>
      <p:sp>
        <p:nvSpPr>
          <p:cNvPr id="35" name="blk-card-text"/>
          <p:cNvSpPr txBox="1"/>
          <p:nvPr/>
        </p:nvSpPr>
        <p:spPr>
          <a:xfrm>
            <a:off x="8197900" y="2048255"/>
            <a:ext cx="3362858" cy="1550416"/>
          </a:xfrm>
          <a:prstGeom prst="rect">
            <a:avLst/>
          </a:prstGeom>
          <a:noFill/>
        </p:spPr>
        <p:txBody>
          <a:bodyPr wrap="square" lIns="0" tIns="0" rIns="0" bIns="0" anchor="t">
            <a:spAutoFit/>
          </a:bodyPr>
          <a:lstStyle/>
          <a:p>
            <a:pPr algn="l">
              <a:lnSpc>
                <a:spcPct val="125000"/>
              </a:lnSpc>
            </a:pPr>
            <a:r>
              <a:rPr sz="1100" b="0">
                <a:solidFill>
                  <a:srgbClr val="1F2937"/>
                </a:solidFill>
                <a:latin typeface="BIZ UDPゴシック"/>
                <a:ea typeface="BIZ UDPゴシック"/>
              </a:rPr>
              <a:t>クラウド経費精算サービスの導入と業務プロセス改革により、リードタイム半減と工数削減を実現する</a:t>
            </a:r>
          </a:p>
        </p:txBody>
      </p:sp>
      <p:sp>
        <p:nvSpPr>
          <p:cNvPr id="36" name="blk-card"/>
          <p:cNvSpPr/>
          <p:nvPr/>
        </p:nvSpPr>
        <p:spPr>
          <a:xfrm>
            <a:off x="502920" y="3872991"/>
            <a:ext cx="3618890" cy="2117344"/>
          </a:xfrm>
          <a:prstGeom prst="roundRect">
            <a:avLst>
              <a:gd name="adj" fmla="val 7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lk-card-band"/>
          <p:cNvSpPr/>
          <p:nvPr/>
        </p:nvSpPr>
        <p:spPr>
          <a:xfrm>
            <a:off x="502920" y="3872991"/>
            <a:ext cx="3618890" cy="82296"/>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lk-card-title"/>
          <p:cNvSpPr txBox="1"/>
          <p:nvPr/>
        </p:nvSpPr>
        <p:spPr>
          <a:xfrm>
            <a:off x="630936" y="4019295"/>
            <a:ext cx="3362858" cy="274320"/>
          </a:xfrm>
          <a:prstGeom prst="rect">
            <a:avLst/>
          </a:prstGeom>
          <a:noFill/>
        </p:spPr>
        <p:txBody>
          <a:bodyPr wrap="none" lIns="0" tIns="0" rIns="0" bIns="0" anchor="t">
            <a:spAutoFit/>
          </a:bodyPr>
          <a:lstStyle/>
          <a:p>
            <a:pPr algn="l">
              <a:lnSpc>
                <a:spcPct val="120000"/>
              </a:lnSpc>
            </a:pPr>
            <a:r>
              <a:rPr sz="1250" b="1">
                <a:solidFill>
                  <a:srgbClr val="16213E"/>
                </a:solidFill>
                <a:latin typeface="BIZ UDPゴシック"/>
                <a:ea typeface="BIZ UDPゴシック"/>
              </a:rPr>
              <a:t>期待効果</a:t>
            </a:r>
          </a:p>
        </p:txBody>
      </p:sp>
      <p:sp>
        <p:nvSpPr>
          <p:cNvPr id="39" name="blk-card-text"/>
          <p:cNvSpPr txBox="1"/>
          <p:nvPr/>
        </p:nvSpPr>
        <p:spPr>
          <a:xfrm>
            <a:off x="630936" y="4330192"/>
            <a:ext cx="3362858" cy="1550416"/>
          </a:xfrm>
          <a:prstGeom prst="rect">
            <a:avLst/>
          </a:prstGeom>
          <a:noFill/>
        </p:spPr>
        <p:txBody>
          <a:bodyPr wrap="square" lIns="0" tIns="0" rIns="0" bIns="0" anchor="t">
            <a:spAutoFit/>
          </a:bodyPr>
          <a:lstStyle/>
          <a:p>
            <a:pPr algn="l">
              <a:lnSpc>
                <a:spcPct val="125000"/>
              </a:lnSpc>
            </a:pPr>
            <a:r>
              <a:rPr sz="1100" b="0">
                <a:solidFill>
                  <a:srgbClr val="1F2937"/>
                </a:solidFill>
                <a:latin typeface="BIZ UDPゴシック"/>
                <a:ea typeface="BIZ UDPゴシック"/>
              </a:rPr>
              <a:t>リードタイム2営業日、工数40時間/月、対象者利用率95%以上を達成する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01  方針</a:t>
            </a:r>
          </a:p>
        </p:txBody>
      </p:sp>
      <p:sp>
        <p:nvSpPr>
          <p:cNvPr id="6" name="hdr-bar"/>
          <p:cNvSpPr/>
          <p:nvPr/>
        </p:nvSpPr>
        <p:spPr>
          <a:xfrm>
            <a:off x="10006279"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1.2 実施方針</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6</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標準機能を軸に段階移行し、現場参画で改革を定着させる</a:t>
            </a:r>
          </a:p>
        </p:txBody>
      </p:sp>
      <p:sp>
        <p:nvSpPr>
          <p:cNvPr id="24" name="blk-bullets"/>
          <p:cNvSpPr txBox="1"/>
          <p:nvPr/>
        </p:nvSpPr>
        <p:spPr>
          <a:xfrm>
            <a:off x="502920" y="1591055"/>
            <a:ext cx="5455767" cy="4663440"/>
          </a:xfrm>
          <a:prstGeom prst="rect">
            <a:avLst/>
          </a:prstGeom>
          <a:noFill/>
        </p:spPr>
        <p:txBody>
          <a:bodyPr wrap="square" lIns="0" tIns="0" rIns="0" bIns="0">
            <a:spAutoFit/>
          </a:bodyPr>
          <a:lstStyle/>
          <a:p>
            <a:pPr>
              <a:lnSpc>
                <a:spcPct val="122000"/>
              </a:lnSpc>
              <a:spcAft>
                <a:spcPts val="400"/>
              </a:spcAft>
            </a:pPr>
            <a:r>
              <a:rPr sz="1000">
                <a:solidFill>
                  <a:srgbClr val="16213E"/>
                </a:solidFill>
                <a:latin typeface="BIZ UDPゴシック"/>
                <a:ea typeface="BIZ UDPゴシック"/>
              </a:rPr>
              <a:t>●</a:t>
            </a:r>
            <a:r>
              <a:rPr sz="1400">
                <a:solidFill>
                  <a:srgbClr val="1F2937"/>
                </a:solidFill>
                <a:latin typeface="BIZ UDPゴシック"/>
                <a:ea typeface="BIZ UDPゴシック"/>
              </a:rPr>
              <a:t> 標準機能を優先し、フィット&amp;ギャップ分析で個別開発を最小化する</a:t>
            </a:r>
          </a:p>
          <a:p>
            <a:pPr>
              <a:lnSpc>
                <a:spcPct val="122000"/>
              </a:lnSpc>
              <a:spcAft>
                <a:spcPts val="400"/>
              </a:spcAft>
            </a:pPr>
            <a:r>
              <a:rPr sz="1000">
                <a:solidFill>
                  <a:srgbClr val="16213E"/>
                </a:solidFill>
                <a:latin typeface="BIZ UDPゴシック"/>
                <a:ea typeface="BIZ UDPゴシック"/>
              </a:rPr>
              <a:t>●</a:t>
            </a:r>
            <a:r>
              <a:rPr sz="1400">
                <a:solidFill>
                  <a:srgbClr val="1F2937"/>
                </a:solidFill>
                <a:latin typeface="BIZ UDPゴシック"/>
                <a:ea typeface="BIZ UDPゴシック"/>
              </a:rPr>
              <a:t> 経理部と利用部門が現状分析から受入まで継続参画し、合意形成する</a:t>
            </a:r>
          </a:p>
          <a:p>
            <a:pPr>
              <a:lnSpc>
                <a:spcPct val="122000"/>
              </a:lnSpc>
              <a:spcAft>
                <a:spcPts val="400"/>
              </a:spcAft>
            </a:pPr>
            <a:r>
              <a:rPr sz="1000">
                <a:solidFill>
                  <a:srgbClr val="16213E"/>
                </a:solidFill>
                <a:latin typeface="BIZ UDPゴシック"/>
                <a:ea typeface="BIZ UDPゴシック"/>
              </a:rPr>
              <a:t>●</a:t>
            </a:r>
            <a:r>
              <a:rPr sz="1400">
                <a:solidFill>
                  <a:srgbClr val="1F2937"/>
                </a:solidFill>
                <a:latin typeface="BIZ UDPゴシック"/>
                <a:ea typeface="BIZ UDPゴシック"/>
              </a:rPr>
              <a:t> 5フェーズで段階的に進め、各フェーズで完了基準を判定する</a:t>
            </a:r>
          </a:p>
          <a:p>
            <a:pPr>
              <a:lnSpc>
                <a:spcPct val="122000"/>
              </a:lnSpc>
              <a:spcAft>
                <a:spcPts val="400"/>
              </a:spcAft>
            </a:pPr>
            <a:r>
              <a:rPr sz="1000">
                <a:solidFill>
                  <a:srgbClr val="16213E"/>
                </a:solidFill>
                <a:latin typeface="BIZ UDPゴシック"/>
                <a:ea typeface="BIZ UDPゴシック"/>
              </a:rPr>
              <a:t>●</a:t>
            </a:r>
            <a:r>
              <a:rPr sz="1400">
                <a:solidFill>
                  <a:srgbClr val="1F2937"/>
                </a:solidFill>
                <a:latin typeface="BIZ UDPゴシック"/>
                <a:ea typeface="BIZ UDPゴシック"/>
              </a:rPr>
              <a:t> 変更は変更管理手順に従い、スコープ・日程・費用への影響を都度評価する</a:t>
            </a:r>
          </a:p>
        </p:txBody>
      </p:sp>
      <p:sp>
        <p:nvSpPr>
          <p:cNvPr id="25" name="drawio:p1"/>
          <p:cNvSpPr/>
          <p:nvPr/>
        </p:nvSpPr>
        <p:spPr>
          <a:xfrm>
            <a:off x="7013584" y="1591055"/>
            <a:ext cx="3894612" cy="708111"/>
          </a:xfrm>
          <a:prstGeom prst="roundRect">
            <a:avLst/>
          </a:prstGeom>
          <a:solidFill>
            <a:srgbClr val="F4F6FA"/>
          </a:solidFill>
          <a:ln w="8851">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5" b="0" i="0">
                <a:solidFill>
                  <a:srgbClr val="1F2937"/>
                </a:solidFill>
                <a:latin typeface="BIZ UDPゴシック"/>
                <a:ea typeface="BIZ UDPゴシック"/>
              </a:rPr>
              <a:t>標準機能を優先し、フィット&amp;ギャップ分析で</a:t>
            </a:r>
          </a:p>
          <a:p>
            <a:pPr algn="ctr">
              <a:lnSpc>
                <a:spcPct val="110000"/>
              </a:lnSpc>
            </a:pPr>
            <a:r>
              <a:rPr sz="975" b="0" i="0">
                <a:solidFill>
                  <a:srgbClr val="1F2937"/>
                </a:solidFill>
                <a:latin typeface="BIZ UDPゴシック"/>
                <a:ea typeface="BIZ UDPゴシック"/>
              </a:rPr>
              <a:t>個別開発を最小化する</a:t>
            </a:r>
          </a:p>
        </p:txBody>
      </p:sp>
      <p:sp>
        <p:nvSpPr>
          <p:cNvPr id="26" name="drawio:p2"/>
          <p:cNvSpPr/>
          <p:nvPr/>
        </p:nvSpPr>
        <p:spPr>
          <a:xfrm>
            <a:off x="7013584" y="2830249"/>
            <a:ext cx="3894612" cy="708111"/>
          </a:xfrm>
          <a:prstGeom prst="roundRect">
            <a:avLst/>
          </a:prstGeom>
          <a:solidFill>
            <a:srgbClr val="F4F6FA"/>
          </a:solidFill>
          <a:ln w="8851">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5" b="0" i="0">
                <a:solidFill>
                  <a:srgbClr val="1F2937"/>
                </a:solidFill>
                <a:latin typeface="BIZ UDPゴシック"/>
                <a:ea typeface="BIZ UDPゴシック"/>
              </a:rPr>
              <a:t>経理部と利用部門が現状分析から受入まで</a:t>
            </a:r>
          </a:p>
          <a:p>
            <a:pPr algn="ctr">
              <a:lnSpc>
                <a:spcPct val="110000"/>
              </a:lnSpc>
            </a:pPr>
            <a:r>
              <a:rPr sz="975" b="0" i="0">
                <a:solidFill>
                  <a:srgbClr val="1F2937"/>
                </a:solidFill>
                <a:latin typeface="BIZ UDPゴシック"/>
                <a:ea typeface="BIZ UDPゴシック"/>
              </a:rPr>
              <a:t>継続参画し、合意形成する</a:t>
            </a:r>
          </a:p>
        </p:txBody>
      </p:sp>
      <p:sp>
        <p:nvSpPr>
          <p:cNvPr id="27" name="drawio:p3"/>
          <p:cNvSpPr/>
          <p:nvPr/>
        </p:nvSpPr>
        <p:spPr>
          <a:xfrm>
            <a:off x="7013584" y="4069444"/>
            <a:ext cx="3894612" cy="708111"/>
          </a:xfrm>
          <a:prstGeom prst="roundRect">
            <a:avLst/>
          </a:prstGeom>
          <a:solidFill>
            <a:srgbClr val="F4F6FA"/>
          </a:solidFill>
          <a:ln w="8851">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5" b="0" i="0">
                <a:solidFill>
                  <a:srgbClr val="1F2937"/>
                </a:solidFill>
                <a:latin typeface="BIZ UDPゴシック"/>
                <a:ea typeface="BIZ UDPゴシック"/>
              </a:rPr>
              <a:t>5フェーズで段階的に進め、</a:t>
            </a:r>
          </a:p>
          <a:p>
            <a:pPr algn="ctr">
              <a:lnSpc>
                <a:spcPct val="110000"/>
              </a:lnSpc>
            </a:pPr>
            <a:r>
              <a:rPr sz="975" b="0" i="0">
                <a:solidFill>
                  <a:srgbClr val="1F2937"/>
                </a:solidFill>
                <a:latin typeface="BIZ UDPゴシック"/>
                <a:ea typeface="BIZ UDPゴシック"/>
              </a:rPr>
              <a:t>各フェーズで完了基準を判定する</a:t>
            </a:r>
          </a:p>
        </p:txBody>
      </p:sp>
      <p:sp>
        <p:nvSpPr>
          <p:cNvPr id="28" name="drawio:p4"/>
          <p:cNvSpPr/>
          <p:nvPr/>
        </p:nvSpPr>
        <p:spPr>
          <a:xfrm>
            <a:off x="7013584" y="5308639"/>
            <a:ext cx="3894612" cy="708111"/>
          </a:xfrm>
          <a:prstGeom prst="roundRect">
            <a:avLst/>
          </a:prstGeom>
          <a:solidFill>
            <a:srgbClr val="B4235A"/>
          </a:solidFill>
          <a:ln w="8851">
            <a:solidFill>
              <a:srgbClr val="B4235A"/>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5" b="0" i="0">
                <a:solidFill>
                  <a:srgbClr val="FFFFFF"/>
                </a:solidFill>
                <a:latin typeface="BIZ UDPゴシック"/>
                <a:ea typeface="BIZ UDPゴシック"/>
              </a:rPr>
              <a:t>変更は変更管理手順に従い、</a:t>
            </a:r>
          </a:p>
          <a:p>
            <a:pPr algn="ctr">
              <a:lnSpc>
                <a:spcPct val="110000"/>
              </a:lnSpc>
            </a:pPr>
            <a:r>
              <a:rPr sz="975" b="0" i="0">
                <a:solidFill>
                  <a:srgbClr val="FFFFFF"/>
                </a:solidFill>
                <a:latin typeface="BIZ UDPゴシック"/>
                <a:ea typeface="BIZ UDPゴシック"/>
              </a:rPr>
              <a:t>スコープ・日程・費用への影響を都度評価する</a:t>
            </a:r>
          </a:p>
        </p:txBody>
      </p:sp>
      <p:sp>
        <p:nvSpPr>
          <p:cNvPr id="29" name="drawio:e1"/>
          <p:cNvSpPr/>
          <p:nvPr/>
        </p:nvSpPr>
        <p:spPr>
          <a:xfrm>
            <a:off x="8960890" y="2288544"/>
            <a:ext cx="0" cy="552327"/>
          </a:xfrm>
          <a:custGeom>
            <a:avLst/>
            <a:gdLst/>
            <a:ahLst/>
            <a:cxnLst/>
            <a:rect l="l" t="t" r="r" b="b"/>
            <a:pathLst>
              <a:path w="0" h="552327">
                <a:moveTo>
                  <a:pt x="0" y="0"/>
                </a:moveTo>
                <a:lnTo>
                  <a:pt x="0" y="276164"/>
                </a:lnTo>
                <a:lnTo>
                  <a:pt x="0" y="276164"/>
                </a:lnTo>
                <a:lnTo>
                  <a:pt x="0" y="552327"/>
                </a:lnTo>
              </a:path>
            </a:pathLst>
          </a:custGeom>
          <a:noFill/>
          <a:ln w="17702">
            <a:solidFill>
              <a:srgbClr val="6B7280"/>
            </a:solidFill>
            <a:tailEnd type="arrow"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rawio:e2"/>
          <p:cNvSpPr/>
          <p:nvPr/>
        </p:nvSpPr>
        <p:spPr>
          <a:xfrm>
            <a:off x="8960890" y="3527739"/>
            <a:ext cx="0" cy="552327"/>
          </a:xfrm>
          <a:custGeom>
            <a:avLst/>
            <a:gdLst/>
            <a:ahLst/>
            <a:cxnLst/>
            <a:rect l="l" t="t" r="r" b="b"/>
            <a:pathLst>
              <a:path w="0" h="552327">
                <a:moveTo>
                  <a:pt x="0" y="0"/>
                </a:moveTo>
                <a:lnTo>
                  <a:pt x="0" y="276164"/>
                </a:lnTo>
                <a:lnTo>
                  <a:pt x="0" y="276164"/>
                </a:lnTo>
                <a:lnTo>
                  <a:pt x="0" y="552327"/>
                </a:lnTo>
              </a:path>
            </a:pathLst>
          </a:custGeom>
          <a:noFill/>
          <a:ln w="17702">
            <a:solidFill>
              <a:srgbClr val="6B7280"/>
            </a:solidFill>
            <a:tailEnd type="arrow"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rawio:e3"/>
          <p:cNvSpPr/>
          <p:nvPr/>
        </p:nvSpPr>
        <p:spPr>
          <a:xfrm>
            <a:off x="8960890" y="4766934"/>
            <a:ext cx="0" cy="552327"/>
          </a:xfrm>
          <a:custGeom>
            <a:avLst/>
            <a:gdLst/>
            <a:ahLst/>
            <a:cxnLst/>
            <a:rect l="l" t="t" r="r" b="b"/>
            <a:pathLst>
              <a:path w="0" h="552327">
                <a:moveTo>
                  <a:pt x="0" y="0"/>
                </a:moveTo>
                <a:lnTo>
                  <a:pt x="0" y="276163"/>
                </a:lnTo>
                <a:lnTo>
                  <a:pt x="0" y="276163"/>
                </a:lnTo>
                <a:lnTo>
                  <a:pt x="0" y="552327"/>
                </a:lnTo>
              </a:path>
            </a:pathLst>
          </a:custGeom>
          <a:noFill/>
          <a:ln w="17702">
            <a:solidFill>
              <a:srgbClr val="6B7280"/>
            </a:solidFill>
            <a:tailEnd type="arrow"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lk-diagram-cap"/>
          <p:cNvSpPr txBox="1"/>
          <p:nvPr/>
        </p:nvSpPr>
        <p:spPr>
          <a:xfrm>
            <a:off x="6233007" y="6053327"/>
            <a:ext cx="5455767" cy="237744"/>
          </a:xfrm>
          <a:prstGeom prst="rect">
            <a:avLst/>
          </a:prstGeom>
          <a:noFill/>
        </p:spPr>
        <p:txBody>
          <a:bodyPr wrap="square" lIns="0" tIns="0" rIns="0" bIns="0" anchor="t">
            <a:spAutoFit/>
          </a:bodyPr>
          <a:lstStyle/>
          <a:p>
            <a:pPr algn="ctr">
              <a:lnSpc>
                <a:spcPct val="120000"/>
              </a:lnSpc>
            </a:pPr>
            <a:r>
              <a:rPr sz="900" b="0">
                <a:solidFill>
                  <a:srgbClr val="6B7280"/>
                </a:solidFill>
                <a:latin typeface="BIZ UDPゴシック"/>
                <a:ea typeface="BIZ UDPゴシック"/>
              </a:rPr>
              <a:t>実施方針の全体像</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01  方針</a:t>
            </a:r>
          </a:p>
        </p:txBody>
      </p:sp>
      <p:sp>
        <p:nvSpPr>
          <p:cNvPr id="6" name="hdr-bar"/>
          <p:cNvSpPr/>
          <p:nvPr/>
        </p:nvSpPr>
        <p:spPr>
          <a:xfrm>
            <a:off x="10006279"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1.3 全体像</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7</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経費精算業務とシステムの全体像をAs-IsとTo-Beで示す</a:t>
            </a:r>
          </a:p>
        </p:txBody>
      </p:sp>
      <p:sp>
        <p:nvSpPr>
          <p:cNvPr id="24" name="drawio:asis"/>
          <p:cNvSpPr/>
          <p:nvPr/>
        </p:nvSpPr>
        <p:spPr>
          <a:xfrm>
            <a:off x="962040" y="1591055"/>
            <a:ext cx="3894612" cy="3717584"/>
          </a:xfrm>
          <a:prstGeom prst="rect">
            <a:avLst/>
          </a:prstGeom>
          <a:solidFill>
            <a:srgbClr val="F4F6FA"/>
          </a:solidFill>
          <a:ln w="8851">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rawio:asis:hdr"/>
          <p:cNvSpPr/>
          <p:nvPr/>
        </p:nvSpPr>
        <p:spPr>
          <a:xfrm>
            <a:off x="962040" y="1591055"/>
            <a:ext cx="3894612" cy="354055"/>
          </a:xfrm>
          <a:prstGeom prst="rect">
            <a:avLst/>
          </a:prstGeom>
          <a:solidFill>
            <a:srgbClr val="F4F6FA"/>
          </a:solidFill>
          <a:ln w="8851">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1045" b="1" i="0">
                <a:solidFill>
                  <a:srgbClr val="16213E"/>
                </a:solidFill>
                <a:latin typeface="BIZ UDPゴシック"/>
                <a:ea typeface="BIZ UDPゴシック"/>
              </a:rPr>
              <a:t>As-Is (現状)</a:t>
            </a:r>
          </a:p>
        </p:txBody>
      </p:sp>
      <p:sp>
        <p:nvSpPr>
          <p:cNvPr id="26" name="drawio:a1"/>
          <p:cNvSpPr/>
          <p:nvPr/>
        </p:nvSpPr>
        <p:spPr>
          <a:xfrm>
            <a:off x="1227581" y="2210652"/>
            <a:ext cx="3363528" cy="619597"/>
          </a:xfrm>
          <a:prstGeom prst="roundRect">
            <a:avLst/>
          </a:prstGeom>
          <a:solidFill>
            <a:srgbClr val="FFFFFF"/>
          </a:solidFill>
          <a:ln w="8851">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5" b="0" i="0">
                <a:solidFill>
                  <a:srgbClr val="1F2937"/>
                </a:solidFill>
                <a:latin typeface="BIZ UDPゴシック"/>
                <a:ea typeface="BIZ UDPゴシック"/>
              </a:rPr>
              <a:t>経費精算 (紙・手作業)</a:t>
            </a:r>
          </a:p>
        </p:txBody>
      </p:sp>
      <p:sp>
        <p:nvSpPr>
          <p:cNvPr id="27" name="drawio:a2"/>
          <p:cNvSpPr/>
          <p:nvPr/>
        </p:nvSpPr>
        <p:spPr>
          <a:xfrm>
            <a:off x="1227581" y="2918763"/>
            <a:ext cx="3363528" cy="619597"/>
          </a:xfrm>
          <a:prstGeom prst="roundRect">
            <a:avLst/>
          </a:prstGeom>
          <a:solidFill>
            <a:srgbClr val="FFFFFF"/>
          </a:solidFill>
          <a:ln w="8851">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5" b="0" i="0">
                <a:solidFill>
                  <a:srgbClr val="1F2937"/>
                </a:solidFill>
                <a:latin typeface="BIZ UDPゴシック"/>
                <a:ea typeface="BIZ UDPゴシック"/>
              </a:rPr>
              <a:t>申請・承認・支払 (5営業日)</a:t>
            </a:r>
          </a:p>
        </p:txBody>
      </p:sp>
      <p:sp>
        <p:nvSpPr>
          <p:cNvPr id="28" name="drawio:a3"/>
          <p:cNvSpPr/>
          <p:nvPr/>
        </p:nvSpPr>
        <p:spPr>
          <a:xfrm>
            <a:off x="1227581" y="3626875"/>
            <a:ext cx="3363528" cy="619597"/>
          </a:xfrm>
          <a:prstGeom prst="roundRect">
            <a:avLst/>
          </a:prstGeom>
          <a:solidFill>
            <a:srgbClr val="FFFFFF"/>
          </a:solidFill>
          <a:ln w="8851">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5" b="0" i="0">
                <a:solidFill>
                  <a:srgbClr val="1F2937"/>
                </a:solidFill>
                <a:latin typeface="BIZ UDPゴシック"/>
                <a:ea typeface="BIZ UDPゴシック"/>
              </a:rPr>
              <a:t>基幹会計システム (手入力連携)</a:t>
            </a:r>
          </a:p>
        </p:txBody>
      </p:sp>
      <p:sp>
        <p:nvSpPr>
          <p:cNvPr id="29" name="drawio:a4"/>
          <p:cNvSpPr/>
          <p:nvPr/>
        </p:nvSpPr>
        <p:spPr>
          <a:xfrm>
            <a:off x="1227581" y="4334986"/>
            <a:ext cx="3363528" cy="619597"/>
          </a:xfrm>
          <a:prstGeom prst="roundRect">
            <a:avLst/>
          </a:prstGeom>
          <a:solidFill>
            <a:srgbClr val="FFFFFF"/>
          </a:solidFill>
          <a:ln w="8851">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5" b="0" i="0">
                <a:solidFill>
                  <a:srgbClr val="1F2937"/>
                </a:solidFill>
                <a:latin typeface="BIZ UDPゴシック"/>
                <a:ea typeface="BIZ UDPゴシック"/>
              </a:rPr>
              <a:t>月120時間の工数</a:t>
            </a:r>
          </a:p>
          <a:p>
            <a:pPr algn="ctr">
              <a:lnSpc>
                <a:spcPct val="110000"/>
              </a:lnSpc>
            </a:pPr>
            <a:r>
              <a:rPr sz="975" b="0" i="0">
                <a:solidFill>
                  <a:srgbClr val="1F2937"/>
                </a:solidFill>
                <a:latin typeface="BIZ UDPゴシック"/>
                <a:ea typeface="BIZ UDPゴシック"/>
              </a:rPr>
              <a:t>属人化・転記ミス</a:t>
            </a:r>
          </a:p>
        </p:txBody>
      </p:sp>
      <p:sp>
        <p:nvSpPr>
          <p:cNvPr id="30" name="drawio:tobe"/>
          <p:cNvSpPr/>
          <p:nvPr/>
        </p:nvSpPr>
        <p:spPr>
          <a:xfrm>
            <a:off x="7335042" y="1591055"/>
            <a:ext cx="3894612" cy="3717584"/>
          </a:xfrm>
          <a:prstGeom prst="rect">
            <a:avLst/>
          </a:prstGeom>
          <a:solidFill>
            <a:srgbClr val="F4F6FA"/>
          </a:solidFill>
          <a:ln w="8851">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rawio:tobe:hdr"/>
          <p:cNvSpPr/>
          <p:nvPr/>
        </p:nvSpPr>
        <p:spPr>
          <a:xfrm>
            <a:off x="7335042" y="1591055"/>
            <a:ext cx="3894612" cy="354055"/>
          </a:xfrm>
          <a:prstGeom prst="rect">
            <a:avLst/>
          </a:prstGeom>
          <a:solidFill>
            <a:srgbClr val="F4F6FA"/>
          </a:solidFill>
          <a:ln w="8851">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1045" b="1" i="0">
                <a:solidFill>
                  <a:srgbClr val="16213E"/>
                </a:solidFill>
                <a:latin typeface="BIZ UDPゴシック"/>
                <a:ea typeface="BIZ UDPゴシック"/>
              </a:rPr>
              <a:t>To-Be (改革後)</a:t>
            </a:r>
          </a:p>
        </p:txBody>
      </p:sp>
      <p:sp>
        <p:nvSpPr>
          <p:cNvPr id="32" name="drawio:t1"/>
          <p:cNvSpPr/>
          <p:nvPr/>
        </p:nvSpPr>
        <p:spPr>
          <a:xfrm>
            <a:off x="7600584" y="2210652"/>
            <a:ext cx="3363528" cy="619597"/>
          </a:xfrm>
          <a:prstGeom prst="roundRect">
            <a:avLst/>
          </a:prstGeom>
          <a:solidFill>
            <a:srgbClr val="FFFFFF"/>
          </a:solidFill>
          <a:ln w="8851">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5" b="0" i="0">
                <a:solidFill>
                  <a:srgbClr val="1F2937"/>
                </a:solidFill>
                <a:latin typeface="BIZ UDPゴシック"/>
                <a:ea typeface="BIZ UDPゴシック"/>
              </a:rPr>
              <a:t>クラウド経費精算SaaS</a:t>
            </a:r>
          </a:p>
        </p:txBody>
      </p:sp>
      <p:sp>
        <p:nvSpPr>
          <p:cNvPr id="33" name="drawio:t2"/>
          <p:cNvSpPr/>
          <p:nvPr/>
        </p:nvSpPr>
        <p:spPr>
          <a:xfrm>
            <a:off x="7600584" y="2918763"/>
            <a:ext cx="3363528" cy="619597"/>
          </a:xfrm>
          <a:prstGeom prst="roundRect">
            <a:avLst/>
          </a:prstGeom>
          <a:solidFill>
            <a:srgbClr val="FFFFFF"/>
          </a:solidFill>
          <a:ln w="8851">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5" b="0" i="0">
                <a:solidFill>
                  <a:srgbClr val="1F2937"/>
                </a:solidFill>
                <a:latin typeface="BIZ UDPゴシック"/>
                <a:ea typeface="BIZ UDPゴシック"/>
              </a:rPr>
              <a:t>申請・承認 (スマートフォン対応)</a:t>
            </a:r>
          </a:p>
        </p:txBody>
      </p:sp>
      <p:sp>
        <p:nvSpPr>
          <p:cNvPr id="34" name="drawio:t3"/>
          <p:cNvSpPr/>
          <p:nvPr/>
        </p:nvSpPr>
        <p:spPr>
          <a:xfrm>
            <a:off x="7600584" y="3626875"/>
            <a:ext cx="3363528" cy="619597"/>
          </a:xfrm>
          <a:prstGeom prst="roundRect">
            <a:avLst/>
          </a:prstGeom>
          <a:solidFill>
            <a:srgbClr val="FFFFFF"/>
          </a:solidFill>
          <a:ln w="8851">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5" b="0" i="0">
                <a:solidFill>
                  <a:srgbClr val="1F2937"/>
                </a:solidFill>
                <a:latin typeface="BIZ UDPゴシック"/>
                <a:ea typeface="BIZ UDPゴシック"/>
              </a:rPr>
              <a:t>基幹会計システム (自動連携)</a:t>
            </a:r>
          </a:p>
        </p:txBody>
      </p:sp>
      <p:sp>
        <p:nvSpPr>
          <p:cNvPr id="35" name="drawio:t4"/>
          <p:cNvSpPr/>
          <p:nvPr/>
        </p:nvSpPr>
        <p:spPr>
          <a:xfrm>
            <a:off x="7600584" y="4334986"/>
            <a:ext cx="3363528" cy="619597"/>
          </a:xfrm>
          <a:prstGeom prst="roundRect">
            <a:avLst/>
          </a:prstGeom>
          <a:solidFill>
            <a:srgbClr val="059669"/>
          </a:solidFill>
          <a:ln w="8851">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5" b="1" i="0">
                <a:solidFill>
                  <a:srgbClr val="FFFFFF"/>
                </a:solidFill>
                <a:latin typeface="BIZ UDPゴシック"/>
                <a:ea typeface="BIZ UDPゴシック"/>
              </a:rPr>
              <a:t>リードタイム2営業日 / 月40時間</a:t>
            </a:r>
          </a:p>
        </p:txBody>
      </p:sp>
      <p:sp>
        <p:nvSpPr>
          <p:cNvPr id="36" name="drawio:bpr"/>
          <p:cNvSpPr/>
          <p:nvPr/>
        </p:nvSpPr>
        <p:spPr>
          <a:xfrm>
            <a:off x="5122194" y="3095791"/>
            <a:ext cx="1947306" cy="708111"/>
          </a:xfrm>
          <a:prstGeom prst="chevron">
            <a:avLst/>
          </a:prstGeom>
          <a:solidFill>
            <a:srgbClr val="B4235A"/>
          </a:solidFill>
          <a:ln w="8851">
            <a:solidFill>
              <a:srgbClr val="B4235A"/>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1045" b="1" i="0">
                <a:solidFill>
                  <a:srgbClr val="FFFFFF"/>
                </a:solidFill>
                <a:latin typeface="BIZ UDPゴシック"/>
                <a:ea typeface="BIZ UDPゴシック"/>
              </a:rPr>
              <a:t>業務改革 (BPR)</a:t>
            </a:r>
          </a:p>
        </p:txBody>
      </p:sp>
      <p:sp>
        <p:nvSpPr>
          <p:cNvPr id="37" name="drawio:band"/>
          <p:cNvSpPr/>
          <p:nvPr/>
        </p:nvSpPr>
        <p:spPr>
          <a:xfrm>
            <a:off x="962040" y="5574181"/>
            <a:ext cx="10267614" cy="442569"/>
          </a:xfrm>
          <a:prstGeom prst="roundRect">
            <a:avLst/>
          </a:prstGeom>
          <a:solidFill>
            <a:srgbClr val="F4F6FA"/>
          </a:solidFill>
          <a:ln w="8851">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5" b="0" i="0">
                <a:solidFill>
                  <a:srgbClr val="1F2937"/>
                </a:solidFill>
                <a:latin typeface="BIZ UDPゴシック"/>
                <a:ea typeface="BIZ UDPゴシック"/>
              </a:rPr>
              <a:t>対象: 全社約1,200名 / 期間: 2026-04-01〜2027-03-31</a:t>
            </a:r>
          </a:p>
        </p:txBody>
      </p:sp>
      <p:sp>
        <p:nvSpPr>
          <p:cNvPr id="38" name="blk-diagram-cap"/>
          <p:cNvSpPr txBox="1"/>
          <p:nvPr/>
        </p:nvSpPr>
        <p:spPr>
          <a:xfrm>
            <a:off x="502920" y="6053327"/>
            <a:ext cx="11185855" cy="237744"/>
          </a:xfrm>
          <a:prstGeom prst="rect">
            <a:avLst/>
          </a:prstGeom>
          <a:noFill/>
        </p:spPr>
        <p:txBody>
          <a:bodyPr wrap="square" lIns="0" tIns="0" rIns="0" bIns="0" anchor="t">
            <a:spAutoFit/>
          </a:bodyPr>
          <a:lstStyle/>
          <a:p>
            <a:pPr algn="ctr">
              <a:lnSpc>
                <a:spcPct val="120000"/>
              </a:lnSpc>
            </a:pPr>
            <a:r>
              <a:rPr sz="900" b="0">
                <a:solidFill>
                  <a:srgbClr val="6B7280"/>
                </a:solidFill>
                <a:latin typeface="BIZ UDPゴシック"/>
                <a:ea typeface="BIZ UDPゴシック"/>
              </a:rPr>
              <a:t>経費精算業務改革の全体像 (As-Is / To-Be)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01  方針</a:t>
            </a:r>
          </a:p>
        </p:txBody>
      </p:sp>
      <p:sp>
        <p:nvSpPr>
          <p:cNvPr id="6" name="hdr-bar"/>
          <p:cNvSpPr/>
          <p:nvPr/>
        </p:nvSpPr>
        <p:spPr>
          <a:xfrm>
            <a:off x="10006279"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1.4 対象の概要</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8</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対象範囲と主要な構成要素を整理する</a:t>
            </a:r>
          </a:p>
        </p:txBody>
      </p:sp>
      <p:graphicFrame>
        <p:nvGraphicFramePr>
          <p:cNvPr id="24" name="blk-table"/>
          <p:cNvGraphicFramePr>
            <a:graphicFrameLocks noGrp="1"/>
          </p:cNvGraphicFramePr>
          <p:nvPr/>
        </p:nvGraphicFramePr>
        <p:xfrm>
          <a:off x="502920" y="1591055"/>
          <a:ext cx="11185854" cy="2215388"/>
        </p:xfrm>
        <a:graphic>
          <a:graphicData uri="http://schemas.openxmlformats.org/drawingml/2006/table">
            <a:tbl>
              <a:tblPr>
                <a:tableStyleId>{5C22544A-7EE6-4342-B048-85BDC9FD1C3A}</a:tableStyleId>
              </a:tblPr>
              <a:tblGrid>
                <a:gridCol w="3355756"/>
                <a:gridCol w="7830098"/>
              </a:tblGrid>
              <a:tr h="295148">
                <a:tc>
                  <a:txBody>
                    <a:bodyPr wrap="square" lIns="45720" tIns="18288" rIns="45720" bIns="18288" anchor="ctr"/>
                    <a:lstStyle/>
                    <a:p>
                      <a:pPr algn="l">
                        <a:lnSpc>
                          <a:spcPct val="120000"/>
                        </a:lnSpc>
                      </a:pPr>
                      <a:r>
                        <a:rPr sz="1400" b="1">
                          <a:solidFill>
                            <a:srgbClr val="FFFFFF"/>
                          </a:solidFill>
                          <a:latin typeface="BIZ UDPゴシック"/>
                          <a:ea typeface="BIZ UDPゴシック"/>
                        </a:rPr>
                        <a:t>項目</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内容</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対象業務</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経費精算業務 (申請・承認・支払・精算)</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対象システム</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クラウド経費精算SaaS、基幹会計システム連携</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対象組織</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経理部、情報システム部、全事業部門</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対象期間</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2026-04-01〜2027-03-31</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対象者</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全社 約1,200名</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01  方針</a:t>
            </a:r>
          </a:p>
        </p:txBody>
      </p:sp>
      <p:sp>
        <p:nvSpPr>
          <p:cNvPr id="6" name="hdr-bar"/>
          <p:cNvSpPr/>
          <p:nvPr/>
        </p:nvSpPr>
        <p:spPr>
          <a:xfrm>
            <a:off x="10006279"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1.5 スコープ (対象・対象外)</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9</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対象と対象外を明確にし、後工程の手戻りを防ぐ</a:t>
            </a:r>
          </a:p>
        </p:txBody>
      </p:sp>
      <p:graphicFrame>
        <p:nvGraphicFramePr>
          <p:cNvPr id="24" name="blk-table"/>
          <p:cNvGraphicFramePr>
            <a:graphicFrameLocks noGrp="1"/>
          </p:cNvGraphicFramePr>
          <p:nvPr/>
        </p:nvGraphicFramePr>
        <p:xfrm>
          <a:off x="502920" y="1591055"/>
          <a:ext cx="11185854" cy="3367532"/>
        </p:xfrm>
        <a:graphic>
          <a:graphicData uri="http://schemas.openxmlformats.org/drawingml/2006/table">
            <a:tbl>
              <a:tblPr>
                <a:tableStyleId>{5C22544A-7EE6-4342-B048-85BDC9FD1C3A}</a:tableStyleId>
              </a:tblPr>
              <a:tblGrid>
                <a:gridCol w="1342302"/>
                <a:gridCol w="3132039"/>
                <a:gridCol w="6711513"/>
              </a:tblGrid>
              <a:tr h="295148">
                <a:tc>
                  <a:txBody>
                    <a:bodyPr wrap="square" lIns="45720" tIns="18288" rIns="45720" bIns="18288" anchor="ctr"/>
                    <a:lstStyle/>
                    <a:p>
                      <a:pPr algn="l">
                        <a:lnSpc>
                          <a:spcPct val="120000"/>
                        </a:lnSpc>
                      </a:pPr>
                      <a:r>
                        <a:rPr sz="1400" b="1">
                          <a:solidFill>
                            <a:srgbClr val="FFFFFF"/>
                          </a:solidFill>
                          <a:latin typeface="BIZ UDPゴシック"/>
                          <a:ea typeface="BIZ UDPゴシック"/>
                        </a:rPr>
                        <a:t>区分</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項目</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内容</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対象</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経費精算業務</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申請から承認・支払までの業務プロセス</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対象</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クラウド経費精算サービス</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経費精算SaaSの導入・設定・連携</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対象</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基幹システム連携</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会計システムへの仕訳連携 (インタフェース開発を含む)</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対象</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研修・定着化</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全対象者への研修と運用支援</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対象外</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給与計算・年末調整</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経費精算以外の経理業務 (別プロジェクト)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対象外</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会計システム更改</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基幹システム本体の更改 (本件は連携のみ)</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対象外</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端末・ネットワーク更改</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ハードウェアの更改 (既存環境を利用)</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対象外</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標準機能外の個別開発</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大幅なカスタマイズ (原則行わない)</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01  方針</a:t>
            </a:r>
          </a:p>
        </p:txBody>
      </p:sp>
      <p:sp>
        <p:nvSpPr>
          <p:cNvPr id="6" name="hdr-bar"/>
          <p:cNvSpPr/>
          <p:nvPr/>
        </p:nvSpPr>
        <p:spPr>
          <a:xfrm>
            <a:off x="10006279"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1.6 目標と成功基準</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10</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定量KPIで成功を定義し、測定方法と時期まで定める</a:t>
            </a:r>
          </a:p>
        </p:txBody>
      </p:sp>
      <p:graphicFrame>
        <p:nvGraphicFramePr>
          <p:cNvPr id="24" name="blk-table"/>
          <p:cNvGraphicFramePr>
            <a:graphicFrameLocks noGrp="1"/>
          </p:cNvGraphicFramePr>
          <p:nvPr/>
        </p:nvGraphicFramePr>
        <p:xfrm>
          <a:off x="502920" y="1591055"/>
          <a:ext cx="11185854" cy="2215388"/>
        </p:xfrm>
        <a:graphic>
          <a:graphicData uri="http://schemas.openxmlformats.org/drawingml/2006/table">
            <a:tbl>
              <a:tblPr>
                <a:tableStyleId>{5C22544A-7EE6-4342-B048-85BDC9FD1C3A}</a:tableStyleId>
              </a:tblPr>
              <a:tblGrid>
                <a:gridCol w="2908322"/>
                <a:gridCol w="2237171"/>
                <a:gridCol w="3579473"/>
                <a:gridCol w="2460888"/>
              </a:tblGrid>
              <a:tr h="295148">
                <a:tc>
                  <a:txBody>
                    <a:bodyPr wrap="square" lIns="45720" tIns="18288" rIns="45720" bIns="18288" anchor="ctr"/>
                    <a:lstStyle/>
                    <a:p>
                      <a:pPr algn="l">
                        <a:lnSpc>
                          <a:spcPct val="120000"/>
                        </a:lnSpc>
                      </a:pPr>
                      <a:r>
                        <a:rPr sz="1400" b="1">
                          <a:solidFill>
                            <a:srgbClr val="FFFFFF"/>
                          </a:solidFill>
                          <a:latin typeface="BIZ UDPゴシック"/>
                          <a:ea typeface="BIZ UDPゴシック"/>
                        </a:rPr>
                        <a:t>指標</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目標値</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測定方法</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測定時期</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経費精算リードタイム</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5営業日→2営業日</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申請〜支払日時のシステム集計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本番稼働後3か月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経費精算の手作業工数</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月120時間→40時間</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タイムスタディと業務ログ</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本番稼働後3か月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対象者利用率</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95%以上</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サービス利用ログ</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本番稼働後3か月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申請の差戻し率</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15%→5%以下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差戻し件数 / 申請件数</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本番稼働後3か月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利用者満足度</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4.0/5.0以上</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利用者アンケート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本番稼働後6か月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01  方針</a:t>
            </a:r>
          </a:p>
        </p:txBody>
      </p:sp>
      <p:sp>
        <p:nvSpPr>
          <p:cNvPr id="6" name="hdr-bar"/>
          <p:cNvSpPr/>
          <p:nvPr/>
        </p:nvSpPr>
        <p:spPr>
          <a:xfrm>
            <a:off x="10006279"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1.7 前提条件・制約条件</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11</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前提と制約を明示し、崩れた場合の対応をあらかじめ定める</a:t>
            </a:r>
          </a:p>
        </p:txBody>
      </p:sp>
      <p:graphicFrame>
        <p:nvGraphicFramePr>
          <p:cNvPr id="24" name="blk-table"/>
          <p:cNvGraphicFramePr>
            <a:graphicFrameLocks noGrp="1"/>
          </p:cNvGraphicFramePr>
          <p:nvPr/>
        </p:nvGraphicFramePr>
        <p:xfrm>
          <a:off x="502920" y="1591055"/>
          <a:ext cx="11185854" cy="2566416"/>
        </p:xfrm>
        <a:graphic>
          <a:graphicData uri="http://schemas.openxmlformats.org/drawingml/2006/table">
            <a:tbl>
              <a:tblPr>
                <a:tableStyleId>{5C22544A-7EE6-4342-B048-85BDC9FD1C3A}</a:tableStyleId>
              </a:tblPr>
              <a:tblGrid>
                <a:gridCol w="1342302"/>
                <a:gridCol w="6487796"/>
                <a:gridCol w="3355756"/>
              </a:tblGrid>
              <a:tr h="262128">
                <a:tc>
                  <a:txBody>
                    <a:bodyPr wrap="square" lIns="45720" tIns="18288" rIns="45720" bIns="18288" anchor="ctr"/>
                    <a:lstStyle/>
                    <a:p>
                      <a:pPr algn="l">
                        <a:lnSpc>
                          <a:spcPct val="120000"/>
                        </a:lnSpc>
                      </a:pPr>
                      <a:r>
                        <a:rPr sz="1200" b="1">
                          <a:solidFill>
                            <a:srgbClr val="FFFFFF"/>
                          </a:solidFill>
                          <a:latin typeface="BIZ UDPゴシック"/>
                          <a:ea typeface="BIZ UDPゴシック"/>
                        </a:rPr>
                        <a:t>区分</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200" b="1">
                          <a:solidFill>
                            <a:srgbClr val="FFFFFF"/>
                          </a:solidFill>
                          <a:latin typeface="BIZ UDPゴシック"/>
                          <a:ea typeface="BIZ UDPゴシック"/>
                        </a:rPr>
                        <a:t>内容</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200" b="1">
                          <a:solidFill>
                            <a:srgbClr val="FFFFFF"/>
                          </a:solidFill>
                          <a:latin typeface="BIZ UDPゴシック"/>
                          <a:ea typeface="BIZ UDPゴシック"/>
                        </a:rPr>
                        <a:t>崩れた場合の対応</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384048">
                <a:tc>
                  <a:txBody>
                    <a:bodyPr wrap="square" lIns="45720" tIns="18288" rIns="45720" bIns="18288" anchor="ctr"/>
                    <a:lstStyle/>
                    <a:p>
                      <a:pPr algn="l">
                        <a:lnSpc>
                          <a:spcPct val="120000"/>
                        </a:lnSpc>
                      </a:pPr>
                      <a:r>
                        <a:rPr sz="1200" b="0">
                          <a:solidFill>
                            <a:srgbClr val="1F2937"/>
                          </a:solidFill>
                          <a:latin typeface="BIZ UDPゴシック"/>
                          <a:ea typeface="BIZ UDPゴシック"/>
                        </a:rPr>
                        <a:t>前提</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経費精算SaaSの標準機能で主要要件を満たす</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不足機能は追加開発の要否をCCBで判断する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200" b="0">
                          <a:solidFill>
                            <a:srgbClr val="1F2937"/>
                          </a:solidFill>
                          <a:latin typeface="BIZ UDPゴシック"/>
                          <a:ea typeface="BIZ UDPゴシック"/>
                        </a:rPr>
                        <a:t>前提</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基幹システムのインタフェース仕様が提供される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提供遅延時は移行スケジュールを見直す</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200" b="0">
                          <a:solidFill>
                            <a:srgbClr val="1F2937"/>
                          </a:solidFill>
                          <a:latin typeface="BIZ UDPゴシック"/>
                          <a:ea typeface="BIZ UDPゴシック"/>
                        </a:rPr>
                        <a:t>制約</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予算上限は8,000万円</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超過時はプロジェクトオーナーの承認を要する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200" b="0">
                          <a:solidFill>
                            <a:srgbClr val="1F2937"/>
                          </a:solidFill>
                          <a:latin typeface="BIZ UDPゴシック"/>
                          <a:ea typeface="BIZ UDPゴシック"/>
                        </a:rPr>
                        <a:t>制約</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本番稼働は2027年2月に開始する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遅延時は暫定運用を検討する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200" b="0">
                          <a:solidFill>
                            <a:srgbClr val="1F2937"/>
                          </a:solidFill>
                          <a:latin typeface="BIZ UDPゴシック"/>
                          <a:ea typeface="BIZ UDPゴシック"/>
                        </a:rPr>
                        <a:t>制約</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個人情報保護法と社内規程に準拠する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準拠できない場合は設計を変更する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200" b="0">
                          <a:solidFill>
                            <a:srgbClr val="1F2937"/>
                          </a:solidFill>
                          <a:latin typeface="BIZ UDPゴシック"/>
                          <a:ea typeface="BIZ UDPゴシック"/>
                        </a:rPr>
                        <a:t>制約</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対象者は全社約1,200名</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研修計画を人数に合わせて編成する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01  方針</a:t>
            </a:r>
          </a:p>
        </p:txBody>
      </p:sp>
      <p:sp>
        <p:nvSpPr>
          <p:cNvPr id="6" name="hdr-bar"/>
          <p:cNvSpPr/>
          <p:nvPr/>
        </p:nvSpPr>
        <p:spPr>
          <a:xfrm>
            <a:off x="10006279"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1.8 要求・要件の定義方針</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12</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要求の出所・粒度・確定プロセスを定め、要件を一意に管理する</a:t>
            </a:r>
          </a:p>
        </p:txBody>
      </p:sp>
      <p:sp>
        <p:nvSpPr>
          <p:cNvPr id="24" name="blk-bullets"/>
          <p:cNvSpPr txBox="1"/>
          <p:nvPr/>
        </p:nvSpPr>
        <p:spPr>
          <a:xfrm>
            <a:off x="502920" y="1591055"/>
            <a:ext cx="11185855" cy="2267712"/>
          </a:xfrm>
          <a:prstGeom prst="rect">
            <a:avLst/>
          </a:prstGeom>
          <a:noFill/>
        </p:spPr>
        <p:txBody>
          <a:bodyPr wrap="square" lIns="0" tIns="0" rIns="0" bIns="0">
            <a:spAutoFit/>
          </a:bodyPr>
          <a:lstStyle/>
          <a:p>
            <a:pPr>
              <a:lnSpc>
                <a:spcPct val="122000"/>
              </a:lnSpc>
              <a:spcAft>
                <a:spcPts val="400"/>
              </a:spcAft>
            </a:pPr>
            <a:r>
              <a:rPr sz="1000">
                <a:solidFill>
                  <a:srgbClr val="16213E"/>
                </a:solidFill>
                <a:latin typeface="BIZ UDPゴシック"/>
                <a:ea typeface="BIZ UDPゴシック"/>
              </a:rPr>
              <a:t>●</a:t>
            </a:r>
            <a:r>
              <a:rPr sz="1400">
                <a:solidFill>
                  <a:srgbClr val="1F2937"/>
                </a:solidFill>
                <a:latin typeface="BIZ UDPゴシック"/>
                <a:ea typeface="BIZ UDPゴシック"/>
              </a:rPr>
              <a:t> 要求は利用部門ヒアリングと現状分析から抽出し、要求IDで管理する</a:t>
            </a:r>
          </a:p>
          <a:p>
            <a:pPr>
              <a:lnSpc>
                <a:spcPct val="122000"/>
              </a:lnSpc>
              <a:spcAft>
                <a:spcPts val="400"/>
              </a:spcAft>
            </a:pPr>
            <a:r>
              <a:rPr sz="1000">
                <a:solidFill>
                  <a:srgbClr val="16213E"/>
                </a:solidFill>
                <a:latin typeface="BIZ UDPゴシック"/>
                <a:ea typeface="BIZ UDPゴシック"/>
              </a:rPr>
              <a:t>●</a:t>
            </a:r>
            <a:r>
              <a:rPr sz="1400">
                <a:solidFill>
                  <a:srgbClr val="1F2937"/>
                </a:solidFill>
                <a:latin typeface="BIZ UDPゴシック"/>
                <a:ea typeface="BIZ UDPゴシック"/>
              </a:rPr>
              <a:t> 要件は機能・非機能・業務の3分類とし、要件定義書に記載する</a:t>
            </a:r>
          </a:p>
          <a:p>
            <a:pPr>
              <a:lnSpc>
                <a:spcPct val="122000"/>
              </a:lnSpc>
              <a:spcAft>
                <a:spcPts val="400"/>
              </a:spcAft>
            </a:pPr>
            <a:r>
              <a:rPr sz="1000">
                <a:solidFill>
                  <a:srgbClr val="16213E"/>
                </a:solidFill>
                <a:latin typeface="BIZ UDPゴシック"/>
                <a:ea typeface="BIZ UDPゴシック"/>
              </a:rPr>
              <a:t>●</a:t>
            </a:r>
            <a:r>
              <a:rPr sz="1400">
                <a:solidFill>
                  <a:srgbClr val="1F2937"/>
                </a:solidFill>
                <a:latin typeface="BIZ UDPゴシック"/>
                <a:ea typeface="BIZ UDPゴシック"/>
              </a:rPr>
              <a:t> 標準機能との適合をフィット&amp;ギャップで判定し、ギャップの対応方針を決める</a:t>
            </a:r>
          </a:p>
          <a:p>
            <a:pPr>
              <a:lnSpc>
                <a:spcPct val="122000"/>
              </a:lnSpc>
              <a:spcAft>
                <a:spcPts val="400"/>
              </a:spcAft>
            </a:pPr>
            <a:r>
              <a:rPr sz="1000">
                <a:solidFill>
                  <a:srgbClr val="16213E"/>
                </a:solidFill>
                <a:latin typeface="BIZ UDPゴシック"/>
                <a:ea typeface="BIZ UDPゴシック"/>
              </a:rPr>
              <a:t>●</a:t>
            </a:r>
            <a:r>
              <a:rPr sz="1400">
                <a:solidFill>
                  <a:srgbClr val="1F2937"/>
                </a:solidFill>
                <a:latin typeface="BIZ UDPゴシック"/>
                <a:ea typeface="BIZ UDPゴシック"/>
              </a:rPr>
              <a:t> 確定した要件はベースライン化し、以後の変更は変更管理手順に従う</a:t>
            </a:r>
          </a:p>
        </p:txBody>
      </p:sp>
      <p:graphicFrame>
        <p:nvGraphicFramePr>
          <p:cNvPr id="25" name="blk-table"/>
          <p:cNvGraphicFramePr>
            <a:graphicFrameLocks noGrp="1"/>
          </p:cNvGraphicFramePr>
          <p:nvPr/>
        </p:nvGraphicFramePr>
        <p:xfrm>
          <a:off x="502920" y="3986784"/>
          <a:ext cx="11185854" cy="1447292"/>
        </p:xfrm>
        <a:graphic>
          <a:graphicData uri="http://schemas.openxmlformats.org/drawingml/2006/table">
            <a:tbl>
              <a:tblPr>
                <a:tableStyleId>{5C22544A-7EE6-4342-B048-85BDC9FD1C3A}</a:tableStyleId>
              </a:tblPr>
              <a:tblGrid>
                <a:gridCol w="2684605"/>
                <a:gridCol w="8501249"/>
              </a:tblGrid>
              <a:tr h="295148">
                <a:tc>
                  <a:txBody>
                    <a:bodyPr wrap="square" lIns="45720" tIns="18288" rIns="45720" bIns="18288" anchor="ctr"/>
                    <a:lstStyle/>
                    <a:p>
                      <a:pPr algn="l">
                        <a:lnSpc>
                          <a:spcPct val="120000"/>
                        </a:lnSpc>
                      </a:pPr>
                      <a:r>
                        <a:rPr sz="1400" b="1">
                          <a:solidFill>
                            <a:srgbClr val="FFFFFF"/>
                          </a:solidFill>
                          <a:latin typeface="BIZ UDPゴシック"/>
                          <a:ea typeface="BIZ UDPゴシック"/>
                        </a:rPr>
                        <a:t>分類</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内容</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機能要件</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業務を実現する機能・画面・帳票の要件</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非機能要件</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性能・可用性・セキュリティ・運用の要件</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業務要件</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業務プロセス・内部統制・役割の要件</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v-bg"/>
          <p:cNvSpPr/>
          <p:nvPr/>
        </p:nvSpPr>
        <p:spPr>
          <a:xfrm>
            <a:off x="0" y="0"/>
            <a:ext cx="12191695" cy="6858000"/>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v-acc1"/>
          <p:cNvSpPr/>
          <p:nvPr/>
        </p:nvSpPr>
        <p:spPr>
          <a:xfrm>
            <a:off x="9814255" y="-1005840"/>
            <a:ext cx="2560320" cy="2560320"/>
          </a:xfrm>
          <a:prstGeom prst="rect">
            <a:avLst/>
          </a:prstGeom>
          <a:solidFill>
            <a:srgbClr val="B4235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v-acc2"/>
          <p:cNvSpPr/>
          <p:nvPr/>
        </p:nvSpPr>
        <p:spPr>
          <a:xfrm>
            <a:off x="10637215" y="5120640"/>
            <a:ext cx="1188720" cy="1188720"/>
          </a:xfrm>
          <a:prstGeom prst="ellipse">
            <a:avLst/>
          </a:prstGeom>
          <a:noFill/>
          <a:ln w="254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v-acc3"/>
          <p:cNvSpPr/>
          <p:nvPr/>
        </p:nvSpPr>
        <p:spPr>
          <a:xfrm rot="1320000">
            <a:off x="11643055" y="2468879"/>
            <a:ext cx="502920" cy="3108960"/>
          </a:xfrm>
          <a:prstGeom prst="rect">
            <a:avLst/>
          </a:prstGeom>
          <a:solidFill>
            <a:srgbClr val="B4235A">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v-kicker"/>
          <p:cNvSpPr txBox="1"/>
          <p:nvPr/>
        </p:nvSpPr>
        <p:spPr>
          <a:xfrm>
            <a:off x="777240" y="960120"/>
            <a:ext cx="2743200" cy="256032"/>
          </a:xfrm>
          <a:prstGeom prst="rect">
            <a:avLst/>
          </a:prstGeom>
          <a:noFill/>
        </p:spPr>
        <p:txBody>
          <a:bodyPr wrap="square" lIns="0" tIns="0" rIns="0" bIns="0" anchor="t">
            <a:spAutoFit/>
          </a:bodyPr>
          <a:lstStyle/>
          <a:p>
            <a:pPr algn="l">
              <a:lnSpc>
                <a:spcPct val="120000"/>
              </a:lnSpc>
            </a:pPr>
            <a:r>
              <a:rPr sz="1200" b="1" spc="400">
                <a:solidFill>
                  <a:srgbClr val="0E7490"/>
                </a:solidFill>
                <a:latin typeface="BIZ UDPゴシック"/>
                <a:ea typeface="BIZ UDPゴシック"/>
              </a:rPr>
              <a:t>CHAPTER</a:t>
            </a:r>
          </a:p>
        </p:txBody>
      </p:sp>
      <p:sp>
        <p:nvSpPr>
          <p:cNvPr id="7" name="dv-num"/>
          <p:cNvSpPr txBox="1"/>
          <p:nvPr/>
        </p:nvSpPr>
        <p:spPr>
          <a:xfrm>
            <a:off x="731519" y="1234440"/>
            <a:ext cx="3108960" cy="1417320"/>
          </a:xfrm>
          <a:prstGeom prst="rect">
            <a:avLst/>
          </a:prstGeom>
          <a:noFill/>
        </p:spPr>
        <p:txBody>
          <a:bodyPr wrap="none" lIns="0" tIns="0" rIns="0" bIns="0" anchor="t">
            <a:spAutoFit/>
          </a:bodyPr>
          <a:lstStyle/>
          <a:p>
            <a:pPr algn="l">
              <a:lnSpc>
                <a:spcPct val="120000"/>
              </a:lnSpc>
            </a:pPr>
            <a:r>
              <a:rPr sz="9600" b="1">
                <a:solidFill>
                  <a:srgbClr val="B4235A"/>
                </a:solidFill>
                <a:latin typeface="BIZ UDPゴシック"/>
                <a:ea typeface="BIZ UDPゴシック"/>
              </a:rPr>
              <a:t>02</a:t>
            </a:r>
          </a:p>
        </p:txBody>
      </p:sp>
      <p:sp>
        <p:nvSpPr>
          <p:cNvPr id="8" name="dv-title"/>
          <p:cNvSpPr txBox="1"/>
          <p:nvPr/>
        </p:nvSpPr>
        <p:spPr>
          <a:xfrm>
            <a:off x="777240" y="2880360"/>
            <a:ext cx="9539935" cy="685800"/>
          </a:xfrm>
          <a:prstGeom prst="rect">
            <a:avLst/>
          </a:prstGeom>
          <a:noFill/>
        </p:spPr>
        <p:txBody>
          <a:bodyPr wrap="square" lIns="0" tIns="0" rIns="0" bIns="0" anchor="t">
            <a:spAutoFit/>
          </a:bodyPr>
          <a:lstStyle/>
          <a:p>
            <a:pPr algn="l">
              <a:lnSpc>
                <a:spcPct val="120000"/>
              </a:lnSpc>
            </a:pPr>
            <a:r>
              <a:rPr sz="4000" b="1">
                <a:solidFill>
                  <a:srgbClr val="FFFFFF"/>
                </a:solidFill>
                <a:latin typeface="BIZ UDPゴシック"/>
                <a:ea typeface="BIZ UDPゴシック"/>
              </a:rPr>
              <a:t>スケジュール</a:t>
            </a:r>
          </a:p>
        </p:txBody>
      </p:sp>
      <p:sp>
        <p:nvSpPr>
          <p:cNvPr id="9" name="dv-sec-2.1"/>
          <p:cNvSpPr txBox="1"/>
          <p:nvPr/>
        </p:nvSpPr>
        <p:spPr>
          <a:xfrm>
            <a:off x="777240" y="4069080"/>
            <a:ext cx="10637215" cy="256032"/>
          </a:xfrm>
          <a:prstGeom prst="rect">
            <a:avLst/>
          </a:prstGeom>
          <a:noFill/>
        </p:spPr>
        <p:txBody>
          <a:bodyPr wrap="square" lIns="0" tIns="0" rIns="0" bIns="0" anchor="t">
            <a:spAutoFit/>
          </a:bodyPr>
          <a:lstStyle/>
          <a:p>
            <a:pPr algn="l">
              <a:lnSpc>
                <a:spcPct val="120000"/>
              </a:lnSpc>
            </a:pPr>
            <a:r>
              <a:rPr sz="1300" b="0">
                <a:solidFill>
                  <a:srgbClr val="D2E1FC"/>
                </a:solidFill>
                <a:latin typeface="BIZ UDPゴシック"/>
                <a:ea typeface="BIZ UDPゴシック"/>
              </a:rPr>
              <a:t>2.1  全体スケジュール</a:t>
            </a:r>
          </a:p>
        </p:txBody>
      </p:sp>
      <p:sp>
        <p:nvSpPr>
          <p:cNvPr id="10" name="dv-sec-2.2"/>
          <p:cNvSpPr txBox="1"/>
          <p:nvPr/>
        </p:nvSpPr>
        <p:spPr>
          <a:xfrm>
            <a:off x="777240" y="4291965"/>
            <a:ext cx="10637215" cy="256032"/>
          </a:xfrm>
          <a:prstGeom prst="rect">
            <a:avLst/>
          </a:prstGeom>
          <a:noFill/>
        </p:spPr>
        <p:txBody>
          <a:bodyPr wrap="square" lIns="0" tIns="0" rIns="0" bIns="0" anchor="t">
            <a:spAutoFit/>
          </a:bodyPr>
          <a:lstStyle/>
          <a:p>
            <a:pPr algn="l">
              <a:lnSpc>
                <a:spcPct val="120000"/>
              </a:lnSpc>
            </a:pPr>
            <a:r>
              <a:rPr sz="1300" b="0">
                <a:solidFill>
                  <a:srgbClr val="D2E1FC"/>
                </a:solidFill>
                <a:latin typeface="BIZ UDPゴシック"/>
                <a:ea typeface="BIZ UDPゴシック"/>
              </a:rPr>
              <a:t>2.2  マイルストーンと完了基準</a:t>
            </a:r>
          </a:p>
        </p:txBody>
      </p:sp>
      <p:sp>
        <p:nvSpPr>
          <p:cNvPr id="11" name="dv-sec-2.3"/>
          <p:cNvSpPr txBox="1"/>
          <p:nvPr/>
        </p:nvSpPr>
        <p:spPr>
          <a:xfrm>
            <a:off x="777240" y="4514850"/>
            <a:ext cx="10637215" cy="256032"/>
          </a:xfrm>
          <a:prstGeom prst="rect">
            <a:avLst/>
          </a:prstGeom>
          <a:noFill/>
        </p:spPr>
        <p:txBody>
          <a:bodyPr wrap="square" lIns="0" tIns="0" rIns="0" bIns="0" anchor="t">
            <a:spAutoFit/>
          </a:bodyPr>
          <a:lstStyle/>
          <a:p>
            <a:pPr algn="l">
              <a:lnSpc>
                <a:spcPct val="120000"/>
              </a:lnSpc>
            </a:pPr>
            <a:r>
              <a:rPr sz="1300" b="0">
                <a:solidFill>
                  <a:srgbClr val="D2E1FC"/>
                </a:solidFill>
                <a:latin typeface="BIZ UDPゴシック"/>
                <a:ea typeface="BIZ UDPゴシック"/>
              </a:rPr>
              <a:t>2.3  フェーズ別スケジュール</a:t>
            </a:r>
          </a:p>
        </p:txBody>
      </p:sp>
      <p:sp>
        <p:nvSpPr>
          <p:cNvPr id="12" name="ftr-page"/>
          <p:cNvSpPr txBox="1"/>
          <p:nvPr/>
        </p:nvSpPr>
        <p:spPr>
          <a:xfrm>
            <a:off x="10774375" y="6400800"/>
            <a:ext cx="914400" cy="274320"/>
          </a:xfrm>
          <a:prstGeom prst="rect">
            <a:avLst/>
          </a:prstGeom>
          <a:noFill/>
        </p:spPr>
        <p:txBody>
          <a:bodyPr wrap="square" lIns="0" tIns="0" rIns="0" bIns="0" anchor="t">
            <a:spAutoFit/>
          </a:bodyPr>
          <a:lstStyle/>
          <a:p>
            <a:pPr algn="r">
              <a:lnSpc>
                <a:spcPct val="120000"/>
              </a:lnSpc>
            </a:pPr>
            <a:r>
              <a:rPr sz="1100" b="1">
                <a:solidFill>
                  <a:srgbClr val="FFFFFF"/>
                </a:solidFill>
                <a:latin typeface="BIZ UDPゴシック"/>
                <a:ea typeface="BIZ UDPゴシック"/>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02  スケジュール</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2.1 全体スケジュール</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14</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2026年4月から2027年3月までの全体工程を示す</a:t>
            </a:r>
          </a:p>
        </p:txBody>
      </p:sp>
      <p:sp>
        <p:nvSpPr>
          <p:cNvPr id="24" name="TextBox 23"/>
          <p:cNvSpPr txBox="1"/>
          <p:nvPr/>
        </p:nvSpPr>
        <p:spPr>
          <a:xfrm>
            <a:off x="2862072" y="1901951"/>
            <a:ext cx="548640" cy="237744"/>
          </a:xfrm>
          <a:prstGeom prst="rect">
            <a:avLst/>
          </a:prstGeom>
          <a:noFill/>
        </p:spPr>
        <p:txBody>
          <a:bodyPr wrap="none" lIns="0" tIns="0" rIns="0" bIns="0" anchor="ctr">
            <a:spAutoFit/>
          </a:bodyPr>
          <a:lstStyle/>
          <a:p>
            <a:pPr algn="l">
              <a:lnSpc>
                <a:spcPct val="120000"/>
              </a:lnSpc>
            </a:pPr>
            <a:r>
              <a:rPr sz="850" b="0">
                <a:solidFill>
                  <a:srgbClr val="6B7280"/>
                </a:solidFill>
                <a:latin typeface="BIZ UDPゴシック"/>
                <a:ea typeface="BIZ UDPゴシック"/>
              </a:rPr>
              <a:t>2026/4</a:t>
            </a:r>
          </a:p>
        </p:txBody>
      </p:sp>
      <p:cxnSp>
        <p:nvCxnSpPr>
          <p:cNvPr id="25" name="gt-grid"/>
          <p:cNvCxnSpPr/>
          <p:nvPr/>
        </p:nvCxnSpPr>
        <p:spPr>
          <a:xfrm>
            <a:off x="3589547" y="1901951"/>
            <a:ext cx="914"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26" name="gt-grid"/>
          <p:cNvCxnSpPr/>
          <p:nvPr/>
        </p:nvCxnSpPr>
        <p:spPr>
          <a:xfrm>
            <a:off x="3589547"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315227" y="1901951"/>
            <a:ext cx="548640" cy="237744"/>
          </a:xfrm>
          <a:prstGeom prst="rect">
            <a:avLst/>
          </a:prstGeom>
          <a:noFill/>
        </p:spPr>
        <p:txBody>
          <a:bodyPr wrap="none" lIns="0" tIns="0" rIns="0" bIns="0" anchor="ctr">
            <a:spAutoFit/>
          </a:bodyPr>
          <a:lstStyle/>
          <a:p>
            <a:pPr algn="ctr">
              <a:lnSpc>
                <a:spcPct val="120000"/>
              </a:lnSpc>
            </a:pPr>
            <a:r>
              <a:rPr sz="850" b="0">
                <a:solidFill>
                  <a:srgbClr val="6B7280"/>
                </a:solidFill>
                <a:latin typeface="BIZ UDPゴシック"/>
                <a:ea typeface="BIZ UDPゴシック"/>
              </a:rPr>
              <a:t>5</a:t>
            </a:r>
          </a:p>
        </p:txBody>
      </p:sp>
      <p:cxnSp>
        <p:nvCxnSpPr>
          <p:cNvPr id="28" name="gt-grid"/>
          <p:cNvCxnSpPr/>
          <p:nvPr/>
        </p:nvCxnSpPr>
        <p:spPr>
          <a:xfrm>
            <a:off x="4341272" y="1901951"/>
            <a:ext cx="914"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29" name="gt-grid"/>
          <p:cNvCxnSpPr/>
          <p:nvPr/>
        </p:nvCxnSpPr>
        <p:spPr>
          <a:xfrm>
            <a:off x="4341272"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066952" y="1901951"/>
            <a:ext cx="548640" cy="237744"/>
          </a:xfrm>
          <a:prstGeom prst="rect">
            <a:avLst/>
          </a:prstGeom>
          <a:noFill/>
        </p:spPr>
        <p:txBody>
          <a:bodyPr wrap="none" lIns="0" tIns="0" rIns="0" bIns="0" anchor="ctr">
            <a:spAutoFit/>
          </a:bodyPr>
          <a:lstStyle/>
          <a:p>
            <a:pPr algn="ctr">
              <a:lnSpc>
                <a:spcPct val="120000"/>
              </a:lnSpc>
            </a:pPr>
            <a:r>
              <a:rPr sz="850" b="0">
                <a:solidFill>
                  <a:srgbClr val="6B7280"/>
                </a:solidFill>
                <a:latin typeface="BIZ UDPゴシック"/>
                <a:ea typeface="BIZ UDPゴシック"/>
              </a:rPr>
              <a:t>6</a:t>
            </a:r>
          </a:p>
        </p:txBody>
      </p:sp>
      <p:cxnSp>
        <p:nvCxnSpPr>
          <p:cNvPr id="31" name="gt-grid"/>
          <p:cNvCxnSpPr/>
          <p:nvPr/>
        </p:nvCxnSpPr>
        <p:spPr>
          <a:xfrm>
            <a:off x="5068747" y="1901951"/>
            <a:ext cx="915"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32" name="gt-grid"/>
          <p:cNvCxnSpPr/>
          <p:nvPr/>
        </p:nvCxnSpPr>
        <p:spPr>
          <a:xfrm>
            <a:off x="5068747"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794427" y="1901951"/>
            <a:ext cx="548640" cy="237744"/>
          </a:xfrm>
          <a:prstGeom prst="rect">
            <a:avLst/>
          </a:prstGeom>
          <a:noFill/>
        </p:spPr>
        <p:txBody>
          <a:bodyPr wrap="none" lIns="0" tIns="0" rIns="0" bIns="0" anchor="ctr">
            <a:spAutoFit/>
          </a:bodyPr>
          <a:lstStyle/>
          <a:p>
            <a:pPr algn="ctr">
              <a:lnSpc>
                <a:spcPct val="120000"/>
              </a:lnSpc>
            </a:pPr>
            <a:r>
              <a:rPr sz="850" b="0">
                <a:solidFill>
                  <a:srgbClr val="6B7280"/>
                </a:solidFill>
                <a:latin typeface="BIZ UDPゴシック"/>
                <a:ea typeface="BIZ UDPゴシック"/>
              </a:rPr>
              <a:t>7</a:t>
            </a:r>
          </a:p>
        </p:txBody>
      </p:sp>
      <p:cxnSp>
        <p:nvCxnSpPr>
          <p:cNvPr id="34" name="gt-grid"/>
          <p:cNvCxnSpPr/>
          <p:nvPr/>
        </p:nvCxnSpPr>
        <p:spPr>
          <a:xfrm>
            <a:off x="5820472" y="1901951"/>
            <a:ext cx="914"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35" name="gt-grid"/>
          <p:cNvCxnSpPr/>
          <p:nvPr/>
        </p:nvCxnSpPr>
        <p:spPr>
          <a:xfrm>
            <a:off x="5820472"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546152" y="1901951"/>
            <a:ext cx="548640" cy="237744"/>
          </a:xfrm>
          <a:prstGeom prst="rect">
            <a:avLst/>
          </a:prstGeom>
          <a:noFill/>
        </p:spPr>
        <p:txBody>
          <a:bodyPr wrap="none" lIns="0" tIns="0" rIns="0" bIns="0" anchor="ctr">
            <a:spAutoFit/>
          </a:bodyPr>
          <a:lstStyle/>
          <a:p>
            <a:pPr algn="ctr">
              <a:lnSpc>
                <a:spcPct val="120000"/>
              </a:lnSpc>
            </a:pPr>
            <a:r>
              <a:rPr sz="850" b="0">
                <a:solidFill>
                  <a:srgbClr val="6B7280"/>
                </a:solidFill>
                <a:latin typeface="BIZ UDPゴシック"/>
                <a:ea typeface="BIZ UDPゴシック"/>
              </a:rPr>
              <a:t>8</a:t>
            </a:r>
          </a:p>
        </p:txBody>
      </p:sp>
      <p:cxnSp>
        <p:nvCxnSpPr>
          <p:cNvPr id="37" name="gt-grid"/>
          <p:cNvCxnSpPr/>
          <p:nvPr/>
        </p:nvCxnSpPr>
        <p:spPr>
          <a:xfrm>
            <a:off x="6572197" y="1901951"/>
            <a:ext cx="914"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38" name="gt-grid"/>
          <p:cNvCxnSpPr/>
          <p:nvPr/>
        </p:nvCxnSpPr>
        <p:spPr>
          <a:xfrm>
            <a:off x="6572197"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297877" y="1901951"/>
            <a:ext cx="548640" cy="237744"/>
          </a:xfrm>
          <a:prstGeom prst="rect">
            <a:avLst/>
          </a:prstGeom>
          <a:noFill/>
        </p:spPr>
        <p:txBody>
          <a:bodyPr wrap="none" lIns="0" tIns="0" rIns="0" bIns="0" anchor="ctr">
            <a:spAutoFit/>
          </a:bodyPr>
          <a:lstStyle/>
          <a:p>
            <a:pPr algn="ctr">
              <a:lnSpc>
                <a:spcPct val="120000"/>
              </a:lnSpc>
            </a:pPr>
            <a:r>
              <a:rPr sz="850" b="0">
                <a:solidFill>
                  <a:srgbClr val="6B7280"/>
                </a:solidFill>
                <a:latin typeface="BIZ UDPゴシック"/>
                <a:ea typeface="BIZ UDPゴシック"/>
              </a:rPr>
              <a:t>9</a:t>
            </a:r>
          </a:p>
        </p:txBody>
      </p:sp>
      <p:cxnSp>
        <p:nvCxnSpPr>
          <p:cNvPr id="40" name="gt-grid"/>
          <p:cNvCxnSpPr/>
          <p:nvPr/>
        </p:nvCxnSpPr>
        <p:spPr>
          <a:xfrm>
            <a:off x="7299672" y="1901951"/>
            <a:ext cx="915"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41" name="gt-grid"/>
          <p:cNvCxnSpPr/>
          <p:nvPr/>
        </p:nvCxnSpPr>
        <p:spPr>
          <a:xfrm>
            <a:off x="7299672"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025352" y="1901951"/>
            <a:ext cx="548640" cy="237744"/>
          </a:xfrm>
          <a:prstGeom prst="rect">
            <a:avLst/>
          </a:prstGeom>
          <a:noFill/>
        </p:spPr>
        <p:txBody>
          <a:bodyPr wrap="none" lIns="0" tIns="0" rIns="0" bIns="0" anchor="ctr">
            <a:spAutoFit/>
          </a:bodyPr>
          <a:lstStyle/>
          <a:p>
            <a:pPr algn="ctr">
              <a:lnSpc>
                <a:spcPct val="120000"/>
              </a:lnSpc>
            </a:pPr>
            <a:r>
              <a:rPr sz="850" b="0">
                <a:solidFill>
                  <a:srgbClr val="6B7280"/>
                </a:solidFill>
                <a:latin typeface="BIZ UDPゴシック"/>
                <a:ea typeface="BIZ UDPゴシック"/>
              </a:rPr>
              <a:t>10</a:t>
            </a:r>
          </a:p>
        </p:txBody>
      </p:sp>
      <p:cxnSp>
        <p:nvCxnSpPr>
          <p:cNvPr id="43" name="gt-grid"/>
          <p:cNvCxnSpPr/>
          <p:nvPr/>
        </p:nvCxnSpPr>
        <p:spPr>
          <a:xfrm>
            <a:off x="8051397" y="1901951"/>
            <a:ext cx="914"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44" name="gt-grid"/>
          <p:cNvCxnSpPr/>
          <p:nvPr/>
        </p:nvCxnSpPr>
        <p:spPr>
          <a:xfrm>
            <a:off x="8051397"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7777077" y="1901951"/>
            <a:ext cx="548640" cy="237744"/>
          </a:xfrm>
          <a:prstGeom prst="rect">
            <a:avLst/>
          </a:prstGeom>
          <a:noFill/>
        </p:spPr>
        <p:txBody>
          <a:bodyPr wrap="none" lIns="0" tIns="0" rIns="0" bIns="0" anchor="ctr">
            <a:spAutoFit/>
          </a:bodyPr>
          <a:lstStyle/>
          <a:p>
            <a:pPr algn="ctr">
              <a:lnSpc>
                <a:spcPct val="120000"/>
              </a:lnSpc>
            </a:pPr>
            <a:r>
              <a:rPr sz="850" b="0">
                <a:solidFill>
                  <a:srgbClr val="6B7280"/>
                </a:solidFill>
                <a:latin typeface="BIZ UDPゴシック"/>
                <a:ea typeface="BIZ UDPゴシック"/>
              </a:rPr>
              <a:t>11</a:t>
            </a:r>
          </a:p>
        </p:txBody>
      </p:sp>
      <p:cxnSp>
        <p:nvCxnSpPr>
          <p:cNvPr id="46" name="gt-grid"/>
          <p:cNvCxnSpPr/>
          <p:nvPr/>
        </p:nvCxnSpPr>
        <p:spPr>
          <a:xfrm>
            <a:off x="8778873" y="1901951"/>
            <a:ext cx="914"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47" name="gt-grid"/>
          <p:cNvCxnSpPr/>
          <p:nvPr/>
        </p:nvCxnSpPr>
        <p:spPr>
          <a:xfrm>
            <a:off x="8778873"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8504553" y="1901951"/>
            <a:ext cx="548640" cy="237744"/>
          </a:xfrm>
          <a:prstGeom prst="rect">
            <a:avLst/>
          </a:prstGeom>
          <a:noFill/>
        </p:spPr>
        <p:txBody>
          <a:bodyPr wrap="none" lIns="0" tIns="0" rIns="0" bIns="0" anchor="ctr">
            <a:spAutoFit/>
          </a:bodyPr>
          <a:lstStyle/>
          <a:p>
            <a:pPr algn="ctr">
              <a:lnSpc>
                <a:spcPct val="120000"/>
              </a:lnSpc>
            </a:pPr>
            <a:r>
              <a:rPr sz="850" b="0">
                <a:solidFill>
                  <a:srgbClr val="6B7280"/>
                </a:solidFill>
                <a:latin typeface="BIZ UDPゴシック"/>
                <a:ea typeface="BIZ UDPゴシック"/>
              </a:rPr>
              <a:t>12</a:t>
            </a:r>
          </a:p>
        </p:txBody>
      </p:sp>
      <p:cxnSp>
        <p:nvCxnSpPr>
          <p:cNvPr id="49" name="gt-grid"/>
          <p:cNvCxnSpPr/>
          <p:nvPr/>
        </p:nvCxnSpPr>
        <p:spPr>
          <a:xfrm>
            <a:off x="9530597" y="1901951"/>
            <a:ext cx="915"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50" name="gt-grid"/>
          <p:cNvCxnSpPr/>
          <p:nvPr/>
        </p:nvCxnSpPr>
        <p:spPr>
          <a:xfrm>
            <a:off x="9530597"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9256277" y="1901951"/>
            <a:ext cx="548640" cy="237744"/>
          </a:xfrm>
          <a:prstGeom prst="rect">
            <a:avLst/>
          </a:prstGeom>
          <a:noFill/>
        </p:spPr>
        <p:txBody>
          <a:bodyPr wrap="none" lIns="0" tIns="0" rIns="0" bIns="0" anchor="ctr">
            <a:spAutoFit/>
          </a:bodyPr>
          <a:lstStyle/>
          <a:p>
            <a:pPr algn="ctr">
              <a:lnSpc>
                <a:spcPct val="120000"/>
              </a:lnSpc>
            </a:pPr>
            <a:r>
              <a:rPr sz="850" b="0">
                <a:solidFill>
                  <a:srgbClr val="6B7280"/>
                </a:solidFill>
                <a:latin typeface="BIZ UDPゴシック"/>
                <a:ea typeface="BIZ UDPゴシック"/>
              </a:rPr>
              <a:t>2027/1</a:t>
            </a:r>
          </a:p>
        </p:txBody>
      </p:sp>
      <p:cxnSp>
        <p:nvCxnSpPr>
          <p:cNvPr id="52" name="gt-grid"/>
          <p:cNvCxnSpPr/>
          <p:nvPr/>
        </p:nvCxnSpPr>
        <p:spPr>
          <a:xfrm>
            <a:off x="10282322" y="1901951"/>
            <a:ext cx="914"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53" name="gt-grid"/>
          <p:cNvCxnSpPr/>
          <p:nvPr/>
        </p:nvCxnSpPr>
        <p:spPr>
          <a:xfrm>
            <a:off x="10282322"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0008002" y="1901951"/>
            <a:ext cx="548640" cy="237744"/>
          </a:xfrm>
          <a:prstGeom prst="rect">
            <a:avLst/>
          </a:prstGeom>
          <a:noFill/>
        </p:spPr>
        <p:txBody>
          <a:bodyPr wrap="none" lIns="0" tIns="0" rIns="0" bIns="0" anchor="ctr">
            <a:spAutoFit/>
          </a:bodyPr>
          <a:lstStyle/>
          <a:p>
            <a:pPr algn="ctr">
              <a:lnSpc>
                <a:spcPct val="120000"/>
              </a:lnSpc>
            </a:pPr>
            <a:r>
              <a:rPr sz="850" b="0">
                <a:solidFill>
                  <a:srgbClr val="6B7280"/>
                </a:solidFill>
                <a:latin typeface="BIZ UDPゴシック"/>
                <a:ea typeface="BIZ UDPゴシック"/>
              </a:rPr>
              <a:t>2</a:t>
            </a:r>
          </a:p>
        </p:txBody>
      </p:sp>
      <p:cxnSp>
        <p:nvCxnSpPr>
          <p:cNvPr id="55" name="gt-grid"/>
          <p:cNvCxnSpPr/>
          <p:nvPr/>
        </p:nvCxnSpPr>
        <p:spPr>
          <a:xfrm>
            <a:off x="10961299" y="1901951"/>
            <a:ext cx="915"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56" name="gt-grid"/>
          <p:cNvCxnSpPr/>
          <p:nvPr/>
        </p:nvCxnSpPr>
        <p:spPr>
          <a:xfrm>
            <a:off x="10961299"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0686979" y="1901951"/>
            <a:ext cx="548640" cy="237744"/>
          </a:xfrm>
          <a:prstGeom prst="rect">
            <a:avLst/>
          </a:prstGeom>
          <a:noFill/>
        </p:spPr>
        <p:txBody>
          <a:bodyPr wrap="none" lIns="0" tIns="0" rIns="0" bIns="0" anchor="ctr">
            <a:spAutoFit/>
          </a:bodyPr>
          <a:lstStyle/>
          <a:p>
            <a:pPr algn="ctr">
              <a:lnSpc>
                <a:spcPct val="120000"/>
              </a:lnSpc>
            </a:pPr>
            <a:r>
              <a:rPr sz="850" b="0">
                <a:solidFill>
                  <a:srgbClr val="6B7280"/>
                </a:solidFill>
                <a:latin typeface="BIZ UDPゴシック"/>
                <a:ea typeface="BIZ UDPゴシック"/>
              </a:rPr>
              <a:t>3</a:t>
            </a:r>
          </a:p>
        </p:txBody>
      </p:sp>
      <p:cxnSp>
        <p:nvCxnSpPr>
          <p:cNvPr id="58" name="gt-hdrline"/>
          <p:cNvCxnSpPr/>
          <p:nvPr/>
        </p:nvCxnSpPr>
        <p:spPr>
          <a:xfrm>
            <a:off x="2862072" y="2139696"/>
            <a:ext cx="8826703"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59" name="gt-ms"/>
          <p:cNvSpPr/>
          <p:nvPr/>
        </p:nvSpPr>
        <p:spPr>
          <a:xfrm rot="10800000">
            <a:off x="2798064" y="1645919"/>
            <a:ext cx="128016" cy="128016"/>
          </a:xfrm>
          <a:prstGeom prst="triangle">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gt-ms-lab"/>
          <p:cNvSpPr txBox="1"/>
          <p:nvPr/>
        </p:nvSpPr>
        <p:spPr>
          <a:xfrm>
            <a:off x="2176272" y="1764791"/>
            <a:ext cx="1371600" cy="146304"/>
          </a:xfrm>
          <a:prstGeom prst="rect">
            <a:avLst/>
          </a:prstGeom>
          <a:noFill/>
        </p:spPr>
        <p:txBody>
          <a:bodyPr wrap="none" lIns="0" tIns="0" rIns="0" bIns="0" anchor="t">
            <a:spAutoFit/>
          </a:bodyPr>
          <a:lstStyle/>
          <a:p>
            <a:pPr algn="ctr">
              <a:lnSpc>
                <a:spcPct val="120000"/>
              </a:lnSpc>
            </a:pPr>
            <a:r>
              <a:rPr sz="800" b="1">
                <a:solidFill>
                  <a:srgbClr val="B4235A"/>
                </a:solidFill>
                <a:latin typeface="BIZ UDPゴシック"/>
                <a:ea typeface="BIZ UDPゴシック"/>
              </a:rPr>
              <a:t>キックオフ</a:t>
            </a:r>
          </a:p>
        </p:txBody>
      </p:sp>
      <p:sp>
        <p:nvSpPr>
          <p:cNvPr id="61" name="gt-ms"/>
          <p:cNvSpPr/>
          <p:nvPr/>
        </p:nvSpPr>
        <p:spPr>
          <a:xfrm rot="10800000">
            <a:off x="4253015" y="1645919"/>
            <a:ext cx="128016" cy="128016"/>
          </a:xfrm>
          <a:prstGeom prst="triangle">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gt-ms-lab"/>
          <p:cNvSpPr txBox="1"/>
          <p:nvPr/>
        </p:nvSpPr>
        <p:spPr>
          <a:xfrm>
            <a:off x="3631223" y="1764791"/>
            <a:ext cx="1371600" cy="146304"/>
          </a:xfrm>
          <a:prstGeom prst="rect">
            <a:avLst/>
          </a:prstGeom>
          <a:noFill/>
        </p:spPr>
        <p:txBody>
          <a:bodyPr wrap="none" lIns="0" tIns="0" rIns="0" bIns="0" anchor="t">
            <a:spAutoFit/>
          </a:bodyPr>
          <a:lstStyle/>
          <a:p>
            <a:pPr algn="ctr">
              <a:lnSpc>
                <a:spcPct val="120000"/>
              </a:lnSpc>
            </a:pPr>
            <a:r>
              <a:rPr sz="800" b="1">
                <a:solidFill>
                  <a:srgbClr val="B4235A"/>
                </a:solidFill>
                <a:latin typeface="BIZ UDPゴシック"/>
                <a:ea typeface="BIZ UDPゴシック"/>
              </a:rPr>
              <a:t>現状分析完了</a:t>
            </a:r>
          </a:p>
        </p:txBody>
      </p:sp>
      <p:sp>
        <p:nvSpPr>
          <p:cNvPr id="63" name="gt-ms"/>
          <p:cNvSpPr/>
          <p:nvPr/>
        </p:nvSpPr>
        <p:spPr>
          <a:xfrm rot="10800000">
            <a:off x="6483940" y="1645919"/>
            <a:ext cx="128016" cy="128016"/>
          </a:xfrm>
          <a:prstGeom prst="triangle">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gt-ms-lab"/>
          <p:cNvSpPr txBox="1"/>
          <p:nvPr/>
        </p:nvSpPr>
        <p:spPr>
          <a:xfrm>
            <a:off x="5862148" y="1764791"/>
            <a:ext cx="1371600" cy="146304"/>
          </a:xfrm>
          <a:prstGeom prst="rect">
            <a:avLst/>
          </a:prstGeom>
          <a:noFill/>
        </p:spPr>
        <p:txBody>
          <a:bodyPr wrap="none" lIns="0" tIns="0" rIns="0" bIns="0" anchor="t">
            <a:spAutoFit/>
          </a:bodyPr>
          <a:lstStyle/>
          <a:p>
            <a:pPr algn="ctr">
              <a:lnSpc>
                <a:spcPct val="120000"/>
              </a:lnSpc>
            </a:pPr>
            <a:r>
              <a:rPr sz="800" b="1">
                <a:solidFill>
                  <a:srgbClr val="B4235A"/>
                </a:solidFill>
                <a:latin typeface="BIZ UDPゴシック"/>
                <a:ea typeface="BIZ UDPゴシック"/>
              </a:rPr>
              <a:t>To-Be設計完了</a:t>
            </a:r>
          </a:p>
        </p:txBody>
      </p:sp>
      <p:sp>
        <p:nvSpPr>
          <p:cNvPr id="65" name="gt-ms"/>
          <p:cNvSpPr/>
          <p:nvPr/>
        </p:nvSpPr>
        <p:spPr>
          <a:xfrm rot="10800000">
            <a:off x="8690615" y="1645919"/>
            <a:ext cx="128016" cy="128016"/>
          </a:xfrm>
          <a:prstGeom prst="triangle">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gt-ms-lab"/>
          <p:cNvSpPr txBox="1"/>
          <p:nvPr/>
        </p:nvSpPr>
        <p:spPr>
          <a:xfrm>
            <a:off x="8068823" y="1764791"/>
            <a:ext cx="1371600" cy="146304"/>
          </a:xfrm>
          <a:prstGeom prst="rect">
            <a:avLst/>
          </a:prstGeom>
          <a:noFill/>
        </p:spPr>
        <p:txBody>
          <a:bodyPr wrap="none" lIns="0" tIns="0" rIns="0" bIns="0" anchor="t">
            <a:spAutoFit/>
          </a:bodyPr>
          <a:lstStyle/>
          <a:p>
            <a:pPr algn="ctr">
              <a:lnSpc>
                <a:spcPct val="120000"/>
              </a:lnSpc>
            </a:pPr>
            <a:r>
              <a:rPr sz="800" b="1">
                <a:solidFill>
                  <a:srgbClr val="B4235A"/>
                </a:solidFill>
                <a:latin typeface="BIZ UDPゴシック"/>
                <a:ea typeface="BIZ UDPゴシック"/>
              </a:rPr>
              <a:t>導入・設定完了</a:t>
            </a:r>
          </a:p>
        </p:txBody>
      </p:sp>
      <p:sp>
        <p:nvSpPr>
          <p:cNvPr id="67" name="gt-ms"/>
          <p:cNvSpPr/>
          <p:nvPr/>
        </p:nvSpPr>
        <p:spPr>
          <a:xfrm rot="10800000">
            <a:off x="10194065" y="1645919"/>
            <a:ext cx="128016" cy="128016"/>
          </a:xfrm>
          <a:prstGeom prst="triangle">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gt-ms-lab"/>
          <p:cNvSpPr txBox="1"/>
          <p:nvPr/>
        </p:nvSpPr>
        <p:spPr>
          <a:xfrm>
            <a:off x="9572273" y="1764791"/>
            <a:ext cx="1371600" cy="146304"/>
          </a:xfrm>
          <a:prstGeom prst="rect">
            <a:avLst/>
          </a:prstGeom>
          <a:noFill/>
        </p:spPr>
        <p:txBody>
          <a:bodyPr wrap="none" lIns="0" tIns="0" rIns="0" bIns="0" anchor="t">
            <a:spAutoFit/>
          </a:bodyPr>
          <a:lstStyle/>
          <a:p>
            <a:pPr algn="ctr">
              <a:lnSpc>
                <a:spcPct val="120000"/>
              </a:lnSpc>
            </a:pPr>
            <a:r>
              <a:rPr sz="800" b="1">
                <a:solidFill>
                  <a:srgbClr val="B4235A"/>
                </a:solidFill>
                <a:latin typeface="BIZ UDPゴシック"/>
                <a:ea typeface="BIZ UDPゴシック"/>
              </a:rPr>
              <a:t>受入・研修完了</a:t>
            </a:r>
          </a:p>
        </p:txBody>
      </p:sp>
      <p:sp>
        <p:nvSpPr>
          <p:cNvPr id="69" name="gt-ms"/>
          <p:cNvSpPr/>
          <p:nvPr/>
        </p:nvSpPr>
        <p:spPr>
          <a:xfrm rot="10800000">
            <a:off x="11624767" y="1645919"/>
            <a:ext cx="128016" cy="128016"/>
          </a:xfrm>
          <a:prstGeom prst="triangle">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gt-ms-lab"/>
          <p:cNvSpPr txBox="1"/>
          <p:nvPr/>
        </p:nvSpPr>
        <p:spPr>
          <a:xfrm>
            <a:off x="11002975" y="1764791"/>
            <a:ext cx="1371600" cy="146304"/>
          </a:xfrm>
          <a:prstGeom prst="rect">
            <a:avLst/>
          </a:prstGeom>
          <a:noFill/>
        </p:spPr>
        <p:txBody>
          <a:bodyPr wrap="none" lIns="0" tIns="0" rIns="0" bIns="0" anchor="t">
            <a:spAutoFit/>
          </a:bodyPr>
          <a:lstStyle/>
          <a:p>
            <a:pPr algn="ctr">
              <a:lnSpc>
                <a:spcPct val="120000"/>
              </a:lnSpc>
            </a:pPr>
            <a:r>
              <a:rPr sz="800" b="1">
                <a:solidFill>
                  <a:srgbClr val="B4235A"/>
                </a:solidFill>
                <a:latin typeface="BIZ UDPゴシック"/>
                <a:ea typeface="BIZ UDPゴシック"/>
              </a:rPr>
              <a:t>移行・定着化完了</a:t>
            </a:r>
          </a:p>
        </p:txBody>
      </p:sp>
      <p:sp>
        <p:nvSpPr>
          <p:cNvPr id="71" name="gt-bar"/>
          <p:cNvSpPr/>
          <p:nvPr/>
        </p:nvSpPr>
        <p:spPr>
          <a:xfrm>
            <a:off x="2862072" y="2231136"/>
            <a:ext cx="1454951" cy="137160"/>
          </a:xfrm>
          <a:prstGeom prst="roundRect">
            <a:avLst>
              <a:gd name="adj" fmla="val 30000"/>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t-name"/>
          <p:cNvSpPr txBox="1"/>
          <p:nvPr/>
        </p:nvSpPr>
        <p:spPr>
          <a:xfrm>
            <a:off x="502920" y="2176272"/>
            <a:ext cx="2194560" cy="246888"/>
          </a:xfrm>
          <a:prstGeom prst="rect">
            <a:avLst/>
          </a:prstGeom>
          <a:noFill/>
        </p:spPr>
        <p:txBody>
          <a:bodyPr wrap="none" lIns="0" tIns="0" rIns="0" bIns="0" anchor="ctr">
            <a:spAutoFit/>
          </a:bodyPr>
          <a:lstStyle/>
          <a:p>
            <a:pPr algn="l">
              <a:lnSpc>
                <a:spcPct val="120000"/>
              </a:lnSpc>
            </a:pPr>
            <a:r>
              <a:rPr sz="1050" b="1">
                <a:solidFill>
                  <a:srgbClr val="1F2937"/>
                </a:solidFill>
                <a:latin typeface="BIZ UDPゴシック"/>
                <a:ea typeface="BIZ UDPゴシック"/>
              </a:rPr>
              <a:t>現状分析</a:t>
            </a:r>
          </a:p>
        </p:txBody>
      </p:sp>
      <p:cxnSp>
        <p:nvCxnSpPr>
          <p:cNvPr id="73" name="gt-rowline"/>
          <p:cNvCxnSpPr/>
          <p:nvPr/>
        </p:nvCxnSpPr>
        <p:spPr>
          <a:xfrm>
            <a:off x="502920" y="2176272"/>
            <a:ext cx="11185855" cy="0"/>
          </a:xfrm>
          <a:prstGeom prst="line">
            <a:avLst/>
          </a:prstGeom>
          <a:ln w="6350">
            <a:solidFill>
              <a:srgbClr val="E6E9EF"/>
            </a:solidFill>
          </a:ln>
        </p:spPr>
        <p:style>
          <a:lnRef idx="2">
            <a:schemeClr val="accent1"/>
          </a:lnRef>
          <a:fillRef idx="0">
            <a:schemeClr val="accent1"/>
          </a:fillRef>
          <a:effectRef idx="1">
            <a:schemeClr val="accent1"/>
          </a:effectRef>
          <a:fontRef idx="minor">
            <a:schemeClr val="tx1"/>
          </a:fontRef>
        </p:style>
      </p:cxnSp>
      <p:sp>
        <p:nvSpPr>
          <p:cNvPr id="74" name="gt-bar"/>
          <p:cNvSpPr/>
          <p:nvPr/>
        </p:nvSpPr>
        <p:spPr>
          <a:xfrm>
            <a:off x="2862072" y="2482596"/>
            <a:ext cx="1066964" cy="91440"/>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t-name"/>
          <p:cNvSpPr txBox="1"/>
          <p:nvPr/>
        </p:nvSpPr>
        <p:spPr>
          <a:xfrm>
            <a:off x="667512" y="2423160"/>
            <a:ext cx="2029967" cy="210312"/>
          </a:xfrm>
          <a:prstGeom prst="rect">
            <a:avLst/>
          </a:prstGeom>
          <a:noFill/>
        </p:spPr>
        <p:txBody>
          <a:bodyPr wrap="none" lIns="0" tIns="0" rIns="0" bIns="0" anchor="ctr">
            <a:spAutoFit/>
          </a:bodyPr>
          <a:lstStyle/>
          <a:p>
            <a:pPr algn="l">
              <a:lnSpc>
                <a:spcPct val="120000"/>
              </a:lnSpc>
            </a:pPr>
            <a:r>
              <a:rPr sz="950" b="0">
                <a:solidFill>
                  <a:srgbClr val="1F2937"/>
                </a:solidFill>
                <a:latin typeface="BIZ UDPゴシック"/>
                <a:ea typeface="BIZ UDPゴシック"/>
              </a:rPr>
              <a:t>現状業務分析</a:t>
            </a:r>
          </a:p>
        </p:txBody>
      </p:sp>
      <p:sp>
        <p:nvSpPr>
          <p:cNvPr id="76" name="gt-deliv"/>
          <p:cNvSpPr txBox="1"/>
          <p:nvPr/>
        </p:nvSpPr>
        <p:spPr>
          <a:xfrm>
            <a:off x="3983900" y="2423160"/>
            <a:ext cx="868680" cy="210312"/>
          </a:xfrm>
          <a:prstGeom prst="rect">
            <a:avLst/>
          </a:prstGeom>
          <a:noFill/>
        </p:spPr>
        <p:txBody>
          <a:bodyPr wrap="none" lIns="0" tIns="0" rIns="0" bIns="0" anchor="ctr">
            <a:spAutoFit/>
          </a:bodyPr>
          <a:lstStyle/>
          <a:p>
            <a:pPr algn="l">
              <a:lnSpc>
                <a:spcPct val="120000"/>
              </a:lnSpc>
            </a:pPr>
            <a:r>
              <a:rPr sz="800" b="0">
                <a:solidFill>
                  <a:srgbClr val="6B7280"/>
                </a:solidFill>
                <a:latin typeface="BIZ UDPゴシック"/>
                <a:ea typeface="BIZ UDPゴシック"/>
              </a:rPr>
              <a:t>[現状業務分析書]</a:t>
            </a:r>
          </a:p>
        </p:txBody>
      </p:sp>
      <p:sp>
        <p:nvSpPr>
          <p:cNvPr id="77" name="gt-bar"/>
          <p:cNvSpPr/>
          <p:nvPr/>
        </p:nvSpPr>
        <p:spPr>
          <a:xfrm>
            <a:off x="3953285" y="2692908"/>
            <a:ext cx="363737" cy="91440"/>
          </a:xfrm>
          <a:prstGeom prst="roundRect">
            <a:avLst>
              <a:gd name="adj" fmla="val 50000"/>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gt-name"/>
          <p:cNvSpPr txBox="1"/>
          <p:nvPr/>
        </p:nvSpPr>
        <p:spPr>
          <a:xfrm>
            <a:off x="667512" y="2633472"/>
            <a:ext cx="2029967" cy="210312"/>
          </a:xfrm>
          <a:prstGeom prst="rect">
            <a:avLst/>
          </a:prstGeom>
          <a:noFill/>
        </p:spPr>
        <p:txBody>
          <a:bodyPr wrap="none" lIns="0" tIns="0" rIns="0" bIns="0" anchor="ctr">
            <a:spAutoFit/>
          </a:bodyPr>
          <a:lstStyle/>
          <a:p>
            <a:pPr algn="l">
              <a:lnSpc>
                <a:spcPct val="120000"/>
              </a:lnSpc>
            </a:pPr>
            <a:r>
              <a:rPr sz="950" b="0">
                <a:solidFill>
                  <a:srgbClr val="1F2937"/>
                </a:solidFill>
                <a:latin typeface="BIZ UDPゴシック"/>
                <a:ea typeface="BIZ UDPゴシック"/>
              </a:rPr>
              <a:t>課題整理</a:t>
            </a:r>
          </a:p>
        </p:txBody>
      </p:sp>
      <p:sp>
        <p:nvSpPr>
          <p:cNvPr id="79" name="gt-deliv"/>
          <p:cNvSpPr txBox="1"/>
          <p:nvPr/>
        </p:nvSpPr>
        <p:spPr>
          <a:xfrm>
            <a:off x="4371887" y="2633472"/>
            <a:ext cx="563880" cy="210312"/>
          </a:xfrm>
          <a:prstGeom prst="rect">
            <a:avLst/>
          </a:prstGeom>
          <a:noFill/>
        </p:spPr>
        <p:txBody>
          <a:bodyPr wrap="none" lIns="0" tIns="0" rIns="0" bIns="0" anchor="ctr">
            <a:spAutoFit/>
          </a:bodyPr>
          <a:lstStyle/>
          <a:p>
            <a:pPr algn="l">
              <a:lnSpc>
                <a:spcPct val="120000"/>
              </a:lnSpc>
            </a:pPr>
            <a:r>
              <a:rPr sz="800" b="0">
                <a:solidFill>
                  <a:srgbClr val="6B7280"/>
                </a:solidFill>
                <a:latin typeface="BIZ UDPゴシック"/>
                <a:ea typeface="BIZ UDPゴシック"/>
              </a:rPr>
              <a:t>[課題一覧]</a:t>
            </a:r>
          </a:p>
        </p:txBody>
      </p:sp>
      <p:sp>
        <p:nvSpPr>
          <p:cNvPr id="80" name="gt-bar"/>
          <p:cNvSpPr/>
          <p:nvPr/>
        </p:nvSpPr>
        <p:spPr>
          <a:xfrm>
            <a:off x="4341272" y="2898648"/>
            <a:ext cx="2206675" cy="137160"/>
          </a:xfrm>
          <a:prstGeom prst="roundRect">
            <a:avLst>
              <a:gd name="adj" fmla="val 30000"/>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gt-name"/>
          <p:cNvSpPr txBox="1"/>
          <p:nvPr/>
        </p:nvSpPr>
        <p:spPr>
          <a:xfrm>
            <a:off x="502920" y="2843784"/>
            <a:ext cx="2194560" cy="246888"/>
          </a:xfrm>
          <a:prstGeom prst="rect">
            <a:avLst/>
          </a:prstGeom>
          <a:noFill/>
        </p:spPr>
        <p:txBody>
          <a:bodyPr wrap="none" lIns="0" tIns="0" rIns="0" bIns="0" anchor="ctr">
            <a:spAutoFit/>
          </a:bodyPr>
          <a:lstStyle/>
          <a:p>
            <a:pPr algn="l">
              <a:lnSpc>
                <a:spcPct val="120000"/>
              </a:lnSpc>
            </a:pPr>
            <a:r>
              <a:rPr sz="1050" b="1">
                <a:solidFill>
                  <a:srgbClr val="1F2937"/>
                </a:solidFill>
                <a:latin typeface="BIZ UDPゴシック"/>
                <a:ea typeface="BIZ UDPゴシック"/>
              </a:rPr>
              <a:t>To-Be設計</a:t>
            </a:r>
          </a:p>
        </p:txBody>
      </p:sp>
      <p:cxnSp>
        <p:nvCxnSpPr>
          <p:cNvPr id="82" name="gt-rowline"/>
          <p:cNvCxnSpPr/>
          <p:nvPr/>
        </p:nvCxnSpPr>
        <p:spPr>
          <a:xfrm>
            <a:off x="502920" y="2843784"/>
            <a:ext cx="11185855" cy="0"/>
          </a:xfrm>
          <a:prstGeom prst="line">
            <a:avLst/>
          </a:prstGeom>
          <a:ln w="6350">
            <a:solidFill>
              <a:srgbClr val="E6E9EF"/>
            </a:solidFill>
          </a:ln>
        </p:spPr>
        <p:style>
          <a:lnRef idx="2">
            <a:schemeClr val="accent1"/>
          </a:lnRef>
          <a:fillRef idx="0">
            <a:schemeClr val="accent1"/>
          </a:fillRef>
          <a:effectRef idx="1">
            <a:schemeClr val="accent1"/>
          </a:effectRef>
          <a:fontRef idx="minor">
            <a:schemeClr val="tx1"/>
          </a:fontRef>
        </p:style>
      </p:cxnSp>
      <p:sp>
        <p:nvSpPr>
          <p:cNvPr id="83" name="gt-bar"/>
          <p:cNvSpPr/>
          <p:nvPr/>
        </p:nvSpPr>
        <p:spPr>
          <a:xfrm>
            <a:off x="4341272" y="3150108"/>
            <a:ext cx="1066964" cy="91440"/>
          </a:xfrm>
          <a:prstGeom prst="roundRect">
            <a:avLst>
              <a:gd name="adj" fmla="val 50000"/>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gt-name"/>
          <p:cNvSpPr txBox="1"/>
          <p:nvPr/>
        </p:nvSpPr>
        <p:spPr>
          <a:xfrm>
            <a:off x="667512" y="3090672"/>
            <a:ext cx="2029967" cy="210312"/>
          </a:xfrm>
          <a:prstGeom prst="rect">
            <a:avLst/>
          </a:prstGeom>
          <a:noFill/>
        </p:spPr>
        <p:txBody>
          <a:bodyPr wrap="none" lIns="0" tIns="0" rIns="0" bIns="0" anchor="ctr">
            <a:spAutoFit/>
          </a:bodyPr>
          <a:lstStyle/>
          <a:p>
            <a:pPr algn="l">
              <a:lnSpc>
                <a:spcPct val="120000"/>
              </a:lnSpc>
            </a:pPr>
            <a:r>
              <a:rPr sz="950" b="0">
                <a:solidFill>
                  <a:srgbClr val="1F2937"/>
                </a:solidFill>
                <a:latin typeface="BIZ UDPゴシック"/>
                <a:ea typeface="BIZ UDPゴシック"/>
              </a:rPr>
              <a:t>To-Be業務設計</a:t>
            </a:r>
          </a:p>
        </p:txBody>
      </p:sp>
      <p:sp>
        <p:nvSpPr>
          <p:cNvPr id="85" name="gt-deliv"/>
          <p:cNvSpPr txBox="1"/>
          <p:nvPr/>
        </p:nvSpPr>
        <p:spPr>
          <a:xfrm>
            <a:off x="5463100" y="3090672"/>
            <a:ext cx="944879" cy="210312"/>
          </a:xfrm>
          <a:prstGeom prst="rect">
            <a:avLst/>
          </a:prstGeom>
          <a:noFill/>
        </p:spPr>
        <p:txBody>
          <a:bodyPr wrap="none" lIns="0" tIns="0" rIns="0" bIns="0" anchor="ctr">
            <a:spAutoFit/>
          </a:bodyPr>
          <a:lstStyle/>
          <a:p>
            <a:pPr algn="l">
              <a:lnSpc>
                <a:spcPct val="120000"/>
              </a:lnSpc>
            </a:pPr>
            <a:r>
              <a:rPr sz="800" b="0">
                <a:solidFill>
                  <a:srgbClr val="6B7280"/>
                </a:solidFill>
                <a:latin typeface="BIZ UDPゴシック"/>
                <a:ea typeface="BIZ UDPゴシック"/>
              </a:rPr>
              <a:t>[To-Be業務フロー]</a:t>
            </a:r>
          </a:p>
        </p:txBody>
      </p:sp>
      <p:sp>
        <p:nvSpPr>
          <p:cNvPr id="86" name="gt-bar"/>
          <p:cNvSpPr/>
          <p:nvPr/>
        </p:nvSpPr>
        <p:spPr>
          <a:xfrm>
            <a:off x="5432485" y="3360420"/>
            <a:ext cx="1115462" cy="91440"/>
          </a:xfrm>
          <a:prstGeom prst="roundRect">
            <a:avLst>
              <a:gd name="adj" fmla="val 50000"/>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gt-name"/>
          <p:cNvSpPr txBox="1"/>
          <p:nvPr/>
        </p:nvSpPr>
        <p:spPr>
          <a:xfrm>
            <a:off x="667512" y="3300984"/>
            <a:ext cx="2029967" cy="210312"/>
          </a:xfrm>
          <a:prstGeom prst="rect">
            <a:avLst/>
          </a:prstGeom>
          <a:noFill/>
        </p:spPr>
        <p:txBody>
          <a:bodyPr wrap="none" lIns="0" tIns="0" rIns="0" bIns="0" anchor="ctr">
            <a:spAutoFit/>
          </a:bodyPr>
          <a:lstStyle/>
          <a:p>
            <a:pPr algn="l">
              <a:lnSpc>
                <a:spcPct val="120000"/>
              </a:lnSpc>
            </a:pPr>
            <a:r>
              <a:rPr sz="950" b="0">
                <a:solidFill>
                  <a:srgbClr val="1F2937"/>
                </a:solidFill>
                <a:latin typeface="BIZ UDPゴシック"/>
                <a:ea typeface="BIZ UDPゴシック"/>
              </a:rPr>
              <a:t>要件定義</a:t>
            </a:r>
          </a:p>
        </p:txBody>
      </p:sp>
      <p:sp>
        <p:nvSpPr>
          <p:cNvPr id="88" name="gt-deliv"/>
          <p:cNvSpPr txBox="1"/>
          <p:nvPr/>
        </p:nvSpPr>
        <p:spPr>
          <a:xfrm>
            <a:off x="6602812" y="3300984"/>
            <a:ext cx="665480" cy="210312"/>
          </a:xfrm>
          <a:prstGeom prst="rect">
            <a:avLst/>
          </a:prstGeom>
          <a:noFill/>
        </p:spPr>
        <p:txBody>
          <a:bodyPr wrap="none" lIns="0" tIns="0" rIns="0" bIns="0" anchor="ctr">
            <a:spAutoFit/>
          </a:bodyPr>
          <a:lstStyle/>
          <a:p>
            <a:pPr algn="l">
              <a:lnSpc>
                <a:spcPct val="120000"/>
              </a:lnSpc>
            </a:pPr>
            <a:r>
              <a:rPr sz="800" b="0">
                <a:solidFill>
                  <a:srgbClr val="6B7280"/>
                </a:solidFill>
                <a:latin typeface="BIZ UDPゴシック"/>
                <a:ea typeface="BIZ UDPゴシック"/>
              </a:rPr>
              <a:t>[要件定義書]</a:t>
            </a:r>
          </a:p>
        </p:txBody>
      </p:sp>
      <p:sp>
        <p:nvSpPr>
          <p:cNvPr id="89" name="gt-bar"/>
          <p:cNvSpPr/>
          <p:nvPr/>
        </p:nvSpPr>
        <p:spPr>
          <a:xfrm>
            <a:off x="6572197" y="3566160"/>
            <a:ext cx="2182426" cy="137160"/>
          </a:xfrm>
          <a:prstGeom prst="roundRect">
            <a:avLst>
              <a:gd name="adj" fmla="val 30000"/>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gt-name"/>
          <p:cNvSpPr txBox="1"/>
          <p:nvPr/>
        </p:nvSpPr>
        <p:spPr>
          <a:xfrm>
            <a:off x="502920" y="3511296"/>
            <a:ext cx="2194560" cy="246888"/>
          </a:xfrm>
          <a:prstGeom prst="rect">
            <a:avLst/>
          </a:prstGeom>
          <a:noFill/>
        </p:spPr>
        <p:txBody>
          <a:bodyPr wrap="none" lIns="0" tIns="0" rIns="0" bIns="0" anchor="ctr">
            <a:spAutoFit/>
          </a:bodyPr>
          <a:lstStyle/>
          <a:p>
            <a:pPr algn="l">
              <a:lnSpc>
                <a:spcPct val="120000"/>
              </a:lnSpc>
            </a:pPr>
            <a:r>
              <a:rPr sz="950" b="1">
                <a:solidFill>
                  <a:srgbClr val="1F2937"/>
                </a:solidFill>
                <a:latin typeface="BIZ UDPゴシック"/>
                <a:ea typeface="BIZ UDPゴシック"/>
              </a:rPr>
              <a:t>クラウド経費精算サービス導入・設定</a:t>
            </a:r>
          </a:p>
        </p:txBody>
      </p:sp>
      <p:cxnSp>
        <p:nvCxnSpPr>
          <p:cNvPr id="91" name="gt-rowline"/>
          <p:cNvCxnSpPr/>
          <p:nvPr/>
        </p:nvCxnSpPr>
        <p:spPr>
          <a:xfrm>
            <a:off x="502920" y="3511296"/>
            <a:ext cx="11185855" cy="0"/>
          </a:xfrm>
          <a:prstGeom prst="line">
            <a:avLst/>
          </a:prstGeom>
          <a:ln w="6350">
            <a:solidFill>
              <a:srgbClr val="E6E9EF"/>
            </a:solidFill>
          </a:ln>
        </p:spPr>
        <p:style>
          <a:lnRef idx="2">
            <a:schemeClr val="accent1"/>
          </a:lnRef>
          <a:fillRef idx="0">
            <a:schemeClr val="accent1"/>
          </a:fillRef>
          <a:effectRef idx="1">
            <a:schemeClr val="accent1"/>
          </a:effectRef>
          <a:fontRef idx="minor">
            <a:schemeClr val="tx1"/>
          </a:fontRef>
        </p:style>
      </p:cxnSp>
      <p:sp>
        <p:nvSpPr>
          <p:cNvPr id="92" name="gt-bar"/>
          <p:cNvSpPr/>
          <p:nvPr/>
        </p:nvSpPr>
        <p:spPr>
          <a:xfrm>
            <a:off x="6572197" y="3817620"/>
            <a:ext cx="1454951" cy="91440"/>
          </a:xfrm>
          <a:prstGeom prst="roundRect">
            <a:avLst>
              <a:gd name="adj" fmla="val 50000"/>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gt-name"/>
          <p:cNvSpPr txBox="1"/>
          <p:nvPr/>
        </p:nvSpPr>
        <p:spPr>
          <a:xfrm>
            <a:off x="667512" y="3758183"/>
            <a:ext cx="2029967" cy="210312"/>
          </a:xfrm>
          <a:prstGeom prst="rect">
            <a:avLst/>
          </a:prstGeom>
          <a:noFill/>
        </p:spPr>
        <p:txBody>
          <a:bodyPr wrap="none" lIns="0" tIns="0" rIns="0" bIns="0" anchor="ctr">
            <a:spAutoFit/>
          </a:bodyPr>
          <a:lstStyle/>
          <a:p>
            <a:pPr algn="l">
              <a:lnSpc>
                <a:spcPct val="120000"/>
              </a:lnSpc>
            </a:pPr>
            <a:r>
              <a:rPr sz="950" b="0">
                <a:solidFill>
                  <a:srgbClr val="1F2937"/>
                </a:solidFill>
                <a:latin typeface="BIZ UDPゴシック"/>
                <a:ea typeface="BIZ UDPゴシック"/>
              </a:rPr>
              <a:t>サービス設定・連携開発</a:t>
            </a:r>
          </a:p>
        </p:txBody>
      </p:sp>
      <p:sp>
        <p:nvSpPr>
          <p:cNvPr id="94" name="gt-deliv"/>
          <p:cNvSpPr txBox="1"/>
          <p:nvPr/>
        </p:nvSpPr>
        <p:spPr>
          <a:xfrm>
            <a:off x="8082012" y="3758183"/>
            <a:ext cx="1544320" cy="210312"/>
          </a:xfrm>
          <a:prstGeom prst="rect">
            <a:avLst/>
          </a:prstGeom>
          <a:noFill/>
        </p:spPr>
        <p:txBody>
          <a:bodyPr wrap="none" lIns="0" tIns="0" rIns="0" bIns="0" anchor="ctr">
            <a:spAutoFit/>
          </a:bodyPr>
          <a:lstStyle/>
          <a:p>
            <a:pPr algn="l">
              <a:lnSpc>
                <a:spcPct val="120000"/>
              </a:lnSpc>
            </a:pPr>
            <a:r>
              <a:rPr sz="800" b="0">
                <a:solidFill>
                  <a:srgbClr val="6B7280"/>
                </a:solidFill>
                <a:latin typeface="BIZ UDPゴシック"/>
                <a:ea typeface="BIZ UDPゴシック"/>
              </a:rPr>
              <a:t>[設定完了報告書] [連携設計書]</a:t>
            </a:r>
          </a:p>
        </p:txBody>
      </p:sp>
      <p:sp>
        <p:nvSpPr>
          <p:cNvPr id="95" name="gt-bar"/>
          <p:cNvSpPr/>
          <p:nvPr/>
        </p:nvSpPr>
        <p:spPr>
          <a:xfrm>
            <a:off x="8051397" y="4027932"/>
            <a:ext cx="703226" cy="91440"/>
          </a:xfrm>
          <a:prstGeom prst="roundRect">
            <a:avLst>
              <a:gd name="adj" fmla="val 50000"/>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gt-name"/>
          <p:cNvSpPr txBox="1"/>
          <p:nvPr/>
        </p:nvSpPr>
        <p:spPr>
          <a:xfrm>
            <a:off x="667512" y="3968496"/>
            <a:ext cx="2029967" cy="210312"/>
          </a:xfrm>
          <a:prstGeom prst="rect">
            <a:avLst/>
          </a:prstGeom>
          <a:noFill/>
        </p:spPr>
        <p:txBody>
          <a:bodyPr wrap="none" lIns="0" tIns="0" rIns="0" bIns="0" anchor="ctr">
            <a:spAutoFit/>
          </a:bodyPr>
          <a:lstStyle/>
          <a:p>
            <a:pPr algn="l">
              <a:lnSpc>
                <a:spcPct val="120000"/>
              </a:lnSpc>
            </a:pPr>
            <a:r>
              <a:rPr sz="950" b="0">
                <a:solidFill>
                  <a:srgbClr val="1F2937"/>
                </a:solidFill>
                <a:latin typeface="BIZ UDPゴシック"/>
                <a:ea typeface="BIZ UDPゴシック"/>
              </a:rPr>
              <a:t>結合テスト</a:t>
            </a:r>
          </a:p>
        </p:txBody>
      </p:sp>
      <p:sp>
        <p:nvSpPr>
          <p:cNvPr id="97" name="gt-deliv"/>
          <p:cNvSpPr txBox="1"/>
          <p:nvPr/>
        </p:nvSpPr>
        <p:spPr>
          <a:xfrm>
            <a:off x="8809487" y="3968496"/>
            <a:ext cx="970280" cy="210312"/>
          </a:xfrm>
          <a:prstGeom prst="rect">
            <a:avLst/>
          </a:prstGeom>
          <a:noFill/>
        </p:spPr>
        <p:txBody>
          <a:bodyPr wrap="none" lIns="0" tIns="0" rIns="0" bIns="0" anchor="ctr">
            <a:spAutoFit/>
          </a:bodyPr>
          <a:lstStyle/>
          <a:p>
            <a:pPr algn="l">
              <a:lnSpc>
                <a:spcPct val="120000"/>
              </a:lnSpc>
            </a:pPr>
            <a:r>
              <a:rPr sz="800" b="0">
                <a:solidFill>
                  <a:srgbClr val="6B7280"/>
                </a:solidFill>
                <a:latin typeface="BIZ UDPゴシック"/>
                <a:ea typeface="BIZ UDPゴシック"/>
              </a:rPr>
              <a:t>[テスト結果報告書]</a:t>
            </a:r>
          </a:p>
        </p:txBody>
      </p:sp>
      <p:sp>
        <p:nvSpPr>
          <p:cNvPr id="98" name="gt-bar"/>
          <p:cNvSpPr/>
          <p:nvPr/>
        </p:nvSpPr>
        <p:spPr>
          <a:xfrm>
            <a:off x="8778873" y="4233672"/>
            <a:ext cx="1479200" cy="137160"/>
          </a:xfrm>
          <a:prstGeom prst="roundRect">
            <a:avLst>
              <a:gd name="adj" fmla="val 30000"/>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gt-name"/>
          <p:cNvSpPr txBox="1"/>
          <p:nvPr/>
        </p:nvSpPr>
        <p:spPr>
          <a:xfrm>
            <a:off x="502920" y="4178808"/>
            <a:ext cx="2194560" cy="246888"/>
          </a:xfrm>
          <a:prstGeom prst="rect">
            <a:avLst/>
          </a:prstGeom>
          <a:noFill/>
        </p:spPr>
        <p:txBody>
          <a:bodyPr wrap="none" lIns="0" tIns="0" rIns="0" bIns="0" anchor="ctr">
            <a:spAutoFit/>
          </a:bodyPr>
          <a:lstStyle/>
          <a:p>
            <a:pPr algn="l">
              <a:lnSpc>
                <a:spcPct val="120000"/>
              </a:lnSpc>
            </a:pPr>
            <a:r>
              <a:rPr sz="1050" b="1">
                <a:solidFill>
                  <a:srgbClr val="1F2937"/>
                </a:solidFill>
                <a:latin typeface="BIZ UDPゴシック"/>
                <a:ea typeface="BIZ UDPゴシック"/>
              </a:rPr>
              <a:t>受入・研修</a:t>
            </a:r>
          </a:p>
        </p:txBody>
      </p:sp>
      <p:cxnSp>
        <p:nvCxnSpPr>
          <p:cNvPr id="100" name="gt-rowline"/>
          <p:cNvCxnSpPr/>
          <p:nvPr/>
        </p:nvCxnSpPr>
        <p:spPr>
          <a:xfrm>
            <a:off x="502920" y="4178808"/>
            <a:ext cx="11185855" cy="0"/>
          </a:xfrm>
          <a:prstGeom prst="line">
            <a:avLst/>
          </a:prstGeom>
          <a:ln w="6350">
            <a:solidFill>
              <a:srgbClr val="E6E9EF"/>
            </a:solidFill>
          </a:ln>
        </p:spPr>
        <p:style>
          <a:lnRef idx="2">
            <a:schemeClr val="accent1"/>
          </a:lnRef>
          <a:fillRef idx="0">
            <a:schemeClr val="accent1"/>
          </a:fillRef>
          <a:effectRef idx="1">
            <a:schemeClr val="accent1"/>
          </a:effectRef>
          <a:fontRef idx="minor">
            <a:schemeClr val="tx1"/>
          </a:fontRef>
        </p:style>
      </p:cxnSp>
      <p:sp>
        <p:nvSpPr>
          <p:cNvPr id="101" name="gt-bar"/>
          <p:cNvSpPr/>
          <p:nvPr/>
        </p:nvSpPr>
        <p:spPr>
          <a:xfrm>
            <a:off x="8778873" y="4485132"/>
            <a:ext cx="727475" cy="91440"/>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gt-name"/>
          <p:cNvSpPr txBox="1"/>
          <p:nvPr/>
        </p:nvSpPr>
        <p:spPr>
          <a:xfrm>
            <a:off x="667512" y="4425696"/>
            <a:ext cx="2029967" cy="210312"/>
          </a:xfrm>
          <a:prstGeom prst="rect">
            <a:avLst/>
          </a:prstGeom>
          <a:noFill/>
        </p:spPr>
        <p:txBody>
          <a:bodyPr wrap="none" lIns="0" tIns="0" rIns="0" bIns="0" anchor="ctr">
            <a:spAutoFit/>
          </a:bodyPr>
          <a:lstStyle/>
          <a:p>
            <a:pPr algn="l">
              <a:lnSpc>
                <a:spcPct val="120000"/>
              </a:lnSpc>
            </a:pPr>
            <a:r>
              <a:rPr sz="950" b="0">
                <a:solidFill>
                  <a:srgbClr val="1F2937"/>
                </a:solidFill>
                <a:latin typeface="BIZ UDPゴシック"/>
                <a:ea typeface="BIZ UDPゴシック"/>
              </a:rPr>
              <a:t>受入テスト</a:t>
            </a:r>
          </a:p>
        </p:txBody>
      </p:sp>
      <p:sp>
        <p:nvSpPr>
          <p:cNvPr id="103" name="gt-deliv"/>
          <p:cNvSpPr txBox="1"/>
          <p:nvPr/>
        </p:nvSpPr>
        <p:spPr>
          <a:xfrm>
            <a:off x="9561212" y="4425696"/>
            <a:ext cx="1173480" cy="210312"/>
          </a:xfrm>
          <a:prstGeom prst="rect">
            <a:avLst/>
          </a:prstGeom>
          <a:noFill/>
        </p:spPr>
        <p:txBody>
          <a:bodyPr wrap="none" lIns="0" tIns="0" rIns="0" bIns="0" anchor="ctr">
            <a:spAutoFit/>
          </a:bodyPr>
          <a:lstStyle/>
          <a:p>
            <a:pPr algn="l">
              <a:lnSpc>
                <a:spcPct val="120000"/>
              </a:lnSpc>
            </a:pPr>
            <a:r>
              <a:rPr sz="800" b="0">
                <a:solidFill>
                  <a:srgbClr val="6B7280"/>
                </a:solidFill>
                <a:latin typeface="BIZ UDPゴシック"/>
                <a:ea typeface="BIZ UDPゴシック"/>
              </a:rPr>
              <a:t>[受入テスト結果報告書]</a:t>
            </a:r>
          </a:p>
        </p:txBody>
      </p:sp>
      <p:sp>
        <p:nvSpPr>
          <p:cNvPr id="104" name="gt-bar"/>
          <p:cNvSpPr/>
          <p:nvPr/>
        </p:nvSpPr>
        <p:spPr>
          <a:xfrm>
            <a:off x="9530597" y="4695444"/>
            <a:ext cx="727475" cy="91440"/>
          </a:xfrm>
          <a:prstGeom prst="roundRect">
            <a:avLst>
              <a:gd name="adj" fmla="val 50000"/>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gt-name"/>
          <p:cNvSpPr txBox="1"/>
          <p:nvPr/>
        </p:nvSpPr>
        <p:spPr>
          <a:xfrm>
            <a:off x="667512" y="4636008"/>
            <a:ext cx="2029967" cy="210312"/>
          </a:xfrm>
          <a:prstGeom prst="rect">
            <a:avLst/>
          </a:prstGeom>
          <a:noFill/>
        </p:spPr>
        <p:txBody>
          <a:bodyPr wrap="none" lIns="0" tIns="0" rIns="0" bIns="0" anchor="ctr">
            <a:spAutoFit/>
          </a:bodyPr>
          <a:lstStyle/>
          <a:p>
            <a:pPr algn="l">
              <a:lnSpc>
                <a:spcPct val="120000"/>
              </a:lnSpc>
            </a:pPr>
            <a:r>
              <a:rPr sz="950" b="0">
                <a:solidFill>
                  <a:srgbClr val="1F2937"/>
                </a:solidFill>
                <a:latin typeface="BIZ UDPゴシック"/>
                <a:ea typeface="BIZ UDPゴシック"/>
              </a:rPr>
              <a:t>研修</a:t>
            </a:r>
          </a:p>
        </p:txBody>
      </p:sp>
      <p:sp>
        <p:nvSpPr>
          <p:cNvPr id="106" name="gt-deliv"/>
          <p:cNvSpPr txBox="1"/>
          <p:nvPr/>
        </p:nvSpPr>
        <p:spPr>
          <a:xfrm>
            <a:off x="8033013" y="4636008"/>
            <a:ext cx="1442720" cy="210312"/>
          </a:xfrm>
          <a:prstGeom prst="rect">
            <a:avLst/>
          </a:prstGeom>
          <a:noFill/>
        </p:spPr>
        <p:txBody>
          <a:bodyPr wrap="none" lIns="0" tIns="0" rIns="0" bIns="0" anchor="ctr">
            <a:spAutoFit/>
          </a:bodyPr>
          <a:lstStyle/>
          <a:p>
            <a:pPr algn="r">
              <a:lnSpc>
                <a:spcPct val="120000"/>
              </a:lnSpc>
            </a:pPr>
            <a:r>
              <a:rPr sz="800" b="0">
                <a:solidFill>
                  <a:srgbClr val="6B7280"/>
                </a:solidFill>
                <a:latin typeface="BIZ UDPゴシック"/>
                <a:ea typeface="BIZ UDPゴシック"/>
              </a:rPr>
              <a:t>[研修資料] [操作マニュアル]</a:t>
            </a:r>
          </a:p>
        </p:txBody>
      </p:sp>
      <p:sp>
        <p:nvSpPr>
          <p:cNvPr id="107" name="gt-bar"/>
          <p:cNvSpPr/>
          <p:nvPr/>
        </p:nvSpPr>
        <p:spPr>
          <a:xfrm>
            <a:off x="10282322" y="4901184"/>
            <a:ext cx="1406452" cy="137160"/>
          </a:xfrm>
          <a:prstGeom prst="roundRect">
            <a:avLst>
              <a:gd name="adj" fmla="val 30000"/>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gt-name"/>
          <p:cNvSpPr txBox="1"/>
          <p:nvPr/>
        </p:nvSpPr>
        <p:spPr>
          <a:xfrm>
            <a:off x="502920" y="4846320"/>
            <a:ext cx="2194560" cy="246888"/>
          </a:xfrm>
          <a:prstGeom prst="rect">
            <a:avLst/>
          </a:prstGeom>
          <a:noFill/>
        </p:spPr>
        <p:txBody>
          <a:bodyPr wrap="none" lIns="0" tIns="0" rIns="0" bIns="0" anchor="ctr">
            <a:spAutoFit/>
          </a:bodyPr>
          <a:lstStyle/>
          <a:p>
            <a:pPr algn="l">
              <a:lnSpc>
                <a:spcPct val="120000"/>
              </a:lnSpc>
            </a:pPr>
            <a:r>
              <a:rPr sz="1050" b="1">
                <a:solidFill>
                  <a:srgbClr val="1F2937"/>
                </a:solidFill>
                <a:latin typeface="BIZ UDPゴシック"/>
                <a:ea typeface="BIZ UDPゴシック"/>
              </a:rPr>
              <a:t>本番移行・定着化</a:t>
            </a:r>
          </a:p>
        </p:txBody>
      </p:sp>
      <p:cxnSp>
        <p:nvCxnSpPr>
          <p:cNvPr id="109" name="gt-rowline"/>
          <p:cNvCxnSpPr/>
          <p:nvPr/>
        </p:nvCxnSpPr>
        <p:spPr>
          <a:xfrm>
            <a:off x="502920" y="4846320"/>
            <a:ext cx="11185855" cy="0"/>
          </a:xfrm>
          <a:prstGeom prst="line">
            <a:avLst/>
          </a:prstGeom>
          <a:ln w="6350">
            <a:solidFill>
              <a:srgbClr val="E6E9EF"/>
            </a:solidFill>
          </a:ln>
        </p:spPr>
        <p:style>
          <a:lnRef idx="2">
            <a:schemeClr val="accent1"/>
          </a:lnRef>
          <a:fillRef idx="0">
            <a:schemeClr val="accent1"/>
          </a:fillRef>
          <a:effectRef idx="1">
            <a:schemeClr val="accent1"/>
          </a:effectRef>
          <a:fontRef idx="minor">
            <a:schemeClr val="tx1"/>
          </a:fontRef>
        </p:style>
      </p:cxnSp>
      <p:sp>
        <p:nvSpPr>
          <p:cNvPr id="110" name="gt-bar"/>
          <p:cNvSpPr/>
          <p:nvPr/>
        </p:nvSpPr>
        <p:spPr>
          <a:xfrm>
            <a:off x="10282322" y="5152644"/>
            <a:ext cx="654727" cy="91440"/>
          </a:xfrm>
          <a:prstGeom prst="roundRect">
            <a:avLst>
              <a:gd name="adj" fmla="val 50000"/>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gt-name"/>
          <p:cNvSpPr txBox="1"/>
          <p:nvPr/>
        </p:nvSpPr>
        <p:spPr>
          <a:xfrm>
            <a:off x="667512" y="5093208"/>
            <a:ext cx="2029967" cy="210312"/>
          </a:xfrm>
          <a:prstGeom prst="rect">
            <a:avLst/>
          </a:prstGeom>
          <a:noFill/>
        </p:spPr>
        <p:txBody>
          <a:bodyPr wrap="none" lIns="0" tIns="0" rIns="0" bIns="0" anchor="ctr">
            <a:spAutoFit/>
          </a:bodyPr>
          <a:lstStyle/>
          <a:p>
            <a:pPr algn="l">
              <a:lnSpc>
                <a:spcPct val="120000"/>
              </a:lnSpc>
            </a:pPr>
            <a:r>
              <a:rPr sz="950" b="0">
                <a:solidFill>
                  <a:srgbClr val="1F2937"/>
                </a:solidFill>
                <a:latin typeface="BIZ UDPゴシック"/>
                <a:ea typeface="BIZ UDPゴシック"/>
              </a:rPr>
              <a:t>本番移行</a:t>
            </a:r>
          </a:p>
        </p:txBody>
      </p:sp>
      <p:sp>
        <p:nvSpPr>
          <p:cNvPr id="112" name="gt-deliv"/>
          <p:cNvSpPr txBox="1"/>
          <p:nvPr/>
        </p:nvSpPr>
        <p:spPr>
          <a:xfrm>
            <a:off x="10991914" y="5093208"/>
            <a:ext cx="665480" cy="210312"/>
          </a:xfrm>
          <a:prstGeom prst="rect">
            <a:avLst/>
          </a:prstGeom>
          <a:noFill/>
        </p:spPr>
        <p:txBody>
          <a:bodyPr wrap="none" lIns="0" tIns="0" rIns="0" bIns="0" anchor="ctr">
            <a:spAutoFit/>
          </a:bodyPr>
          <a:lstStyle/>
          <a:p>
            <a:pPr algn="l">
              <a:lnSpc>
                <a:spcPct val="120000"/>
              </a:lnSpc>
            </a:pPr>
            <a:r>
              <a:rPr sz="800" b="0">
                <a:solidFill>
                  <a:srgbClr val="6B7280"/>
                </a:solidFill>
                <a:latin typeface="BIZ UDPゴシック"/>
                <a:ea typeface="BIZ UDPゴシック"/>
              </a:rPr>
              <a:t>[移行計画書]</a:t>
            </a:r>
          </a:p>
        </p:txBody>
      </p:sp>
      <p:sp>
        <p:nvSpPr>
          <p:cNvPr id="113" name="gt-bar"/>
          <p:cNvSpPr/>
          <p:nvPr/>
        </p:nvSpPr>
        <p:spPr>
          <a:xfrm>
            <a:off x="10961299" y="5362956"/>
            <a:ext cx="727475" cy="91440"/>
          </a:xfrm>
          <a:prstGeom prst="roundRect">
            <a:avLst>
              <a:gd name="adj" fmla="val 50000"/>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gt-name"/>
          <p:cNvSpPr txBox="1"/>
          <p:nvPr/>
        </p:nvSpPr>
        <p:spPr>
          <a:xfrm>
            <a:off x="667512" y="5303520"/>
            <a:ext cx="2029967" cy="210312"/>
          </a:xfrm>
          <a:prstGeom prst="rect">
            <a:avLst/>
          </a:prstGeom>
          <a:noFill/>
        </p:spPr>
        <p:txBody>
          <a:bodyPr wrap="none" lIns="0" tIns="0" rIns="0" bIns="0" anchor="ctr">
            <a:spAutoFit/>
          </a:bodyPr>
          <a:lstStyle/>
          <a:p>
            <a:pPr algn="l">
              <a:lnSpc>
                <a:spcPct val="120000"/>
              </a:lnSpc>
            </a:pPr>
            <a:r>
              <a:rPr sz="950" b="0">
                <a:solidFill>
                  <a:srgbClr val="1F2937"/>
                </a:solidFill>
                <a:latin typeface="BIZ UDPゴシック"/>
                <a:ea typeface="BIZ UDPゴシック"/>
              </a:rPr>
              <a:t>定着化支援</a:t>
            </a:r>
          </a:p>
        </p:txBody>
      </p:sp>
      <p:sp>
        <p:nvSpPr>
          <p:cNvPr id="115" name="gt-deliv"/>
          <p:cNvSpPr txBox="1"/>
          <p:nvPr/>
        </p:nvSpPr>
        <p:spPr>
          <a:xfrm>
            <a:off x="10139355" y="5303520"/>
            <a:ext cx="767080" cy="210312"/>
          </a:xfrm>
          <a:prstGeom prst="rect">
            <a:avLst/>
          </a:prstGeom>
          <a:noFill/>
        </p:spPr>
        <p:txBody>
          <a:bodyPr wrap="none" lIns="0" tIns="0" rIns="0" bIns="0" anchor="ctr">
            <a:spAutoFit/>
          </a:bodyPr>
          <a:lstStyle/>
          <a:p>
            <a:pPr algn="r">
              <a:lnSpc>
                <a:spcPct val="120000"/>
              </a:lnSpc>
            </a:pPr>
            <a:r>
              <a:rPr sz="800" b="0">
                <a:solidFill>
                  <a:srgbClr val="6B7280"/>
                </a:solidFill>
                <a:latin typeface="BIZ UDPゴシック"/>
                <a:ea typeface="BIZ UDPゴシック"/>
              </a:rPr>
              <a:t>[定着化報告書]</a:t>
            </a:r>
          </a:p>
        </p:txBody>
      </p:sp>
      <p:sp>
        <p:nvSpPr>
          <p:cNvPr id="116" name="gt-leg"/>
          <p:cNvSpPr/>
          <p:nvPr/>
        </p:nvSpPr>
        <p:spPr>
          <a:xfrm>
            <a:off x="2862072" y="5559552"/>
            <a:ext cx="146304" cy="91440"/>
          </a:xfrm>
          <a:prstGeom prst="roundRect">
            <a:avLst>
              <a:gd name="adj" fmla="val 40000"/>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3044952" y="5513832"/>
            <a:ext cx="1005840" cy="182880"/>
          </a:xfrm>
          <a:prstGeom prst="rect">
            <a:avLst/>
          </a:prstGeom>
          <a:noFill/>
        </p:spPr>
        <p:txBody>
          <a:bodyPr wrap="none" lIns="0" tIns="0" rIns="0" bIns="0" anchor="ctr">
            <a:spAutoFit/>
          </a:bodyPr>
          <a:lstStyle/>
          <a:p>
            <a:pPr algn="l">
              <a:lnSpc>
                <a:spcPct val="120000"/>
              </a:lnSpc>
            </a:pPr>
            <a:r>
              <a:rPr sz="900" b="0">
                <a:solidFill>
                  <a:srgbClr val="6B7280"/>
                </a:solidFill>
                <a:latin typeface="BIZ UDPゴシック"/>
                <a:ea typeface="BIZ UDPゴシック"/>
              </a:rPr>
              <a:t>共同</a:t>
            </a:r>
          </a:p>
        </p:txBody>
      </p:sp>
      <p:sp>
        <p:nvSpPr>
          <p:cNvPr id="118" name="gt-leg"/>
          <p:cNvSpPr/>
          <p:nvPr/>
        </p:nvSpPr>
        <p:spPr>
          <a:xfrm>
            <a:off x="3566160" y="5559552"/>
            <a:ext cx="146304" cy="91440"/>
          </a:xfrm>
          <a:prstGeom prst="roundRect">
            <a:avLst>
              <a:gd name="adj" fmla="val 40000"/>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3749039" y="5513832"/>
            <a:ext cx="1005840" cy="182880"/>
          </a:xfrm>
          <a:prstGeom prst="rect">
            <a:avLst/>
          </a:prstGeom>
          <a:noFill/>
        </p:spPr>
        <p:txBody>
          <a:bodyPr wrap="none" lIns="0" tIns="0" rIns="0" bIns="0" anchor="ctr">
            <a:spAutoFit/>
          </a:bodyPr>
          <a:lstStyle/>
          <a:p>
            <a:pPr algn="l">
              <a:lnSpc>
                <a:spcPct val="120000"/>
              </a:lnSpc>
            </a:pPr>
            <a:r>
              <a:rPr sz="900" b="0">
                <a:solidFill>
                  <a:srgbClr val="6B7280"/>
                </a:solidFill>
                <a:latin typeface="BIZ UDPゴシック"/>
                <a:ea typeface="BIZ UDPゴシック"/>
              </a:rPr>
              <a:t>実施側</a:t>
            </a:r>
          </a:p>
        </p:txBody>
      </p:sp>
      <p:sp>
        <p:nvSpPr>
          <p:cNvPr id="120" name="gt-leg"/>
          <p:cNvSpPr/>
          <p:nvPr/>
        </p:nvSpPr>
        <p:spPr>
          <a:xfrm>
            <a:off x="4384548" y="5559552"/>
            <a:ext cx="146304" cy="91440"/>
          </a:xfrm>
          <a:prstGeom prst="roundRect">
            <a:avLst>
              <a:gd name="adj" fmla="val 4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4567428" y="5513832"/>
            <a:ext cx="1005840" cy="182880"/>
          </a:xfrm>
          <a:prstGeom prst="rect">
            <a:avLst/>
          </a:prstGeom>
          <a:noFill/>
        </p:spPr>
        <p:txBody>
          <a:bodyPr wrap="none" lIns="0" tIns="0" rIns="0" bIns="0" anchor="ctr">
            <a:spAutoFit/>
          </a:bodyPr>
          <a:lstStyle/>
          <a:p>
            <a:pPr algn="l">
              <a:lnSpc>
                <a:spcPct val="120000"/>
              </a:lnSpc>
            </a:pPr>
            <a:r>
              <a:rPr sz="900" b="0">
                <a:solidFill>
                  <a:srgbClr val="6B7280"/>
                </a:solidFill>
                <a:latin typeface="BIZ UDPゴシック"/>
                <a:ea typeface="BIZ UDPゴシック"/>
              </a:rPr>
              <a:t>オーナー側</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02  スケジュール</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2.2 マイルストーンと完了基準</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15</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各マイルストーンの完了基準と判定者を明確にする</a:t>
            </a:r>
          </a:p>
        </p:txBody>
      </p:sp>
      <p:graphicFrame>
        <p:nvGraphicFramePr>
          <p:cNvPr id="24" name="blk-table"/>
          <p:cNvGraphicFramePr>
            <a:graphicFrameLocks noGrp="1"/>
          </p:cNvGraphicFramePr>
          <p:nvPr/>
        </p:nvGraphicFramePr>
        <p:xfrm>
          <a:off x="502920" y="1591055"/>
          <a:ext cx="11185854" cy="2609088"/>
        </p:xfrm>
        <a:graphic>
          <a:graphicData uri="http://schemas.openxmlformats.org/drawingml/2006/table">
            <a:tbl>
              <a:tblPr>
                <a:tableStyleId>{5C22544A-7EE6-4342-B048-85BDC9FD1C3A}</a:tableStyleId>
              </a:tblPr>
              <a:tblGrid>
                <a:gridCol w="2237171"/>
                <a:gridCol w="1566019"/>
                <a:gridCol w="4698059"/>
                <a:gridCol w="2684605"/>
              </a:tblGrid>
              <a:tr h="262128">
                <a:tc>
                  <a:txBody>
                    <a:bodyPr wrap="square" lIns="45720" tIns="18288" rIns="45720" bIns="18288" anchor="ctr"/>
                    <a:lstStyle/>
                    <a:p>
                      <a:pPr algn="l">
                        <a:lnSpc>
                          <a:spcPct val="120000"/>
                        </a:lnSpc>
                      </a:pPr>
                      <a:r>
                        <a:rPr sz="1200" b="1">
                          <a:solidFill>
                            <a:srgbClr val="FFFFFF"/>
                          </a:solidFill>
                          <a:latin typeface="BIZ UDPゴシック"/>
                          <a:ea typeface="BIZ UDPゴシック"/>
                        </a:rPr>
                        <a:t>マイルストーン</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200" b="1">
                          <a:solidFill>
                            <a:srgbClr val="FFFFFF"/>
                          </a:solidFill>
                          <a:latin typeface="BIZ UDPゴシック"/>
                          <a:ea typeface="BIZ UDPゴシック"/>
                        </a:rPr>
                        <a:t>予定日</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200" b="1">
                          <a:solidFill>
                            <a:srgbClr val="FFFFFF"/>
                          </a:solidFill>
                          <a:latin typeface="BIZ UDPゴシック"/>
                          <a:ea typeface="BIZ UDPゴシック"/>
                        </a:rPr>
                        <a:t>完了基準</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200" b="1">
                          <a:solidFill>
                            <a:srgbClr val="FFFFFF"/>
                          </a:solidFill>
                          <a:latin typeface="BIZ UDPゴシック"/>
                          <a:ea typeface="BIZ UDPゴシック"/>
                        </a:rPr>
                        <a:t>判定者</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384048">
                <a:tc>
                  <a:txBody>
                    <a:bodyPr wrap="square" lIns="45720" tIns="18288" rIns="45720" bIns="18288" anchor="ctr"/>
                    <a:lstStyle/>
                    <a:p>
                      <a:pPr algn="l">
                        <a:lnSpc>
                          <a:spcPct val="120000"/>
                        </a:lnSpc>
                      </a:pPr>
                      <a:r>
                        <a:rPr sz="1200" b="0">
                          <a:solidFill>
                            <a:srgbClr val="1F2937"/>
                          </a:solidFill>
                          <a:latin typeface="BIZ UDPゴシック"/>
                          <a:ea typeface="BIZ UDPゴシック"/>
                        </a:rPr>
                        <a:t>キックオフ</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2026-04-01</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プロジェクト計画書の承認</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ステアリングコミッティ</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200" b="0">
                          <a:solidFill>
                            <a:srgbClr val="1F2937"/>
                          </a:solidFill>
                          <a:latin typeface="BIZ UDPゴシック"/>
                          <a:ea typeface="BIZ UDPゴシック"/>
                        </a:rPr>
                        <a:t>現状分析完了</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2026-05-31</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現状業務フローと課題一覧のレビュー承認</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経理部</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200" b="0">
                          <a:solidFill>
                            <a:srgbClr val="1F2937"/>
                          </a:solidFill>
                          <a:latin typeface="BIZ UDPゴシック"/>
                          <a:ea typeface="BIZ UDPゴシック"/>
                        </a:rPr>
                        <a:t>To-Be設計完了</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2026-08-31</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To-Be業務フローと要件定義書の承認</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ステアリングコミッティ</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200" b="0">
                          <a:solidFill>
                            <a:srgbClr val="1F2937"/>
                          </a:solidFill>
                          <a:latin typeface="BIZ UDPゴシック"/>
                          <a:ea typeface="BIZ UDPゴシック"/>
                        </a:rPr>
                        <a:t>導入・設定完了</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2026-11-30</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サービス設定の完了と結合テスト合格</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情報システム部</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426720">
                <a:tc>
                  <a:txBody>
                    <a:bodyPr wrap="square" lIns="45720" tIns="18288" rIns="45720" bIns="18288" anchor="ctr"/>
                    <a:lstStyle/>
                    <a:p>
                      <a:pPr algn="l">
                        <a:lnSpc>
                          <a:spcPct val="120000"/>
                        </a:lnSpc>
                      </a:pPr>
                      <a:r>
                        <a:rPr sz="1200" b="0">
                          <a:solidFill>
                            <a:srgbClr val="1F2937"/>
                          </a:solidFill>
                          <a:latin typeface="BIZ UDPゴシック"/>
                          <a:ea typeface="BIZ UDPゴシック"/>
                        </a:rPr>
                        <a:t>受入・研修完了</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2027-01-31</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受入テスト合格と全対象者研修の完了</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【要確認】受入判定責任者 (経理部と調整中)</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200" b="0">
                          <a:solidFill>
                            <a:srgbClr val="1F2937"/>
                          </a:solidFill>
                          <a:latin typeface="BIZ UDPゴシック"/>
                          <a:ea typeface="BIZ UDPゴシック"/>
                        </a:rPr>
                        <a:t>移行・定着化完了</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2027-03-31</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本番稼働と定着化KPIの達成</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ステアリングコミッティ</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02  スケジュール</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2.3 フェーズ別スケジュール ─ 現状分析</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16</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現状の業務と課題を調査・分析する</a:t>
            </a:r>
          </a:p>
        </p:txBody>
      </p:sp>
      <p:sp>
        <p:nvSpPr>
          <p:cNvPr id="24" name="TextBox 23"/>
          <p:cNvSpPr txBox="1"/>
          <p:nvPr/>
        </p:nvSpPr>
        <p:spPr>
          <a:xfrm>
            <a:off x="2587752" y="1901951"/>
            <a:ext cx="548640" cy="237744"/>
          </a:xfrm>
          <a:prstGeom prst="rect">
            <a:avLst/>
          </a:prstGeom>
          <a:noFill/>
        </p:spPr>
        <p:txBody>
          <a:bodyPr wrap="none" lIns="0" tIns="0" rIns="0" bIns="0" anchor="ctr">
            <a:spAutoFit/>
          </a:bodyPr>
          <a:lstStyle/>
          <a:p>
            <a:pPr algn="ctr">
              <a:lnSpc>
                <a:spcPct val="120000"/>
              </a:lnSpc>
            </a:pPr>
            <a:r>
              <a:rPr sz="800" b="0">
                <a:solidFill>
                  <a:srgbClr val="6B7280"/>
                </a:solidFill>
                <a:latin typeface="BIZ UDPゴシック"/>
                <a:ea typeface="BIZ UDPゴシック"/>
              </a:rPr>
              <a:t>3/30</a:t>
            </a:r>
          </a:p>
        </p:txBody>
      </p:sp>
      <p:cxnSp>
        <p:nvCxnSpPr>
          <p:cNvPr id="25" name="gt-grid"/>
          <p:cNvCxnSpPr/>
          <p:nvPr/>
        </p:nvCxnSpPr>
        <p:spPr>
          <a:xfrm>
            <a:off x="3597630" y="1901951"/>
            <a:ext cx="914"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26" name="gt-grid"/>
          <p:cNvCxnSpPr/>
          <p:nvPr/>
        </p:nvCxnSpPr>
        <p:spPr>
          <a:xfrm>
            <a:off x="3597630"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27" name="gt-grid"/>
          <p:cNvCxnSpPr/>
          <p:nvPr/>
        </p:nvCxnSpPr>
        <p:spPr>
          <a:xfrm>
            <a:off x="4627412" y="1901951"/>
            <a:ext cx="915"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28" name="gt-grid"/>
          <p:cNvCxnSpPr/>
          <p:nvPr/>
        </p:nvCxnSpPr>
        <p:spPr>
          <a:xfrm>
            <a:off x="4627412"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353092" y="1901951"/>
            <a:ext cx="548640" cy="237744"/>
          </a:xfrm>
          <a:prstGeom prst="rect">
            <a:avLst/>
          </a:prstGeom>
          <a:noFill/>
        </p:spPr>
        <p:txBody>
          <a:bodyPr wrap="none" lIns="0" tIns="0" rIns="0" bIns="0" anchor="ctr">
            <a:spAutoFit/>
          </a:bodyPr>
          <a:lstStyle/>
          <a:p>
            <a:pPr algn="ctr">
              <a:lnSpc>
                <a:spcPct val="120000"/>
              </a:lnSpc>
            </a:pPr>
            <a:r>
              <a:rPr sz="800" b="0">
                <a:solidFill>
                  <a:srgbClr val="6B7280"/>
                </a:solidFill>
                <a:latin typeface="BIZ UDPゴシック"/>
                <a:ea typeface="BIZ UDPゴシック"/>
              </a:rPr>
              <a:t>4/13</a:t>
            </a:r>
          </a:p>
        </p:txBody>
      </p:sp>
      <p:cxnSp>
        <p:nvCxnSpPr>
          <p:cNvPr id="30" name="gt-grid"/>
          <p:cNvCxnSpPr/>
          <p:nvPr/>
        </p:nvCxnSpPr>
        <p:spPr>
          <a:xfrm>
            <a:off x="5657194" y="1901951"/>
            <a:ext cx="915"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31" name="gt-grid"/>
          <p:cNvCxnSpPr/>
          <p:nvPr/>
        </p:nvCxnSpPr>
        <p:spPr>
          <a:xfrm>
            <a:off x="5657194"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32" name="gt-grid"/>
          <p:cNvCxnSpPr/>
          <p:nvPr/>
        </p:nvCxnSpPr>
        <p:spPr>
          <a:xfrm>
            <a:off x="6686976" y="1901951"/>
            <a:ext cx="915"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33" name="gt-grid"/>
          <p:cNvCxnSpPr/>
          <p:nvPr/>
        </p:nvCxnSpPr>
        <p:spPr>
          <a:xfrm>
            <a:off x="6686976"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412656" y="1901951"/>
            <a:ext cx="548640" cy="237744"/>
          </a:xfrm>
          <a:prstGeom prst="rect">
            <a:avLst/>
          </a:prstGeom>
          <a:noFill/>
        </p:spPr>
        <p:txBody>
          <a:bodyPr wrap="none" lIns="0" tIns="0" rIns="0" bIns="0" anchor="ctr">
            <a:spAutoFit/>
          </a:bodyPr>
          <a:lstStyle/>
          <a:p>
            <a:pPr algn="ctr">
              <a:lnSpc>
                <a:spcPct val="120000"/>
              </a:lnSpc>
            </a:pPr>
            <a:r>
              <a:rPr sz="800" b="0">
                <a:solidFill>
                  <a:srgbClr val="6B7280"/>
                </a:solidFill>
                <a:latin typeface="BIZ UDPゴシック"/>
                <a:ea typeface="BIZ UDPゴシック"/>
              </a:rPr>
              <a:t>4/27</a:t>
            </a:r>
          </a:p>
        </p:txBody>
      </p:sp>
      <p:cxnSp>
        <p:nvCxnSpPr>
          <p:cNvPr id="35" name="gt-grid"/>
          <p:cNvCxnSpPr/>
          <p:nvPr/>
        </p:nvCxnSpPr>
        <p:spPr>
          <a:xfrm>
            <a:off x="7716758" y="1901951"/>
            <a:ext cx="915"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36" name="gt-grid"/>
          <p:cNvCxnSpPr/>
          <p:nvPr/>
        </p:nvCxnSpPr>
        <p:spPr>
          <a:xfrm>
            <a:off x="7716758"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37" name="gt-grid"/>
          <p:cNvCxnSpPr/>
          <p:nvPr/>
        </p:nvCxnSpPr>
        <p:spPr>
          <a:xfrm>
            <a:off x="8746540" y="1901951"/>
            <a:ext cx="915"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38" name="gt-grid"/>
          <p:cNvCxnSpPr/>
          <p:nvPr/>
        </p:nvCxnSpPr>
        <p:spPr>
          <a:xfrm>
            <a:off x="8746540"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472220" y="1901951"/>
            <a:ext cx="548640" cy="237744"/>
          </a:xfrm>
          <a:prstGeom prst="rect">
            <a:avLst/>
          </a:prstGeom>
          <a:noFill/>
        </p:spPr>
        <p:txBody>
          <a:bodyPr wrap="none" lIns="0" tIns="0" rIns="0" bIns="0" anchor="ctr">
            <a:spAutoFit/>
          </a:bodyPr>
          <a:lstStyle/>
          <a:p>
            <a:pPr algn="ctr">
              <a:lnSpc>
                <a:spcPct val="120000"/>
              </a:lnSpc>
            </a:pPr>
            <a:r>
              <a:rPr sz="800" b="0">
                <a:solidFill>
                  <a:srgbClr val="6B7280"/>
                </a:solidFill>
                <a:latin typeface="BIZ UDPゴシック"/>
                <a:ea typeface="BIZ UDPゴシック"/>
              </a:rPr>
              <a:t>5/11</a:t>
            </a:r>
          </a:p>
        </p:txBody>
      </p:sp>
      <p:cxnSp>
        <p:nvCxnSpPr>
          <p:cNvPr id="40" name="gt-grid"/>
          <p:cNvCxnSpPr/>
          <p:nvPr/>
        </p:nvCxnSpPr>
        <p:spPr>
          <a:xfrm>
            <a:off x="9776322" y="1901951"/>
            <a:ext cx="915"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41" name="gt-grid"/>
          <p:cNvCxnSpPr/>
          <p:nvPr/>
        </p:nvCxnSpPr>
        <p:spPr>
          <a:xfrm>
            <a:off x="9776322"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42" name="gt-grid"/>
          <p:cNvCxnSpPr/>
          <p:nvPr/>
        </p:nvCxnSpPr>
        <p:spPr>
          <a:xfrm>
            <a:off x="10806104" y="1901951"/>
            <a:ext cx="915"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43" name="gt-grid"/>
          <p:cNvCxnSpPr/>
          <p:nvPr/>
        </p:nvCxnSpPr>
        <p:spPr>
          <a:xfrm>
            <a:off x="10806104"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531784" y="1901951"/>
            <a:ext cx="548640" cy="237744"/>
          </a:xfrm>
          <a:prstGeom prst="rect">
            <a:avLst/>
          </a:prstGeom>
          <a:noFill/>
        </p:spPr>
        <p:txBody>
          <a:bodyPr wrap="none" lIns="0" tIns="0" rIns="0" bIns="0" anchor="ctr">
            <a:spAutoFit/>
          </a:bodyPr>
          <a:lstStyle/>
          <a:p>
            <a:pPr algn="ctr">
              <a:lnSpc>
                <a:spcPct val="120000"/>
              </a:lnSpc>
            </a:pPr>
            <a:r>
              <a:rPr sz="800" b="0">
                <a:solidFill>
                  <a:srgbClr val="6B7280"/>
                </a:solidFill>
                <a:latin typeface="BIZ UDPゴシック"/>
                <a:ea typeface="BIZ UDPゴシック"/>
              </a:rPr>
              <a:t>5/25</a:t>
            </a:r>
          </a:p>
        </p:txBody>
      </p:sp>
      <p:cxnSp>
        <p:nvCxnSpPr>
          <p:cNvPr id="45" name="gt-hdrline"/>
          <p:cNvCxnSpPr/>
          <p:nvPr/>
        </p:nvCxnSpPr>
        <p:spPr>
          <a:xfrm>
            <a:off x="2862072" y="2139696"/>
            <a:ext cx="8826703"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46" name="gt-ms"/>
          <p:cNvSpPr/>
          <p:nvPr/>
        </p:nvSpPr>
        <p:spPr>
          <a:xfrm rot="10800000">
            <a:off x="11624767" y="1645919"/>
            <a:ext cx="128016" cy="128016"/>
          </a:xfrm>
          <a:prstGeom prst="triangle">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gt-ms-lab"/>
          <p:cNvSpPr txBox="1"/>
          <p:nvPr/>
        </p:nvSpPr>
        <p:spPr>
          <a:xfrm>
            <a:off x="11002975" y="1764791"/>
            <a:ext cx="1371600" cy="146304"/>
          </a:xfrm>
          <a:prstGeom prst="rect">
            <a:avLst/>
          </a:prstGeom>
          <a:noFill/>
        </p:spPr>
        <p:txBody>
          <a:bodyPr wrap="none" lIns="0" tIns="0" rIns="0" bIns="0" anchor="t">
            <a:spAutoFit/>
          </a:bodyPr>
          <a:lstStyle/>
          <a:p>
            <a:pPr algn="ctr">
              <a:lnSpc>
                <a:spcPct val="120000"/>
              </a:lnSpc>
            </a:pPr>
            <a:r>
              <a:rPr sz="800" b="1">
                <a:solidFill>
                  <a:srgbClr val="B4235A"/>
                </a:solidFill>
                <a:latin typeface="BIZ UDPゴシック"/>
                <a:ea typeface="BIZ UDPゴシック"/>
              </a:rPr>
              <a:t>現状分析完了</a:t>
            </a:r>
          </a:p>
        </p:txBody>
      </p:sp>
      <p:sp>
        <p:nvSpPr>
          <p:cNvPr id="48" name="gt-bar"/>
          <p:cNvSpPr/>
          <p:nvPr/>
        </p:nvSpPr>
        <p:spPr>
          <a:xfrm>
            <a:off x="2862072" y="2231136"/>
            <a:ext cx="8826703" cy="137160"/>
          </a:xfrm>
          <a:prstGeom prst="roundRect">
            <a:avLst>
              <a:gd name="adj" fmla="val 30000"/>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gt-name"/>
          <p:cNvSpPr txBox="1"/>
          <p:nvPr/>
        </p:nvSpPr>
        <p:spPr>
          <a:xfrm>
            <a:off x="502920" y="2176272"/>
            <a:ext cx="2194560" cy="246888"/>
          </a:xfrm>
          <a:prstGeom prst="rect">
            <a:avLst/>
          </a:prstGeom>
          <a:noFill/>
        </p:spPr>
        <p:txBody>
          <a:bodyPr wrap="none" lIns="0" tIns="0" rIns="0" bIns="0" anchor="ctr">
            <a:spAutoFit/>
          </a:bodyPr>
          <a:lstStyle/>
          <a:p>
            <a:pPr algn="l">
              <a:lnSpc>
                <a:spcPct val="120000"/>
              </a:lnSpc>
            </a:pPr>
            <a:r>
              <a:rPr sz="1050" b="1">
                <a:solidFill>
                  <a:srgbClr val="1F2937"/>
                </a:solidFill>
                <a:latin typeface="BIZ UDPゴシック"/>
                <a:ea typeface="BIZ UDPゴシック"/>
              </a:rPr>
              <a:t>現状分析</a:t>
            </a:r>
          </a:p>
        </p:txBody>
      </p:sp>
      <p:cxnSp>
        <p:nvCxnSpPr>
          <p:cNvPr id="50" name="gt-rowline"/>
          <p:cNvCxnSpPr/>
          <p:nvPr/>
        </p:nvCxnSpPr>
        <p:spPr>
          <a:xfrm>
            <a:off x="502920" y="2176272"/>
            <a:ext cx="11185855" cy="0"/>
          </a:xfrm>
          <a:prstGeom prst="line">
            <a:avLst/>
          </a:prstGeom>
          <a:ln w="6350">
            <a:solidFill>
              <a:srgbClr val="E6E9EF"/>
            </a:solidFill>
          </a:ln>
        </p:spPr>
        <p:style>
          <a:lnRef idx="2">
            <a:schemeClr val="accent1"/>
          </a:lnRef>
          <a:fillRef idx="0">
            <a:schemeClr val="accent1"/>
          </a:fillRef>
          <a:effectRef idx="1">
            <a:schemeClr val="accent1"/>
          </a:effectRef>
          <a:fontRef idx="minor">
            <a:schemeClr val="tx1"/>
          </a:fontRef>
        </p:style>
      </p:cxnSp>
      <p:sp>
        <p:nvSpPr>
          <p:cNvPr id="51" name="gt-bar"/>
          <p:cNvSpPr/>
          <p:nvPr/>
        </p:nvSpPr>
        <p:spPr>
          <a:xfrm>
            <a:off x="2862072" y="2482596"/>
            <a:ext cx="6472915" cy="91440"/>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gt-name"/>
          <p:cNvSpPr txBox="1"/>
          <p:nvPr/>
        </p:nvSpPr>
        <p:spPr>
          <a:xfrm>
            <a:off x="667512" y="2423160"/>
            <a:ext cx="2029967" cy="210312"/>
          </a:xfrm>
          <a:prstGeom prst="rect">
            <a:avLst/>
          </a:prstGeom>
          <a:noFill/>
        </p:spPr>
        <p:txBody>
          <a:bodyPr wrap="none" lIns="0" tIns="0" rIns="0" bIns="0" anchor="ctr">
            <a:spAutoFit/>
          </a:bodyPr>
          <a:lstStyle/>
          <a:p>
            <a:pPr algn="l">
              <a:lnSpc>
                <a:spcPct val="120000"/>
              </a:lnSpc>
            </a:pPr>
            <a:r>
              <a:rPr sz="950" b="0">
                <a:solidFill>
                  <a:srgbClr val="1F2937"/>
                </a:solidFill>
                <a:latin typeface="BIZ UDPゴシック"/>
                <a:ea typeface="BIZ UDPゴシック"/>
              </a:rPr>
              <a:t>現状業務分析</a:t>
            </a:r>
          </a:p>
        </p:txBody>
      </p:sp>
      <p:sp>
        <p:nvSpPr>
          <p:cNvPr id="53" name="gt-deliv"/>
          <p:cNvSpPr txBox="1"/>
          <p:nvPr/>
        </p:nvSpPr>
        <p:spPr>
          <a:xfrm>
            <a:off x="9389851" y="2423160"/>
            <a:ext cx="868680" cy="210312"/>
          </a:xfrm>
          <a:prstGeom prst="rect">
            <a:avLst/>
          </a:prstGeom>
          <a:noFill/>
        </p:spPr>
        <p:txBody>
          <a:bodyPr wrap="none" lIns="0" tIns="0" rIns="0" bIns="0" anchor="ctr">
            <a:spAutoFit/>
          </a:bodyPr>
          <a:lstStyle/>
          <a:p>
            <a:pPr algn="l">
              <a:lnSpc>
                <a:spcPct val="120000"/>
              </a:lnSpc>
            </a:pPr>
            <a:r>
              <a:rPr sz="800" b="0">
                <a:solidFill>
                  <a:srgbClr val="6B7280"/>
                </a:solidFill>
                <a:latin typeface="BIZ UDPゴシック"/>
                <a:ea typeface="BIZ UDPゴシック"/>
              </a:rPr>
              <a:t>[現状業務分析書]</a:t>
            </a:r>
          </a:p>
        </p:txBody>
      </p:sp>
      <p:sp>
        <p:nvSpPr>
          <p:cNvPr id="54" name="gt-bar"/>
          <p:cNvSpPr/>
          <p:nvPr/>
        </p:nvSpPr>
        <p:spPr>
          <a:xfrm>
            <a:off x="9482099" y="2692908"/>
            <a:ext cx="2206675" cy="91440"/>
          </a:xfrm>
          <a:prstGeom prst="roundRect">
            <a:avLst>
              <a:gd name="adj" fmla="val 50000"/>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gt-name"/>
          <p:cNvSpPr txBox="1"/>
          <p:nvPr/>
        </p:nvSpPr>
        <p:spPr>
          <a:xfrm>
            <a:off x="667512" y="2633472"/>
            <a:ext cx="2029967" cy="210312"/>
          </a:xfrm>
          <a:prstGeom prst="rect">
            <a:avLst/>
          </a:prstGeom>
          <a:noFill/>
        </p:spPr>
        <p:txBody>
          <a:bodyPr wrap="none" lIns="0" tIns="0" rIns="0" bIns="0" anchor="ctr">
            <a:spAutoFit/>
          </a:bodyPr>
          <a:lstStyle/>
          <a:p>
            <a:pPr algn="l">
              <a:lnSpc>
                <a:spcPct val="120000"/>
              </a:lnSpc>
            </a:pPr>
            <a:r>
              <a:rPr sz="950" b="0">
                <a:solidFill>
                  <a:srgbClr val="1F2937"/>
                </a:solidFill>
                <a:latin typeface="BIZ UDPゴシック"/>
                <a:ea typeface="BIZ UDPゴシック"/>
              </a:rPr>
              <a:t>課題整理</a:t>
            </a:r>
          </a:p>
        </p:txBody>
      </p:sp>
      <p:sp>
        <p:nvSpPr>
          <p:cNvPr id="56" name="gt-deliv"/>
          <p:cNvSpPr txBox="1"/>
          <p:nvPr/>
        </p:nvSpPr>
        <p:spPr>
          <a:xfrm>
            <a:off x="8863355" y="2633472"/>
            <a:ext cx="563880" cy="210312"/>
          </a:xfrm>
          <a:prstGeom prst="rect">
            <a:avLst/>
          </a:prstGeom>
          <a:noFill/>
        </p:spPr>
        <p:txBody>
          <a:bodyPr wrap="none" lIns="0" tIns="0" rIns="0" bIns="0" anchor="ctr">
            <a:spAutoFit/>
          </a:bodyPr>
          <a:lstStyle/>
          <a:p>
            <a:pPr algn="r">
              <a:lnSpc>
                <a:spcPct val="120000"/>
              </a:lnSpc>
            </a:pPr>
            <a:r>
              <a:rPr sz="800" b="0">
                <a:solidFill>
                  <a:srgbClr val="6B7280"/>
                </a:solidFill>
                <a:latin typeface="BIZ UDPゴシック"/>
                <a:ea typeface="BIZ UDPゴシック"/>
              </a:rPr>
              <a:t>[課題一覧]</a:t>
            </a:r>
          </a:p>
        </p:txBody>
      </p:sp>
      <p:sp>
        <p:nvSpPr>
          <p:cNvPr id="57" name="gt-leg"/>
          <p:cNvSpPr/>
          <p:nvPr/>
        </p:nvSpPr>
        <p:spPr>
          <a:xfrm>
            <a:off x="2862072" y="2889503"/>
            <a:ext cx="146304" cy="91440"/>
          </a:xfrm>
          <a:prstGeom prst="roundRect">
            <a:avLst>
              <a:gd name="adj" fmla="val 40000"/>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044952" y="2843784"/>
            <a:ext cx="1005840" cy="182880"/>
          </a:xfrm>
          <a:prstGeom prst="rect">
            <a:avLst/>
          </a:prstGeom>
          <a:noFill/>
        </p:spPr>
        <p:txBody>
          <a:bodyPr wrap="none" lIns="0" tIns="0" rIns="0" bIns="0" anchor="ctr">
            <a:spAutoFit/>
          </a:bodyPr>
          <a:lstStyle/>
          <a:p>
            <a:pPr algn="l">
              <a:lnSpc>
                <a:spcPct val="120000"/>
              </a:lnSpc>
            </a:pPr>
            <a:r>
              <a:rPr sz="900" b="0">
                <a:solidFill>
                  <a:srgbClr val="6B7280"/>
                </a:solidFill>
                <a:latin typeface="BIZ UDPゴシック"/>
                <a:ea typeface="BIZ UDPゴシック"/>
              </a:rPr>
              <a:t>共同</a:t>
            </a:r>
          </a:p>
        </p:txBody>
      </p:sp>
      <p:sp>
        <p:nvSpPr>
          <p:cNvPr id="59" name="gt-leg"/>
          <p:cNvSpPr/>
          <p:nvPr/>
        </p:nvSpPr>
        <p:spPr>
          <a:xfrm>
            <a:off x="3566160" y="2889503"/>
            <a:ext cx="146304" cy="91440"/>
          </a:xfrm>
          <a:prstGeom prst="roundRect">
            <a:avLst>
              <a:gd name="adj" fmla="val 40000"/>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749039" y="2843784"/>
            <a:ext cx="1005840" cy="182880"/>
          </a:xfrm>
          <a:prstGeom prst="rect">
            <a:avLst/>
          </a:prstGeom>
          <a:noFill/>
        </p:spPr>
        <p:txBody>
          <a:bodyPr wrap="none" lIns="0" tIns="0" rIns="0" bIns="0" anchor="ctr">
            <a:spAutoFit/>
          </a:bodyPr>
          <a:lstStyle/>
          <a:p>
            <a:pPr algn="l">
              <a:lnSpc>
                <a:spcPct val="120000"/>
              </a:lnSpc>
            </a:pPr>
            <a:r>
              <a:rPr sz="900" b="0">
                <a:solidFill>
                  <a:srgbClr val="6B7280"/>
                </a:solidFill>
                <a:latin typeface="BIZ UDPゴシック"/>
                <a:ea typeface="BIZ UDPゴシック"/>
              </a:rPr>
              <a:t>実施側</a:t>
            </a:r>
          </a:p>
        </p:txBody>
      </p:sp>
      <p:sp>
        <p:nvSpPr>
          <p:cNvPr id="61" name="gt-leg"/>
          <p:cNvSpPr/>
          <p:nvPr/>
        </p:nvSpPr>
        <p:spPr>
          <a:xfrm>
            <a:off x="4384548" y="2889503"/>
            <a:ext cx="146304" cy="91440"/>
          </a:xfrm>
          <a:prstGeom prst="roundRect">
            <a:avLst>
              <a:gd name="adj" fmla="val 4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67428" y="2843784"/>
            <a:ext cx="1005840" cy="182880"/>
          </a:xfrm>
          <a:prstGeom prst="rect">
            <a:avLst/>
          </a:prstGeom>
          <a:noFill/>
        </p:spPr>
        <p:txBody>
          <a:bodyPr wrap="none" lIns="0" tIns="0" rIns="0" bIns="0" anchor="ctr">
            <a:spAutoFit/>
          </a:bodyPr>
          <a:lstStyle/>
          <a:p>
            <a:pPr algn="l">
              <a:lnSpc>
                <a:spcPct val="120000"/>
              </a:lnSpc>
            </a:pPr>
            <a:r>
              <a:rPr sz="900" b="0">
                <a:solidFill>
                  <a:srgbClr val="6B7280"/>
                </a:solidFill>
                <a:latin typeface="BIZ UDPゴシック"/>
                <a:ea typeface="BIZ UDPゴシック"/>
              </a:rPr>
              <a:t>オーナー側</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02  スケジュール</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2.3 フェーズ別スケジュール ─ To-Be設計</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17</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改革後の業務と要件を設計する</a:t>
            </a:r>
          </a:p>
        </p:txBody>
      </p:sp>
      <p:sp>
        <p:nvSpPr>
          <p:cNvPr id="24" name="TextBox 23"/>
          <p:cNvSpPr txBox="1"/>
          <p:nvPr/>
        </p:nvSpPr>
        <p:spPr>
          <a:xfrm>
            <a:off x="2587752" y="1901951"/>
            <a:ext cx="548640" cy="237744"/>
          </a:xfrm>
          <a:prstGeom prst="rect">
            <a:avLst/>
          </a:prstGeom>
          <a:noFill/>
        </p:spPr>
        <p:txBody>
          <a:bodyPr wrap="none" lIns="0" tIns="0" rIns="0" bIns="0" anchor="ctr">
            <a:spAutoFit/>
          </a:bodyPr>
          <a:lstStyle/>
          <a:p>
            <a:pPr algn="ctr">
              <a:lnSpc>
                <a:spcPct val="120000"/>
              </a:lnSpc>
            </a:pPr>
            <a:r>
              <a:rPr sz="800" b="0">
                <a:solidFill>
                  <a:srgbClr val="6B7280"/>
                </a:solidFill>
                <a:latin typeface="BIZ UDPゴシック"/>
                <a:ea typeface="BIZ UDPゴシック"/>
              </a:rPr>
              <a:t>6/1</a:t>
            </a:r>
          </a:p>
        </p:txBody>
      </p:sp>
      <p:cxnSp>
        <p:nvCxnSpPr>
          <p:cNvPr id="25" name="gt-grid"/>
          <p:cNvCxnSpPr/>
          <p:nvPr/>
        </p:nvCxnSpPr>
        <p:spPr>
          <a:xfrm>
            <a:off x="3541049" y="1901951"/>
            <a:ext cx="914"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26" name="gt-grid"/>
          <p:cNvCxnSpPr/>
          <p:nvPr/>
        </p:nvCxnSpPr>
        <p:spPr>
          <a:xfrm>
            <a:off x="3541049"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27" name="gt-grid"/>
          <p:cNvCxnSpPr/>
          <p:nvPr/>
        </p:nvCxnSpPr>
        <p:spPr>
          <a:xfrm>
            <a:off x="4220026" y="1901951"/>
            <a:ext cx="914"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28" name="gt-grid"/>
          <p:cNvCxnSpPr/>
          <p:nvPr/>
        </p:nvCxnSpPr>
        <p:spPr>
          <a:xfrm>
            <a:off x="4220026"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945706" y="1901951"/>
            <a:ext cx="548640" cy="237744"/>
          </a:xfrm>
          <a:prstGeom prst="rect">
            <a:avLst/>
          </a:prstGeom>
          <a:noFill/>
        </p:spPr>
        <p:txBody>
          <a:bodyPr wrap="none" lIns="0" tIns="0" rIns="0" bIns="0" anchor="ctr">
            <a:spAutoFit/>
          </a:bodyPr>
          <a:lstStyle/>
          <a:p>
            <a:pPr algn="ctr">
              <a:lnSpc>
                <a:spcPct val="120000"/>
              </a:lnSpc>
            </a:pPr>
            <a:r>
              <a:rPr sz="800" b="0">
                <a:solidFill>
                  <a:srgbClr val="6B7280"/>
                </a:solidFill>
                <a:latin typeface="BIZ UDPゴシック"/>
                <a:ea typeface="BIZ UDPゴシック"/>
              </a:rPr>
              <a:t>6/15</a:t>
            </a:r>
          </a:p>
        </p:txBody>
      </p:sp>
      <p:cxnSp>
        <p:nvCxnSpPr>
          <p:cNvPr id="30" name="gt-grid"/>
          <p:cNvCxnSpPr/>
          <p:nvPr/>
        </p:nvCxnSpPr>
        <p:spPr>
          <a:xfrm>
            <a:off x="4899003" y="1901951"/>
            <a:ext cx="914"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31" name="gt-grid"/>
          <p:cNvCxnSpPr/>
          <p:nvPr/>
        </p:nvCxnSpPr>
        <p:spPr>
          <a:xfrm>
            <a:off x="4899003"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32" name="gt-grid"/>
          <p:cNvCxnSpPr/>
          <p:nvPr/>
        </p:nvCxnSpPr>
        <p:spPr>
          <a:xfrm>
            <a:off x="5577980" y="1901951"/>
            <a:ext cx="915"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33" name="gt-grid"/>
          <p:cNvCxnSpPr/>
          <p:nvPr/>
        </p:nvCxnSpPr>
        <p:spPr>
          <a:xfrm>
            <a:off x="5577980"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303660" y="1901951"/>
            <a:ext cx="548640" cy="237744"/>
          </a:xfrm>
          <a:prstGeom prst="rect">
            <a:avLst/>
          </a:prstGeom>
          <a:noFill/>
        </p:spPr>
        <p:txBody>
          <a:bodyPr wrap="none" lIns="0" tIns="0" rIns="0" bIns="0" anchor="ctr">
            <a:spAutoFit/>
          </a:bodyPr>
          <a:lstStyle/>
          <a:p>
            <a:pPr algn="ctr">
              <a:lnSpc>
                <a:spcPct val="120000"/>
              </a:lnSpc>
            </a:pPr>
            <a:r>
              <a:rPr sz="800" b="0">
                <a:solidFill>
                  <a:srgbClr val="6B7280"/>
                </a:solidFill>
                <a:latin typeface="BIZ UDPゴシック"/>
                <a:ea typeface="BIZ UDPゴシック"/>
              </a:rPr>
              <a:t>6/29</a:t>
            </a:r>
          </a:p>
        </p:txBody>
      </p:sp>
      <p:cxnSp>
        <p:nvCxnSpPr>
          <p:cNvPr id="35" name="gt-grid"/>
          <p:cNvCxnSpPr/>
          <p:nvPr/>
        </p:nvCxnSpPr>
        <p:spPr>
          <a:xfrm>
            <a:off x="6256957" y="1901951"/>
            <a:ext cx="915"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36" name="gt-grid"/>
          <p:cNvCxnSpPr/>
          <p:nvPr/>
        </p:nvCxnSpPr>
        <p:spPr>
          <a:xfrm>
            <a:off x="6256957"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37" name="gt-grid"/>
          <p:cNvCxnSpPr/>
          <p:nvPr/>
        </p:nvCxnSpPr>
        <p:spPr>
          <a:xfrm>
            <a:off x="6935935" y="1901951"/>
            <a:ext cx="914"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38" name="gt-grid"/>
          <p:cNvCxnSpPr/>
          <p:nvPr/>
        </p:nvCxnSpPr>
        <p:spPr>
          <a:xfrm>
            <a:off x="6935935"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661615" y="1901951"/>
            <a:ext cx="548640" cy="237744"/>
          </a:xfrm>
          <a:prstGeom prst="rect">
            <a:avLst/>
          </a:prstGeom>
          <a:noFill/>
        </p:spPr>
        <p:txBody>
          <a:bodyPr wrap="none" lIns="0" tIns="0" rIns="0" bIns="0" anchor="ctr">
            <a:spAutoFit/>
          </a:bodyPr>
          <a:lstStyle/>
          <a:p>
            <a:pPr algn="ctr">
              <a:lnSpc>
                <a:spcPct val="120000"/>
              </a:lnSpc>
            </a:pPr>
            <a:r>
              <a:rPr sz="800" b="0">
                <a:solidFill>
                  <a:srgbClr val="6B7280"/>
                </a:solidFill>
                <a:latin typeface="BIZ UDPゴシック"/>
                <a:ea typeface="BIZ UDPゴシック"/>
              </a:rPr>
              <a:t>7/13</a:t>
            </a:r>
          </a:p>
        </p:txBody>
      </p:sp>
      <p:cxnSp>
        <p:nvCxnSpPr>
          <p:cNvPr id="40" name="gt-grid"/>
          <p:cNvCxnSpPr/>
          <p:nvPr/>
        </p:nvCxnSpPr>
        <p:spPr>
          <a:xfrm>
            <a:off x="7614912" y="1901951"/>
            <a:ext cx="914"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41" name="gt-grid"/>
          <p:cNvCxnSpPr/>
          <p:nvPr/>
        </p:nvCxnSpPr>
        <p:spPr>
          <a:xfrm>
            <a:off x="7614912"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42" name="gt-grid"/>
          <p:cNvCxnSpPr/>
          <p:nvPr/>
        </p:nvCxnSpPr>
        <p:spPr>
          <a:xfrm>
            <a:off x="8293889" y="1901951"/>
            <a:ext cx="914"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43" name="gt-grid"/>
          <p:cNvCxnSpPr/>
          <p:nvPr/>
        </p:nvCxnSpPr>
        <p:spPr>
          <a:xfrm>
            <a:off x="8293889"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8019569" y="1901951"/>
            <a:ext cx="548640" cy="237744"/>
          </a:xfrm>
          <a:prstGeom prst="rect">
            <a:avLst/>
          </a:prstGeom>
          <a:noFill/>
        </p:spPr>
        <p:txBody>
          <a:bodyPr wrap="none" lIns="0" tIns="0" rIns="0" bIns="0" anchor="ctr">
            <a:spAutoFit/>
          </a:bodyPr>
          <a:lstStyle/>
          <a:p>
            <a:pPr algn="ctr">
              <a:lnSpc>
                <a:spcPct val="120000"/>
              </a:lnSpc>
            </a:pPr>
            <a:r>
              <a:rPr sz="800" b="0">
                <a:solidFill>
                  <a:srgbClr val="6B7280"/>
                </a:solidFill>
                <a:latin typeface="BIZ UDPゴシック"/>
                <a:ea typeface="BIZ UDPゴシック"/>
              </a:rPr>
              <a:t>7/27</a:t>
            </a:r>
          </a:p>
        </p:txBody>
      </p:sp>
      <p:cxnSp>
        <p:nvCxnSpPr>
          <p:cNvPr id="45" name="gt-grid"/>
          <p:cNvCxnSpPr/>
          <p:nvPr/>
        </p:nvCxnSpPr>
        <p:spPr>
          <a:xfrm>
            <a:off x="8972866" y="1901951"/>
            <a:ext cx="914"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46" name="gt-grid"/>
          <p:cNvCxnSpPr/>
          <p:nvPr/>
        </p:nvCxnSpPr>
        <p:spPr>
          <a:xfrm>
            <a:off x="8972866"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47" name="gt-grid"/>
          <p:cNvCxnSpPr/>
          <p:nvPr/>
        </p:nvCxnSpPr>
        <p:spPr>
          <a:xfrm>
            <a:off x="9651843" y="1901951"/>
            <a:ext cx="915"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48" name="gt-grid"/>
          <p:cNvCxnSpPr/>
          <p:nvPr/>
        </p:nvCxnSpPr>
        <p:spPr>
          <a:xfrm>
            <a:off x="9651843"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377523" y="1901951"/>
            <a:ext cx="548640" cy="237744"/>
          </a:xfrm>
          <a:prstGeom prst="rect">
            <a:avLst/>
          </a:prstGeom>
          <a:noFill/>
        </p:spPr>
        <p:txBody>
          <a:bodyPr wrap="none" lIns="0" tIns="0" rIns="0" bIns="0" anchor="ctr">
            <a:spAutoFit/>
          </a:bodyPr>
          <a:lstStyle/>
          <a:p>
            <a:pPr algn="ctr">
              <a:lnSpc>
                <a:spcPct val="120000"/>
              </a:lnSpc>
            </a:pPr>
            <a:r>
              <a:rPr sz="800" b="0">
                <a:solidFill>
                  <a:srgbClr val="6B7280"/>
                </a:solidFill>
                <a:latin typeface="BIZ UDPゴシック"/>
                <a:ea typeface="BIZ UDPゴシック"/>
              </a:rPr>
              <a:t>8/10</a:t>
            </a:r>
          </a:p>
        </p:txBody>
      </p:sp>
      <p:cxnSp>
        <p:nvCxnSpPr>
          <p:cNvPr id="50" name="gt-grid"/>
          <p:cNvCxnSpPr/>
          <p:nvPr/>
        </p:nvCxnSpPr>
        <p:spPr>
          <a:xfrm>
            <a:off x="10330820" y="1901951"/>
            <a:ext cx="915"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51" name="gt-grid"/>
          <p:cNvCxnSpPr/>
          <p:nvPr/>
        </p:nvCxnSpPr>
        <p:spPr>
          <a:xfrm>
            <a:off x="10330820"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52" name="gt-grid"/>
          <p:cNvCxnSpPr/>
          <p:nvPr/>
        </p:nvCxnSpPr>
        <p:spPr>
          <a:xfrm>
            <a:off x="11009798" y="1901951"/>
            <a:ext cx="914"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53" name="gt-grid"/>
          <p:cNvCxnSpPr/>
          <p:nvPr/>
        </p:nvCxnSpPr>
        <p:spPr>
          <a:xfrm>
            <a:off x="11009798"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0735478" y="1901951"/>
            <a:ext cx="548640" cy="237744"/>
          </a:xfrm>
          <a:prstGeom prst="rect">
            <a:avLst/>
          </a:prstGeom>
          <a:noFill/>
        </p:spPr>
        <p:txBody>
          <a:bodyPr wrap="none" lIns="0" tIns="0" rIns="0" bIns="0" anchor="ctr">
            <a:spAutoFit/>
          </a:bodyPr>
          <a:lstStyle/>
          <a:p>
            <a:pPr algn="ctr">
              <a:lnSpc>
                <a:spcPct val="120000"/>
              </a:lnSpc>
            </a:pPr>
            <a:r>
              <a:rPr sz="800" b="0">
                <a:solidFill>
                  <a:srgbClr val="6B7280"/>
                </a:solidFill>
                <a:latin typeface="BIZ UDPゴシック"/>
                <a:ea typeface="BIZ UDPゴシック"/>
              </a:rPr>
              <a:t>8/24</a:t>
            </a:r>
          </a:p>
        </p:txBody>
      </p:sp>
      <p:cxnSp>
        <p:nvCxnSpPr>
          <p:cNvPr id="55" name="gt-grid"/>
          <p:cNvCxnSpPr/>
          <p:nvPr/>
        </p:nvCxnSpPr>
        <p:spPr>
          <a:xfrm>
            <a:off x="11688775" y="1901951"/>
            <a:ext cx="914" cy="0"/>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56" name="gt-grid"/>
          <p:cNvCxnSpPr/>
          <p:nvPr/>
        </p:nvCxnSpPr>
        <p:spPr>
          <a:xfrm>
            <a:off x="11688775" y="1901951"/>
            <a:ext cx="0" cy="237745"/>
          </a:xfrm>
          <a:prstGeom prst="line">
            <a:avLst/>
          </a:prstGeom>
          <a:ln w="6350">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57" name="gt-hdrline"/>
          <p:cNvCxnSpPr/>
          <p:nvPr/>
        </p:nvCxnSpPr>
        <p:spPr>
          <a:xfrm>
            <a:off x="2862072" y="2139696"/>
            <a:ext cx="8826703"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58" name="gt-ms"/>
          <p:cNvSpPr/>
          <p:nvPr/>
        </p:nvSpPr>
        <p:spPr>
          <a:xfrm rot="10800000">
            <a:off x="11624767" y="1645919"/>
            <a:ext cx="128016" cy="128016"/>
          </a:xfrm>
          <a:prstGeom prst="triangle">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t-ms-lab"/>
          <p:cNvSpPr txBox="1"/>
          <p:nvPr/>
        </p:nvSpPr>
        <p:spPr>
          <a:xfrm>
            <a:off x="11002975" y="1764791"/>
            <a:ext cx="1371600" cy="146304"/>
          </a:xfrm>
          <a:prstGeom prst="rect">
            <a:avLst/>
          </a:prstGeom>
          <a:noFill/>
        </p:spPr>
        <p:txBody>
          <a:bodyPr wrap="none" lIns="0" tIns="0" rIns="0" bIns="0" anchor="t">
            <a:spAutoFit/>
          </a:bodyPr>
          <a:lstStyle/>
          <a:p>
            <a:pPr algn="ctr">
              <a:lnSpc>
                <a:spcPct val="120000"/>
              </a:lnSpc>
            </a:pPr>
            <a:r>
              <a:rPr sz="800" b="1">
                <a:solidFill>
                  <a:srgbClr val="B4235A"/>
                </a:solidFill>
                <a:latin typeface="BIZ UDPゴシック"/>
                <a:ea typeface="BIZ UDPゴシック"/>
              </a:rPr>
              <a:t>To-Be設計完了</a:t>
            </a:r>
          </a:p>
        </p:txBody>
      </p:sp>
      <p:sp>
        <p:nvSpPr>
          <p:cNvPr id="60" name="gt-bar"/>
          <p:cNvSpPr/>
          <p:nvPr/>
        </p:nvSpPr>
        <p:spPr>
          <a:xfrm>
            <a:off x="2862072" y="2231136"/>
            <a:ext cx="8826703" cy="137160"/>
          </a:xfrm>
          <a:prstGeom prst="roundRect">
            <a:avLst>
              <a:gd name="adj" fmla="val 30000"/>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gt-name"/>
          <p:cNvSpPr txBox="1"/>
          <p:nvPr/>
        </p:nvSpPr>
        <p:spPr>
          <a:xfrm>
            <a:off x="502920" y="2176272"/>
            <a:ext cx="2194560" cy="246888"/>
          </a:xfrm>
          <a:prstGeom prst="rect">
            <a:avLst/>
          </a:prstGeom>
          <a:noFill/>
        </p:spPr>
        <p:txBody>
          <a:bodyPr wrap="none" lIns="0" tIns="0" rIns="0" bIns="0" anchor="ctr">
            <a:spAutoFit/>
          </a:bodyPr>
          <a:lstStyle/>
          <a:p>
            <a:pPr algn="l">
              <a:lnSpc>
                <a:spcPct val="120000"/>
              </a:lnSpc>
            </a:pPr>
            <a:r>
              <a:rPr sz="1050" b="1">
                <a:solidFill>
                  <a:srgbClr val="1F2937"/>
                </a:solidFill>
                <a:latin typeface="BIZ UDPゴシック"/>
                <a:ea typeface="BIZ UDPゴシック"/>
              </a:rPr>
              <a:t>To-Be設計</a:t>
            </a:r>
          </a:p>
        </p:txBody>
      </p:sp>
      <p:cxnSp>
        <p:nvCxnSpPr>
          <p:cNvPr id="62" name="gt-rowline"/>
          <p:cNvCxnSpPr/>
          <p:nvPr/>
        </p:nvCxnSpPr>
        <p:spPr>
          <a:xfrm>
            <a:off x="502920" y="2176272"/>
            <a:ext cx="11185855" cy="0"/>
          </a:xfrm>
          <a:prstGeom prst="line">
            <a:avLst/>
          </a:prstGeom>
          <a:ln w="6350">
            <a:solidFill>
              <a:srgbClr val="E6E9EF"/>
            </a:solidFill>
          </a:ln>
        </p:spPr>
        <p:style>
          <a:lnRef idx="2">
            <a:schemeClr val="accent1"/>
          </a:lnRef>
          <a:fillRef idx="0">
            <a:schemeClr val="accent1"/>
          </a:fillRef>
          <a:effectRef idx="1">
            <a:schemeClr val="accent1"/>
          </a:effectRef>
          <a:fontRef idx="minor">
            <a:schemeClr val="tx1"/>
          </a:fontRef>
        </p:style>
      </p:cxnSp>
      <p:sp>
        <p:nvSpPr>
          <p:cNvPr id="63" name="gt-bar"/>
          <p:cNvSpPr/>
          <p:nvPr/>
        </p:nvSpPr>
        <p:spPr>
          <a:xfrm>
            <a:off x="2862072" y="2482596"/>
            <a:ext cx="4267856" cy="91440"/>
          </a:xfrm>
          <a:prstGeom prst="roundRect">
            <a:avLst>
              <a:gd name="adj" fmla="val 50000"/>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gt-name"/>
          <p:cNvSpPr txBox="1"/>
          <p:nvPr/>
        </p:nvSpPr>
        <p:spPr>
          <a:xfrm>
            <a:off x="667512" y="2423160"/>
            <a:ext cx="2029967" cy="210312"/>
          </a:xfrm>
          <a:prstGeom prst="rect">
            <a:avLst/>
          </a:prstGeom>
          <a:noFill/>
        </p:spPr>
        <p:txBody>
          <a:bodyPr wrap="none" lIns="0" tIns="0" rIns="0" bIns="0" anchor="ctr">
            <a:spAutoFit/>
          </a:bodyPr>
          <a:lstStyle/>
          <a:p>
            <a:pPr algn="l">
              <a:lnSpc>
                <a:spcPct val="120000"/>
              </a:lnSpc>
            </a:pPr>
            <a:r>
              <a:rPr sz="950" b="0">
                <a:solidFill>
                  <a:srgbClr val="1F2937"/>
                </a:solidFill>
                <a:latin typeface="BIZ UDPゴシック"/>
                <a:ea typeface="BIZ UDPゴシック"/>
              </a:rPr>
              <a:t>To-Be業務設計</a:t>
            </a:r>
          </a:p>
        </p:txBody>
      </p:sp>
      <p:sp>
        <p:nvSpPr>
          <p:cNvPr id="65" name="gt-deliv"/>
          <p:cNvSpPr txBox="1"/>
          <p:nvPr/>
        </p:nvSpPr>
        <p:spPr>
          <a:xfrm>
            <a:off x="7184792" y="2423160"/>
            <a:ext cx="944879" cy="210312"/>
          </a:xfrm>
          <a:prstGeom prst="rect">
            <a:avLst/>
          </a:prstGeom>
          <a:noFill/>
        </p:spPr>
        <p:txBody>
          <a:bodyPr wrap="none" lIns="0" tIns="0" rIns="0" bIns="0" anchor="ctr">
            <a:spAutoFit/>
          </a:bodyPr>
          <a:lstStyle/>
          <a:p>
            <a:pPr algn="l">
              <a:lnSpc>
                <a:spcPct val="120000"/>
              </a:lnSpc>
            </a:pPr>
            <a:r>
              <a:rPr sz="800" b="0">
                <a:solidFill>
                  <a:srgbClr val="6B7280"/>
                </a:solidFill>
                <a:latin typeface="BIZ UDPゴシック"/>
                <a:ea typeface="BIZ UDPゴシック"/>
              </a:rPr>
              <a:t>[To-Be業務フロー]</a:t>
            </a:r>
          </a:p>
        </p:txBody>
      </p:sp>
      <p:sp>
        <p:nvSpPr>
          <p:cNvPr id="66" name="gt-bar"/>
          <p:cNvSpPr/>
          <p:nvPr/>
        </p:nvSpPr>
        <p:spPr>
          <a:xfrm>
            <a:off x="7226925" y="2692908"/>
            <a:ext cx="4461849" cy="91440"/>
          </a:xfrm>
          <a:prstGeom prst="roundRect">
            <a:avLst>
              <a:gd name="adj" fmla="val 50000"/>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gt-name"/>
          <p:cNvSpPr txBox="1"/>
          <p:nvPr/>
        </p:nvSpPr>
        <p:spPr>
          <a:xfrm>
            <a:off x="667512" y="2633472"/>
            <a:ext cx="2029967" cy="210312"/>
          </a:xfrm>
          <a:prstGeom prst="rect">
            <a:avLst/>
          </a:prstGeom>
          <a:noFill/>
        </p:spPr>
        <p:txBody>
          <a:bodyPr wrap="none" lIns="0" tIns="0" rIns="0" bIns="0" anchor="ctr">
            <a:spAutoFit/>
          </a:bodyPr>
          <a:lstStyle/>
          <a:p>
            <a:pPr algn="l">
              <a:lnSpc>
                <a:spcPct val="120000"/>
              </a:lnSpc>
            </a:pPr>
            <a:r>
              <a:rPr sz="950" b="0">
                <a:solidFill>
                  <a:srgbClr val="1F2937"/>
                </a:solidFill>
                <a:latin typeface="BIZ UDPゴシック"/>
                <a:ea typeface="BIZ UDPゴシック"/>
              </a:rPr>
              <a:t>要件定義</a:t>
            </a:r>
          </a:p>
        </p:txBody>
      </p:sp>
      <p:sp>
        <p:nvSpPr>
          <p:cNvPr id="68" name="gt-deliv"/>
          <p:cNvSpPr txBox="1"/>
          <p:nvPr/>
        </p:nvSpPr>
        <p:spPr>
          <a:xfrm>
            <a:off x="6506581" y="2633472"/>
            <a:ext cx="665480" cy="210312"/>
          </a:xfrm>
          <a:prstGeom prst="rect">
            <a:avLst/>
          </a:prstGeom>
          <a:noFill/>
        </p:spPr>
        <p:txBody>
          <a:bodyPr wrap="none" lIns="0" tIns="0" rIns="0" bIns="0" anchor="ctr">
            <a:spAutoFit/>
          </a:bodyPr>
          <a:lstStyle/>
          <a:p>
            <a:pPr algn="r">
              <a:lnSpc>
                <a:spcPct val="120000"/>
              </a:lnSpc>
            </a:pPr>
            <a:r>
              <a:rPr sz="800" b="0">
                <a:solidFill>
                  <a:srgbClr val="6B7280"/>
                </a:solidFill>
                <a:latin typeface="BIZ UDPゴシック"/>
                <a:ea typeface="BIZ UDPゴシック"/>
              </a:rPr>
              <a:t>[要件定義書]</a:t>
            </a:r>
          </a:p>
        </p:txBody>
      </p:sp>
      <p:sp>
        <p:nvSpPr>
          <p:cNvPr id="69" name="gt-leg"/>
          <p:cNvSpPr/>
          <p:nvPr/>
        </p:nvSpPr>
        <p:spPr>
          <a:xfrm>
            <a:off x="2862072" y="2889503"/>
            <a:ext cx="146304" cy="91440"/>
          </a:xfrm>
          <a:prstGeom prst="roundRect">
            <a:avLst>
              <a:gd name="adj" fmla="val 40000"/>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044952" y="2843784"/>
            <a:ext cx="1005840" cy="182880"/>
          </a:xfrm>
          <a:prstGeom prst="rect">
            <a:avLst/>
          </a:prstGeom>
          <a:noFill/>
        </p:spPr>
        <p:txBody>
          <a:bodyPr wrap="none" lIns="0" tIns="0" rIns="0" bIns="0" anchor="ctr">
            <a:spAutoFit/>
          </a:bodyPr>
          <a:lstStyle/>
          <a:p>
            <a:pPr algn="l">
              <a:lnSpc>
                <a:spcPct val="120000"/>
              </a:lnSpc>
            </a:pPr>
            <a:r>
              <a:rPr sz="900" b="0">
                <a:solidFill>
                  <a:srgbClr val="6B7280"/>
                </a:solidFill>
                <a:latin typeface="BIZ UDPゴシック"/>
                <a:ea typeface="BIZ UDPゴシック"/>
              </a:rPr>
              <a:t>共同</a:t>
            </a:r>
          </a:p>
        </p:txBody>
      </p:sp>
      <p:sp>
        <p:nvSpPr>
          <p:cNvPr id="71" name="gt-leg"/>
          <p:cNvSpPr/>
          <p:nvPr/>
        </p:nvSpPr>
        <p:spPr>
          <a:xfrm>
            <a:off x="3566160" y="2889503"/>
            <a:ext cx="146304" cy="91440"/>
          </a:xfrm>
          <a:prstGeom prst="roundRect">
            <a:avLst>
              <a:gd name="adj" fmla="val 40000"/>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749039" y="2843784"/>
            <a:ext cx="1005840" cy="182880"/>
          </a:xfrm>
          <a:prstGeom prst="rect">
            <a:avLst/>
          </a:prstGeom>
          <a:noFill/>
        </p:spPr>
        <p:txBody>
          <a:bodyPr wrap="none" lIns="0" tIns="0" rIns="0" bIns="0" anchor="ctr">
            <a:spAutoFit/>
          </a:bodyPr>
          <a:lstStyle/>
          <a:p>
            <a:pPr algn="l">
              <a:lnSpc>
                <a:spcPct val="120000"/>
              </a:lnSpc>
            </a:pPr>
            <a:r>
              <a:rPr sz="900" b="0">
                <a:solidFill>
                  <a:srgbClr val="6B7280"/>
                </a:solidFill>
                <a:latin typeface="BIZ UDPゴシック"/>
                <a:ea typeface="BIZ UDPゴシック"/>
              </a:rPr>
              <a:t>実施側</a:t>
            </a:r>
          </a:p>
        </p:txBody>
      </p:sp>
      <p:sp>
        <p:nvSpPr>
          <p:cNvPr id="73" name="gt-leg"/>
          <p:cNvSpPr/>
          <p:nvPr/>
        </p:nvSpPr>
        <p:spPr>
          <a:xfrm>
            <a:off x="4384548" y="2889503"/>
            <a:ext cx="146304" cy="91440"/>
          </a:xfrm>
          <a:prstGeom prst="roundRect">
            <a:avLst>
              <a:gd name="adj" fmla="val 4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567428" y="2843784"/>
            <a:ext cx="1005840" cy="182880"/>
          </a:xfrm>
          <a:prstGeom prst="rect">
            <a:avLst/>
          </a:prstGeom>
          <a:noFill/>
        </p:spPr>
        <p:txBody>
          <a:bodyPr wrap="none" lIns="0" tIns="0" rIns="0" bIns="0" anchor="ctr">
            <a:spAutoFit/>
          </a:bodyPr>
          <a:lstStyle/>
          <a:p>
            <a:pPr algn="l">
              <a:lnSpc>
                <a:spcPct val="120000"/>
              </a:lnSpc>
            </a:pPr>
            <a:r>
              <a:rPr sz="900" b="0">
                <a:solidFill>
                  <a:srgbClr val="6B7280"/>
                </a:solidFill>
                <a:latin typeface="BIZ UDPゴシック"/>
                <a:ea typeface="BIZ UDPゴシック"/>
              </a:rPr>
              <a:t>オーナー側</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v-bg"/>
          <p:cNvSpPr/>
          <p:nvPr/>
        </p:nvSpPr>
        <p:spPr>
          <a:xfrm>
            <a:off x="0" y="0"/>
            <a:ext cx="12191695" cy="6858000"/>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v-acc1"/>
          <p:cNvSpPr/>
          <p:nvPr/>
        </p:nvSpPr>
        <p:spPr>
          <a:xfrm>
            <a:off x="9814255" y="-1005840"/>
            <a:ext cx="2560320" cy="2560320"/>
          </a:xfrm>
          <a:prstGeom prst="rect">
            <a:avLst/>
          </a:prstGeom>
          <a:solidFill>
            <a:srgbClr val="B4235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v-acc2"/>
          <p:cNvSpPr/>
          <p:nvPr/>
        </p:nvSpPr>
        <p:spPr>
          <a:xfrm>
            <a:off x="10637215" y="5120640"/>
            <a:ext cx="1188720" cy="1188720"/>
          </a:xfrm>
          <a:prstGeom prst="ellipse">
            <a:avLst/>
          </a:prstGeom>
          <a:noFill/>
          <a:ln w="254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v-acc3"/>
          <p:cNvSpPr/>
          <p:nvPr/>
        </p:nvSpPr>
        <p:spPr>
          <a:xfrm rot="1320000">
            <a:off x="11643055" y="2468879"/>
            <a:ext cx="502920" cy="3108960"/>
          </a:xfrm>
          <a:prstGeom prst="rect">
            <a:avLst/>
          </a:prstGeom>
          <a:solidFill>
            <a:srgbClr val="B4235A">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v-kicker"/>
          <p:cNvSpPr txBox="1"/>
          <p:nvPr/>
        </p:nvSpPr>
        <p:spPr>
          <a:xfrm>
            <a:off x="777240" y="960120"/>
            <a:ext cx="2743200" cy="256032"/>
          </a:xfrm>
          <a:prstGeom prst="rect">
            <a:avLst/>
          </a:prstGeom>
          <a:noFill/>
        </p:spPr>
        <p:txBody>
          <a:bodyPr wrap="square" lIns="0" tIns="0" rIns="0" bIns="0" anchor="t">
            <a:spAutoFit/>
          </a:bodyPr>
          <a:lstStyle/>
          <a:p>
            <a:pPr algn="l">
              <a:lnSpc>
                <a:spcPct val="120000"/>
              </a:lnSpc>
            </a:pPr>
            <a:r>
              <a:rPr sz="1200" b="1" spc="400">
                <a:solidFill>
                  <a:srgbClr val="0E7490"/>
                </a:solidFill>
                <a:latin typeface="BIZ UDPゴシック"/>
                <a:ea typeface="BIZ UDPゴシック"/>
              </a:rPr>
              <a:t>CHAPTER</a:t>
            </a:r>
          </a:p>
        </p:txBody>
      </p:sp>
      <p:sp>
        <p:nvSpPr>
          <p:cNvPr id="7" name="dv-num"/>
          <p:cNvSpPr txBox="1"/>
          <p:nvPr/>
        </p:nvSpPr>
        <p:spPr>
          <a:xfrm>
            <a:off x="731519" y="1234440"/>
            <a:ext cx="3108960" cy="1417320"/>
          </a:xfrm>
          <a:prstGeom prst="rect">
            <a:avLst/>
          </a:prstGeom>
          <a:noFill/>
        </p:spPr>
        <p:txBody>
          <a:bodyPr wrap="none" lIns="0" tIns="0" rIns="0" bIns="0" anchor="t">
            <a:spAutoFit/>
          </a:bodyPr>
          <a:lstStyle/>
          <a:p>
            <a:pPr algn="l">
              <a:lnSpc>
                <a:spcPct val="120000"/>
              </a:lnSpc>
            </a:pPr>
            <a:r>
              <a:rPr sz="9600" b="1">
                <a:solidFill>
                  <a:srgbClr val="B4235A"/>
                </a:solidFill>
                <a:latin typeface="BIZ UDPゴシック"/>
                <a:ea typeface="BIZ UDPゴシック"/>
              </a:rPr>
              <a:t>03</a:t>
            </a:r>
          </a:p>
        </p:txBody>
      </p:sp>
      <p:sp>
        <p:nvSpPr>
          <p:cNvPr id="8" name="dv-title"/>
          <p:cNvSpPr txBox="1"/>
          <p:nvPr/>
        </p:nvSpPr>
        <p:spPr>
          <a:xfrm>
            <a:off x="777240" y="2880360"/>
            <a:ext cx="9539935" cy="685800"/>
          </a:xfrm>
          <a:prstGeom prst="rect">
            <a:avLst/>
          </a:prstGeom>
          <a:noFill/>
        </p:spPr>
        <p:txBody>
          <a:bodyPr wrap="square" lIns="0" tIns="0" rIns="0" bIns="0" anchor="t">
            <a:spAutoFit/>
          </a:bodyPr>
          <a:lstStyle/>
          <a:p>
            <a:pPr algn="l">
              <a:lnSpc>
                <a:spcPct val="120000"/>
              </a:lnSpc>
            </a:pPr>
            <a:r>
              <a:rPr sz="4000" b="1">
                <a:solidFill>
                  <a:srgbClr val="FFFFFF"/>
                </a:solidFill>
                <a:latin typeface="BIZ UDPゴシック"/>
                <a:ea typeface="BIZ UDPゴシック"/>
              </a:rPr>
              <a:t>体制</a:t>
            </a:r>
          </a:p>
        </p:txBody>
      </p:sp>
      <p:sp>
        <p:nvSpPr>
          <p:cNvPr id="9" name="dv-sec-3.1"/>
          <p:cNvSpPr txBox="1"/>
          <p:nvPr/>
        </p:nvSpPr>
        <p:spPr>
          <a:xfrm>
            <a:off x="777240" y="4069080"/>
            <a:ext cx="10637215" cy="256032"/>
          </a:xfrm>
          <a:prstGeom prst="rect">
            <a:avLst/>
          </a:prstGeom>
          <a:noFill/>
        </p:spPr>
        <p:txBody>
          <a:bodyPr wrap="square" lIns="0" tIns="0" rIns="0" bIns="0" anchor="t">
            <a:spAutoFit/>
          </a:bodyPr>
          <a:lstStyle/>
          <a:p>
            <a:pPr algn="l">
              <a:lnSpc>
                <a:spcPct val="120000"/>
              </a:lnSpc>
            </a:pPr>
            <a:r>
              <a:rPr sz="1300" b="0">
                <a:solidFill>
                  <a:srgbClr val="D2E1FC"/>
                </a:solidFill>
                <a:latin typeface="BIZ UDPゴシック"/>
                <a:ea typeface="BIZ UDPゴシック"/>
              </a:rPr>
              <a:t>3.1  オーナー側体制</a:t>
            </a:r>
          </a:p>
        </p:txBody>
      </p:sp>
      <p:sp>
        <p:nvSpPr>
          <p:cNvPr id="10" name="dv-sec-3.2"/>
          <p:cNvSpPr txBox="1"/>
          <p:nvPr/>
        </p:nvSpPr>
        <p:spPr>
          <a:xfrm>
            <a:off x="777240" y="4291965"/>
            <a:ext cx="10637215" cy="256032"/>
          </a:xfrm>
          <a:prstGeom prst="rect">
            <a:avLst/>
          </a:prstGeom>
          <a:noFill/>
        </p:spPr>
        <p:txBody>
          <a:bodyPr wrap="square" lIns="0" tIns="0" rIns="0" bIns="0" anchor="t">
            <a:spAutoFit/>
          </a:bodyPr>
          <a:lstStyle/>
          <a:p>
            <a:pPr algn="l">
              <a:lnSpc>
                <a:spcPct val="120000"/>
              </a:lnSpc>
            </a:pPr>
            <a:r>
              <a:rPr sz="1300" b="0">
                <a:solidFill>
                  <a:srgbClr val="D2E1FC"/>
                </a:solidFill>
                <a:latin typeface="BIZ UDPゴシック"/>
                <a:ea typeface="BIZ UDPゴシック"/>
              </a:rPr>
              <a:t>3.2  実施側体制</a:t>
            </a:r>
          </a:p>
        </p:txBody>
      </p:sp>
      <p:sp>
        <p:nvSpPr>
          <p:cNvPr id="11" name="dv-sec-3.3"/>
          <p:cNvSpPr txBox="1"/>
          <p:nvPr/>
        </p:nvSpPr>
        <p:spPr>
          <a:xfrm>
            <a:off x="777240" y="4514850"/>
            <a:ext cx="10637215" cy="256032"/>
          </a:xfrm>
          <a:prstGeom prst="rect">
            <a:avLst/>
          </a:prstGeom>
          <a:noFill/>
        </p:spPr>
        <p:txBody>
          <a:bodyPr wrap="square" lIns="0" tIns="0" rIns="0" bIns="0" anchor="t">
            <a:spAutoFit/>
          </a:bodyPr>
          <a:lstStyle/>
          <a:p>
            <a:pPr algn="l">
              <a:lnSpc>
                <a:spcPct val="120000"/>
              </a:lnSpc>
            </a:pPr>
            <a:r>
              <a:rPr sz="1300" b="0">
                <a:solidFill>
                  <a:srgbClr val="D2E1FC"/>
                </a:solidFill>
                <a:latin typeface="BIZ UDPゴシック"/>
                <a:ea typeface="BIZ UDPゴシック"/>
              </a:rPr>
              <a:t>3.3  役割と責任</a:t>
            </a:r>
          </a:p>
        </p:txBody>
      </p:sp>
      <p:sp>
        <p:nvSpPr>
          <p:cNvPr id="12" name="dv-sec-3.4"/>
          <p:cNvSpPr txBox="1"/>
          <p:nvPr/>
        </p:nvSpPr>
        <p:spPr>
          <a:xfrm>
            <a:off x="777240" y="4737735"/>
            <a:ext cx="10637215" cy="256032"/>
          </a:xfrm>
          <a:prstGeom prst="rect">
            <a:avLst/>
          </a:prstGeom>
          <a:noFill/>
        </p:spPr>
        <p:txBody>
          <a:bodyPr wrap="square" lIns="0" tIns="0" rIns="0" bIns="0" anchor="t">
            <a:spAutoFit/>
          </a:bodyPr>
          <a:lstStyle/>
          <a:p>
            <a:pPr algn="l">
              <a:lnSpc>
                <a:spcPct val="120000"/>
              </a:lnSpc>
            </a:pPr>
            <a:r>
              <a:rPr sz="1300" b="0">
                <a:solidFill>
                  <a:srgbClr val="D2E1FC"/>
                </a:solidFill>
                <a:latin typeface="BIZ UDPゴシック"/>
                <a:ea typeface="BIZ UDPゴシック"/>
              </a:rPr>
              <a:t>3.4  ステークホルダー</a:t>
            </a:r>
          </a:p>
        </p:txBody>
      </p:sp>
      <p:sp>
        <p:nvSpPr>
          <p:cNvPr id="13" name="ftr-page"/>
          <p:cNvSpPr txBox="1"/>
          <p:nvPr/>
        </p:nvSpPr>
        <p:spPr>
          <a:xfrm>
            <a:off x="10774375" y="6400800"/>
            <a:ext cx="914400" cy="274320"/>
          </a:xfrm>
          <a:prstGeom prst="rect">
            <a:avLst/>
          </a:prstGeom>
          <a:noFill/>
        </p:spPr>
        <p:txBody>
          <a:bodyPr wrap="square" lIns="0" tIns="0" rIns="0" bIns="0" anchor="t">
            <a:spAutoFit/>
          </a:bodyPr>
          <a:lstStyle/>
          <a:p>
            <a:pPr algn="r">
              <a:lnSpc>
                <a:spcPct val="120000"/>
              </a:lnSpc>
            </a:pPr>
            <a:r>
              <a:rPr sz="1100" b="1">
                <a:solidFill>
                  <a:srgbClr val="FFFFFF"/>
                </a:solidFill>
                <a:latin typeface="BIZ UDPゴシック"/>
                <a:ea typeface="BIZ UDPゴシック"/>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03  体制</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3.1 オーナー側体制</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19</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オーナー側の意思決定と実行の体制を示す</a:t>
            </a:r>
          </a:p>
        </p:txBody>
      </p:sp>
      <p:sp>
        <p:nvSpPr>
          <p:cNvPr id="24" name="drawio:sc"/>
          <p:cNvSpPr/>
          <p:nvPr/>
        </p:nvSpPr>
        <p:spPr>
          <a:xfrm>
            <a:off x="4563875" y="1591055"/>
            <a:ext cx="3063943" cy="765985"/>
          </a:xfrm>
          <a:prstGeom prst="roundRect">
            <a:avLst/>
          </a:prstGeom>
          <a:solidFill>
            <a:srgbClr val="16213E"/>
          </a:solidFill>
          <a:ln w="8510">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38" b="1" i="0">
                <a:solidFill>
                  <a:srgbClr val="FFFFFF"/>
                </a:solidFill>
                <a:latin typeface="BIZ UDPゴシック"/>
                <a:ea typeface="BIZ UDPゴシック"/>
              </a:rPr>
              <a:t>ステアリングコミッティ</a:t>
            </a:r>
          </a:p>
          <a:p>
            <a:pPr algn="ctr">
              <a:lnSpc>
                <a:spcPct val="110000"/>
              </a:lnSpc>
            </a:pPr>
            <a:r>
              <a:rPr sz="938" b="1" i="0">
                <a:solidFill>
                  <a:srgbClr val="FFFFFF"/>
                </a:solidFill>
                <a:latin typeface="BIZ UDPゴシック"/>
                <a:ea typeface="BIZ UDPゴシック"/>
              </a:rPr>
              <a:t>重要課題の意思決定・変更の承認 (CCB)</a:t>
            </a:r>
          </a:p>
        </p:txBody>
      </p:sp>
      <p:sp>
        <p:nvSpPr>
          <p:cNvPr id="25" name="drawio:own"/>
          <p:cNvSpPr/>
          <p:nvPr/>
        </p:nvSpPr>
        <p:spPr>
          <a:xfrm>
            <a:off x="4563875" y="2952807"/>
            <a:ext cx="3063943" cy="680876"/>
          </a:xfrm>
          <a:prstGeom prst="roundRect">
            <a:avLst/>
          </a:prstGeom>
          <a:solidFill>
            <a:srgbClr val="16213E"/>
          </a:solidFill>
          <a:ln w="8510">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38" b="1" i="0">
                <a:solidFill>
                  <a:srgbClr val="FFFFFF"/>
                </a:solidFill>
                <a:latin typeface="BIZ UDPゴシック"/>
                <a:ea typeface="BIZ UDPゴシック"/>
              </a:rPr>
              <a:t>プロジェクトオーナー</a:t>
            </a:r>
          </a:p>
          <a:p>
            <a:pPr algn="ctr">
              <a:lnSpc>
                <a:spcPct val="110000"/>
              </a:lnSpc>
            </a:pPr>
            <a:r>
              <a:rPr sz="938" b="1" i="0">
                <a:solidFill>
                  <a:srgbClr val="FFFFFF"/>
                </a:solidFill>
                <a:latin typeface="BIZ UDPゴシック"/>
                <a:ea typeface="BIZ UDPゴシック"/>
              </a:rPr>
              <a:t>最終責任と予算承認</a:t>
            </a:r>
          </a:p>
        </p:txBody>
      </p:sp>
      <p:sp>
        <p:nvSpPr>
          <p:cNvPr id="26" name="drawio:pmo"/>
          <p:cNvSpPr/>
          <p:nvPr/>
        </p:nvSpPr>
        <p:spPr>
          <a:xfrm>
            <a:off x="4563875" y="4144341"/>
            <a:ext cx="3063943" cy="680876"/>
          </a:xfrm>
          <a:prstGeom prst="roundRect">
            <a:avLst/>
          </a:prstGeom>
          <a:solidFill>
            <a:srgbClr val="FFFFFF"/>
          </a:solidFill>
          <a:ln w="8510">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38" b="0" i="0">
                <a:solidFill>
                  <a:srgbClr val="1F2937"/>
                </a:solidFill>
                <a:latin typeface="BIZ UDPゴシック"/>
                <a:ea typeface="BIZ UDPゴシック"/>
              </a:rPr>
              <a:t>業務改革推進部 (PMO)</a:t>
            </a:r>
          </a:p>
          <a:p>
            <a:pPr algn="ctr">
              <a:lnSpc>
                <a:spcPct val="110000"/>
              </a:lnSpc>
            </a:pPr>
            <a:r>
              <a:rPr sz="938" b="0" i="0">
                <a:solidFill>
                  <a:srgbClr val="1F2937"/>
                </a:solidFill>
                <a:latin typeface="BIZ UDPゴシック"/>
                <a:ea typeface="BIZ UDPゴシック"/>
              </a:rPr>
              <a:t>全体調整・進捗と課題の事務局運営</a:t>
            </a:r>
          </a:p>
        </p:txBody>
      </p:sp>
      <p:sp>
        <p:nvSpPr>
          <p:cNvPr id="27" name="drawio:fin"/>
          <p:cNvSpPr/>
          <p:nvPr/>
        </p:nvSpPr>
        <p:spPr>
          <a:xfrm>
            <a:off x="1670151" y="5335874"/>
            <a:ext cx="3404381" cy="680876"/>
          </a:xfrm>
          <a:prstGeom prst="roundRect">
            <a:avLst/>
          </a:prstGeom>
          <a:solidFill>
            <a:srgbClr val="FFFFFF"/>
          </a:solidFill>
          <a:ln w="8510">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38" b="0" i="0">
                <a:solidFill>
                  <a:srgbClr val="1F2937"/>
                </a:solidFill>
                <a:latin typeface="BIZ UDPゴシック"/>
                <a:ea typeface="BIZ UDPゴシック"/>
              </a:rPr>
              <a:t>経理部</a:t>
            </a:r>
          </a:p>
          <a:p>
            <a:pPr algn="ctr">
              <a:lnSpc>
                <a:spcPct val="110000"/>
              </a:lnSpc>
            </a:pPr>
            <a:r>
              <a:rPr sz="938" b="0" i="0">
                <a:solidFill>
                  <a:srgbClr val="1F2937"/>
                </a:solidFill>
                <a:latin typeface="BIZ UDPゴシック"/>
                <a:ea typeface="BIZ UDPゴシック"/>
              </a:rPr>
              <a:t>要件提示と受入判定</a:t>
            </a:r>
          </a:p>
        </p:txBody>
      </p:sp>
      <p:sp>
        <p:nvSpPr>
          <p:cNvPr id="28" name="drawio:sys"/>
          <p:cNvSpPr/>
          <p:nvPr/>
        </p:nvSpPr>
        <p:spPr>
          <a:xfrm>
            <a:off x="7117161" y="5335874"/>
            <a:ext cx="3404381" cy="680876"/>
          </a:xfrm>
          <a:prstGeom prst="roundRect">
            <a:avLst/>
          </a:prstGeom>
          <a:solidFill>
            <a:srgbClr val="FFFFFF"/>
          </a:solidFill>
          <a:ln w="8510">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38" b="0" i="0">
                <a:solidFill>
                  <a:srgbClr val="1F2937"/>
                </a:solidFill>
                <a:latin typeface="BIZ UDPゴシック"/>
                <a:ea typeface="BIZ UDPゴシック"/>
              </a:rPr>
              <a:t>情報システム部</a:t>
            </a:r>
          </a:p>
          <a:p>
            <a:pPr algn="ctr">
              <a:lnSpc>
                <a:spcPct val="110000"/>
              </a:lnSpc>
            </a:pPr>
            <a:r>
              <a:rPr sz="938" b="0" i="0">
                <a:solidFill>
                  <a:srgbClr val="1F2937"/>
                </a:solidFill>
                <a:latin typeface="BIZ UDPゴシック"/>
                <a:ea typeface="BIZ UDPゴシック"/>
              </a:rPr>
              <a:t>連携とセキュリティ要件の提示</a:t>
            </a:r>
          </a:p>
        </p:txBody>
      </p:sp>
      <p:sp>
        <p:nvSpPr>
          <p:cNvPr id="29" name="drawio:e1"/>
          <p:cNvSpPr/>
          <p:nvPr/>
        </p:nvSpPr>
        <p:spPr>
          <a:xfrm>
            <a:off x="6095847" y="2345551"/>
            <a:ext cx="0" cy="617469"/>
          </a:xfrm>
          <a:custGeom>
            <a:avLst/>
            <a:gdLst/>
            <a:ahLst/>
            <a:cxnLst/>
            <a:rect l="l" t="t" r="r" b="b"/>
            <a:pathLst>
              <a:path w="0" h="617469">
                <a:moveTo>
                  <a:pt x="0" y="0"/>
                </a:moveTo>
                <a:lnTo>
                  <a:pt x="0" y="288095"/>
                </a:lnTo>
                <a:lnTo>
                  <a:pt x="0" y="288095"/>
                </a:lnTo>
                <a:lnTo>
                  <a:pt x="0" y="617469"/>
                </a:lnTo>
              </a:path>
            </a:pathLst>
          </a:custGeom>
          <a:noFill/>
          <a:ln w="17021">
            <a:solidFill>
              <a:srgbClr val="6B7280"/>
            </a:solidFill>
            <a:tailEnd type="arrow"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rawio:e2"/>
          <p:cNvSpPr/>
          <p:nvPr/>
        </p:nvSpPr>
        <p:spPr>
          <a:xfrm>
            <a:off x="6095847" y="3623470"/>
            <a:ext cx="0" cy="531084"/>
          </a:xfrm>
          <a:custGeom>
            <a:avLst/>
            <a:gdLst/>
            <a:ahLst/>
            <a:cxnLst/>
            <a:rect l="l" t="t" r="r" b="b"/>
            <a:pathLst>
              <a:path w="0" h="531084">
                <a:moveTo>
                  <a:pt x="0" y="0"/>
                </a:moveTo>
                <a:lnTo>
                  <a:pt x="0" y="265542"/>
                </a:lnTo>
                <a:lnTo>
                  <a:pt x="0" y="265542"/>
                </a:lnTo>
                <a:lnTo>
                  <a:pt x="0" y="531084"/>
                </a:lnTo>
              </a:path>
            </a:pathLst>
          </a:custGeom>
          <a:noFill/>
          <a:ln w="17021">
            <a:solidFill>
              <a:srgbClr val="6B7280"/>
            </a:solidFill>
            <a:tailEnd type="arrow"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rawio:e3"/>
          <p:cNvSpPr/>
          <p:nvPr/>
        </p:nvSpPr>
        <p:spPr>
          <a:xfrm>
            <a:off x="3372342" y="4815004"/>
            <a:ext cx="2723505" cy="531083"/>
          </a:xfrm>
          <a:custGeom>
            <a:avLst/>
            <a:gdLst/>
            <a:ahLst/>
            <a:cxnLst/>
            <a:rect l="l" t="t" r="r" b="b"/>
            <a:pathLst>
              <a:path w="2723505" h="531083">
                <a:moveTo>
                  <a:pt x="2723505" y="0"/>
                </a:moveTo>
                <a:lnTo>
                  <a:pt x="2723505" y="265542"/>
                </a:lnTo>
                <a:lnTo>
                  <a:pt x="0" y="265542"/>
                </a:lnTo>
                <a:lnTo>
                  <a:pt x="0" y="531083"/>
                </a:lnTo>
              </a:path>
            </a:pathLst>
          </a:custGeom>
          <a:noFill/>
          <a:ln w="17021">
            <a:solidFill>
              <a:srgbClr val="6B7280"/>
            </a:solidFill>
            <a:tailEnd type="arrow"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rawio:e4"/>
          <p:cNvSpPr/>
          <p:nvPr/>
        </p:nvSpPr>
        <p:spPr>
          <a:xfrm>
            <a:off x="6095847" y="4815004"/>
            <a:ext cx="2723505" cy="531083"/>
          </a:xfrm>
          <a:custGeom>
            <a:avLst/>
            <a:gdLst/>
            <a:ahLst/>
            <a:cxnLst/>
            <a:rect l="l" t="t" r="r" b="b"/>
            <a:pathLst>
              <a:path w="2723505" h="531083">
                <a:moveTo>
                  <a:pt x="0" y="0"/>
                </a:moveTo>
                <a:lnTo>
                  <a:pt x="0" y="265542"/>
                </a:lnTo>
                <a:lnTo>
                  <a:pt x="2723505" y="265542"/>
                </a:lnTo>
                <a:lnTo>
                  <a:pt x="2723505" y="531083"/>
                </a:lnTo>
              </a:path>
            </a:pathLst>
          </a:custGeom>
          <a:noFill/>
          <a:ln w="17021">
            <a:solidFill>
              <a:srgbClr val="6B7280"/>
            </a:solidFill>
            <a:tailEnd type="arrow"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lk-diagram-cap"/>
          <p:cNvSpPr txBox="1"/>
          <p:nvPr/>
        </p:nvSpPr>
        <p:spPr>
          <a:xfrm>
            <a:off x="502920" y="6053327"/>
            <a:ext cx="11185855" cy="237744"/>
          </a:xfrm>
          <a:prstGeom prst="rect">
            <a:avLst/>
          </a:prstGeom>
          <a:noFill/>
        </p:spPr>
        <p:txBody>
          <a:bodyPr wrap="square" lIns="0" tIns="0" rIns="0" bIns="0" anchor="t">
            <a:spAutoFit/>
          </a:bodyPr>
          <a:lstStyle/>
          <a:p>
            <a:pPr algn="ctr">
              <a:lnSpc>
                <a:spcPct val="120000"/>
              </a:lnSpc>
            </a:pPr>
            <a:r>
              <a:rPr sz="900" b="0">
                <a:solidFill>
                  <a:srgbClr val="6B7280"/>
                </a:solidFill>
                <a:latin typeface="BIZ UDPゴシック"/>
                <a:ea typeface="BIZ UDPゴシック"/>
              </a:rPr>
              <a:t>オーナー側体制 (サンプル商事株式会社)</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03  体制</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3.2 実施側体制</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20</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実施側の体制と役割分担を示す</a:t>
            </a:r>
          </a:p>
        </p:txBody>
      </p:sp>
      <p:sp>
        <p:nvSpPr>
          <p:cNvPr id="24" name="drawio:pm"/>
          <p:cNvSpPr/>
          <p:nvPr/>
        </p:nvSpPr>
        <p:spPr>
          <a:xfrm>
            <a:off x="4460264" y="1591055"/>
            <a:ext cx="3271166" cy="865897"/>
          </a:xfrm>
          <a:prstGeom prst="roundRect">
            <a:avLst/>
          </a:prstGeom>
          <a:solidFill>
            <a:srgbClr val="16213E"/>
          </a:solidFill>
          <a:ln w="9621">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1060" b="1" i="0">
                <a:solidFill>
                  <a:srgbClr val="FFFFFF"/>
                </a:solidFill>
                <a:latin typeface="BIZ UDPゴシック"/>
                <a:ea typeface="BIZ UDPゴシック"/>
              </a:rPr>
              <a:t>プロジェクトマネージャー</a:t>
            </a:r>
          </a:p>
          <a:p>
            <a:pPr algn="ctr">
              <a:lnSpc>
                <a:spcPct val="110000"/>
              </a:lnSpc>
            </a:pPr>
            <a:r>
              <a:rPr sz="1060" b="1" i="0">
                <a:solidFill>
                  <a:srgbClr val="FFFFFF"/>
                </a:solidFill>
                <a:latin typeface="BIZ UDPゴシック"/>
                <a:ea typeface="BIZ UDPゴシック"/>
              </a:rPr>
              <a:t>計画・進捗・品質・リスク・コストの統括</a:t>
            </a:r>
          </a:p>
        </p:txBody>
      </p:sp>
      <p:sp>
        <p:nvSpPr>
          <p:cNvPr id="25" name="drawio:bc"/>
          <p:cNvSpPr/>
          <p:nvPr/>
        </p:nvSpPr>
        <p:spPr>
          <a:xfrm>
            <a:off x="900465" y="5054643"/>
            <a:ext cx="3271166" cy="962107"/>
          </a:xfrm>
          <a:prstGeom prst="roundRect">
            <a:avLst/>
          </a:prstGeom>
          <a:solidFill>
            <a:srgbClr val="FFFFFF"/>
          </a:solidFill>
          <a:ln w="9621">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1060" b="0" i="0">
                <a:solidFill>
                  <a:srgbClr val="1F2937"/>
                </a:solidFill>
                <a:latin typeface="BIZ UDPゴシック"/>
                <a:ea typeface="BIZ UDPゴシック"/>
              </a:rPr>
              <a:t>業務コンサルタント</a:t>
            </a:r>
          </a:p>
          <a:p>
            <a:pPr algn="ctr">
              <a:lnSpc>
                <a:spcPct val="110000"/>
              </a:lnSpc>
            </a:pPr>
            <a:r>
              <a:rPr sz="1060" b="0" i="0">
                <a:solidFill>
                  <a:srgbClr val="1F2937"/>
                </a:solidFill>
                <a:latin typeface="BIZ UDPゴシック"/>
                <a:ea typeface="BIZ UDPゴシック"/>
              </a:rPr>
              <a:t>現状分析・To-Be業務設計・要件定義</a:t>
            </a:r>
          </a:p>
        </p:txBody>
      </p:sp>
      <p:sp>
        <p:nvSpPr>
          <p:cNvPr id="26" name="drawio:ie"/>
          <p:cNvSpPr/>
          <p:nvPr/>
        </p:nvSpPr>
        <p:spPr>
          <a:xfrm>
            <a:off x="4460264" y="5054643"/>
            <a:ext cx="3271166" cy="962107"/>
          </a:xfrm>
          <a:prstGeom prst="roundRect">
            <a:avLst/>
          </a:prstGeom>
          <a:solidFill>
            <a:srgbClr val="FFFFFF"/>
          </a:solidFill>
          <a:ln w="9621">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1060" b="0" i="0">
                <a:solidFill>
                  <a:srgbClr val="1F2937"/>
                </a:solidFill>
                <a:latin typeface="BIZ UDPゴシック"/>
                <a:ea typeface="BIZ UDPゴシック"/>
              </a:rPr>
              <a:t>導入エンジニア</a:t>
            </a:r>
          </a:p>
          <a:p>
            <a:pPr algn="ctr">
              <a:lnSpc>
                <a:spcPct val="110000"/>
              </a:lnSpc>
            </a:pPr>
            <a:r>
              <a:rPr sz="1060" b="0" i="0">
                <a:solidFill>
                  <a:srgbClr val="1F2937"/>
                </a:solidFill>
                <a:latin typeface="BIZ UDPゴシック"/>
                <a:ea typeface="BIZ UDPゴシック"/>
              </a:rPr>
              <a:t>設定・連携・移行・テスト</a:t>
            </a:r>
          </a:p>
        </p:txBody>
      </p:sp>
      <p:sp>
        <p:nvSpPr>
          <p:cNvPr id="27" name="drawio:cm"/>
          <p:cNvSpPr/>
          <p:nvPr/>
        </p:nvSpPr>
        <p:spPr>
          <a:xfrm>
            <a:off x="8020063" y="5054643"/>
            <a:ext cx="3271166" cy="962107"/>
          </a:xfrm>
          <a:prstGeom prst="roundRect">
            <a:avLst/>
          </a:prstGeom>
          <a:solidFill>
            <a:srgbClr val="FFFFFF"/>
          </a:solidFill>
          <a:ln w="9621">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1060" b="0" i="0">
                <a:solidFill>
                  <a:srgbClr val="1F2937"/>
                </a:solidFill>
                <a:latin typeface="BIZ UDPゴシック"/>
                <a:ea typeface="BIZ UDPゴシック"/>
              </a:rPr>
              <a:t>変更管理リード</a:t>
            </a:r>
          </a:p>
          <a:p>
            <a:pPr algn="ctr">
              <a:lnSpc>
                <a:spcPct val="110000"/>
              </a:lnSpc>
            </a:pPr>
            <a:r>
              <a:rPr sz="1060" b="0" i="0">
                <a:solidFill>
                  <a:srgbClr val="1F2937"/>
                </a:solidFill>
                <a:latin typeface="BIZ UDPゴシック"/>
                <a:ea typeface="BIZ UDPゴシック"/>
              </a:rPr>
              <a:t>研修・定着化・コミュニケーション</a:t>
            </a:r>
          </a:p>
        </p:txBody>
      </p:sp>
      <p:sp>
        <p:nvSpPr>
          <p:cNvPr id="28" name="drawio:e1"/>
          <p:cNvSpPr/>
          <p:nvPr/>
        </p:nvSpPr>
        <p:spPr>
          <a:xfrm>
            <a:off x="2536048" y="2443963"/>
            <a:ext cx="3559799" cy="2625111"/>
          </a:xfrm>
          <a:custGeom>
            <a:avLst/>
            <a:gdLst/>
            <a:ahLst/>
            <a:cxnLst/>
            <a:rect l="l" t="t" r="r" b="b"/>
            <a:pathLst>
              <a:path w="3559799" h="2625111">
                <a:moveTo>
                  <a:pt x="3559799" y="0"/>
                </a:moveTo>
                <a:lnTo>
                  <a:pt x="3559799" y="1648572"/>
                </a:lnTo>
                <a:lnTo>
                  <a:pt x="0" y="1648572"/>
                </a:lnTo>
                <a:lnTo>
                  <a:pt x="0" y="2625111"/>
                </a:lnTo>
              </a:path>
            </a:pathLst>
          </a:custGeom>
          <a:noFill/>
          <a:ln w="19242">
            <a:solidFill>
              <a:srgbClr val="6B7280"/>
            </a:solidFill>
            <a:tailEnd type="arrow"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rawio:e2"/>
          <p:cNvSpPr/>
          <p:nvPr/>
        </p:nvSpPr>
        <p:spPr>
          <a:xfrm>
            <a:off x="6095847" y="2443963"/>
            <a:ext cx="0" cy="2625111"/>
          </a:xfrm>
          <a:custGeom>
            <a:avLst/>
            <a:gdLst/>
            <a:ahLst/>
            <a:cxnLst/>
            <a:rect l="l" t="t" r="r" b="b"/>
            <a:pathLst>
              <a:path w="0" h="2625111">
                <a:moveTo>
                  <a:pt x="0" y="0"/>
                </a:moveTo>
                <a:lnTo>
                  <a:pt x="0" y="1335887"/>
                </a:lnTo>
                <a:lnTo>
                  <a:pt x="0" y="1335887"/>
                </a:lnTo>
                <a:lnTo>
                  <a:pt x="0" y="2625111"/>
                </a:lnTo>
              </a:path>
            </a:pathLst>
          </a:custGeom>
          <a:noFill/>
          <a:ln w="19242">
            <a:solidFill>
              <a:srgbClr val="6B7280"/>
            </a:solidFill>
            <a:tailEnd type="arrow"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rawio:e3"/>
          <p:cNvSpPr/>
          <p:nvPr/>
        </p:nvSpPr>
        <p:spPr>
          <a:xfrm>
            <a:off x="6095847" y="2443963"/>
            <a:ext cx="3559799" cy="2625111"/>
          </a:xfrm>
          <a:custGeom>
            <a:avLst/>
            <a:gdLst/>
            <a:ahLst/>
            <a:cxnLst/>
            <a:rect l="l" t="t" r="r" b="b"/>
            <a:pathLst>
              <a:path w="3559799" h="2625111">
                <a:moveTo>
                  <a:pt x="0" y="0"/>
                </a:moveTo>
                <a:lnTo>
                  <a:pt x="0" y="1648572"/>
                </a:lnTo>
                <a:lnTo>
                  <a:pt x="3559799" y="1648572"/>
                </a:lnTo>
                <a:lnTo>
                  <a:pt x="3559799" y="2625111"/>
                </a:lnTo>
              </a:path>
            </a:pathLst>
          </a:custGeom>
          <a:noFill/>
          <a:ln w="19242">
            <a:solidFill>
              <a:srgbClr val="6B7280"/>
            </a:solidFill>
            <a:tailEnd type="arrow"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lk-diagram-cap"/>
          <p:cNvSpPr txBox="1"/>
          <p:nvPr/>
        </p:nvSpPr>
        <p:spPr>
          <a:xfrm>
            <a:off x="502920" y="6053327"/>
            <a:ext cx="11185855" cy="237744"/>
          </a:xfrm>
          <a:prstGeom prst="rect">
            <a:avLst/>
          </a:prstGeom>
          <a:noFill/>
        </p:spPr>
        <p:txBody>
          <a:bodyPr wrap="square" lIns="0" tIns="0" rIns="0" bIns="0" anchor="t">
            <a:spAutoFit/>
          </a:bodyPr>
          <a:lstStyle/>
          <a:p>
            <a:pPr algn="ctr">
              <a:lnSpc>
                <a:spcPct val="120000"/>
              </a:lnSpc>
            </a:pPr>
            <a:r>
              <a:rPr sz="900" b="0">
                <a:solidFill>
                  <a:srgbClr val="6B7280"/>
                </a:solidFill>
                <a:latin typeface="BIZ UDPゴシック"/>
                <a:ea typeface="BIZ UDPゴシック"/>
              </a:rPr>
              <a:t>実施側体制 (エグザンプルシステムズ株式会社)</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03  体制</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3.3 役割と責任</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21</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誰が何に責任を持つかを明確にする</a:t>
            </a:r>
          </a:p>
        </p:txBody>
      </p:sp>
      <p:graphicFrame>
        <p:nvGraphicFramePr>
          <p:cNvPr id="24" name="blk-table"/>
          <p:cNvGraphicFramePr>
            <a:graphicFrameLocks noGrp="1"/>
          </p:cNvGraphicFramePr>
          <p:nvPr/>
        </p:nvGraphicFramePr>
        <p:xfrm>
          <a:off x="502920" y="1591055"/>
          <a:ext cx="11185854" cy="3751580"/>
        </p:xfrm>
        <a:graphic>
          <a:graphicData uri="http://schemas.openxmlformats.org/drawingml/2006/table">
            <a:tbl>
              <a:tblPr>
                <a:tableStyleId>{5C22544A-7EE6-4342-B048-85BDC9FD1C3A}</a:tableStyleId>
              </a:tblPr>
              <a:tblGrid>
                <a:gridCol w="2460888"/>
                <a:gridCol w="1342302"/>
                <a:gridCol w="7382664"/>
              </a:tblGrid>
              <a:tr h="295148">
                <a:tc>
                  <a:txBody>
                    <a:bodyPr wrap="square" lIns="45720" tIns="18288" rIns="45720" bIns="18288" anchor="ctr"/>
                    <a:lstStyle/>
                    <a:p>
                      <a:pPr algn="l">
                        <a:lnSpc>
                          <a:spcPct val="120000"/>
                        </a:lnSpc>
                      </a:pPr>
                      <a:r>
                        <a:rPr sz="1400" b="1">
                          <a:solidFill>
                            <a:srgbClr val="FFFFFF"/>
                          </a:solidFill>
                          <a:latin typeface="BIZ UDPゴシック"/>
                          <a:ea typeface="BIZ UDPゴシック"/>
                        </a:rPr>
                        <a:t>役割</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区分</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責任・担当範囲</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プロジェクトオーナー</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オーナー側</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プロジェクトの最終責任と予算承認</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ステアリングコミッティ</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オーナー側</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重要課題の意思決定と変更の承認 (CCB)</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業務改革推進部</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オーナー側</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全体調整と進捗・課題の事務局運営 (PMO)</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経理部</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オーナー側</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経費精算業務の要件提示と受入判定</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情報システム部</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オーナー側</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基幹システム連携とセキュリティ要件の提示</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プロジェクトマネージャー</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実施側</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計画・進捗・品質・リスク・コストの統括</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業務コンサルタント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実施側</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現状分析、To-Be業務設計、要件定義</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導入エンジニア</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実施側</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クラウドサービスの設定、連携、移行、テスト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変更管理リード</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実施側</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研修、定着化、コミュニケーションの実行</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03  体制</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3.4 ステークホルダー</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22</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関係者と関心・関与度、対応方針を整理する</a:t>
            </a:r>
          </a:p>
        </p:txBody>
      </p:sp>
      <p:graphicFrame>
        <p:nvGraphicFramePr>
          <p:cNvPr id="24" name="blk-table"/>
          <p:cNvGraphicFramePr>
            <a:graphicFrameLocks noGrp="1"/>
          </p:cNvGraphicFramePr>
          <p:nvPr/>
        </p:nvGraphicFramePr>
        <p:xfrm>
          <a:off x="502920" y="1591055"/>
          <a:ext cx="11185853" cy="2599436"/>
        </p:xfrm>
        <a:graphic>
          <a:graphicData uri="http://schemas.openxmlformats.org/drawingml/2006/table">
            <a:tbl>
              <a:tblPr>
                <a:tableStyleId>{5C22544A-7EE6-4342-B048-85BDC9FD1C3A}</a:tableStyleId>
              </a:tblPr>
              <a:tblGrid>
                <a:gridCol w="2460888"/>
                <a:gridCol w="3355756"/>
                <a:gridCol w="1342302"/>
                <a:gridCol w="4026907"/>
              </a:tblGrid>
              <a:tr h="295148">
                <a:tc>
                  <a:txBody>
                    <a:bodyPr wrap="square" lIns="45720" tIns="18288" rIns="45720" bIns="18288" anchor="ctr"/>
                    <a:lstStyle/>
                    <a:p>
                      <a:pPr algn="l">
                        <a:lnSpc>
                          <a:spcPct val="120000"/>
                        </a:lnSpc>
                      </a:pPr>
                      <a:r>
                        <a:rPr sz="1400" b="1">
                          <a:solidFill>
                            <a:srgbClr val="FFFFFF"/>
                          </a:solidFill>
                          <a:latin typeface="BIZ UDPゴシック"/>
                          <a:ea typeface="BIZ UDPゴシック"/>
                        </a:rPr>
                        <a:t>ステークホルダー</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関心事</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関与度</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対応方針</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プロジェクトオーナー</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投資効果と予算</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高</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月次のステアリングコミッティで報告する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経理部</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業務負荷と内部統制</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高</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業務検討WGで継続参画する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情報システム部</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システム連携とセキュリティ</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高</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技術検討WGで検討する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各事業部門</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使いやすさと業務負荷</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中</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研修とフィードバック収集を行う</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監査部門</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内部統制の適合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【要確認】</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統制要件を事前確認する (関与度は調整中)</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経営層</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改革効果の可視化</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中</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四半期ごとに効果を報告する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v-bg"/>
          <p:cNvSpPr/>
          <p:nvPr/>
        </p:nvSpPr>
        <p:spPr>
          <a:xfrm>
            <a:off x="0" y="0"/>
            <a:ext cx="12191695" cy="6858000"/>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v-acc1"/>
          <p:cNvSpPr/>
          <p:nvPr/>
        </p:nvSpPr>
        <p:spPr>
          <a:xfrm>
            <a:off x="9814255" y="-1005840"/>
            <a:ext cx="2560320" cy="2560320"/>
          </a:xfrm>
          <a:prstGeom prst="rect">
            <a:avLst/>
          </a:prstGeom>
          <a:solidFill>
            <a:srgbClr val="B4235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v-acc2"/>
          <p:cNvSpPr/>
          <p:nvPr/>
        </p:nvSpPr>
        <p:spPr>
          <a:xfrm>
            <a:off x="10637215" y="5120640"/>
            <a:ext cx="1188720" cy="1188720"/>
          </a:xfrm>
          <a:prstGeom prst="ellipse">
            <a:avLst/>
          </a:prstGeom>
          <a:noFill/>
          <a:ln w="254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v-acc3"/>
          <p:cNvSpPr/>
          <p:nvPr/>
        </p:nvSpPr>
        <p:spPr>
          <a:xfrm rot="1320000">
            <a:off x="11643055" y="2468879"/>
            <a:ext cx="502920" cy="3108960"/>
          </a:xfrm>
          <a:prstGeom prst="rect">
            <a:avLst/>
          </a:prstGeom>
          <a:solidFill>
            <a:srgbClr val="B4235A">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v-kicker"/>
          <p:cNvSpPr txBox="1"/>
          <p:nvPr/>
        </p:nvSpPr>
        <p:spPr>
          <a:xfrm>
            <a:off x="777240" y="960120"/>
            <a:ext cx="2743200" cy="256032"/>
          </a:xfrm>
          <a:prstGeom prst="rect">
            <a:avLst/>
          </a:prstGeom>
          <a:noFill/>
        </p:spPr>
        <p:txBody>
          <a:bodyPr wrap="square" lIns="0" tIns="0" rIns="0" bIns="0" anchor="t">
            <a:spAutoFit/>
          </a:bodyPr>
          <a:lstStyle/>
          <a:p>
            <a:pPr algn="l">
              <a:lnSpc>
                <a:spcPct val="120000"/>
              </a:lnSpc>
            </a:pPr>
            <a:r>
              <a:rPr sz="1200" b="1" spc="400">
                <a:solidFill>
                  <a:srgbClr val="0E7490"/>
                </a:solidFill>
                <a:latin typeface="BIZ UDPゴシック"/>
                <a:ea typeface="BIZ UDPゴシック"/>
              </a:rPr>
              <a:t>CHAPTER</a:t>
            </a:r>
          </a:p>
        </p:txBody>
      </p:sp>
      <p:sp>
        <p:nvSpPr>
          <p:cNvPr id="7" name="dv-num"/>
          <p:cNvSpPr txBox="1"/>
          <p:nvPr/>
        </p:nvSpPr>
        <p:spPr>
          <a:xfrm>
            <a:off x="731519" y="1234440"/>
            <a:ext cx="3108960" cy="1417320"/>
          </a:xfrm>
          <a:prstGeom prst="rect">
            <a:avLst/>
          </a:prstGeom>
          <a:noFill/>
        </p:spPr>
        <p:txBody>
          <a:bodyPr wrap="none" lIns="0" tIns="0" rIns="0" bIns="0" anchor="t">
            <a:spAutoFit/>
          </a:bodyPr>
          <a:lstStyle/>
          <a:p>
            <a:pPr algn="l">
              <a:lnSpc>
                <a:spcPct val="120000"/>
              </a:lnSpc>
            </a:pPr>
            <a:r>
              <a:rPr sz="9600" b="1">
                <a:solidFill>
                  <a:srgbClr val="B4235A"/>
                </a:solidFill>
                <a:latin typeface="BIZ UDPゴシック"/>
                <a:ea typeface="BIZ UDPゴシック"/>
              </a:rPr>
              <a:t>04</a:t>
            </a:r>
          </a:p>
        </p:txBody>
      </p:sp>
      <p:sp>
        <p:nvSpPr>
          <p:cNvPr id="8" name="dv-title"/>
          <p:cNvSpPr txBox="1"/>
          <p:nvPr/>
        </p:nvSpPr>
        <p:spPr>
          <a:xfrm>
            <a:off x="777240" y="2880360"/>
            <a:ext cx="9539935" cy="685800"/>
          </a:xfrm>
          <a:prstGeom prst="rect">
            <a:avLst/>
          </a:prstGeom>
          <a:noFill/>
        </p:spPr>
        <p:txBody>
          <a:bodyPr wrap="square" lIns="0" tIns="0" rIns="0" bIns="0" anchor="t">
            <a:spAutoFit/>
          </a:bodyPr>
          <a:lstStyle/>
          <a:p>
            <a:pPr algn="l">
              <a:lnSpc>
                <a:spcPct val="120000"/>
              </a:lnSpc>
            </a:pPr>
            <a:r>
              <a:rPr sz="4000" b="1">
                <a:solidFill>
                  <a:srgbClr val="FFFFFF"/>
                </a:solidFill>
                <a:latin typeface="BIZ UDPゴシック"/>
                <a:ea typeface="BIZ UDPゴシック"/>
              </a:rPr>
              <a:t>コミュニケーション計画</a:t>
            </a:r>
          </a:p>
        </p:txBody>
      </p:sp>
      <p:sp>
        <p:nvSpPr>
          <p:cNvPr id="9" name="dv-sec-4.1"/>
          <p:cNvSpPr txBox="1"/>
          <p:nvPr/>
        </p:nvSpPr>
        <p:spPr>
          <a:xfrm>
            <a:off x="777240" y="4069080"/>
            <a:ext cx="10637215" cy="256032"/>
          </a:xfrm>
          <a:prstGeom prst="rect">
            <a:avLst/>
          </a:prstGeom>
          <a:noFill/>
        </p:spPr>
        <p:txBody>
          <a:bodyPr wrap="square" lIns="0" tIns="0" rIns="0" bIns="0" anchor="t">
            <a:spAutoFit/>
          </a:bodyPr>
          <a:lstStyle/>
          <a:p>
            <a:pPr algn="l">
              <a:lnSpc>
                <a:spcPct val="120000"/>
              </a:lnSpc>
            </a:pPr>
            <a:r>
              <a:rPr sz="1300" b="0">
                <a:solidFill>
                  <a:srgbClr val="D2E1FC"/>
                </a:solidFill>
                <a:latin typeface="BIZ UDPゴシック"/>
                <a:ea typeface="BIZ UDPゴシック"/>
              </a:rPr>
              <a:t>4.1  会議体</a:t>
            </a:r>
          </a:p>
        </p:txBody>
      </p:sp>
      <p:sp>
        <p:nvSpPr>
          <p:cNvPr id="10" name="dv-sec-4.2"/>
          <p:cNvSpPr txBox="1"/>
          <p:nvPr/>
        </p:nvSpPr>
        <p:spPr>
          <a:xfrm>
            <a:off x="777240" y="4291965"/>
            <a:ext cx="10637215" cy="256032"/>
          </a:xfrm>
          <a:prstGeom prst="rect">
            <a:avLst/>
          </a:prstGeom>
          <a:noFill/>
        </p:spPr>
        <p:txBody>
          <a:bodyPr wrap="square" lIns="0" tIns="0" rIns="0" bIns="0" anchor="t">
            <a:spAutoFit/>
          </a:bodyPr>
          <a:lstStyle/>
          <a:p>
            <a:pPr algn="l">
              <a:lnSpc>
                <a:spcPct val="120000"/>
              </a:lnSpc>
            </a:pPr>
            <a:r>
              <a:rPr sz="1300" b="0">
                <a:solidFill>
                  <a:srgbClr val="D2E1FC"/>
                </a:solidFill>
                <a:latin typeface="BIZ UDPゴシック"/>
                <a:ea typeface="BIZ UDPゴシック"/>
              </a:rPr>
              <a:t>4.2  会議招集・議事録</a:t>
            </a:r>
          </a:p>
        </p:txBody>
      </p:sp>
      <p:sp>
        <p:nvSpPr>
          <p:cNvPr id="11" name="dv-sec-4.3"/>
          <p:cNvSpPr txBox="1"/>
          <p:nvPr/>
        </p:nvSpPr>
        <p:spPr>
          <a:xfrm>
            <a:off x="777240" y="4514850"/>
            <a:ext cx="10637215" cy="256032"/>
          </a:xfrm>
          <a:prstGeom prst="rect">
            <a:avLst/>
          </a:prstGeom>
          <a:noFill/>
        </p:spPr>
        <p:txBody>
          <a:bodyPr wrap="square" lIns="0" tIns="0" rIns="0" bIns="0" anchor="t">
            <a:spAutoFit/>
          </a:bodyPr>
          <a:lstStyle/>
          <a:p>
            <a:pPr algn="l">
              <a:lnSpc>
                <a:spcPct val="120000"/>
              </a:lnSpc>
            </a:pPr>
            <a:r>
              <a:rPr sz="1300" b="0">
                <a:solidFill>
                  <a:srgbClr val="D2E1FC"/>
                </a:solidFill>
                <a:latin typeface="BIZ UDPゴシック"/>
                <a:ea typeface="BIZ UDPゴシック"/>
              </a:rPr>
              <a:t>4.3  進捗報告とエスカレーション</a:t>
            </a:r>
          </a:p>
        </p:txBody>
      </p:sp>
      <p:sp>
        <p:nvSpPr>
          <p:cNvPr id="12" name="dv-sec-4.4"/>
          <p:cNvSpPr txBox="1"/>
          <p:nvPr/>
        </p:nvSpPr>
        <p:spPr>
          <a:xfrm>
            <a:off x="777240" y="4737735"/>
            <a:ext cx="10637215" cy="256032"/>
          </a:xfrm>
          <a:prstGeom prst="rect">
            <a:avLst/>
          </a:prstGeom>
          <a:noFill/>
        </p:spPr>
        <p:txBody>
          <a:bodyPr wrap="square" lIns="0" tIns="0" rIns="0" bIns="0" anchor="t">
            <a:spAutoFit/>
          </a:bodyPr>
          <a:lstStyle/>
          <a:p>
            <a:pPr algn="l">
              <a:lnSpc>
                <a:spcPct val="120000"/>
              </a:lnSpc>
            </a:pPr>
            <a:r>
              <a:rPr sz="1300" b="0">
                <a:solidFill>
                  <a:srgbClr val="D2E1FC"/>
                </a:solidFill>
                <a:latin typeface="BIZ UDPゴシック"/>
                <a:ea typeface="BIZ UDPゴシック"/>
              </a:rPr>
              <a:t>4.4  連絡手段 (メール・チャット等)</a:t>
            </a:r>
          </a:p>
        </p:txBody>
      </p:sp>
      <p:sp>
        <p:nvSpPr>
          <p:cNvPr id="13" name="ftr-page"/>
          <p:cNvSpPr txBox="1"/>
          <p:nvPr/>
        </p:nvSpPr>
        <p:spPr>
          <a:xfrm>
            <a:off x="10774375" y="6400800"/>
            <a:ext cx="914400" cy="274320"/>
          </a:xfrm>
          <a:prstGeom prst="rect">
            <a:avLst/>
          </a:prstGeom>
          <a:noFill/>
        </p:spPr>
        <p:txBody>
          <a:bodyPr wrap="square" lIns="0" tIns="0" rIns="0" bIns="0" anchor="t">
            <a:spAutoFit/>
          </a:bodyPr>
          <a:lstStyle/>
          <a:p>
            <a:pPr algn="r">
              <a:lnSpc>
                <a:spcPct val="120000"/>
              </a:lnSpc>
            </a:pPr>
            <a:r>
              <a:rPr sz="1100" b="1">
                <a:solidFill>
                  <a:srgbClr val="FFFFFF"/>
                </a:solidFill>
                <a:latin typeface="BIZ UDPゴシック"/>
                <a:ea typeface="BIZ UDPゴシック"/>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04  コミュニケーション計画</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4.1 会議体</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24</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会議体ごとに目的・頻度・参加者・決定事項を定める</a:t>
            </a:r>
          </a:p>
        </p:txBody>
      </p:sp>
      <p:graphicFrame>
        <p:nvGraphicFramePr>
          <p:cNvPr id="24" name="blk-table"/>
          <p:cNvGraphicFramePr>
            <a:graphicFrameLocks noGrp="1"/>
          </p:cNvGraphicFramePr>
          <p:nvPr/>
        </p:nvGraphicFramePr>
        <p:xfrm>
          <a:off x="502920" y="1591055"/>
          <a:ext cx="11185852" cy="2000120"/>
        </p:xfrm>
        <a:graphic>
          <a:graphicData uri="http://schemas.openxmlformats.org/drawingml/2006/table">
            <a:tbl>
              <a:tblPr>
                <a:tableStyleId>{5C22544A-7EE6-4342-B048-85BDC9FD1C3A}</a:tableStyleId>
              </a:tblPr>
              <a:tblGrid>
                <a:gridCol w="1789736"/>
                <a:gridCol w="2460888"/>
                <a:gridCol w="1118585"/>
                <a:gridCol w="1566019"/>
                <a:gridCol w="2684605"/>
                <a:gridCol w="1566019"/>
              </a:tblGrid>
              <a:tr h="245618">
                <a:tc>
                  <a:txBody>
                    <a:bodyPr wrap="square" lIns="45720" tIns="18288" rIns="45720" bIns="18288" anchor="ctr"/>
                    <a:lstStyle/>
                    <a:p>
                      <a:pPr algn="l">
                        <a:lnSpc>
                          <a:spcPct val="120000"/>
                        </a:lnSpc>
                      </a:pPr>
                      <a:r>
                        <a:rPr sz="1100" b="1">
                          <a:solidFill>
                            <a:srgbClr val="FFFFFF"/>
                          </a:solidFill>
                          <a:latin typeface="BIZ UDPゴシック"/>
                          <a:ea typeface="BIZ UDPゴシック"/>
                        </a:rPr>
                        <a:t>会議体</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100" b="1">
                          <a:solidFill>
                            <a:srgbClr val="FFFFFF"/>
                          </a:solidFill>
                          <a:latin typeface="BIZ UDPゴシック"/>
                          <a:ea typeface="BIZ UDPゴシック"/>
                        </a:rPr>
                        <a:t>目的</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100" b="1">
                          <a:solidFill>
                            <a:srgbClr val="FFFFFF"/>
                          </a:solidFill>
                          <a:latin typeface="BIZ UDPゴシック"/>
                          <a:ea typeface="BIZ UDPゴシック"/>
                        </a:rPr>
                        <a:t>頻度</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100" b="1">
                          <a:solidFill>
                            <a:srgbClr val="FFFFFF"/>
                          </a:solidFill>
                          <a:latin typeface="BIZ UDPゴシック"/>
                          <a:ea typeface="BIZ UDPゴシック"/>
                        </a:rPr>
                        <a:t>主催</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100" b="1">
                          <a:solidFill>
                            <a:srgbClr val="FFFFFF"/>
                          </a:solidFill>
                          <a:latin typeface="BIZ UDPゴシック"/>
                          <a:ea typeface="BIZ UDPゴシック"/>
                        </a:rPr>
                        <a:t>参加者 (役割)</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100" b="1">
                          <a:solidFill>
                            <a:srgbClr val="FFFFFF"/>
                          </a:solidFill>
                          <a:latin typeface="BIZ UDPゴシック"/>
                          <a:ea typeface="BIZ UDPゴシック"/>
                        </a:rPr>
                        <a:t>決定・協議事項</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394969">
                <a:tc>
                  <a:txBody>
                    <a:bodyPr wrap="square" lIns="45720" tIns="18288" rIns="45720" bIns="18288" anchor="ctr"/>
                    <a:lstStyle/>
                    <a:p>
                      <a:pPr algn="l">
                        <a:lnSpc>
                          <a:spcPct val="120000"/>
                        </a:lnSpc>
                      </a:pPr>
                      <a:r>
                        <a:rPr sz="1100" b="0">
                          <a:solidFill>
                            <a:srgbClr val="1F2937"/>
                          </a:solidFill>
                          <a:latin typeface="BIZ UDPゴシック"/>
                          <a:ea typeface="BIZ UDPゴシック"/>
                        </a:rPr>
                        <a:t>ステアリングコミッティ</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重要課題と変更の意思決定</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月次</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プロジェクトオーナー</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プロジェクトオーナー、業務改革推進部、プロジェクトマネージャー</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方針・予算・変更の承認</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569595">
                <a:tc>
                  <a:txBody>
                    <a:bodyPr wrap="square" lIns="45720" tIns="18288" rIns="45720" bIns="18288" anchor="ctr"/>
                    <a:lstStyle/>
                    <a:p>
                      <a:pPr algn="l">
                        <a:lnSpc>
                          <a:spcPct val="120000"/>
                        </a:lnSpc>
                      </a:pPr>
                      <a:r>
                        <a:rPr sz="1100" b="0">
                          <a:solidFill>
                            <a:srgbClr val="1F2937"/>
                          </a:solidFill>
                          <a:latin typeface="BIZ UDPゴシック"/>
                          <a:ea typeface="BIZ UDPゴシック"/>
                        </a:rPr>
                        <a:t>プロジェクト定例会議</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進捗と課題の共有・対応</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週次</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プロジェクトマネージャー</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業務改革推進部、経理部、情報システム部、プロジェクトマネージャー、業務コンサルタント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進捗確認と課題の割当</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94969">
                <a:tc>
                  <a:txBody>
                    <a:bodyPr wrap="square" lIns="45720" tIns="18288" rIns="45720" bIns="18288" anchor="ctr"/>
                    <a:lstStyle/>
                    <a:p>
                      <a:pPr algn="l">
                        <a:lnSpc>
                          <a:spcPct val="120000"/>
                        </a:lnSpc>
                      </a:pPr>
                      <a:r>
                        <a:rPr sz="1100" b="0">
                          <a:solidFill>
                            <a:srgbClr val="1F2937"/>
                          </a:solidFill>
                          <a:latin typeface="BIZ UDPゴシック"/>
                          <a:ea typeface="BIZ UDPゴシック"/>
                        </a:rPr>
                        <a:t>業務検討ワーキング</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業務要件と運用の検討</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隔週</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経理部</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経理部、業務コンサルタント、変更管理リード</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業務要件と運用設計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94969">
                <a:tc>
                  <a:txBody>
                    <a:bodyPr wrap="square" lIns="45720" tIns="18288" rIns="45720" bIns="18288" anchor="ctr"/>
                    <a:lstStyle/>
                    <a:p>
                      <a:pPr algn="l">
                        <a:lnSpc>
                          <a:spcPct val="120000"/>
                        </a:lnSpc>
                      </a:pPr>
                      <a:r>
                        <a:rPr sz="1100" b="0">
                          <a:solidFill>
                            <a:srgbClr val="1F2937"/>
                          </a:solidFill>
                          <a:latin typeface="BIZ UDPゴシック"/>
                          <a:ea typeface="BIZ UDPゴシック"/>
                        </a:rPr>
                        <a:t>技術検討ワーキング</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連携とセキュリティの検討</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隔週</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情報システム部</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情報システム部、導入エンジニア、プロジェクトマネージャー</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連携方式と非機能要件</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04  コミュニケーション計画</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4.2 会議招集・議事録</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25</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招集・議事録・承認のルールを定める</a:t>
            </a:r>
          </a:p>
        </p:txBody>
      </p:sp>
      <p:sp>
        <p:nvSpPr>
          <p:cNvPr id="24" name="blk-bullets"/>
          <p:cNvSpPr txBox="1"/>
          <p:nvPr/>
        </p:nvSpPr>
        <p:spPr>
          <a:xfrm>
            <a:off x="502920" y="1591055"/>
            <a:ext cx="11185855" cy="2267712"/>
          </a:xfrm>
          <a:prstGeom prst="rect">
            <a:avLst/>
          </a:prstGeom>
          <a:noFill/>
        </p:spPr>
        <p:txBody>
          <a:bodyPr wrap="square" lIns="0" tIns="0" rIns="0" bIns="0">
            <a:spAutoFit/>
          </a:bodyPr>
          <a:lstStyle/>
          <a:p>
            <a:pPr>
              <a:lnSpc>
                <a:spcPct val="122000"/>
              </a:lnSpc>
              <a:spcAft>
                <a:spcPts val="400"/>
              </a:spcAft>
            </a:pPr>
            <a:r>
              <a:rPr sz="1000">
                <a:solidFill>
                  <a:srgbClr val="16213E"/>
                </a:solidFill>
                <a:latin typeface="BIZ UDPゴシック"/>
                <a:ea typeface="BIZ UDPゴシック"/>
              </a:rPr>
              <a:t>●</a:t>
            </a:r>
            <a:r>
              <a:rPr sz="1400">
                <a:solidFill>
                  <a:srgbClr val="1F2937"/>
                </a:solidFill>
                <a:latin typeface="BIZ UDPゴシック"/>
                <a:ea typeface="BIZ UDPゴシック"/>
              </a:rPr>
              <a:t> 招集は主催者が2営業日前までに案内し、資料を事前配布する</a:t>
            </a:r>
          </a:p>
          <a:p>
            <a:pPr>
              <a:lnSpc>
                <a:spcPct val="122000"/>
              </a:lnSpc>
              <a:spcAft>
                <a:spcPts val="400"/>
              </a:spcAft>
            </a:pPr>
            <a:r>
              <a:rPr sz="1000">
                <a:solidFill>
                  <a:srgbClr val="16213E"/>
                </a:solidFill>
                <a:latin typeface="BIZ UDPゴシック"/>
                <a:ea typeface="BIZ UDPゴシック"/>
              </a:rPr>
              <a:t>●</a:t>
            </a:r>
            <a:r>
              <a:rPr sz="1400">
                <a:solidFill>
                  <a:srgbClr val="1F2937"/>
                </a:solidFill>
                <a:latin typeface="BIZ UDPゴシック"/>
                <a:ea typeface="BIZ UDPゴシック"/>
              </a:rPr>
              <a:t> 議事録は主催者が3営業日以内に作成し、決定事項とToDoを明記する</a:t>
            </a:r>
          </a:p>
          <a:p>
            <a:pPr>
              <a:lnSpc>
                <a:spcPct val="122000"/>
              </a:lnSpc>
              <a:spcAft>
                <a:spcPts val="400"/>
              </a:spcAft>
            </a:pPr>
            <a:r>
              <a:rPr sz="1000">
                <a:solidFill>
                  <a:srgbClr val="16213E"/>
                </a:solidFill>
                <a:latin typeface="BIZ UDPゴシック"/>
                <a:ea typeface="BIZ UDPゴシック"/>
              </a:rPr>
              <a:t>●</a:t>
            </a:r>
            <a:r>
              <a:rPr sz="1400">
                <a:solidFill>
                  <a:srgbClr val="1F2937"/>
                </a:solidFill>
                <a:latin typeface="BIZ UDPゴシック"/>
                <a:ea typeface="BIZ UDPゴシック"/>
              </a:rPr>
              <a:t> 議事録は参加者と承認者の承認をもって確定する</a:t>
            </a:r>
          </a:p>
          <a:p>
            <a:pPr>
              <a:lnSpc>
                <a:spcPct val="122000"/>
              </a:lnSpc>
              <a:spcAft>
                <a:spcPts val="400"/>
              </a:spcAft>
            </a:pPr>
            <a:r>
              <a:rPr sz="1000">
                <a:solidFill>
                  <a:srgbClr val="16213E"/>
                </a:solidFill>
                <a:latin typeface="BIZ UDPゴシック"/>
                <a:ea typeface="BIZ UDPゴシック"/>
              </a:rPr>
              <a:t>●</a:t>
            </a:r>
            <a:r>
              <a:rPr sz="1400">
                <a:solidFill>
                  <a:srgbClr val="1F2937"/>
                </a:solidFill>
                <a:latin typeface="BIZ UDPゴシック"/>
                <a:ea typeface="BIZ UDPゴシック"/>
              </a:rPr>
              <a:t> 決定事項は関係者へ速やかに周知し、次回会議でフォローする</a:t>
            </a:r>
          </a:p>
        </p:txBody>
      </p:sp>
      <p:sp>
        <p:nvSpPr>
          <p:cNvPr id="25" name="drawio:s1"/>
          <p:cNvSpPr/>
          <p:nvPr/>
        </p:nvSpPr>
        <p:spPr>
          <a:xfrm>
            <a:off x="502920" y="4141317"/>
            <a:ext cx="1625295" cy="1720900"/>
          </a:xfrm>
          <a:prstGeom prst="roundRect">
            <a:avLst/>
          </a:prstGeom>
          <a:solidFill>
            <a:srgbClr val="F4F6FA"/>
          </a:solidFill>
          <a:ln w="9560">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8" b="0" i="0">
                <a:solidFill>
                  <a:srgbClr val="1F2937"/>
                </a:solidFill>
                <a:latin typeface="BIZ UDPゴシック"/>
                <a:ea typeface="BIZ UDPゴシック"/>
              </a:rPr>
              <a:t>会議招集</a:t>
            </a:r>
          </a:p>
          <a:p>
            <a:pPr algn="ctr">
              <a:lnSpc>
                <a:spcPct val="110000"/>
              </a:lnSpc>
            </a:pPr>
            <a:r>
              <a:rPr sz="978" b="0" i="0">
                <a:solidFill>
                  <a:srgbClr val="1F2937"/>
                </a:solidFill>
                <a:latin typeface="BIZ UDPゴシック"/>
                <a:ea typeface="BIZ UDPゴシック"/>
              </a:rPr>
              <a:t>2営業日前までに</a:t>
            </a:r>
          </a:p>
          <a:p>
            <a:pPr algn="ctr">
              <a:lnSpc>
                <a:spcPct val="110000"/>
              </a:lnSpc>
            </a:pPr>
            <a:r>
              <a:rPr sz="978" b="0" i="0">
                <a:solidFill>
                  <a:srgbClr val="1F2937"/>
                </a:solidFill>
                <a:latin typeface="BIZ UDPゴシック"/>
                <a:ea typeface="BIZ UDPゴシック"/>
              </a:rPr>
              <a:t>案内・資料配布</a:t>
            </a:r>
          </a:p>
        </p:txBody>
      </p:sp>
      <p:sp>
        <p:nvSpPr>
          <p:cNvPr id="26" name="drawio:s2"/>
          <p:cNvSpPr/>
          <p:nvPr/>
        </p:nvSpPr>
        <p:spPr>
          <a:xfrm>
            <a:off x="2415031" y="4141317"/>
            <a:ext cx="1625295" cy="1720900"/>
          </a:xfrm>
          <a:prstGeom prst="roundRect">
            <a:avLst/>
          </a:prstGeom>
          <a:solidFill>
            <a:srgbClr val="F4F6FA"/>
          </a:solidFill>
          <a:ln w="9560">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8" b="0" i="0">
                <a:solidFill>
                  <a:srgbClr val="1F2937"/>
                </a:solidFill>
                <a:latin typeface="BIZ UDPゴシック"/>
                <a:ea typeface="BIZ UDPゴシック"/>
              </a:rPr>
              <a:t>会議実施</a:t>
            </a:r>
          </a:p>
        </p:txBody>
      </p:sp>
      <p:sp>
        <p:nvSpPr>
          <p:cNvPr id="27" name="drawio:s3"/>
          <p:cNvSpPr/>
          <p:nvPr/>
        </p:nvSpPr>
        <p:spPr>
          <a:xfrm>
            <a:off x="4327143" y="4141317"/>
            <a:ext cx="1625295" cy="1720900"/>
          </a:xfrm>
          <a:prstGeom prst="roundRect">
            <a:avLst/>
          </a:prstGeom>
          <a:solidFill>
            <a:srgbClr val="F4F6FA"/>
          </a:solidFill>
          <a:ln w="9560">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8" b="0" i="0">
                <a:solidFill>
                  <a:srgbClr val="1F2937"/>
                </a:solidFill>
                <a:latin typeface="BIZ UDPゴシック"/>
                <a:ea typeface="BIZ UDPゴシック"/>
              </a:rPr>
              <a:t>議事録作成</a:t>
            </a:r>
          </a:p>
          <a:p>
            <a:pPr algn="ctr">
              <a:lnSpc>
                <a:spcPct val="110000"/>
              </a:lnSpc>
            </a:pPr>
            <a:r>
              <a:rPr sz="978" b="0" i="0">
                <a:solidFill>
                  <a:srgbClr val="1F2937"/>
                </a:solidFill>
                <a:latin typeface="BIZ UDPゴシック"/>
                <a:ea typeface="BIZ UDPゴシック"/>
              </a:rPr>
              <a:t>主催者が3営業日以内</a:t>
            </a:r>
          </a:p>
          <a:p>
            <a:pPr algn="ctr">
              <a:lnSpc>
                <a:spcPct val="110000"/>
              </a:lnSpc>
            </a:pPr>
            <a:r>
              <a:rPr sz="978" b="0" i="0">
                <a:solidFill>
                  <a:srgbClr val="1F2937"/>
                </a:solidFill>
                <a:latin typeface="BIZ UDPゴシック"/>
                <a:ea typeface="BIZ UDPゴシック"/>
              </a:rPr>
              <a:t>決定事項とToDo明記</a:t>
            </a:r>
          </a:p>
        </p:txBody>
      </p:sp>
      <p:sp>
        <p:nvSpPr>
          <p:cNvPr id="28" name="drawio:s4"/>
          <p:cNvSpPr/>
          <p:nvPr/>
        </p:nvSpPr>
        <p:spPr>
          <a:xfrm>
            <a:off x="6239255" y="4141317"/>
            <a:ext cx="1625295" cy="1720900"/>
          </a:xfrm>
          <a:prstGeom prst="roundRect">
            <a:avLst/>
          </a:prstGeom>
          <a:solidFill>
            <a:srgbClr val="B4235A"/>
          </a:solidFill>
          <a:ln w="9560">
            <a:solidFill>
              <a:srgbClr val="B4235A"/>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8" b="1" i="0">
                <a:solidFill>
                  <a:srgbClr val="FFFFFF"/>
                </a:solidFill>
                <a:latin typeface="BIZ UDPゴシック"/>
                <a:ea typeface="BIZ UDPゴシック"/>
              </a:rPr>
              <a:t>参加者・承認者</a:t>
            </a:r>
          </a:p>
          <a:p>
            <a:pPr algn="ctr">
              <a:lnSpc>
                <a:spcPct val="110000"/>
              </a:lnSpc>
            </a:pPr>
            <a:r>
              <a:rPr sz="978" b="1" i="0">
                <a:solidFill>
                  <a:srgbClr val="FFFFFF"/>
                </a:solidFill>
                <a:latin typeface="BIZ UDPゴシック"/>
                <a:ea typeface="BIZ UDPゴシック"/>
              </a:rPr>
              <a:t>の承認</a:t>
            </a:r>
          </a:p>
        </p:txBody>
      </p:sp>
      <p:sp>
        <p:nvSpPr>
          <p:cNvPr id="29" name="drawio:s5"/>
          <p:cNvSpPr/>
          <p:nvPr/>
        </p:nvSpPr>
        <p:spPr>
          <a:xfrm>
            <a:off x="8151367" y="4141317"/>
            <a:ext cx="1625295" cy="1720900"/>
          </a:xfrm>
          <a:prstGeom prst="roundRect">
            <a:avLst/>
          </a:prstGeom>
          <a:solidFill>
            <a:srgbClr val="059669"/>
          </a:solidFill>
          <a:ln w="956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8" b="1" i="0">
                <a:solidFill>
                  <a:srgbClr val="FFFFFF"/>
                </a:solidFill>
                <a:latin typeface="BIZ UDPゴシック"/>
                <a:ea typeface="BIZ UDPゴシック"/>
              </a:rPr>
              <a:t>確定</a:t>
            </a:r>
          </a:p>
          <a:p>
            <a:pPr algn="ctr">
              <a:lnSpc>
                <a:spcPct val="110000"/>
              </a:lnSpc>
            </a:pPr>
            <a:r>
              <a:rPr sz="978" b="1" i="0">
                <a:solidFill>
                  <a:srgbClr val="FFFFFF"/>
                </a:solidFill>
                <a:latin typeface="BIZ UDPゴシック"/>
                <a:ea typeface="BIZ UDPゴシック"/>
              </a:rPr>
              <a:t>共有フォルダに格納</a:t>
            </a:r>
          </a:p>
        </p:txBody>
      </p:sp>
      <p:sp>
        <p:nvSpPr>
          <p:cNvPr id="30" name="drawio:s6"/>
          <p:cNvSpPr/>
          <p:nvPr/>
        </p:nvSpPr>
        <p:spPr>
          <a:xfrm>
            <a:off x="10063479" y="4141317"/>
            <a:ext cx="1625295" cy="1720900"/>
          </a:xfrm>
          <a:prstGeom prst="roundRect">
            <a:avLst/>
          </a:prstGeom>
          <a:solidFill>
            <a:srgbClr val="F4F6FA"/>
          </a:solidFill>
          <a:ln w="9560">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8" b="0" i="0">
                <a:solidFill>
                  <a:srgbClr val="1F2937"/>
                </a:solidFill>
                <a:latin typeface="BIZ UDPゴシック"/>
                <a:ea typeface="BIZ UDPゴシック"/>
              </a:rPr>
              <a:t>周知・フォロー</a:t>
            </a:r>
          </a:p>
          <a:p>
            <a:pPr algn="ctr">
              <a:lnSpc>
                <a:spcPct val="110000"/>
              </a:lnSpc>
            </a:pPr>
            <a:r>
              <a:rPr sz="978" b="0" i="0">
                <a:solidFill>
                  <a:srgbClr val="1F2937"/>
                </a:solidFill>
                <a:latin typeface="BIZ UDPゴシック"/>
                <a:ea typeface="BIZ UDPゴシック"/>
              </a:rPr>
              <a:t>関係者へ展開</a:t>
            </a:r>
          </a:p>
          <a:p>
            <a:pPr algn="ctr">
              <a:lnSpc>
                <a:spcPct val="110000"/>
              </a:lnSpc>
            </a:pPr>
            <a:r>
              <a:rPr sz="978" b="0" i="0">
                <a:solidFill>
                  <a:srgbClr val="1F2937"/>
                </a:solidFill>
                <a:latin typeface="BIZ UDPゴシック"/>
                <a:ea typeface="BIZ UDPゴシック"/>
              </a:rPr>
              <a:t>次回会議で確認</a:t>
            </a:r>
          </a:p>
        </p:txBody>
      </p:sp>
      <p:cxnSp>
        <p:nvCxnSpPr>
          <p:cNvPr id="31" name="drawio:e1"/>
          <p:cNvCxnSpPr/>
          <p:nvPr/>
        </p:nvCxnSpPr>
        <p:spPr>
          <a:xfrm>
            <a:off x="2103835" y="5001768"/>
            <a:ext cx="335576" cy="0"/>
          </a:xfrm>
          <a:prstGeom prst="line">
            <a:avLst/>
          </a:prstGeom>
          <a:ln w="19121">
            <a:solidFill>
              <a:srgbClr val="6B7280"/>
            </a:solidFill>
            <a:tailEnd type="arrow" w="sm" len="sm"/>
          </a:ln>
        </p:spPr>
        <p:style>
          <a:lnRef idx="2">
            <a:schemeClr val="accent1"/>
          </a:lnRef>
          <a:fillRef idx="0">
            <a:schemeClr val="accent1"/>
          </a:fillRef>
          <a:effectRef idx="1">
            <a:schemeClr val="accent1"/>
          </a:effectRef>
          <a:fontRef idx="minor">
            <a:schemeClr val="tx1"/>
          </a:fontRef>
        </p:style>
      </p:cxnSp>
      <p:cxnSp>
        <p:nvCxnSpPr>
          <p:cNvPr id="32" name="drawio:e2"/>
          <p:cNvCxnSpPr/>
          <p:nvPr/>
        </p:nvCxnSpPr>
        <p:spPr>
          <a:xfrm>
            <a:off x="4015947" y="5001768"/>
            <a:ext cx="335576" cy="0"/>
          </a:xfrm>
          <a:prstGeom prst="line">
            <a:avLst/>
          </a:prstGeom>
          <a:ln w="19121">
            <a:solidFill>
              <a:srgbClr val="6B7280"/>
            </a:solidFill>
            <a:tailEnd type="arrow" w="sm" len="sm"/>
          </a:ln>
        </p:spPr>
        <p:style>
          <a:lnRef idx="2">
            <a:schemeClr val="accent1"/>
          </a:lnRef>
          <a:fillRef idx="0">
            <a:schemeClr val="accent1"/>
          </a:fillRef>
          <a:effectRef idx="1">
            <a:schemeClr val="accent1"/>
          </a:effectRef>
          <a:fontRef idx="minor">
            <a:schemeClr val="tx1"/>
          </a:fontRef>
        </p:style>
      </p:cxnSp>
      <p:cxnSp>
        <p:nvCxnSpPr>
          <p:cNvPr id="33" name="drawio:e3"/>
          <p:cNvCxnSpPr/>
          <p:nvPr/>
        </p:nvCxnSpPr>
        <p:spPr>
          <a:xfrm>
            <a:off x="5928059" y="5001768"/>
            <a:ext cx="335576" cy="0"/>
          </a:xfrm>
          <a:prstGeom prst="line">
            <a:avLst/>
          </a:prstGeom>
          <a:ln w="19121">
            <a:solidFill>
              <a:srgbClr val="6B7280"/>
            </a:solidFill>
            <a:tailEnd type="arrow" w="sm" len="sm"/>
          </a:ln>
        </p:spPr>
        <p:style>
          <a:lnRef idx="2">
            <a:schemeClr val="accent1"/>
          </a:lnRef>
          <a:fillRef idx="0">
            <a:schemeClr val="accent1"/>
          </a:fillRef>
          <a:effectRef idx="1">
            <a:schemeClr val="accent1"/>
          </a:effectRef>
          <a:fontRef idx="minor">
            <a:schemeClr val="tx1"/>
          </a:fontRef>
        </p:style>
      </p:cxnSp>
      <p:cxnSp>
        <p:nvCxnSpPr>
          <p:cNvPr id="34" name="drawio:e4"/>
          <p:cNvCxnSpPr/>
          <p:nvPr/>
        </p:nvCxnSpPr>
        <p:spPr>
          <a:xfrm>
            <a:off x="7840171" y="5001768"/>
            <a:ext cx="335576" cy="0"/>
          </a:xfrm>
          <a:prstGeom prst="line">
            <a:avLst/>
          </a:prstGeom>
          <a:ln w="19121">
            <a:solidFill>
              <a:srgbClr val="6B7280"/>
            </a:solidFill>
            <a:tailEnd type="arrow" w="sm" len="sm"/>
          </a:ln>
        </p:spPr>
        <p:style>
          <a:lnRef idx="2">
            <a:schemeClr val="accent1"/>
          </a:lnRef>
          <a:fillRef idx="0">
            <a:schemeClr val="accent1"/>
          </a:fillRef>
          <a:effectRef idx="1">
            <a:schemeClr val="accent1"/>
          </a:effectRef>
          <a:fontRef idx="minor">
            <a:schemeClr val="tx1"/>
          </a:fontRef>
        </p:style>
      </p:cxnSp>
      <p:cxnSp>
        <p:nvCxnSpPr>
          <p:cNvPr id="35" name="drawio:e5"/>
          <p:cNvCxnSpPr/>
          <p:nvPr/>
        </p:nvCxnSpPr>
        <p:spPr>
          <a:xfrm>
            <a:off x="9752283" y="5001768"/>
            <a:ext cx="335576" cy="0"/>
          </a:xfrm>
          <a:prstGeom prst="line">
            <a:avLst/>
          </a:prstGeom>
          <a:ln w="19121">
            <a:solidFill>
              <a:srgbClr val="6B7280"/>
            </a:solidFill>
            <a:tailEnd type="arrow" w="sm" len="sm"/>
          </a:ln>
        </p:spPr>
        <p:style>
          <a:lnRef idx="2">
            <a:schemeClr val="accent1"/>
          </a:lnRef>
          <a:fillRef idx="0">
            <a:schemeClr val="accent1"/>
          </a:fillRef>
          <a:effectRef idx="1">
            <a:schemeClr val="accent1"/>
          </a:effectRef>
          <a:fontRef idx="minor">
            <a:schemeClr val="tx1"/>
          </a:fontRef>
        </p:style>
      </p:cxnSp>
      <p:sp>
        <p:nvSpPr>
          <p:cNvPr id="36" name="blk-diagram-cap"/>
          <p:cNvSpPr txBox="1"/>
          <p:nvPr/>
        </p:nvSpPr>
        <p:spPr>
          <a:xfrm>
            <a:off x="502920" y="5898794"/>
            <a:ext cx="11185855" cy="237744"/>
          </a:xfrm>
          <a:prstGeom prst="rect">
            <a:avLst/>
          </a:prstGeom>
          <a:noFill/>
        </p:spPr>
        <p:txBody>
          <a:bodyPr wrap="square" lIns="0" tIns="0" rIns="0" bIns="0" anchor="t">
            <a:spAutoFit/>
          </a:bodyPr>
          <a:lstStyle/>
          <a:p>
            <a:pPr algn="ctr">
              <a:lnSpc>
                <a:spcPct val="120000"/>
              </a:lnSpc>
            </a:pPr>
            <a:r>
              <a:rPr sz="900" b="0">
                <a:solidFill>
                  <a:srgbClr val="6B7280"/>
                </a:solidFill>
                <a:latin typeface="BIZ UDPゴシック"/>
                <a:ea typeface="BIZ UDPゴシック"/>
              </a:rPr>
              <a:t>議事録の作成・承認フロー</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04  コミュニケーション計画</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4.3 進捗報告とエスカレーション</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26</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報告の種類とエスカレーション基準を定める</a:t>
            </a:r>
          </a:p>
        </p:txBody>
      </p:sp>
      <p:graphicFrame>
        <p:nvGraphicFramePr>
          <p:cNvPr id="24" name="blk-table"/>
          <p:cNvGraphicFramePr>
            <a:graphicFrameLocks noGrp="1"/>
          </p:cNvGraphicFramePr>
          <p:nvPr/>
        </p:nvGraphicFramePr>
        <p:xfrm>
          <a:off x="502920" y="1591055"/>
          <a:ext cx="5455767" cy="1115568"/>
        </p:xfrm>
        <a:graphic>
          <a:graphicData uri="http://schemas.openxmlformats.org/drawingml/2006/table">
            <a:tbl>
              <a:tblPr>
                <a:tableStyleId>{5C22544A-7EE6-4342-B048-85BDC9FD1C3A}</a:tableStyleId>
              </a:tblPr>
              <a:tblGrid>
                <a:gridCol w="1636730"/>
                <a:gridCol w="1309384"/>
                <a:gridCol w="2509653"/>
              </a:tblGrid>
              <a:tr h="262128">
                <a:tc>
                  <a:txBody>
                    <a:bodyPr wrap="square" lIns="45720" tIns="18288" rIns="45720" bIns="18288" anchor="ctr"/>
                    <a:lstStyle/>
                    <a:p>
                      <a:pPr algn="l">
                        <a:lnSpc>
                          <a:spcPct val="120000"/>
                        </a:lnSpc>
                      </a:pPr>
                      <a:r>
                        <a:rPr sz="1200" b="1">
                          <a:solidFill>
                            <a:srgbClr val="FFFFFF"/>
                          </a:solidFill>
                          <a:latin typeface="BIZ UDPゴシック"/>
                          <a:ea typeface="BIZ UDPゴシック"/>
                        </a:rPr>
                        <a:t>報告</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200" b="1">
                          <a:solidFill>
                            <a:srgbClr val="FFFFFF"/>
                          </a:solidFill>
                          <a:latin typeface="BIZ UDPゴシック"/>
                          <a:ea typeface="BIZ UDPゴシック"/>
                        </a:rPr>
                        <a:t>頻度</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200" b="1">
                          <a:solidFill>
                            <a:srgbClr val="FFFFFF"/>
                          </a:solidFill>
                          <a:latin typeface="BIZ UDPゴシック"/>
                          <a:ea typeface="BIZ UDPゴシック"/>
                        </a:rPr>
                        <a:t>報告先</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426720">
                <a:tc>
                  <a:txBody>
                    <a:bodyPr wrap="square" lIns="45720" tIns="18288" rIns="45720" bIns="18288" anchor="ctr"/>
                    <a:lstStyle/>
                    <a:p>
                      <a:pPr algn="l">
                        <a:lnSpc>
                          <a:spcPct val="120000"/>
                        </a:lnSpc>
                      </a:pPr>
                      <a:r>
                        <a:rPr sz="1200" b="0">
                          <a:solidFill>
                            <a:srgbClr val="1F2937"/>
                          </a:solidFill>
                          <a:latin typeface="BIZ UDPゴシック"/>
                          <a:ea typeface="BIZ UDPゴシック"/>
                        </a:rPr>
                        <a:t>週次進捗</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週次</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プロジェクトマネージャー → 業務改革推進部</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426720">
                <a:tc>
                  <a:txBody>
                    <a:bodyPr wrap="square" lIns="45720" tIns="18288" rIns="45720" bIns="18288" anchor="ctr"/>
                    <a:lstStyle/>
                    <a:p>
                      <a:pPr algn="l">
                        <a:lnSpc>
                          <a:spcPct val="120000"/>
                        </a:lnSpc>
                      </a:pPr>
                      <a:r>
                        <a:rPr sz="1200" b="0">
                          <a:solidFill>
                            <a:srgbClr val="1F2937"/>
                          </a:solidFill>
                          <a:latin typeface="BIZ UDPゴシック"/>
                          <a:ea typeface="BIZ UDPゴシック"/>
                        </a:rPr>
                        <a:t>月次報告</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月次</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プロジェクトマネージャー → ステアリングコミッティ</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bl>
          </a:graphicData>
        </a:graphic>
      </p:graphicFrame>
      <p:sp>
        <p:nvSpPr>
          <p:cNvPr id="25" name="drawio:l4"/>
          <p:cNvSpPr/>
          <p:nvPr/>
        </p:nvSpPr>
        <p:spPr>
          <a:xfrm>
            <a:off x="6748042" y="1591055"/>
            <a:ext cx="4160154" cy="708111"/>
          </a:xfrm>
          <a:prstGeom prst="roundRect">
            <a:avLst/>
          </a:prstGeom>
          <a:solidFill>
            <a:srgbClr val="16213E"/>
          </a:solidFill>
          <a:ln w="8851">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5" b="1" i="0">
                <a:solidFill>
                  <a:srgbClr val="FFFFFF"/>
                </a:solidFill>
                <a:latin typeface="BIZ UDPゴシック"/>
                <a:ea typeface="BIZ UDPゴシック"/>
              </a:rPr>
              <a:t>ステアリングコミッティ</a:t>
            </a:r>
          </a:p>
          <a:p>
            <a:pPr algn="ctr">
              <a:lnSpc>
                <a:spcPct val="110000"/>
              </a:lnSpc>
            </a:pPr>
            <a:r>
              <a:rPr sz="975" b="1" i="0">
                <a:solidFill>
                  <a:srgbClr val="FFFFFF"/>
                </a:solidFill>
                <a:latin typeface="BIZ UDPゴシック"/>
                <a:ea typeface="BIZ UDPゴシック"/>
              </a:rPr>
              <a:t>月次・最終判断</a:t>
            </a:r>
          </a:p>
        </p:txBody>
      </p:sp>
      <p:sp>
        <p:nvSpPr>
          <p:cNvPr id="26" name="drawio:l3"/>
          <p:cNvSpPr/>
          <p:nvPr/>
        </p:nvSpPr>
        <p:spPr>
          <a:xfrm>
            <a:off x="6748042" y="2830249"/>
            <a:ext cx="4160154" cy="708111"/>
          </a:xfrm>
          <a:prstGeom prst="roundRect">
            <a:avLst/>
          </a:prstGeom>
          <a:solidFill>
            <a:srgbClr val="B4235A"/>
          </a:solidFill>
          <a:ln w="8851">
            <a:solidFill>
              <a:srgbClr val="B4235A"/>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5" b="0" i="0">
                <a:solidFill>
                  <a:srgbClr val="FFFFFF"/>
                </a:solidFill>
                <a:latin typeface="BIZ UDPゴシック"/>
                <a:ea typeface="BIZ UDPゴシック"/>
              </a:rPr>
              <a:t>業務改革推進部</a:t>
            </a:r>
          </a:p>
          <a:p>
            <a:pPr algn="ctr">
              <a:lnSpc>
                <a:spcPct val="110000"/>
              </a:lnSpc>
            </a:pPr>
            <a:r>
              <a:rPr sz="975" b="0" i="0">
                <a:solidFill>
                  <a:srgbClr val="FFFFFF"/>
                </a:solidFill>
                <a:latin typeface="BIZ UDPゴシック"/>
                <a:ea typeface="BIZ UDPゴシック"/>
              </a:rPr>
              <a:t>事務局・週次報告先</a:t>
            </a:r>
          </a:p>
        </p:txBody>
      </p:sp>
      <p:sp>
        <p:nvSpPr>
          <p:cNvPr id="27" name="drawio:l2"/>
          <p:cNvSpPr/>
          <p:nvPr/>
        </p:nvSpPr>
        <p:spPr>
          <a:xfrm>
            <a:off x="6748042" y="4069444"/>
            <a:ext cx="4160154" cy="708111"/>
          </a:xfrm>
          <a:prstGeom prst="roundRect">
            <a:avLst/>
          </a:prstGeom>
          <a:solidFill>
            <a:srgbClr val="FFFFFF"/>
          </a:solidFill>
          <a:ln w="8851">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5" b="0" i="0">
                <a:solidFill>
                  <a:srgbClr val="1F2937"/>
                </a:solidFill>
                <a:latin typeface="BIZ UDPゴシック"/>
                <a:ea typeface="BIZ UDPゴシック"/>
              </a:rPr>
              <a:t>プロジェクトマネージャー</a:t>
            </a:r>
          </a:p>
          <a:p>
            <a:pPr algn="ctr">
              <a:lnSpc>
                <a:spcPct val="110000"/>
              </a:lnSpc>
            </a:pPr>
            <a:r>
              <a:rPr sz="975" b="0" i="0">
                <a:solidFill>
                  <a:srgbClr val="1F2937"/>
                </a:solidFill>
                <a:latin typeface="BIZ UDPゴシック"/>
                <a:ea typeface="BIZ UDPゴシック"/>
              </a:rPr>
              <a:t>週次進捗のとりまとめ</a:t>
            </a:r>
          </a:p>
        </p:txBody>
      </p:sp>
      <p:sp>
        <p:nvSpPr>
          <p:cNvPr id="28" name="drawio:l1"/>
          <p:cNvSpPr/>
          <p:nvPr/>
        </p:nvSpPr>
        <p:spPr>
          <a:xfrm>
            <a:off x="6748042" y="5308639"/>
            <a:ext cx="4160154" cy="708111"/>
          </a:xfrm>
          <a:prstGeom prst="roundRect">
            <a:avLst/>
          </a:prstGeom>
          <a:solidFill>
            <a:srgbClr val="FFFFFF"/>
          </a:solidFill>
          <a:ln w="8851">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5" b="0" i="0">
                <a:solidFill>
                  <a:srgbClr val="1F2937"/>
                </a:solidFill>
                <a:latin typeface="BIZ UDPゴシック"/>
                <a:ea typeface="BIZ UDPゴシック"/>
              </a:rPr>
              <a:t>業務検討ワーキング / 技術検討ワーキング</a:t>
            </a:r>
          </a:p>
          <a:p>
            <a:pPr algn="ctr">
              <a:lnSpc>
                <a:spcPct val="110000"/>
              </a:lnSpc>
            </a:pPr>
            <a:r>
              <a:rPr sz="975" b="0" i="0">
                <a:solidFill>
                  <a:srgbClr val="1F2937"/>
                </a:solidFill>
                <a:latin typeface="BIZ UDPゴシック"/>
                <a:ea typeface="BIZ UDPゴシック"/>
              </a:rPr>
              <a:t>現場レベルの課題</a:t>
            </a:r>
          </a:p>
        </p:txBody>
      </p:sp>
      <p:cxnSp>
        <p:nvCxnSpPr>
          <p:cNvPr id="29" name="drawio:e1"/>
          <p:cNvCxnSpPr/>
          <p:nvPr/>
        </p:nvCxnSpPr>
        <p:spPr>
          <a:xfrm flipV="1">
            <a:off x="8828119" y="4766934"/>
            <a:ext cx="0" cy="552327"/>
          </a:xfrm>
          <a:prstGeom prst="line">
            <a:avLst/>
          </a:prstGeom>
          <a:ln w="17702">
            <a:solidFill>
              <a:srgbClr val="6B7280"/>
            </a:solidFill>
            <a:tailEnd type="arrow" w="sm" len="sm"/>
          </a:ln>
        </p:spPr>
        <p:style>
          <a:lnRef idx="2">
            <a:schemeClr val="accent1"/>
          </a:lnRef>
          <a:fillRef idx="0">
            <a:schemeClr val="accent1"/>
          </a:fillRef>
          <a:effectRef idx="1">
            <a:schemeClr val="accent1"/>
          </a:effectRef>
          <a:fontRef idx="minor">
            <a:schemeClr val="tx1"/>
          </a:fontRef>
        </p:style>
      </p:cxnSp>
      <p:cxnSp>
        <p:nvCxnSpPr>
          <p:cNvPr id="30" name="drawio:e2"/>
          <p:cNvCxnSpPr/>
          <p:nvPr/>
        </p:nvCxnSpPr>
        <p:spPr>
          <a:xfrm flipV="1">
            <a:off x="8828119" y="3527739"/>
            <a:ext cx="0" cy="552327"/>
          </a:xfrm>
          <a:prstGeom prst="line">
            <a:avLst/>
          </a:prstGeom>
          <a:ln w="17702">
            <a:solidFill>
              <a:srgbClr val="6B7280"/>
            </a:solidFill>
            <a:tailEnd type="arrow" w="sm" len="sm"/>
          </a:ln>
        </p:spPr>
        <p:style>
          <a:lnRef idx="2">
            <a:schemeClr val="accent1"/>
          </a:lnRef>
          <a:fillRef idx="0">
            <a:schemeClr val="accent1"/>
          </a:fillRef>
          <a:effectRef idx="1">
            <a:schemeClr val="accent1"/>
          </a:effectRef>
          <a:fontRef idx="minor">
            <a:schemeClr val="tx1"/>
          </a:fontRef>
        </p:style>
      </p:cxnSp>
      <p:cxnSp>
        <p:nvCxnSpPr>
          <p:cNvPr id="31" name="drawio:e3"/>
          <p:cNvCxnSpPr/>
          <p:nvPr/>
        </p:nvCxnSpPr>
        <p:spPr>
          <a:xfrm flipV="1">
            <a:off x="8828119" y="2288544"/>
            <a:ext cx="0" cy="552327"/>
          </a:xfrm>
          <a:prstGeom prst="line">
            <a:avLst/>
          </a:prstGeom>
          <a:ln w="17702">
            <a:solidFill>
              <a:srgbClr val="6B7280"/>
            </a:solidFill>
            <a:tailEnd type="arrow" w="sm" len="sm"/>
          </a:ln>
        </p:spPr>
        <p:style>
          <a:lnRef idx="2">
            <a:schemeClr val="accent1"/>
          </a:lnRef>
          <a:fillRef idx="0">
            <a:schemeClr val="accent1"/>
          </a:fillRef>
          <a:effectRef idx="1">
            <a:schemeClr val="accent1"/>
          </a:effectRef>
          <a:fontRef idx="minor">
            <a:schemeClr val="tx1"/>
          </a:fontRef>
        </p:style>
      </p:cxnSp>
      <p:sp>
        <p:nvSpPr>
          <p:cNvPr id="32" name="drawio:e4"/>
          <p:cNvSpPr/>
          <p:nvPr/>
        </p:nvSpPr>
        <p:spPr>
          <a:xfrm>
            <a:off x="10845794" y="1945110"/>
            <a:ext cx="327944" cy="2478390"/>
          </a:xfrm>
          <a:custGeom>
            <a:avLst/>
            <a:gdLst/>
            <a:ahLst/>
            <a:cxnLst/>
            <a:rect l="l" t="t" r="r" b="b"/>
            <a:pathLst>
              <a:path w="327944" h="2478390">
                <a:moveTo>
                  <a:pt x="0" y="2478390"/>
                </a:moveTo>
                <a:lnTo>
                  <a:pt x="327944" y="2478390"/>
                </a:lnTo>
                <a:lnTo>
                  <a:pt x="327944" y="1239195"/>
                </a:lnTo>
                <a:lnTo>
                  <a:pt x="327944" y="0"/>
                </a:lnTo>
                <a:lnTo>
                  <a:pt x="0" y="0"/>
                </a:lnTo>
              </a:path>
            </a:pathLst>
          </a:custGeom>
          <a:noFill/>
          <a:ln w="8851">
            <a:solidFill>
              <a:srgbClr val="6B7280"/>
            </a:solidFill>
            <a:prstDash val="dash"/>
            <a:tailEnd type="arrow"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rawio:e4:label"/>
          <p:cNvSpPr txBox="1"/>
          <p:nvPr/>
        </p:nvSpPr>
        <p:spPr>
          <a:xfrm>
            <a:off x="10871158" y="3105797"/>
            <a:ext cx="605160" cy="157016"/>
          </a:xfrm>
          <a:prstGeom prst="rect">
            <a:avLst/>
          </a:prstGeom>
          <a:solidFill>
            <a:srgbClr val="FFFFFF"/>
          </a:solidFill>
          <a:ln>
            <a:noFill/>
          </a:ln>
        </p:spPr>
        <p:txBody>
          <a:bodyPr wrap="square" lIns="36576" rIns="36576" tIns="18288" bIns="18288" anchor="ctr">
            <a:spAutoFit/>
          </a:bodyPr>
          <a:lstStyle/>
          <a:p>
            <a:pPr algn="ctr">
              <a:lnSpc>
                <a:spcPct val="110000"/>
              </a:lnSpc>
            </a:pPr>
            <a:r>
              <a:rPr sz="836" b="0" i="0">
                <a:solidFill>
                  <a:srgbClr val="6B7280"/>
                </a:solidFill>
                <a:latin typeface="BIZ UDPゴシック"/>
                <a:ea typeface="BIZ UDPゴシック"/>
              </a:rPr>
              <a:t>月次報告</a:t>
            </a:r>
          </a:p>
        </p:txBody>
      </p:sp>
      <p:sp>
        <p:nvSpPr>
          <p:cNvPr id="34" name="blk-diagram-cap"/>
          <p:cNvSpPr txBox="1"/>
          <p:nvPr/>
        </p:nvSpPr>
        <p:spPr>
          <a:xfrm>
            <a:off x="6233007" y="6053327"/>
            <a:ext cx="5455767" cy="237744"/>
          </a:xfrm>
          <a:prstGeom prst="rect">
            <a:avLst/>
          </a:prstGeom>
          <a:noFill/>
        </p:spPr>
        <p:txBody>
          <a:bodyPr wrap="square" lIns="0" tIns="0" rIns="0" bIns="0" anchor="t">
            <a:spAutoFit/>
          </a:bodyPr>
          <a:lstStyle/>
          <a:p>
            <a:pPr algn="ctr">
              <a:lnSpc>
                <a:spcPct val="120000"/>
              </a:lnSpc>
            </a:pPr>
            <a:r>
              <a:rPr sz="900" b="0">
                <a:solidFill>
                  <a:srgbClr val="6B7280"/>
                </a:solidFill>
                <a:latin typeface="BIZ UDPゴシック"/>
                <a:ea typeface="BIZ UDPゴシック"/>
              </a:rPr>
              <a:t>エスカレーション経路</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04  コミュニケーション計画</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4.4 連絡手段 (メール・チャット等)</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27</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用途ごとの連絡手段とルールを定める</a:t>
            </a:r>
          </a:p>
        </p:txBody>
      </p:sp>
      <p:graphicFrame>
        <p:nvGraphicFramePr>
          <p:cNvPr id="24" name="blk-table"/>
          <p:cNvGraphicFramePr>
            <a:graphicFrameLocks noGrp="1"/>
          </p:cNvGraphicFramePr>
          <p:nvPr/>
        </p:nvGraphicFramePr>
        <p:xfrm>
          <a:off x="502920" y="1591055"/>
          <a:ext cx="11185854" cy="1831340"/>
        </p:xfrm>
        <a:graphic>
          <a:graphicData uri="http://schemas.openxmlformats.org/drawingml/2006/table">
            <a:tbl>
              <a:tblPr>
                <a:tableStyleId>{5C22544A-7EE6-4342-B048-85BDC9FD1C3A}</a:tableStyleId>
              </a:tblPr>
              <a:tblGrid>
                <a:gridCol w="3132039"/>
                <a:gridCol w="2684605"/>
                <a:gridCol w="5369210"/>
              </a:tblGrid>
              <a:tr h="295148">
                <a:tc>
                  <a:txBody>
                    <a:bodyPr wrap="square" lIns="45720" tIns="18288" rIns="45720" bIns="18288" anchor="ctr"/>
                    <a:lstStyle/>
                    <a:p>
                      <a:pPr algn="l">
                        <a:lnSpc>
                          <a:spcPct val="120000"/>
                        </a:lnSpc>
                      </a:pPr>
                      <a:r>
                        <a:rPr sz="1400" b="1">
                          <a:solidFill>
                            <a:srgbClr val="FFFFFF"/>
                          </a:solidFill>
                          <a:latin typeface="BIZ UDPゴシック"/>
                          <a:ea typeface="BIZ UDPゴシック"/>
                        </a:rPr>
                        <a:t>用途</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手段</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ルール</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正式な連絡・決定</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メール</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決定事項と対外文書はメールで記録を残す</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日常の連絡</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ビジネスチャット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専用チャンネルで連絡し、決定は議事録に記録する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緊急連絡</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電話・チャット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障害時は直ちにプロジェクトマネージャーへ連絡する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海外拠点との連絡</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【要確認】</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海外拠点の利用ツールと時差対応は調整中</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v-bg"/>
          <p:cNvSpPr/>
          <p:nvPr/>
        </p:nvSpPr>
        <p:spPr>
          <a:xfrm>
            <a:off x="0" y="0"/>
            <a:ext cx="12191695" cy="6858000"/>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v-acc1"/>
          <p:cNvSpPr/>
          <p:nvPr/>
        </p:nvSpPr>
        <p:spPr>
          <a:xfrm>
            <a:off x="9814255" y="-1005840"/>
            <a:ext cx="2560320" cy="2560320"/>
          </a:xfrm>
          <a:prstGeom prst="rect">
            <a:avLst/>
          </a:prstGeom>
          <a:solidFill>
            <a:srgbClr val="B4235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v-acc2"/>
          <p:cNvSpPr/>
          <p:nvPr/>
        </p:nvSpPr>
        <p:spPr>
          <a:xfrm>
            <a:off x="10637215" y="5120640"/>
            <a:ext cx="1188720" cy="1188720"/>
          </a:xfrm>
          <a:prstGeom prst="ellipse">
            <a:avLst/>
          </a:prstGeom>
          <a:noFill/>
          <a:ln w="254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v-acc3"/>
          <p:cNvSpPr/>
          <p:nvPr/>
        </p:nvSpPr>
        <p:spPr>
          <a:xfrm rot="1320000">
            <a:off x="11643055" y="2468879"/>
            <a:ext cx="502920" cy="3108960"/>
          </a:xfrm>
          <a:prstGeom prst="rect">
            <a:avLst/>
          </a:prstGeom>
          <a:solidFill>
            <a:srgbClr val="B4235A">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v-kicker"/>
          <p:cNvSpPr txBox="1"/>
          <p:nvPr/>
        </p:nvSpPr>
        <p:spPr>
          <a:xfrm>
            <a:off x="777240" y="960120"/>
            <a:ext cx="2743200" cy="256032"/>
          </a:xfrm>
          <a:prstGeom prst="rect">
            <a:avLst/>
          </a:prstGeom>
          <a:noFill/>
        </p:spPr>
        <p:txBody>
          <a:bodyPr wrap="square" lIns="0" tIns="0" rIns="0" bIns="0" anchor="t">
            <a:spAutoFit/>
          </a:bodyPr>
          <a:lstStyle/>
          <a:p>
            <a:pPr algn="l">
              <a:lnSpc>
                <a:spcPct val="120000"/>
              </a:lnSpc>
            </a:pPr>
            <a:r>
              <a:rPr sz="1200" b="1" spc="400">
                <a:solidFill>
                  <a:srgbClr val="0E7490"/>
                </a:solidFill>
                <a:latin typeface="BIZ UDPゴシック"/>
                <a:ea typeface="BIZ UDPゴシック"/>
              </a:rPr>
              <a:t>CHAPTER</a:t>
            </a:r>
          </a:p>
        </p:txBody>
      </p:sp>
      <p:sp>
        <p:nvSpPr>
          <p:cNvPr id="7" name="dv-num"/>
          <p:cNvSpPr txBox="1"/>
          <p:nvPr/>
        </p:nvSpPr>
        <p:spPr>
          <a:xfrm>
            <a:off x="731519" y="1234440"/>
            <a:ext cx="3108960" cy="1417320"/>
          </a:xfrm>
          <a:prstGeom prst="rect">
            <a:avLst/>
          </a:prstGeom>
          <a:noFill/>
        </p:spPr>
        <p:txBody>
          <a:bodyPr wrap="none" lIns="0" tIns="0" rIns="0" bIns="0" anchor="t">
            <a:spAutoFit/>
          </a:bodyPr>
          <a:lstStyle/>
          <a:p>
            <a:pPr algn="l">
              <a:lnSpc>
                <a:spcPct val="120000"/>
              </a:lnSpc>
            </a:pPr>
            <a:r>
              <a:rPr sz="9600" b="1">
                <a:solidFill>
                  <a:srgbClr val="B4235A"/>
                </a:solidFill>
                <a:latin typeface="BIZ UDPゴシック"/>
                <a:ea typeface="BIZ UDPゴシック"/>
              </a:rPr>
              <a:t>05</a:t>
            </a:r>
          </a:p>
        </p:txBody>
      </p:sp>
      <p:sp>
        <p:nvSpPr>
          <p:cNvPr id="8" name="dv-title"/>
          <p:cNvSpPr txBox="1"/>
          <p:nvPr/>
        </p:nvSpPr>
        <p:spPr>
          <a:xfrm>
            <a:off x="777240" y="2880360"/>
            <a:ext cx="9539935" cy="685800"/>
          </a:xfrm>
          <a:prstGeom prst="rect">
            <a:avLst/>
          </a:prstGeom>
          <a:noFill/>
        </p:spPr>
        <p:txBody>
          <a:bodyPr wrap="square" lIns="0" tIns="0" rIns="0" bIns="0" anchor="t">
            <a:spAutoFit/>
          </a:bodyPr>
          <a:lstStyle/>
          <a:p>
            <a:pPr algn="l">
              <a:lnSpc>
                <a:spcPct val="120000"/>
              </a:lnSpc>
            </a:pPr>
            <a:r>
              <a:rPr sz="4000" b="1">
                <a:solidFill>
                  <a:srgbClr val="FFFFFF"/>
                </a:solidFill>
                <a:latin typeface="BIZ UDPゴシック"/>
                <a:ea typeface="BIZ UDPゴシック"/>
              </a:rPr>
              <a:t>プロジェクト管理計画</a:t>
            </a:r>
          </a:p>
        </p:txBody>
      </p:sp>
      <p:sp>
        <p:nvSpPr>
          <p:cNvPr id="9" name="dv-sec-5.1"/>
          <p:cNvSpPr txBox="1"/>
          <p:nvPr/>
        </p:nvSpPr>
        <p:spPr>
          <a:xfrm>
            <a:off x="777240" y="4069080"/>
            <a:ext cx="10637215" cy="256032"/>
          </a:xfrm>
          <a:prstGeom prst="rect">
            <a:avLst/>
          </a:prstGeom>
          <a:noFill/>
        </p:spPr>
        <p:txBody>
          <a:bodyPr wrap="square" lIns="0" tIns="0" rIns="0" bIns="0" anchor="t">
            <a:spAutoFit/>
          </a:bodyPr>
          <a:lstStyle/>
          <a:p>
            <a:pPr algn="l">
              <a:lnSpc>
                <a:spcPct val="120000"/>
              </a:lnSpc>
            </a:pPr>
            <a:r>
              <a:rPr sz="1150" b="0">
                <a:solidFill>
                  <a:srgbClr val="D2E1FC"/>
                </a:solidFill>
                <a:latin typeface="BIZ UDPゴシック"/>
                <a:ea typeface="BIZ UDPゴシック"/>
              </a:rPr>
              <a:t>5.1  課題関連図</a:t>
            </a:r>
          </a:p>
        </p:txBody>
      </p:sp>
      <p:sp>
        <p:nvSpPr>
          <p:cNvPr id="10" name="dv-sec-5.2"/>
          <p:cNvSpPr txBox="1"/>
          <p:nvPr/>
        </p:nvSpPr>
        <p:spPr>
          <a:xfrm>
            <a:off x="777240" y="4266247"/>
            <a:ext cx="10637215" cy="256032"/>
          </a:xfrm>
          <a:prstGeom prst="rect">
            <a:avLst/>
          </a:prstGeom>
          <a:noFill/>
        </p:spPr>
        <p:txBody>
          <a:bodyPr wrap="square" lIns="0" tIns="0" rIns="0" bIns="0" anchor="t">
            <a:spAutoFit/>
          </a:bodyPr>
          <a:lstStyle/>
          <a:p>
            <a:pPr algn="l">
              <a:lnSpc>
                <a:spcPct val="120000"/>
              </a:lnSpc>
            </a:pPr>
            <a:r>
              <a:rPr sz="1150" b="0">
                <a:solidFill>
                  <a:srgbClr val="D2E1FC"/>
                </a:solidFill>
                <a:latin typeface="BIZ UDPゴシック"/>
                <a:ea typeface="BIZ UDPゴシック"/>
              </a:rPr>
              <a:t>5.2  Q&amp;A 管理</a:t>
            </a:r>
          </a:p>
        </p:txBody>
      </p:sp>
      <p:sp>
        <p:nvSpPr>
          <p:cNvPr id="11" name="dv-sec-5.3"/>
          <p:cNvSpPr txBox="1"/>
          <p:nvPr/>
        </p:nvSpPr>
        <p:spPr>
          <a:xfrm>
            <a:off x="777240" y="4463415"/>
            <a:ext cx="10637215" cy="256032"/>
          </a:xfrm>
          <a:prstGeom prst="rect">
            <a:avLst/>
          </a:prstGeom>
          <a:noFill/>
        </p:spPr>
        <p:txBody>
          <a:bodyPr wrap="square" lIns="0" tIns="0" rIns="0" bIns="0" anchor="t">
            <a:spAutoFit/>
          </a:bodyPr>
          <a:lstStyle/>
          <a:p>
            <a:pPr algn="l">
              <a:lnSpc>
                <a:spcPct val="120000"/>
              </a:lnSpc>
            </a:pPr>
            <a:r>
              <a:rPr sz="1150" b="0">
                <a:solidFill>
                  <a:srgbClr val="D2E1FC"/>
                </a:solidFill>
                <a:latin typeface="BIZ UDPゴシック"/>
                <a:ea typeface="BIZ UDPゴシック"/>
              </a:rPr>
              <a:t>5.3  課題管理</a:t>
            </a:r>
          </a:p>
        </p:txBody>
      </p:sp>
      <p:sp>
        <p:nvSpPr>
          <p:cNvPr id="12" name="dv-sec-5.4"/>
          <p:cNvSpPr txBox="1"/>
          <p:nvPr/>
        </p:nvSpPr>
        <p:spPr>
          <a:xfrm>
            <a:off x="777240" y="4660582"/>
            <a:ext cx="10637215" cy="256032"/>
          </a:xfrm>
          <a:prstGeom prst="rect">
            <a:avLst/>
          </a:prstGeom>
          <a:noFill/>
        </p:spPr>
        <p:txBody>
          <a:bodyPr wrap="square" lIns="0" tIns="0" rIns="0" bIns="0" anchor="t">
            <a:spAutoFit/>
          </a:bodyPr>
          <a:lstStyle/>
          <a:p>
            <a:pPr algn="l">
              <a:lnSpc>
                <a:spcPct val="120000"/>
              </a:lnSpc>
            </a:pPr>
            <a:r>
              <a:rPr sz="1150" b="0">
                <a:solidFill>
                  <a:srgbClr val="D2E1FC"/>
                </a:solidFill>
                <a:latin typeface="BIZ UDPゴシック"/>
                <a:ea typeface="BIZ UDPゴシック"/>
              </a:rPr>
              <a:t>5.4  リスク管理</a:t>
            </a:r>
          </a:p>
        </p:txBody>
      </p:sp>
      <p:sp>
        <p:nvSpPr>
          <p:cNvPr id="13" name="dv-sec-5.5"/>
          <p:cNvSpPr txBox="1"/>
          <p:nvPr/>
        </p:nvSpPr>
        <p:spPr>
          <a:xfrm>
            <a:off x="777240" y="4857750"/>
            <a:ext cx="10637215" cy="256032"/>
          </a:xfrm>
          <a:prstGeom prst="rect">
            <a:avLst/>
          </a:prstGeom>
          <a:noFill/>
        </p:spPr>
        <p:txBody>
          <a:bodyPr wrap="square" lIns="0" tIns="0" rIns="0" bIns="0" anchor="t">
            <a:spAutoFit/>
          </a:bodyPr>
          <a:lstStyle/>
          <a:p>
            <a:pPr algn="l">
              <a:lnSpc>
                <a:spcPct val="120000"/>
              </a:lnSpc>
            </a:pPr>
            <a:r>
              <a:rPr sz="1150" b="0">
                <a:solidFill>
                  <a:srgbClr val="D2E1FC"/>
                </a:solidFill>
                <a:latin typeface="BIZ UDPゴシック"/>
                <a:ea typeface="BIZ UDPゴシック"/>
              </a:rPr>
              <a:t>5.5  変更管理</a:t>
            </a:r>
          </a:p>
        </p:txBody>
      </p:sp>
      <p:sp>
        <p:nvSpPr>
          <p:cNvPr id="14" name="dv-sec-5.6"/>
          <p:cNvSpPr txBox="1"/>
          <p:nvPr/>
        </p:nvSpPr>
        <p:spPr>
          <a:xfrm>
            <a:off x="777240" y="5054917"/>
            <a:ext cx="10637215" cy="256032"/>
          </a:xfrm>
          <a:prstGeom prst="rect">
            <a:avLst/>
          </a:prstGeom>
          <a:noFill/>
        </p:spPr>
        <p:txBody>
          <a:bodyPr wrap="square" lIns="0" tIns="0" rIns="0" bIns="0" anchor="t">
            <a:spAutoFit/>
          </a:bodyPr>
          <a:lstStyle/>
          <a:p>
            <a:pPr algn="l">
              <a:lnSpc>
                <a:spcPct val="120000"/>
              </a:lnSpc>
            </a:pPr>
            <a:r>
              <a:rPr sz="1150" b="0">
                <a:solidFill>
                  <a:srgbClr val="D2E1FC"/>
                </a:solidFill>
                <a:latin typeface="BIZ UDPゴシック"/>
                <a:ea typeface="BIZ UDPゴシック"/>
              </a:rPr>
              <a:t>5.6  品質管理</a:t>
            </a:r>
          </a:p>
        </p:txBody>
      </p:sp>
      <p:sp>
        <p:nvSpPr>
          <p:cNvPr id="15" name="dv-sec-5.7"/>
          <p:cNvSpPr txBox="1"/>
          <p:nvPr/>
        </p:nvSpPr>
        <p:spPr>
          <a:xfrm>
            <a:off x="777240" y="5252085"/>
            <a:ext cx="10637215" cy="256032"/>
          </a:xfrm>
          <a:prstGeom prst="rect">
            <a:avLst/>
          </a:prstGeom>
          <a:noFill/>
        </p:spPr>
        <p:txBody>
          <a:bodyPr wrap="square" lIns="0" tIns="0" rIns="0" bIns="0" anchor="t">
            <a:spAutoFit/>
          </a:bodyPr>
          <a:lstStyle/>
          <a:p>
            <a:pPr algn="l">
              <a:lnSpc>
                <a:spcPct val="120000"/>
              </a:lnSpc>
            </a:pPr>
            <a:r>
              <a:rPr sz="1150" b="0">
                <a:solidFill>
                  <a:srgbClr val="D2E1FC"/>
                </a:solidFill>
                <a:latin typeface="BIZ UDPゴシック"/>
                <a:ea typeface="BIZ UDPゴシック"/>
              </a:rPr>
              <a:t>5.7  進捗管理</a:t>
            </a:r>
          </a:p>
        </p:txBody>
      </p:sp>
      <p:sp>
        <p:nvSpPr>
          <p:cNvPr id="16" name="dv-sec-5.8"/>
          <p:cNvSpPr txBox="1"/>
          <p:nvPr/>
        </p:nvSpPr>
        <p:spPr>
          <a:xfrm>
            <a:off x="777240" y="5449252"/>
            <a:ext cx="10637215" cy="256032"/>
          </a:xfrm>
          <a:prstGeom prst="rect">
            <a:avLst/>
          </a:prstGeom>
          <a:noFill/>
        </p:spPr>
        <p:txBody>
          <a:bodyPr wrap="square" lIns="0" tIns="0" rIns="0" bIns="0" anchor="t">
            <a:spAutoFit/>
          </a:bodyPr>
          <a:lstStyle/>
          <a:p>
            <a:pPr algn="l">
              <a:lnSpc>
                <a:spcPct val="120000"/>
              </a:lnSpc>
            </a:pPr>
            <a:r>
              <a:rPr sz="1150" b="0">
                <a:solidFill>
                  <a:srgbClr val="D2E1FC"/>
                </a:solidFill>
                <a:latin typeface="BIZ UDPゴシック"/>
                <a:ea typeface="BIZ UDPゴシック"/>
              </a:rPr>
              <a:t>5.8  予算・コスト管理</a:t>
            </a:r>
          </a:p>
        </p:txBody>
      </p:sp>
      <p:sp>
        <p:nvSpPr>
          <p:cNvPr id="17" name="dv-sec-5.9"/>
          <p:cNvSpPr txBox="1"/>
          <p:nvPr/>
        </p:nvSpPr>
        <p:spPr>
          <a:xfrm>
            <a:off x="777240" y="5646420"/>
            <a:ext cx="10637215" cy="256032"/>
          </a:xfrm>
          <a:prstGeom prst="rect">
            <a:avLst/>
          </a:prstGeom>
          <a:noFill/>
        </p:spPr>
        <p:txBody>
          <a:bodyPr wrap="square" lIns="0" tIns="0" rIns="0" bIns="0" anchor="t">
            <a:spAutoFit/>
          </a:bodyPr>
          <a:lstStyle/>
          <a:p>
            <a:pPr algn="l">
              <a:lnSpc>
                <a:spcPct val="120000"/>
              </a:lnSpc>
            </a:pPr>
            <a:r>
              <a:rPr sz="1150" b="0">
                <a:solidFill>
                  <a:srgbClr val="D2E1FC"/>
                </a:solidFill>
                <a:latin typeface="BIZ UDPゴシック"/>
                <a:ea typeface="BIZ UDPゴシック"/>
              </a:rPr>
              <a:t>5.9  ドキュメント・構成管理</a:t>
            </a:r>
          </a:p>
        </p:txBody>
      </p:sp>
      <p:sp>
        <p:nvSpPr>
          <p:cNvPr id="18" name="dv-sec-5.10"/>
          <p:cNvSpPr txBox="1"/>
          <p:nvPr/>
        </p:nvSpPr>
        <p:spPr>
          <a:xfrm>
            <a:off x="777240" y="5843587"/>
            <a:ext cx="10637215" cy="256032"/>
          </a:xfrm>
          <a:prstGeom prst="rect">
            <a:avLst/>
          </a:prstGeom>
          <a:noFill/>
        </p:spPr>
        <p:txBody>
          <a:bodyPr wrap="square" lIns="0" tIns="0" rIns="0" bIns="0" anchor="t">
            <a:spAutoFit/>
          </a:bodyPr>
          <a:lstStyle/>
          <a:p>
            <a:pPr algn="l">
              <a:lnSpc>
                <a:spcPct val="120000"/>
              </a:lnSpc>
            </a:pPr>
            <a:r>
              <a:rPr sz="1150" b="0">
                <a:solidFill>
                  <a:srgbClr val="D2E1FC"/>
                </a:solidFill>
                <a:latin typeface="BIZ UDPゴシック"/>
                <a:ea typeface="BIZ UDPゴシック"/>
              </a:rPr>
              <a:t>5.10  情報セキュリティ管理</a:t>
            </a:r>
          </a:p>
        </p:txBody>
      </p:sp>
      <p:sp>
        <p:nvSpPr>
          <p:cNvPr id="19" name="ftr-page"/>
          <p:cNvSpPr txBox="1"/>
          <p:nvPr/>
        </p:nvSpPr>
        <p:spPr>
          <a:xfrm>
            <a:off x="10774375" y="6400800"/>
            <a:ext cx="914400" cy="274320"/>
          </a:xfrm>
          <a:prstGeom prst="rect">
            <a:avLst/>
          </a:prstGeom>
          <a:noFill/>
        </p:spPr>
        <p:txBody>
          <a:bodyPr wrap="square" lIns="0" tIns="0" rIns="0" bIns="0" anchor="t">
            <a:spAutoFit/>
          </a:bodyPr>
          <a:lstStyle/>
          <a:p>
            <a:pPr algn="r">
              <a:lnSpc>
                <a:spcPct val="120000"/>
              </a:lnSpc>
            </a:pPr>
            <a:r>
              <a:rPr sz="1100" b="1">
                <a:solidFill>
                  <a:srgbClr val="FFFFFF"/>
                </a:solidFill>
                <a:latin typeface="BIZ UDPゴシック"/>
                <a:ea typeface="BIZ UDPゴシック"/>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05  プロジェクト管理計画</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5.1 課題関連図</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29</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課題同士の関連と影響を可視化する</a:t>
            </a:r>
          </a:p>
        </p:txBody>
      </p:sp>
      <p:sp>
        <p:nvSpPr>
          <p:cNvPr id="24" name="drawio:ctr"/>
          <p:cNvSpPr/>
          <p:nvPr/>
        </p:nvSpPr>
        <p:spPr>
          <a:xfrm>
            <a:off x="4831362" y="3126500"/>
            <a:ext cx="2528969" cy="903203"/>
          </a:xfrm>
          <a:prstGeom prst="ellipse">
            <a:avLst/>
          </a:prstGeom>
          <a:solidFill>
            <a:srgbClr val="16213E"/>
          </a:solidFill>
          <a:ln w="9032">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1066" b="1" i="0">
                <a:solidFill>
                  <a:srgbClr val="FFFFFF"/>
                </a:solidFill>
                <a:latin typeface="BIZ UDPゴシック"/>
                <a:ea typeface="BIZ UDPゴシック"/>
              </a:rPr>
              <a:t>経費精算業務改革の実現</a:t>
            </a:r>
          </a:p>
        </p:txBody>
      </p:sp>
      <p:sp>
        <p:nvSpPr>
          <p:cNvPr id="25" name="drawio:i1"/>
          <p:cNvSpPr/>
          <p:nvPr/>
        </p:nvSpPr>
        <p:spPr>
          <a:xfrm>
            <a:off x="1037909" y="1591055"/>
            <a:ext cx="2890250" cy="722562"/>
          </a:xfrm>
          <a:prstGeom prst="roundRect">
            <a:avLst/>
          </a:prstGeom>
          <a:solidFill>
            <a:srgbClr val="FFFFFF"/>
          </a:solidFill>
          <a:ln w="9032">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24" b="0" i="0">
                <a:solidFill>
                  <a:srgbClr val="1F2937"/>
                </a:solidFill>
                <a:latin typeface="BIZ UDPゴシック"/>
                <a:ea typeface="BIZ UDPゴシック"/>
              </a:rPr>
              <a:t>I001 基幹システムの</a:t>
            </a:r>
          </a:p>
          <a:p>
            <a:pPr algn="ctr">
              <a:lnSpc>
                <a:spcPct val="110000"/>
              </a:lnSpc>
            </a:pPr>
            <a:r>
              <a:rPr sz="924" b="0" i="0">
                <a:solidFill>
                  <a:srgbClr val="1F2937"/>
                </a:solidFill>
                <a:latin typeface="BIZ UDPゴシック"/>
                <a:ea typeface="BIZ UDPゴシック"/>
              </a:rPr>
              <a:t>インタフェース仕様が未確定</a:t>
            </a:r>
          </a:p>
        </p:txBody>
      </p:sp>
      <p:sp>
        <p:nvSpPr>
          <p:cNvPr id="26" name="drawio:i2"/>
          <p:cNvSpPr/>
          <p:nvPr/>
        </p:nvSpPr>
        <p:spPr>
          <a:xfrm>
            <a:off x="1037909" y="3216820"/>
            <a:ext cx="2890250" cy="722562"/>
          </a:xfrm>
          <a:prstGeom prst="roundRect">
            <a:avLst/>
          </a:prstGeom>
          <a:solidFill>
            <a:srgbClr val="FFFFFF"/>
          </a:solidFill>
          <a:ln w="9032">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24" b="0" i="0">
                <a:solidFill>
                  <a:srgbClr val="1F2937"/>
                </a:solidFill>
                <a:latin typeface="BIZ UDPゴシック"/>
                <a:ea typeface="BIZ UDPゴシック"/>
              </a:rPr>
              <a:t>I002 全社1,200名の</a:t>
            </a:r>
          </a:p>
          <a:p>
            <a:pPr algn="ctr">
              <a:lnSpc>
                <a:spcPct val="110000"/>
              </a:lnSpc>
            </a:pPr>
            <a:r>
              <a:rPr sz="924" b="0" i="0">
                <a:solidFill>
                  <a:srgbClr val="1F2937"/>
                </a:solidFill>
                <a:latin typeface="BIZ UDPゴシック"/>
                <a:ea typeface="BIZ UDPゴシック"/>
              </a:rPr>
              <a:t>研修日程の調整</a:t>
            </a:r>
          </a:p>
        </p:txBody>
      </p:sp>
      <p:sp>
        <p:nvSpPr>
          <p:cNvPr id="27" name="drawio:i3"/>
          <p:cNvSpPr/>
          <p:nvPr/>
        </p:nvSpPr>
        <p:spPr>
          <a:xfrm>
            <a:off x="1037909" y="4842586"/>
            <a:ext cx="2890250" cy="722562"/>
          </a:xfrm>
          <a:prstGeom prst="roundRect">
            <a:avLst/>
          </a:prstGeom>
          <a:solidFill>
            <a:srgbClr val="FFFFFF"/>
          </a:solidFill>
          <a:ln w="9032">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24" b="0" i="0">
                <a:solidFill>
                  <a:srgbClr val="1F2937"/>
                </a:solidFill>
                <a:latin typeface="BIZ UDPゴシック"/>
                <a:ea typeface="BIZ UDPゴシック"/>
              </a:rPr>
              <a:t>I003 経費規程の</a:t>
            </a:r>
          </a:p>
          <a:p>
            <a:pPr algn="ctr">
              <a:lnSpc>
                <a:spcPct val="110000"/>
              </a:lnSpc>
            </a:pPr>
            <a:r>
              <a:rPr sz="924" b="0" i="0">
                <a:solidFill>
                  <a:srgbClr val="1F2937"/>
                </a:solidFill>
                <a:latin typeface="BIZ UDPゴシック"/>
                <a:ea typeface="BIZ UDPゴシック"/>
              </a:rPr>
              <a:t>見直し範囲</a:t>
            </a:r>
          </a:p>
        </p:txBody>
      </p:sp>
      <p:sp>
        <p:nvSpPr>
          <p:cNvPr id="28" name="drawio:r3"/>
          <p:cNvSpPr/>
          <p:nvPr/>
        </p:nvSpPr>
        <p:spPr>
          <a:xfrm>
            <a:off x="8263535" y="1591055"/>
            <a:ext cx="2890250" cy="722562"/>
          </a:xfrm>
          <a:prstGeom prst="roundRect">
            <a:avLst/>
          </a:prstGeom>
          <a:solidFill>
            <a:srgbClr val="FFFFFF"/>
          </a:solidFill>
          <a:ln w="9032">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24" b="0" i="0">
                <a:solidFill>
                  <a:srgbClr val="1F2937"/>
                </a:solidFill>
                <a:latin typeface="BIZ UDPゴシック"/>
                <a:ea typeface="BIZ UDPゴシック"/>
              </a:rPr>
              <a:t>R003 基幹システム連携で</a:t>
            </a:r>
          </a:p>
          <a:p>
            <a:pPr algn="ctr">
              <a:lnSpc>
                <a:spcPct val="110000"/>
              </a:lnSpc>
            </a:pPr>
            <a:r>
              <a:rPr sz="924" b="0" i="0">
                <a:solidFill>
                  <a:srgbClr val="1F2937"/>
                </a:solidFill>
                <a:latin typeface="BIZ UDPゴシック"/>
                <a:ea typeface="BIZ UDPゴシック"/>
              </a:rPr>
              <a:t>技術的課題が生じる</a:t>
            </a:r>
          </a:p>
        </p:txBody>
      </p:sp>
      <p:sp>
        <p:nvSpPr>
          <p:cNvPr id="29" name="drawio:r5"/>
          <p:cNvSpPr/>
          <p:nvPr/>
        </p:nvSpPr>
        <p:spPr>
          <a:xfrm>
            <a:off x="8263535" y="3216820"/>
            <a:ext cx="2890250" cy="722562"/>
          </a:xfrm>
          <a:prstGeom prst="roundRect">
            <a:avLst/>
          </a:prstGeom>
          <a:solidFill>
            <a:srgbClr val="FFFFFF"/>
          </a:solidFill>
          <a:ln w="9032">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24" b="0" i="0">
                <a:solidFill>
                  <a:srgbClr val="1F2937"/>
                </a:solidFill>
                <a:latin typeface="BIZ UDPゴシック"/>
                <a:ea typeface="BIZ UDPゴシック"/>
              </a:rPr>
              <a:t>R005 定着化せず</a:t>
            </a:r>
          </a:p>
          <a:p>
            <a:pPr algn="ctr">
              <a:lnSpc>
                <a:spcPct val="110000"/>
              </a:lnSpc>
            </a:pPr>
            <a:r>
              <a:rPr sz="924" b="0" i="0">
                <a:solidFill>
                  <a:srgbClr val="1F2937"/>
                </a:solidFill>
                <a:latin typeface="BIZ UDPゴシック"/>
                <a:ea typeface="BIZ UDPゴシック"/>
              </a:rPr>
              <a:t>旧運用が残る</a:t>
            </a:r>
          </a:p>
        </p:txBody>
      </p:sp>
      <p:sp>
        <p:nvSpPr>
          <p:cNvPr id="30" name="drawio:r2"/>
          <p:cNvSpPr/>
          <p:nvPr/>
        </p:nvSpPr>
        <p:spPr>
          <a:xfrm>
            <a:off x="8263535" y="4842586"/>
            <a:ext cx="2890250" cy="722562"/>
          </a:xfrm>
          <a:prstGeom prst="roundRect">
            <a:avLst/>
          </a:prstGeom>
          <a:solidFill>
            <a:srgbClr val="FFFFFF"/>
          </a:solidFill>
          <a:ln w="9032">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24" b="0" i="0">
                <a:solidFill>
                  <a:srgbClr val="1F2937"/>
                </a:solidFill>
                <a:latin typeface="BIZ UDPゴシック"/>
                <a:ea typeface="BIZ UDPゴシック"/>
              </a:rPr>
              <a:t>R002 標準機能が</a:t>
            </a:r>
          </a:p>
          <a:p>
            <a:pPr algn="ctr">
              <a:lnSpc>
                <a:spcPct val="110000"/>
              </a:lnSpc>
            </a:pPr>
            <a:r>
              <a:rPr sz="924" b="0" i="0">
                <a:solidFill>
                  <a:srgbClr val="1F2937"/>
                </a:solidFill>
                <a:latin typeface="BIZ UDPゴシック"/>
                <a:ea typeface="BIZ UDPゴシック"/>
              </a:rPr>
              <a:t>経理要件を満たさない</a:t>
            </a:r>
          </a:p>
        </p:txBody>
      </p:sp>
      <p:sp>
        <p:nvSpPr>
          <p:cNvPr id="31" name="drawio:lg1"/>
          <p:cNvSpPr txBox="1"/>
          <p:nvPr/>
        </p:nvSpPr>
        <p:spPr>
          <a:xfrm>
            <a:off x="1037909" y="5745790"/>
            <a:ext cx="4335375" cy="270960"/>
          </a:xfrm>
          <a:prstGeom prst="rect">
            <a:avLst/>
          </a:prstGeom>
          <a:noFill/>
        </p:spPr>
        <p:txBody>
          <a:bodyPr wrap="square" lIns="36576" rIns="36576" tIns="18288" bIns="18288" anchor="t">
            <a:spAutoFit/>
          </a:bodyPr>
          <a:lstStyle/>
          <a:p>
            <a:pPr algn="l">
              <a:lnSpc>
                <a:spcPct val="110000"/>
              </a:lnSpc>
            </a:pPr>
            <a:r>
              <a:rPr sz="924" b="0" i="0">
                <a:solidFill>
                  <a:srgbClr val="6B7280"/>
                </a:solidFill>
                <a:latin typeface="BIZ UDPゴシック"/>
                <a:ea typeface="BIZ UDPゴシック"/>
              </a:rPr>
              <a:t>青: 目標への影響　　橙: 課題とリスクの関連</a:t>
            </a:r>
          </a:p>
        </p:txBody>
      </p:sp>
      <p:cxnSp>
        <p:nvCxnSpPr>
          <p:cNvPr id="32" name="drawio:ec1"/>
          <p:cNvCxnSpPr/>
          <p:nvPr/>
        </p:nvCxnSpPr>
        <p:spPr>
          <a:xfrm>
            <a:off x="3261796" y="2302779"/>
            <a:ext cx="2071557" cy="932200"/>
          </a:xfrm>
          <a:prstGeom prst="line">
            <a:avLst/>
          </a:prstGeom>
          <a:ln w="18064">
            <a:solidFill>
              <a:srgbClr val="2563EB"/>
            </a:solidFill>
            <a:tailEnd type="arrow" w="sm" len="sm"/>
          </a:ln>
        </p:spPr>
        <p:style>
          <a:lnRef idx="2">
            <a:schemeClr val="accent1"/>
          </a:lnRef>
          <a:fillRef idx="0">
            <a:schemeClr val="accent1"/>
          </a:fillRef>
          <a:effectRef idx="1">
            <a:schemeClr val="accent1"/>
          </a:effectRef>
          <a:fontRef idx="minor">
            <a:schemeClr val="tx1"/>
          </a:fontRef>
        </p:style>
      </p:cxnSp>
      <p:cxnSp>
        <p:nvCxnSpPr>
          <p:cNvPr id="33" name="drawio:ec2"/>
          <p:cNvCxnSpPr/>
          <p:nvPr/>
        </p:nvCxnSpPr>
        <p:spPr>
          <a:xfrm>
            <a:off x="3884805" y="3578102"/>
            <a:ext cx="984492" cy="0"/>
          </a:xfrm>
          <a:prstGeom prst="line">
            <a:avLst/>
          </a:prstGeom>
          <a:ln w="18064">
            <a:solidFill>
              <a:srgbClr val="2563EB"/>
            </a:solidFill>
            <a:tailEnd type="arrow" w="sm" len="sm"/>
          </a:ln>
        </p:spPr>
        <p:style>
          <a:lnRef idx="2">
            <a:schemeClr val="accent1"/>
          </a:lnRef>
          <a:fillRef idx="0">
            <a:schemeClr val="accent1"/>
          </a:fillRef>
          <a:effectRef idx="1">
            <a:schemeClr val="accent1"/>
          </a:effectRef>
          <a:fontRef idx="minor">
            <a:schemeClr val="tx1"/>
          </a:fontRef>
        </p:style>
      </p:cxnSp>
      <p:cxnSp>
        <p:nvCxnSpPr>
          <p:cNvPr id="34" name="drawio:ec3"/>
          <p:cNvCxnSpPr/>
          <p:nvPr/>
        </p:nvCxnSpPr>
        <p:spPr>
          <a:xfrm flipV="1">
            <a:off x="3261796" y="3921224"/>
            <a:ext cx="2071557" cy="932201"/>
          </a:xfrm>
          <a:prstGeom prst="line">
            <a:avLst/>
          </a:prstGeom>
          <a:ln w="18064">
            <a:solidFill>
              <a:srgbClr val="2563EB"/>
            </a:solidFill>
            <a:tailEnd type="arrow" w="sm" len="sm"/>
          </a:ln>
        </p:spPr>
        <p:style>
          <a:lnRef idx="2">
            <a:schemeClr val="accent1"/>
          </a:lnRef>
          <a:fillRef idx="0">
            <a:schemeClr val="accent1"/>
          </a:fillRef>
          <a:effectRef idx="1">
            <a:schemeClr val="accent1"/>
          </a:effectRef>
          <a:fontRef idx="minor">
            <a:schemeClr val="tx1"/>
          </a:fontRef>
        </p:style>
      </p:cxnSp>
      <p:cxnSp>
        <p:nvCxnSpPr>
          <p:cNvPr id="35" name="drawio:er1"/>
          <p:cNvCxnSpPr/>
          <p:nvPr/>
        </p:nvCxnSpPr>
        <p:spPr>
          <a:xfrm>
            <a:off x="3884805" y="1952336"/>
            <a:ext cx="4422084" cy="0"/>
          </a:xfrm>
          <a:prstGeom prst="line">
            <a:avLst/>
          </a:prstGeom>
          <a:ln w="18064">
            <a:solidFill>
              <a:srgbClr val="D97706"/>
            </a:solidFill>
            <a:tailEnd type="arrow" w="sm" len="sm"/>
          </a:ln>
        </p:spPr>
        <p:style>
          <a:lnRef idx="2">
            <a:schemeClr val="accent1"/>
          </a:lnRef>
          <a:fillRef idx="0">
            <a:schemeClr val="accent1"/>
          </a:fillRef>
          <a:effectRef idx="1">
            <a:schemeClr val="accent1"/>
          </a:effectRef>
          <a:fontRef idx="minor">
            <a:schemeClr val="tx1"/>
          </a:fontRef>
        </p:style>
      </p:cxnSp>
      <p:sp>
        <p:nvSpPr>
          <p:cNvPr id="36" name="drawio:er2"/>
          <p:cNvSpPr/>
          <p:nvPr/>
        </p:nvSpPr>
        <p:spPr>
          <a:xfrm>
            <a:off x="2483034" y="2765219"/>
            <a:ext cx="7225626" cy="462440"/>
          </a:xfrm>
          <a:custGeom>
            <a:avLst/>
            <a:gdLst/>
            <a:ahLst/>
            <a:cxnLst/>
            <a:rect l="l" t="t" r="r" b="b"/>
            <a:pathLst>
              <a:path w="7225626" h="462440">
                <a:moveTo>
                  <a:pt x="0" y="462440"/>
                </a:moveTo>
                <a:lnTo>
                  <a:pt x="0" y="0"/>
                </a:lnTo>
                <a:lnTo>
                  <a:pt x="7225626" y="0"/>
                </a:lnTo>
                <a:lnTo>
                  <a:pt x="7225626" y="462440"/>
                </a:lnTo>
              </a:path>
            </a:pathLst>
          </a:custGeom>
          <a:noFill/>
          <a:ln w="18064">
            <a:solidFill>
              <a:srgbClr val="D97706"/>
            </a:solidFill>
            <a:tailEnd type="arrow"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drawio:er3"/>
          <p:cNvCxnSpPr/>
          <p:nvPr/>
        </p:nvCxnSpPr>
        <p:spPr>
          <a:xfrm>
            <a:off x="3884805" y="5203868"/>
            <a:ext cx="4422084" cy="0"/>
          </a:xfrm>
          <a:prstGeom prst="line">
            <a:avLst/>
          </a:prstGeom>
          <a:ln w="18064">
            <a:solidFill>
              <a:srgbClr val="D97706"/>
            </a:solidFill>
            <a:tailEnd type="arrow" w="sm" len="sm"/>
          </a:ln>
        </p:spPr>
        <p:style>
          <a:lnRef idx="2">
            <a:schemeClr val="accent1"/>
          </a:lnRef>
          <a:fillRef idx="0">
            <a:schemeClr val="accent1"/>
          </a:fillRef>
          <a:effectRef idx="1">
            <a:schemeClr val="accent1"/>
          </a:effectRef>
          <a:fontRef idx="minor">
            <a:schemeClr val="tx1"/>
          </a:fontRef>
        </p:style>
      </p:cxnSp>
      <p:sp>
        <p:nvSpPr>
          <p:cNvPr id="38" name="blk-diagram-cap"/>
          <p:cNvSpPr txBox="1"/>
          <p:nvPr/>
        </p:nvSpPr>
        <p:spPr>
          <a:xfrm>
            <a:off x="502920" y="6053327"/>
            <a:ext cx="11185855" cy="237744"/>
          </a:xfrm>
          <a:prstGeom prst="rect">
            <a:avLst/>
          </a:prstGeom>
          <a:noFill/>
        </p:spPr>
        <p:txBody>
          <a:bodyPr wrap="square" lIns="0" tIns="0" rIns="0" bIns="0" anchor="t">
            <a:spAutoFit/>
          </a:bodyPr>
          <a:lstStyle/>
          <a:p>
            <a:pPr algn="ctr">
              <a:lnSpc>
                <a:spcPct val="120000"/>
              </a:lnSpc>
            </a:pPr>
            <a:r>
              <a:rPr sz="900" b="0">
                <a:solidFill>
                  <a:srgbClr val="6B7280"/>
                </a:solidFill>
                <a:latin typeface="BIZ UDPゴシック"/>
                <a:ea typeface="BIZ UDPゴシック"/>
              </a:rPr>
              <a:t>課題関連図</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05  プロジェクト管理計画</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5.2 Q&amp;A 管理</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30</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質問の受付・回答・共有の運用を定める</a:t>
            </a:r>
          </a:p>
        </p:txBody>
      </p:sp>
      <p:sp>
        <p:nvSpPr>
          <p:cNvPr id="24" name="blk-bullets"/>
          <p:cNvSpPr txBox="1"/>
          <p:nvPr/>
        </p:nvSpPr>
        <p:spPr>
          <a:xfrm>
            <a:off x="502920" y="1591055"/>
            <a:ext cx="11185855" cy="2267712"/>
          </a:xfrm>
          <a:prstGeom prst="rect">
            <a:avLst/>
          </a:prstGeom>
          <a:noFill/>
        </p:spPr>
        <p:txBody>
          <a:bodyPr wrap="square" lIns="0" tIns="0" rIns="0" bIns="0">
            <a:spAutoFit/>
          </a:bodyPr>
          <a:lstStyle/>
          <a:p>
            <a:pPr>
              <a:lnSpc>
                <a:spcPct val="122000"/>
              </a:lnSpc>
              <a:spcAft>
                <a:spcPts val="400"/>
              </a:spcAft>
            </a:pPr>
            <a:r>
              <a:rPr sz="1000">
                <a:solidFill>
                  <a:srgbClr val="16213E"/>
                </a:solidFill>
                <a:latin typeface="BIZ UDPゴシック"/>
                <a:ea typeface="BIZ UDPゴシック"/>
              </a:rPr>
              <a:t>●</a:t>
            </a:r>
            <a:r>
              <a:rPr sz="1400">
                <a:solidFill>
                  <a:srgbClr val="1F2937"/>
                </a:solidFill>
                <a:latin typeface="BIZ UDPゴシック"/>
                <a:ea typeface="BIZ UDPゴシック"/>
              </a:rPr>
              <a:t> 質問は定例会議のアジェンダまたは共有チャットの専用スレッドで受け付ける</a:t>
            </a:r>
          </a:p>
          <a:p>
            <a:pPr>
              <a:lnSpc>
                <a:spcPct val="122000"/>
              </a:lnSpc>
              <a:spcAft>
                <a:spcPts val="400"/>
              </a:spcAft>
            </a:pPr>
            <a:r>
              <a:rPr sz="1000">
                <a:solidFill>
                  <a:srgbClr val="16213E"/>
                </a:solidFill>
                <a:latin typeface="BIZ UDPゴシック"/>
                <a:ea typeface="BIZ UDPゴシック"/>
              </a:rPr>
              <a:t>●</a:t>
            </a:r>
            <a:r>
              <a:rPr sz="1400">
                <a:solidFill>
                  <a:srgbClr val="1F2937"/>
                </a:solidFill>
                <a:latin typeface="BIZ UDPゴシック"/>
                <a:ea typeface="BIZ UDPゴシック"/>
              </a:rPr>
              <a:t> 回答は起票から3営業日以内を目安に担当者が行う</a:t>
            </a:r>
          </a:p>
          <a:p>
            <a:pPr>
              <a:lnSpc>
                <a:spcPct val="122000"/>
              </a:lnSpc>
              <a:spcAft>
                <a:spcPts val="400"/>
              </a:spcAft>
            </a:pPr>
            <a:r>
              <a:rPr sz="1000">
                <a:solidFill>
                  <a:srgbClr val="16213E"/>
                </a:solidFill>
                <a:latin typeface="BIZ UDPゴシック"/>
                <a:ea typeface="BIZ UDPゴシック"/>
              </a:rPr>
              <a:t>●</a:t>
            </a:r>
            <a:r>
              <a:rPr sz="1400">
                <a:solidFill>
                  <a:srgbClr val="1F2937"/>
                </a:solidFill>
                <a:latin typeface="BIZ UDPゴシック"/>
                <a:ea typeface="BIZ UDPゴシック"/>
              </a:rPr>
              <a:t> 重要Q&amp;AはQ&amp;A一覧に登録し、全関係者へ展開する</a:t>
            </a:r>
          </a:p>
          <a:p>
            <a:pPr>
              <a:lnSpc>
                <a:spcPct val="122000"/>
              </a:lnSpc>
              <a:spcAft>
                <a:spcPts val="400"/>
              </a:spcAft>
            </a:pPr>
            <a:r>
              <a:rPr sz="1000">
                <a:solidFill>
                  <a:srgbClr val="16213E"/>
                </a:solidFill>
                <a:latin typeface="BIZ UDPゴシック"/>
                <a:ea typeface="BIZ UDPゴシック"/>
              </a:rPr>
              <a:t>●</a:t>
            </a:r>
            <a:r>
              <a:rPr sz="1400">
                <a:solidFill>
                  <a:srgbClr val="1F2937"/>
                </a:solidFill>
                <a:latin typeface="BIZ UDPゴシック"/>
                <a:ea typeface="BIZ UDPゴシック"/>
              </a:rPr>
              <a:t> 契約・要件に関わる質問は変更管理手順へ引き継ぐ</a:t>
            </a:r>
          </a:p>
        </p:txBody>
      </p:sp>
      <p:graphicFrame>
        <p:nvGraphicFramePr>
          <p:cNvPr id="25" name="blk-table"/>
          <p:cNvGraphicFramePr>
            <a:graphicFrameLocks noGrp="1"/>
          </p:cNvGraphicFramePr>
          <p:nvPr/>
        </p:nvGraphicFramePr>
        <p:xfrm>
          <a:off x="502920" y="3986784"/>
          <a:ext cx="11185854" cy="1456944"/>
        </p:xfrm>
        <a:graphic>
          <a:graphicData uri="http://schemas.openxmlformats.org/drawingml/2006/table">
            <a:tbl>
              <a:tblPr>
                <a:tableStyleId>{5C22544A-7EE6-4342-B048-85BDC9FD1C3A}</a:tableStyleId>
              </a:tblPr>
              <a:tblGrid>
                <a:gridCol w="1118585"/>
                <a:gridCol w="4474342"/>
                <a:gridCol w="3915049"/>
                <a:gridCol w="1677878"/>
              </a:tblGrid>
              <a:tr h="262128">
                <a:tc>
                  <a:txBody>
                    <a:bodyPr wrap="square" lIns="45720" tIns="18288" rIns="45720" bIns="18288" anchor="ctr"/>
                    <a:lstStyle/>
                    <a:p>
                      <a:pPr algn="l">
                        <a:lnSpc>
                          <a:spcPct val="120000"/>
                        </a:lnSpc>
                      </a:pPr>
                      <a:r>
                        <a:rPr sz="1200" b="1">
                          <a:solidFill>
                            <a:srgbClr val="FFFFFF"/>
                          </a:solidFill>
                          <a:latin typeface="BIZ UDPゴシック"/>
                          <a:ea typeface="BIZ UDPゴシック"/>
                        </a:rPr>
                        <a:t>ID</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200" b="1">
                          <a:solidFill>
                            <a:srgbClr val="FFFFFF"/>
                          </a:solidFill>
                          <a:latin typeface="BIZ UDPゴシック"/>
                          <a:ea typeface="BIZ UDPゴシック"/>
                        </a:rPr>
                        <a:t>質問</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200" b="1">
                          <a:solidFill>
                            <a:srgbClr val="FFFFFF"/>
                          </a:solidFill>
                          <a:latin typeface="BIZ UDPゴシック"/>
                          <a:ea typeface="BIZ UDPゴシック"/>
                        </a:rPr>
                        <a:t>回答</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200" b="1">
                          <a:solidFill>
                            <a:srgbClr val="FFFFFF"/>
                          </a:solidFill>
                          <a:latin typeface="BIZ UDPゴシック"/>
                          <a:ea typeface="BIZ UDPゴシック"/>
                        </a:rPr>
                        <a:t>状態</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426720">
                <a:tc>
                  <a:txBody>
                    <a:bodyPr wrap="square" lIns="45720" tIns="18288" rIns="45720" bIns="18288" anchor="ctr"/>
                    <a:lstStyle/>
                    <a:p>
                      <a:pPr algn="l">
                        <a:lnSpc>
                          <a:spcPct val="120000"/>
                        </a:lnSpc>
                      </a:pPr>
                      <a:r>
                        <a:rPr sz="1200" b="0">
                          <a:solidFill>
                            <a:srgbClr val="1F2937"/>
                          </a:solidFill>
                          <a:latin typeface="BIZ UDPゴシック"/>
                          <a:ea typeface="BIZ UDPゴシック"/>
                        </a:rPr>
                        <a:t>Q001</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経費精算SaaSは経費規程を変更せずに運用できるか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標準機能で主要な統制は満たせる。規程の一部見直しを推奨する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回答済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200" b="0">
                          <a:solidFill>
                            <a:srgbClr val="1F2937"/>
                          </a:solidFill>
                          <a:latin typeface="BIZ UDPゴシック"/>
                          <a:ea typeface="BIZ UDPゴシック"/>
                        </a:rPr>
                        <a:t>Q002</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交通系ICカードの取込は可能か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標準コネクタで取込可能。詳細は技術WGで確認する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回答済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200" b="0">
                          <a:solidFill>
                            <a:srgbClr val="1F2937"/>
                          </a:solidFill>
                          <a:latin typeface="BIZ UDPゴシック"/>
                          <a:ea typeface="BIZ UDPゴシック"/>
                        </a:rPr>
                        <a:t>Q003</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海外出張の外貨精算は対応するか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対応可能。為替レートの取込を設定する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回答済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05  プロジェクト管理計画</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5.3 課題管理</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31</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課題の登録から解決までの流れと管理方法を定める</a:t>
            </a:r>
          </a:p>
        </p:txBody>
      </p:sp>
      <p:sp>
        <p:nvSpPr>
          <p:cNvPr id="24" name="blk-bullets"/>
          <p:cNvSpPr txBox="1"/>
          <p:nvPr/>
        </p:nvSpPr>
        <p:spPr>
          <a:xfrm>
            <a:off x="502920" y="1591055"/>
            <a:ext cx="11185855" cy="2267712"/>
          </a:xfrm>
          <a:prstGeom prst="rect">
            <a:avLst/>
          </a:prstGeom>
          <a:noFill/>
        </p:spPr>
        <p:txBody>
          <a:bodyPr wrap="square" lIns="0" tIns="0" rIns="0" bIns="0">
            <a:spAutoFit/>
          </a:bodyPr>
          <a:lstStyle/>
          <a:p>
            <a:pPr>
              <a:lnSpc>
                <a:spcPct val="122000"/>
              </a:lnSpc>
              <a:spcAft>
                <a:spcPts val="400"/>
              </a:spcAft>
            </a:pPr>
            <a:r>
              <a:rPr sz="1000">
                <a:solidFill>
                  <a:srgbClr val="16213E"/>
                </a:solidFill>
                <a:latin typeface="BIZ UDPゴシック"/>
                <a:ea typeface="BIZ UDPゴシック"/>
              </a:rPr>
              <a:t>●</a:t>
            </a:r>
            <a:r>
              <a:rPr sz="1400">
                <a:solidFill>
                  <a:srgbClr val="1F2937"/>
                </a:solidFill>
                <a:latin typeface="BIZ UDPゴシック"/>
                <a:ea typeface="BIZ UDPゴシック"/>
              </a:rPr>
              <a:t> 課題は発生時に課題管理表へ登録し、課題IDを採番する</a:t>
            </a:r>
          </a:p>
          <a:p>
            <a:pPr>
              <a:lnSpc>
                <a:spcPct val="122000"/>
              </a:lnSpc>
              <a:spcAft>
                <a:spcPts val="400"/>
              </a:spcAft>
            </a:pPr>
            <a:r>
              <a:rPr sz="1000">
                <a:solidFill>
                  <a:srgbClr val="16213E"/>
                </a:solidFill>
                <a:latin typeface="BIZ UDPゴシック"/>
                <a:ea typeface="BIZ UDPゴシック"/>
              </a:rPr>
              <a:t>●</a:t>
            </a:r>
            <a:r>
              <a:rPr sz="1400">
                <a:solidFill>
                  <a:srgbClr val="1F2937"/>
                </a:solidFill>
                <a:latin typeface="BIZ UDPゴシック"/>
                <a:ea typeface="BIZ UDPゴシック"/>
              </a:rPr>
              <a:t> 担当・期限・状態を設定し、プロジェクト定例会議で進捗を確認する</a:t>
            </a:r>
          </a:p>
          <a:p>
            <a:pPr>
              <a:lnSpc>
                <a:spcPct val="122000"/>
              </a:lnSpc>
              <a:spcAft>
                <a:spcPts val="400"/>
              </a:spcAft>
            </a:pPr>
            <a:r>
              <a:rPr sz="1000">
                <a:solidFill>
                  <a:srgbClr val="16213E"/>
                </a:solidFill>
                <a:latin typeface="BIZ UDPゴシック"/>
                <a:ea typeface="BIZ UDPゴシック"/>
              </a:rPr>
              <a:t>●</a:t>
            </a:r>
            <a:r>
              <a:rPr sz="1400">
                <a:solidFill>
                  <a:srgbClr val="1F2937"/>
                </a:solidFill>
                <a:latin typeface="BIZ UDPゴシック"/>
                <a:ea typeface="BIZ UDPゴシック"/>
              </a:rPr>
              <a:t> 期限超過または重大な課題はステアリングコミッティへエスカレーションする</a:t>
            </a:r>
          </a:p>
        </p:txBody>
      </p:sp>
      <p:graphicFrame>
        <p:nvGraphicFramePr>
          <p:cNvPr id="25" name="blk-table"/>
          <p:cNvGraphicFramePr>
            <a:graphicFrameLocks noGrp="1"/>
          </p:cNvGraphicFramePr>
          <p:nvPr/>
        </p:nvGraphicFramePr>
        <p:xfrm>
          <a:off x="502920" y="3986784"/>
          <a:ext cx="11185851" cy="1542288"/>
        </p:xfrm>
        <a:graphic>
          <a:graphicData uri="http://schemas.openxmlformats.org/drawingml/2006/table">
            <a:tbl>
              <a:tblPr>
                <a:tableStyleId>{5C22544A-7EE6-4342-B048-85BDC9FD1C3A}</a:tableStyleId>
              </a:tblPr>
              <a:tblGrid>
                <a:gridCol w="1118585"/>
                <a:gridCol w="3803190"/>
                <a:gridCol w="2013453"/>
                <a:gridCol w="1566019"/>
                <a:gridCol w="1342302"/>
                <a:gridCol w="1342302"/>
              </a:tblGrid>
              <a:tr h="262128">
                <a:tc>
                  <a:txBody>
                    <a:bodyPr wrap="square" lIns="45720" tIns="18288" rIns="45720" bIns="18288" anchor="ctr"/>
                    <a:lstStyle/>
                    <a:p>
                      <a:pPr algn="l">
                        <a:lnSpc>
                          <a:spcPct val="120000"/>
                        </a:lnSpc>
                      </a:pPr>
                      <a:r>
                        <a:rPr sz="1200" b="1">
                          <a:solidFill>
                            <a:srgbClr val="FFFFFF"/>
                          </a:solidFill>
                          <a:latin typeface="BIZ UDPゴシック"/>
                          <a:ea typeface="BIZ UDPゴシック"/>
                        </a:rPr>
                        <a:t>ID</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200" b="1">
                          <a:solidFill>
                            <a:srgbClr val="FFFFFF"/>
                          </a:solidFill>
                          <a:latin typeface="BIZ UDPゴシック"/>
                          <a:ea typeface="BIZ UDPゴシック"/>
                        </a:rPr>
                        <a:t>課題</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200" b="1">
                          <a:solidFill>
                            <a:srgbClr val="FFFFFF"/>
                          </a:solidFill>
                          <a:latin typeface="BIZ UDPゴシック"/>
                          <a:ea typeface="BIZ UDPゴシック"/>
                        </a:rPr>
                        <a:t>担当</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200" b="1">
                          <a:solidFill>
                            <a:srgbClr val="FFFFFF"/>
                          </a:solidFill>
                          <a:latin typeface="BIZ UDPゴシック"/>
                          <a:ea typeface="BIZ UDPゴシック"/>
                        </a:rPr>
                        <a:t>期限</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200" b="1">
                          <a:solidFill>
                            <a:srgbClr val="FFFFFF"/>
                          </a:solidFill>
                          <a:latin typeface="BIZ UDPゴシック"/>
                          <a:ea typeface="BIZ UDPゴシック"/>
                        </a:rPr>
                        <a:t>状態</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200" b="1">
                          <a:solidFill>
                            <a:srgbClr val="FFFFFF"/>
                          </a:solidFill>
                          <a:latin typeface="BIZ UDPゴシック"/>
                          <a:ea typeface="BIZ UDPゴシック"/>
                        </a:rPr>
                        <a:t>対応・備考</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426720">
                <a:tc>
                  <a:txBody>
                    <a:bodyPr wrap="square" lIns="45720" tIns="18288" rIns="45720" bIns="18288" anchor="ctr"/>
                    <a:lstStyle/>
                    <a:p>
                      <a:pPr algn="l">
                        <a:lnSpc>
                          <a:spcPct val="120000"/>
                        </a:lnSpc>
                      </a:pPr>
                      <a:r>
                        <a:rPr sz="1200" b="0">
                          <a:solidFill>
                            <a:srgbClr val="1F2937"/>
                          </a:solidFill>
                          <a:latin typeface="BIZ UDPゴシック"/>
                          <a:ea typeface="BIZ UDPゴシック"/>
                        </a:rPr>
                        <a:t>I001</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基幹システムのインタフェース仕様が未確定</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情報システム部</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2026-06-30</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対応中</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仕様書の提供を依頼済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426720">
                <a:tc>
                  <a:txBody>
                    <a:bodyPr wrap="square" lIns="45720" tIns="18288" rIns="45720" bIns="18288" anchor="ctr"/>
                    <a:lstStyle/>
                    <a:p>
                      <a:pPr algn="l">
                        <a:lnSpc>
                          <a:spcPct val="120000"/>
                        </a:lnSpc>
                      </a:pPr>
                      <a:r>
                        <a:rPr sz="1200" b="0">
                          <a:solidFill>
                            <a:srgbClr val="1F2937"/>
                          </a:solidFill>
                          <a:latin typeface="BIZ UDPゴシック"/>
                          <a:ea typeface="BIZ UDPゴシック"/>
                        </a:rPr>
                        <a:t>I002</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全社1,200名の研修日程の調整</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変更管理リード</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2026-12-15</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未着手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部門別に分割して調整</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426720">
                <a:tc>
                  <a:txBody>
                    <a:bodyPr wrap="square" lIns="45720" tIns="18288" rIns="45720" bIns="18288" anchor="ctr"/>
                    <a:lstStyle/>
                    <a:p>
                      <a:pPr algn="l">
                        <a:lnSpc>
                          <a:spcPct val="120000"/>
                        </a:lnSpc>
                      </a:pPr>
                      <a:r>
                        <a:rPr sz="1200" b="0">
                          <a:solidFill>
                            <a:srgbClr val="1F2937"/>
                          </a:solidFill>
                          <a:latin typeface="BIZ UDPゴシック"/>
                          <a:ea typeface="BIZ UDPゴシック"/>
                        </a:rPr>
                        <a:t>I003</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経費規程の見直し範囲</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経理部</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2026-09-30</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対応中</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監査部門と協議中</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05  プロジェクト管理計画</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5.4 リスク管理</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32</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リスクを登録簿で管理し、定期的に見直す</a:t>
            </a:r>
          </a:p>
        </p:txBody>
      </p:sp>
      <p:graphicFrame>
        <p:nvGraphicFramePr>
          <p:cNvPr id="24" name="blk-table"/>
          <p:cNvGraphicFramePr>
            <a:graphicFrameLocks noGrp="1"/>
          </p:cNvGraphicFramePr>
          <p:nvPr/>
        </p:nvGraphicFramePr>
        <p:xfrm>
          <a:off x="502920" y="1591055"/>
          <a:ext cx="11185850" cy="2220463"/>
        </p:xfrm>
        <a:graphic>
          <a:graphicData uri="http://schemas.openxmlformats.org/drawingml/2006/table">
            <a:tbl>
              <a:tblPr>
                <a:tableStyleId>{5C22544A-7EE6-4342-B048-85BDC9FD1C3A}</a:tableStyleId>
              </a:tblPr>
              <a:tblGrid>
                <a:gridCol w="783009"/>
                <a:gridCol w="2125312"/>
                <a:gridCol w="1789736"/>
                <a:gridCol w="1006726"/>
                <a:gridCol w="894868"/>
                <a:gridCol w="2349029"/>
                <a:gridCol w="1230444"/>
                <a:gridCol w="1006726"/>
              </a:tblGrid>
              <a:tr h="245618">
                <a:tc>
                  <a:txBody>
                    <a:bodyPr wrap="square" lIns="45720" tIns="18288" rIns="45720" bIns="18288" anchor="ctr"/>
                    <a:lstStyle/>
                    <a:p>
                      <a:pPr algn="l">
                        <a:lnSpc>
                          <a:spcPct val="120000"/>
                        </a:lnSpc>
                      </a:pPr>
                      <a:r>
                        <a:rPr sz="1100" b="1">
                          <a:solidFill>
                            <a:srgbClr val="FFFFFF"/>
                          </a:solidFill>
                          <a:latin typeface="BIZ UDPゴシック"/>
                          <a:ea typeface="BIZ UDPゴシック"/>
                        </a:rPr>
                        <a:t>ID</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100" b="1">
                          <a:solidFill>
                            <a:srgbClr val="FFFFFF"/>
                          </a:solidFill>
                          <a:latin typeface="BIZ UDPゴシック"/>
                          <a:ea typeface="BIZ UDPゴシック"/>
                        </a:rPr>
                        <a:t>リスク</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100" b="1">
                          <a:solidFill>
                            <a:srgbClr val="FFFFFF"/>
                          </a:solidFill>
                          <a:latin typeface="BIZ UDPゴシック"/>
                          <a:ea typeface="BIZ UDPゴシック"/>
                        </a:rPr>
                        <a:t>発生要因</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ctr">
                        <a:lnSpc>
                          <a:spcPct val="120000"/>
                        </a:lnSpc>
                      </a:pPr>
                      <a:r>
                        <a:rPr sz="1100" b="1">
                          <a:solidFill>
                            <a:srgbClr val="FFFFFF"/>
                          </a:solidFill>
                          <a:latin typeface="BIZ UDPゴシック"/>
                          <a:ea typeface="BIZ UDPゴシック"/>
                        </a:rPr>
                        <a:t>発生可能性</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ctr">
                        <a:lnSpc>
                          <a:spcPct val="120000"/>
                        </a:lnSpc>
                      </a:pPr>
                      <a:r>
                        <a:rPr sz="1100" b="1">
                          <a:solidFill>
                            <a:srgbClr val="FFFFFF"/>
                          </a:solidFill>
                          <a:latin typeface="BIZ UDPゴシック"/>
                          <a:ea typeface="BIZ UDPゴシック"/>
                        </a:rPr>
                        <a:t>影響度</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100" b="1">
                          <a:solidFill>
                            <a:srgbClr val="FFFFFF"/>
                          </a:solidFill>
                          <a:latin typeface="BIZ UDPゴシック"/>
                          <a:ea typeface="BIZ UDPゴシック"/>
                        </a:rPr>
                        <a:t>対応策</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100" b="1">
                          <a:solidFill>
                            <a:srgbClr val="FFFFFF"/>
                          </a:solidFill>
                          <a:latin typeface="BIZ UDPゴシック"/>
                          <a:ea typeface="BIZ UDPゴシック"/>
                        </a:rPr>
                        <a:t>担当</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100" b="1">
                          <a:solidFill>
                            <a:srgbClr val="FFFFFF"/>
                          </a:solidFill>
                          <a:latin typeface="BIZ UDPゴシック"/>
                          <a:ea typeface="BIZ UDPゴシック"/>
                        </a:rPr>
                        <a:t>状態</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394969">
                <a:tc>
                  <a:txBody>
                    <a:bodyPr wrap="square" lIns="45720" tIns="18288" rIns="45720" bIns="18288" anchor="ctr"/>
                    <a:lstStyle/>
                    <a:p>
                      <a:pPr algn="l">
                        <a:lnSpc>
                          <a:spcPct val="120000"/>
                        </a:lnSpc>
                      </a:pPr>
                      <a:r>
                        <a:rPr sz="1100" b="0">
                          <a:solidFill>
                            <a:srgbClr val="1F2937"/>
                          </a:solidFill>
                          <a:latin typeface="BIZ UDPゴシック"/>
                          <a:ea typeface="BIZ UDPゴシック"/>
                        </a:rPr>
                        <a:t>R001</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現場の業務負荷増大で協力が得られない</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改革への理解不足と繁忙期の重複</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ctr">
                        <a:lnSpc>
                          <a:spcPct val="120000"/>
                        </a:lnSpc>
                      </a:pPr>
                      <a:r>
                        <a:rPr sz="1100" b="0">
                          <a:solidFill>
                            <a:srgbClr val="1F2937"/>
                          </a:solidFill>
                          <a:latin typeface="BIZ UDPゴシック"/>
                          <a:ea typeface="BIZ UDPゴシック"/>
                        </a:rPr>
                        <a:t>中</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ctr">
                        <a:lnSpc>
                          <a:spcPct val="120000"/>
                        </a:lnSpc>
                      </a:pPr>
                      <a:r>
                        <a:rPr sz="1100" b="0">
                          <a:solidFill>
                            <a:srgbClr val="1F2937"/>
                          </a:solidFill>
                          <a:latin typeface="BIZ UDPゴシック"/>
                          <a:ea typeface="BIZ UDPゴシック"/>
                        </a:rPr>
                        <a:t>高</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早期巻き込み、負荷ピークの回避、丁寧な説明</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変更管理リード</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監視中</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94969">
                <a:tc>
                  <a:txBody>
                    <a:bodyPr wrap="square" lIns="45720" tIns="18288" rIns="45720" bIns="18288" anchor="ctr"/>
                    <a:lstStyle/>
                    <a:p>
                      <a:pPr algn="l">
                        <a:lnSpc>
                          <a:spcPct val="120000"/>
                        </a:lnSpc>
                      </a:pPr>
                      <a:r>
                        <a:rPr sz="1100" b="0">
                          <a:solidFill>
                            <a:srgbClr val="1F2937"/>
                          </a:solidFill>
                          <a:latin typeface="BIZ UDPゴシック"/>
                          <a:ea typeface="BIZ UDPゴシック"/>
                        </a:rPr>
                        <a:t>R002</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標準機能が経理要件を満たさない</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フィット&amp;ギャップの見落とし</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ctr">
                        <a:lnSpc>
                          <a:spcPct val="120000"/>
                        </a:lnSpc>
                      </a:pPr>
                      <a:r>
                        <a:rPr sz="1100" b="0">
                          <a:solidFill>
                            <a:srgbClr val="1F2937"/>
                          </a:solidFill>
                          <a:latin typeface="BIZ UDPゴシック"/>
                          <a:ea typeface="BIZ UDPゴシック"/>
                        </a:rPr>
                        <a:t>中</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ctr">
                        <a:lnSpc>
                          <a:spcPct val="120000"/>
                        </a:lnSpc>
                      </a:pPr>
                      <a:r>
                        <a:rPr sz="1100" b="0">
                          <a:solidFill>
                            <a:srgbClr val="1F2937"/>
                          </a:solidFill>
                          <a:latin typeface="BIZ UDPゴシック"/>
                          <a:ea typeface="BIZ UDPゴシック"/>
                        </a:rPr>
                        <a:t>高</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早期のギャップ分析と代替案提示、CCBで対応判断</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業務コンサルタント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監視中</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94969">
                <a:tc>
                  <a:txBody>
                    <a:bodyPr wrap="square" lIns="45720" tIns="18288" rIns="45720" bIns="18288" anchor="ctr"/>
                    <a:lstStyle/>
                    <a:p>
                      <a:pPr algn="l">
                        <a:lnSpc>
                          <a:spcPct val="120000"/>
                        </a:lnSpc>
                      </a:pPr>
                      <a:r>
                        <a:rPr sz="1100" b="0">
                          <a:solidFill>
                            <a:srgbClr val="1F2937"/>
                          </a:solidFill>
                          <a:latin typeface="BIZ UDPゴシック"/>
                          <a:ea typeface="BIZ UDPゴシック"/>
                        </a:rPr>
                        <a:t>R003</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基幹システム連携で技術的課題が生じる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インタフェース仕様の不確定</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ctr">
                        <a:lnSpc>
                          <a:spcPct val="120000"/>
                        </a:lnSpc>
                      </a:pPr>
                      <a:r>
                        <a:rPr sz="1100" b="0">
                          <a:solidFill>
                            <a:srgbClr val="1F2937"/>
                          </a:solidFill>
                          <a:latin typeface="BIZ UDPゴシック"/>
                          <a:ea typeface="BIZ UDPゴシック"/>
                        </a:rPr>
                        <a:t>中</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ctr">
                        <a:lnSpc>
                          <a:spcPct val="120000"/>
                        </a:lnSpc>
                      </a:pPr>
                      <a:r>
                        <a:rPr sz="1100" b="0">
                          <a:solidFill>
                            <a:srgbClr val="1F2937"/>
                          </a:solidFill>
                          <a:latin typeface="BIZ UDPゴシック"/>
                          <a:ea typeface="BIZ UDPゴシック"/>
                        </a:rPr>
                        <a:t>高</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連携方式の早期PoC、仕様確定を前提条件に設定</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導入エンジニア</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監視中</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94969">
                <a:tc>
                  <a:txBody>
                    <a:bodyPr wrap="square" lIns="45720" tIns="18288" rIns="45720" bIns="18288" anchor="ctr"/>
                    <a:lstStyle/>
                    <a:p>
                      <a:pPr algn="l">
                        <a:lnSpc>
                          <a:spcPct val="120000"/>
                        </a:lnSpc>
                      </a:pPr>
                      <a:r>
                        <a:rPr sz="1100" b="0">
                          <a:solidFill>
                            <a:srgbClr val="1F2937"/>
                          </a:solidFill>
                          <a:latin typeface="BIZ UDPゴシック"/>
                          <a:ea typeface="BIZ UDPゴシック"/>
                        </a:rPr>
                        <a:t>R004</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本番移行時に経費精算処理が停止する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移行手順の不備</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ctr">
                        <a:lnSpc>
                          <a:spcPct val="120000"/>
                        </a:lnSpc>
                      </a:pPr>
                      <a:r>
                        <a:rPr sz="1100" b="0">
                          <a:solidFill>
                            <a:srgbClr val="1F2937"/>
                          </a:solidFill>
                          <a:latin typeface="BIZ UDPゴシック"/>
                          <a:ea typeface="BIZ UDPゴシック"/>
                        </a:rPr>
                        <a:t>低</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ctr">
                        <a:lnSpc>
                          <a:spcPct val="120000"/>
                        </a:lnSpc>
                      </a:pPr>
                      <a:r>
                        <a:rPr sz="1100" b="0">
                          <a:solidFill>
                            <a:srgbClr val="1F2937"/>
                          </a:solidFill>
                          <a:latin typeface="BIZ UDPゴシック"/>
                          <a:ea typeface="BIZ UDPゴシック"/>
                        </a:rPr>
                        <a:t>高</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リハーサル実施と切戻し計画の策定</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プロジェクトマネージャー</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監視中</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94969">
                <a:tc>
                  <a:txBody>
                    <a:bodyPr wrap="square" lIns="45720" tIns="18288" rIns="45720" bIns="18288" anchor="ctr"/>
                    <a:lstStyle/>
                    <a:p>
                      <a:pPr algn="l">
                        <a:lnSpc>
                          <a:spcPct val="120000"/>
                        </a:lnSpc>
                      </a:pPr>
                      <a:r>
                        <a:rPr sz="1100" b="0">
                          <a:solidFill>
                            <a:srgbClr val="1F2937"/>
                          </a:solidFill>
                          <a:latin typeface="BIZ UDPゴシック"/>
                          <a:ea typeface="BIZ UDPゴシック"/>
                        </a:rPr>
                        <a:t>R005</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定着化せず旧運用が残る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研修不足と操作の定着遅れ</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ctr">
                        <a:lnSpc>
                          <a:spcPct val="120000"/>
                        </a:lnSpc>
                      </a:pPr>
                      <a:r>
                        <a:rPr sz="1100" b="0">
                          <a:solidFill>
                            <a:srgbClr val="1F2937"/>
                          </a:solidFill>
                          <a:latin typeface="BIZ UDPゴシック"/>
                          <a:ea typeface="BIZ UDPゴシック"/>
                        </a:rPr>
                        <a:t>中</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ctr">
                        <a:lnSpc>
                          <a:spcPct val="120000"/>
                        </a:lnSpc>
                      </a:pPr>
                      <a:r>
                        <a:rPr sz="1100" b="0">
                          <a:solidFill>
                            <a:srgbClr val="1F2937"/>
                          </a:solidFill>
                          <a:latin typeface="BIZ UDPゴシック"/>
                          <a:ea typeface="BIZ UDPゴシック"/>
                        </a:rPr>
                        <a:t>中</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KPIモニタリング、追加研修、ヘルプデスク設置</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変更管理リード</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監視中</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05  プロジェクト管理計画</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5.5 変更管理</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33</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変更は影響分析とCCBの承認を経て反映する</a:t>
            </a:r>
          </a:p>
        </p:txBody>
      </p:sp>
      <p:sp>
        <p:nvSpPr>
          <p:cNvPr id="24" name="drawio:s1"/>
          <p:cNvSpPr/>
          <p:nvPr/>
        </p:nvSpPr>
        <p:spPr>
          <a:xfrm>
            <a:off x="1345722" y="1591055"/>
            <a:ext cx="1380378" cy="1136782"/>
          </a:xfrm>
          <a:prstGeom prst="roundRect">
            <a:avLst/>
          </a:prstGeom>
          <a:solidFill>
            <a:srgbClr val="F4F6FA"/>
          </a:solidFill>
          <a:ln w="8119">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831" b="0" i="0">
                <a:solidFill>
                  <a:srgbClr val="1F2937"/>
                </a:solidFill>
                <a:latin typeface="BIZ UDPゴシック"/>
                <a:ea typeface="BIZ UDPゴシック"/>
              </a:rPr>
              <a:t>変更要求起票</a:t>
            </a:r>
          </a:p>
        </p:txBody>
      </p:sp>
      <p:sp>
        <p:nvSpPr>
          <p:cNvPr id="25" name="drawio:s2"/>
          <p:cNvSpPr/>
          <p:nvPr/>
        </p:nvSpPr>
        <p:spPr>
          <a:xfrm>
            <a:off x="2969696" y="1591055"/>
            <a:ext cx="1380378" cy="1136782"/>
          </a:xfrm>
          <a:prstGeom prst="roundRect">
            <a:avLst/>
          </a:prstGeom>
          <a:solidFill>
            <a:srgbClr val="F4F6FA"/>
          </a:solidFill>
          <a:ln w="8119">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831" b="0" i="0">
                <a:solidFill>
                  <a:srgbClr val="1F2937"/>
                </a:solidFill>
                <a:latin typeface="BIZ UDPゴシック"/>
                <a:ea typeface="BIZ UDPゴシック"/>
              </a:rPr>
              <a:t>影響分析</a:t>
            </a:r>
          </a:p>
          <a:p>
            <a:pPr algn="ctr">
              <a:lnSpc>
                <a:spcPct val="110000"/>
              </a:lnSpc>
            </a:pPr>
            <a:r>
              <a:rPr sz="831" b="0" i="0">
                <a:solidFill>
                  <a:srgbClr val="1F2937"/>
                </a:solidFill>
                <a:latin typeface="BIZ UDPゴシック"/>
                <a:ea typeface="BIZ UDPゴシック"/>
              </a:rPr>
              <a:t>スコープ / 日程 / 費用</a:t>
            </a:r>
          </a:p>
        </p:txBody>
      </p:sp>
      <p:sp>
        <p:nvSpPr>
          <p:cNvPr id="26" name="drawio:s3"/>
          <p:cNvSpPr/>
          <p:nvPr/>
        </p:nvSpPr>
        <p:spPr>
          <a:xfrm>
            <a:off x="4593671" y="1591055"/>
            <a:ext cx="1380378" cy="1136782"/>
          </a:xfrm>
          <a:prstGeom prst="roundRect">
            <a:avLst/>
          </a:prstGeom>
          <a:solidFill>
            <a:srgbClr val="B4235A"/>
          </a:solidFill>
          <a:ln w="8119">
            <a:solidFill>
              <a:srgbClr val="B4235A"/>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831" b="1" i="0">
                <a:solidFill>
                  <a:srgbClr val="FFFFFF"/>
                </a:solidFill>
                <a:latin typeface="BIZ UDPゴシック"/>
                <a:ea typeface="BIZ UDPゴシック"/>
              </a:rPr>
              <a:t>CCB審査</a:t>
            </a:r>
          </a:p>
          <a:p>
            <a:pPr algn="ctr">
              <a:lnSpc>
                <a:spcPct val="110000"/>
              </a:lnSpc>
            </a:pPr>
            <a:r>
              <a:rPr sz="831" b="1" i="0">
                <a:solidFill>
                  <a:srgbClr val="FFFFFF"/>
                </a:solidFill>
                <a:latin typeface="BIZ UDPゴシック"/>
                <a:ea typeface="BIZ UDPゴシック"/>
              </a:rPr>
              <a:t>(ステアリングコミッティ)</a:t>
            </a:r>
          </a:p>
        </p:txBody>
      </p:sp>
      <p:sp>
        <p:nvSpPr>
          <p:cNvPr id="27" name="drawio:s4"/>
          <p:cNvSpPr/>
          <p:nvPr/>
        </p:nvSpPr>
        <p:spPr>
          <a:xfrm>
            <a:off x="6217645" y="1591055"/>
            <a:ext cx="1380378" cy="1136782"/>
          </a:xfrm>
          <a:prstGeom prst="diamond">
            <a:avLst/>
          </a:prstGeom>
          <a:solidFill>
            <a:srgbClr val="FFFFFF"/>
          </a:solidFill>
          <a:ln w="8119">
            <a:solidFill>
              <a:srgbClr val="B4235A"/>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831" b="1" i="0">
                <a:solidFill>
                  <a:srgbClr val="B4235A"/>
                </a:solidFill>
                <a:latin typeface="BIZ UDPゴシック"/>
                <a:ea typeface="BIZ UDPゴシック"/>
              </a:rPr>
              <a:t>承認 / 却下</a:t>
            </a:r>
          </a:p>
        </p:txBody>
      </p:sp>
      <p:sp>
        <p:nvSpPr>
          <p:cNvPr id="28" name="drawio:s5"/>
          <p:cNvSpPr/>
          <p:nvPr/>
        </p:nvSpPr>
        <p:spPr>
          <a:xfrm>
            <a:off x="7841619" y="1591055"/>
            <a:ext cx="1380378" cy="1136782"/>
          </a:xfrm>
          <a:prstGeom prst="roundRect">
            <a:avLst/>
          </a:prstGeom>
          <a:solidFill>
            <a:srgbClr val="F4F6FA"/>
          </a:solidFill>
          <a:ln w="8119">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831" b="0" i="0">
                <a:solidFill>
                  <a:srgbClr val="1F2937"/>
                </a:solidFill>
                <a:latin typeface="BIZ UDPゴシック"/>
                <a:ea typeface="BIZ UDPゴシック"/>
              </a:rPr>
              <a:t>ベースライン更新</a:t>
            </a:r>
          </a:p>
        </p:txBody>
      </p:sp>
      <p:sp>
        <p:nvSpPr>
          <p:cNvPr id="29" name="drawio:s6"/>
          <p:cNvSpPr/>
          <p:nvPr/>
        </p:nvSpPr>
        <p:spPr>
          <a:xfrm>
            <a:off x="9465594" y="1591055"/>
            <a:ext cx="1380378" cy="1136782"/>
          </a:xfrm>
          <a:prstGeom prst="roundRect">
            <a:avLst/>
          </a:prstGeom>
          <a:solidFill>
            <a:srgbClr val="059669"/>
          </a:solidFill>
          <a:ln w="8119">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831" b="1" i="0">
                <a:solidFill>
                  <a:srgbClr val="FFFFFF"/>
                </a:solidFill>
                <a:latin typeface="BIZ UDPゴシック"/>
                <a:ea typeface="BIZ UDPゴシック"/>
              </a:rPr>
              <a:t>関係者周知</a:t>
            </a:r>
          </a:p>
        </p:txBody>
      </p:sp>
      <p:sp>
        <p:nvSpPr>
          <p:cNvPr id="30" name="drawio:rec"/>
          <p:cNvSpPr/>
          <p:nvPr/>
        </p:nvSpPr>
        <p:spPr>
          <a:xfrm>
            <a:off x="6217645" y="3133830"/>
            <a:ext cx="1380378" cy="487192"/>
          </a:xfrm>
          <a:prstGeom prst="roundRect">
            <a:avLst/>
          </a:prstGeom>
          <a:solidFill>
            <a:srgbClr val="F4F6FA"/>
          </a:solidFill>
          <a:ln w="8119">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831" b="0" i="0">
                <a:solidFill>
                  <a:srgbClr val="6B7280"/>
                </a:solidFill>
                <a:latin typeface="BIZ UDPゴシック"/>
                <a:ea typeface="BIZ UDPゴシック"/>
              </a:rPr>
              <a:t>変更管理表に記録</a:t>
            </a:r>
          </a:p>
        </p:txBody>
      </p:sp>
      <p:cxnSp>
        <p:nvCxnSpPr>
          <p:cNvPr id="31" name="drawio:e1"/>
          <p:cNvCxnSpPr/>
          <p:nvPr/>
        </p:nvCxnSpPr>
        <p:spPr>
          <a:xfrm>
            <a:off x="2705394" y="2159446"/>
            <a:ext cx="285008" cy="0"/>
          </a:xfrm>
          <a:prstGeom prst="line">
            <a:avLst/>
          </a:prstGeom>
          <a:ln w="16239">
            <a:solidFill>
              <a:srgbClr val="6B7280"/>
            </a:solidFill>
            <a:tailEnd type="arrow" w="sm" len="sm"/>
          </a:ln>
        </p:spPr>
        <p:style>
          <a:lnRef idx="2">
            <a:schemeClr val="accent1"/>
          </a:lnRef>
          <a:fillRef idx="0">
            <a:schemeClr val="accent1"/>
          </a:fillRef>
          <a:effectRef idx="1">
            <a:schemeClr val="accent1"/>
          </a:effectRef>
          <a:fontRef idx="minor">
            <a:schemeClr val="tx1"/>
          </a:fontRef>
        </p:style>
      </p:cxnSp>
      <p:cxnSp>
        <p:nvCxnSpPr>
          <p:cNvPr id="32" name="drawio:e2"/>
          <p:cNvCxnSpPr/>
          <p:nvPr/>
        </p:nvCxnSpPr>
        <p:spPr>
          <a:xfrm>
            <a:off x="4329369" y="2159446"/>
            <a:ext cx="285007" cy="0"/>
          </a:xfrm>
          <a:prstGeom prst="line">
            <a:avLst/>
          </a:prstGeom>
          <a:ln w="16239">
            <a:solidFill>
              <a:srgbClr val="6B7280"/>
            </a:solidFill>
            <a:tailEnd type="arrow" w="sm" len="sm"/>
          </a:ln>
        </p:spPr>
        <p:style>
          <a:lnRef idx="2">
            <a:schemeClr val="accent1"/>
          </a:lnRef>
          <a:fillRef idx="0">
            <a:schemeClr val="accent1"/>
          </a:fillRef>
          <a:effectRef idx="1">
            <a:schemeClr val="accent1"/>
          </a:effectRef>
          <a:fontRef idx="minor">
            <a:schemeClr val="tx1"/>
          </a:fontRef>
        </p:style>
      </p:cxnSp>
      <p:cxnSp>
        <p:nvCxnSpPr>
          <p:cNvPr id="33" name="drawio:e3"/>
          <p:cNvCxnSpPr/>
          <p:nvPr/>
        </p:nvCxnSpPr>
        <p:spPr>
          <a:xfrm>
            <a:off x="5953343" y="2159446"/>
            <a:ext cx="285008" cy="0"/>
          </a:xfrm>
          <a:prstGeom prst="line">
            <a:avLst/>
          </a:prstGeom>
          <a:ln w="16239">
            <a:solidFill>
              <a:srgbClr val="6B7280"/>
            </a:solidFill>
            <a:tailEnd type="arrow" w="sm" len="sm"/>
          </a:ln>
        </p:spPr>
        <p:style>
          <a:lnRef idx="2">
            <a:schemeClr val="accent1"/>
          </a:lnRef>
          <a:fillRef idx="0">
            <a:schemeClr val="accent1"/>
          </a:fillRef>
          <a:effectRef idx="1">
            <a:schemeClr val="accent1"/>
          </a:effectRef>
          <a:fontRef idx="minor">
            <a:schemeClr val="tx1"/>
          </a:fontRef>
        </p:style>
      </p:cxnSp>
      <p:cxnSp>
        <p:nvCxnSpPr>
          <p:cNvPr id="34" name="drawio:e4"/>
          <p:cNvCxnSpPr/>
          <p:nvPr/>
        </p:nvCxnSpPr>
        <p:spPr>
          <a:xfrm>
            <a:off x="7577318" y="2159446"/>
            <a:ext cx="285007" cy="0"/>
          </a:xfrm>
          <a:prstGeom prst="line">
            <a:avLst/>
          </a:prstGeom>
          <a:ln w="16239">
            <a:solidFill>
              <a:srgbClr val="059669"/>
            </a:solidFill>
            <a:tailEnd type="arrow" w="sm" len="sm"/>
          </a:ln>
        </p:spPr>
        <p:style>
          <a:lnRef idx="2">
            <a:schemeClr val="accent1"/>
          </a:lnRef>
          <a:fillRef idx="0">
            <a:schemeClr val="accent1"/>
          </a:fillRef>
          <a:effectRef idx="1">
            <a:schemeClr val="accent1"/>
          </a:effectRef>
          <a:fontRef idx="minor">
            <a:schemeClr val="tx1"/>
          </a:fontRef>
        </p:style>
      </p:cxnSp>
      <p:cxnSp>
        <p:nvCxnSpPr>
          <p:cNvPr id="35" name="drawio:e5"/>
          <p:cNvCxnSpPr/>
          <p:nvPr/>
        </p:nvCxnSpPr>
        <p:spPr>
          <a:xfrm>
            <a:off x="9201292" y="2159446"/>
            <a:ext cx="285008" cy="0"/>
          </a:xfrm>
          <a:prstGeom prst="line">
            <a:avLst/>
          </a:prstGeom>
          <a:ln w="16239">
            <a:solidFill>
              <a:srgbClr val="6B7280"/>
            </a:solidFill>
            <a:tailEnd type="arrow" w="sm" len="sm"/>
          </a:ln>
        </p:spPr>
        <p:style>
          <a:lnRef idx="2">
            <a:schemeClr val="accent1"/>
          </a:lnRef>
          <a:fillRef idx="0">
            <a:schemeClr val="accent1"/>
          </a:fillRef>
          <a:effectRef idx="1">
            <a:schemeClr val="accent1"/>
          </a:effectRef>
          <a:fontRef idx="minor">
            <a:schemeClr val="tx1"/>
          </a:fontRef>
        </p:style>
      </p:cxnSp>
      <p:sp>
        <p:nvSpPr>
          <p:cNvPr id="36" name="drawio:e6"/>
          <p:cNvSpPr/>
          <p:nvPr/>
        </p:nvSpPr>
        <p:spPr>
          <a:xfrm>
            <a:off x="6907834" y="2710785"/>
            <a:ext cx="0" cy="430353"/>
          </a:xfrm>
          <a:custGeom>
            <a:avLst/>
            <a:gdLst/>
            <a:ahLst/>
            <a:cxnLst/>
            <a:rect l="l" t="t" r="r" b="b"/>
            <a:pathLst>
              <a:path w="0" h="430353">
                <a:moveTo>
                  <a:pt x="0" y="0"/>
                </a:moveTo>
                <a:lnTo>
                  <a:pt x="0" y="260648"/>
                </a:lnTo>
                <a:lnTo>
                  <a:pt x="0" y="430353"/>
                </a:lnTo>
              </a:path>
            </a:pathLst>
          </a:custGeom>
          <a:noFill/>
          <a:ln w="16239">
            <a:solidFill>
              <a:srgbClr val="B4235A"/>
            </a:solidFill>
            <a:prstDash val="dash"/>
            <a:tailEnd type="arrow"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rawio:e6:label"/>
          <p:cNvSpPr txBox="1"/>
          <p:nvPr/>
        </p:nvSpPr>
        <p:spPr>
          <a:xfrm>
            <a:off x="6633514" y="2895741"/>
            <a:ext cx="548640" cy="151383"/>
          </a:xfrm>
          <a:prstGeom prst="rect">
            <a:avLst/>
          </a:prstGeom>
          <a:solidFill>
            <a:srgbClr val="FFFFFF"/>
          </a:solidFill>
          <a:ln>
            <a:noFill/>
          </a:ln>
        </p:spPr>
        <p:txBody>
          <a:bodyPr wrap="square" lIns="36576" rIns="36576" tIns="18288" bIns="18288" anchor="ctr">
            <a:spAutoFit/>
          </a:bodyPr>
          <a:lstStyle/>
          <a:p>
            <a:pPr algn="ctr">
              <a:lnSpc>
                <a:spcPct val="110000"/>
              </a:lnSpc>
            </a:pPr>
            <a:r>
              <a:rPr sz="800" b="0" i="0">
                <a:solidFill>
                  <a:srgbClr val="B4235A"/>
                </a:solidFill>
                <a:latin typeface="BIZ UDPゴシック"/>
                <a:ea typeface="BIZ UDPゴシック"/>
              </a:rPr>
              <a:t>却下</a:t>
            </a:r>
          </a:p>
        </p:txBody>
      </p:sp>
      <p:sp>
        <p:nvSpPr>
          <p:cNvPr id="38" name="blk-diagram-cap"/>
          <p:cNvSpPr txBox="1"/>
          <p:nvPr/>
        </p:nvSpPr>
        <p:spPr>
          <a:xfrm>
            <a:off x="502920" y="3657599"/>
            <a:ext cx="11185855" cy="237744"/>
          </a:xfrm>
          <a:prstGeom prst="rect">
            <a:avLst/>
          </a:prstGeom>
          <a:noFill/>
        </p:spPr>
        <p:txBody>
          <a:bodyPr wrap="square" lIns="0" tIns="0" rIns="0" bIns="0" anchor="t">
            <a:spAutoFit/>
          </a:bodyPr>
          <a:lstStyle/>
          <a:p>
            <a:pPr algn="ctr">
              <a:lnSpc>
                <a:spcPct val="120000"/>
              </a:lnSpc>
            </a:pPr>
            <a:r>
              <a:rPr sz="900" b="0">
                <a:solidFill>
                  <a:srgbClr val="6B7280"/>
                </a:solidFill>
                <a:latin typeface="BIZ UDPゴシック"/>
                <a:ea typeface="BIZ UDPゴシック"/>
              </a:rPr>
              <a:t>変更管理フロー</a:t>
            </a:r>
          </a:p>
        </p:txBody>
      </p:sp>
      <p:graphicFrame>
        <p:nvGraphicFramePr>
          <p:cNvPr id="39" name="blk-table"/>
          <p:cNvGraphicFramePr>
            <a:graphicFrameLocks noGrp="1"/>
          </p:cNvGraphicFramePr>
          <p:nvPr/>
        </p:nvGraphicFramePr>
        <p:xfrm>
          <a:off x="502920" y="3986784"/>
          <a:ext cx="11185852" cy="1072896"/>
        </p:xfrm>
        <a:graphic>
          <a:graphicData uri="http://schemas.openxmlformats.org/drawingml/2006/table">
            <a:tbl>
              <a:tblPr>
                <a:tableStyleId>{5C22544A-7EE6-4342-B048-85BDC9FD1C3A}</a:tableStyleId>
              </a:tblPr>
              <a:tblGrid>
                <a:gridCol w="1118585"/>
                <a:gridCol w="3803190"/>
                <a:gridCol w="3132039"/>
                <a:gridCol w="1566019"/>
                <a:gridCol w="1566019"/>
              </a:tblGrid>
              <a:tr h="262128">
                <a:tc>
                  <a:txBody>
                    <a:bodyPr wrap="square" lIns="45720" tIns="18288" rIns="45720" bIns="18288" anchor="ctr"/>
                    <a:lstStyle/>
                    <a:p>
                      <a:pPr algn="l">
                        <a:lnSpc>
                          <a:spcPct val="120000"/>
                        </a:lnSpc>
                      </a:pPr>
                      <a:r>
                        <a:rPr sz="1200" b="1">
                          <a:solidFill>
                            <a:srgbClr val="FFFFFF"/>
                          </a:solidFill>
                          <a:latin typeface="BIZ UDPゴシック"/>
                          <a:ea typeface="BIZ UDPゴシック"/>
                        </a:rPr>
                        <a:t>変更ID</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200" b="1">
                          <a:solidFill>
                            <a:srgbClr val="FFFFFF"/>
                          </a:solidFill>
                          <a:latin typeface="BIZ UDPゴシック"/>
                          <a:ea typeface="BIZ UDPゴシック"/>
                        </a:rPr>
                        <a:t>変更内容</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200" b="1">
                          <a:solidFill>
                            <a:srgbClr val="FFFFFF"/>
                          </a:solidFill>
                          <a:latin typeface="BIZ UDPゴシック"/>
                          <a:ea typeface="BIZ UDPゴシック"/>
                        </a:rPr>
                        <a:t>影響 (スコープ/日程/費用)</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200" b="1">
                          <a:solidFill>
                            <a:srgbClr val="FFFFFF"/>
                          </a:solidFill>
                          <a:latin typeface="BIZ UDPゴシック"/>
                          <a:ea typeface="BIZ UDPゴシック"/>
                        </a:rPr>
                        <a:t>承認</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200" b="1">
                          <a:solidFill>
                            <a:srgbClr val="FFFFFF"/>
                          </a:solidFill>
                          <a:latin typeface="BIZ UDPゴシック"/>
                          <a:ea typeface="BIZ UDPゴシック"/>
                        </a:rPr>
                        <a:t>状態</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426720">
                <a:tc>
                  <a:txBody>
                    <a:bodyPr wrap="square" lIns="45720" tIns="18288" rIns="45720" bIns="18288" anchor="ctr"/>
                    <a:lstStyle/>
                    <a:p>
                      <a:pPr algn="l">
                        <a:lnSpc>
                          <a:spcPct val="120000"/>
                        </a:lnSpc>
                      </a:pPr>
                      <a:r>
                        <a:rPr sz="1200" b="0">
                          <a:solidFill>
                            <a:srgbClr val="1F2937"/>
                          </a:solidFill>
                          <a:latin typeface="BIZ UDPゴシック"/>
                          <a:ea typeface="BIZ UDPゴシック"/>
                        </a:rPr>
                        <a:t>C001</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交通系ICカード連携機能の追加</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スコープ微増・日程影響なし・費用+150万円</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CCB承認</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適用済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200" b="0">
                          <a:solidFill>
                            <a:srgbClr val="1F2937"/>
                          </a:solidFill>
                          <a:latin typeface="BIZ UDPゴシック"/>
                          <a:ea typeface="BIZ UDPゴシック"/>
                        </a:rPr>
                        <a:t>C002</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研修対象者の追加 (関連会社200名)</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スコープ微増・日程+1週・費用+80万円</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CCB審査中</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審査中</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05  プロジェクト管理計画</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5.6 品質管理</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34</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フェーズごとの品質目標と検査方式を定める</a:t>
            </a:r>
          </a:p>
        </p:txBody>
      </p:sp>
      <p:graphicFrame>
        <p:nvGraphicFramePr>
          <p:cNvPr id="24" name="blk-table"/>
          <p:cNvGraphicFramePr>
            <a:graphicFrameLocks noGrp="1"/>
          </p:cNvGraphicFramePr>
          <p:nvPr/>
        </p:nvGraphicFramePr>
        <p:xfrm>
          <a:off x="502920" y="1591055"/>
          <a:ext cx="11185853" cy="2215388"/>
        </p:xfrm>
        <a:graphic>
          <a:graphicData uri="http://schemas.openxmlformats.org/drawingml/2006/table">
            <a:tbl>
              <a:tblPr>
                <a:tableStyleId>{5C22544A-7EE6-4342-B048-85BDC9FD1C3A}</a:tableStyleId>
              </a:tblPr>
              <a:tblGrid>
                <a:gridCol w="2237171"/>
                <a:gridCol w="2460888"/>
                <a:gridCol w="1789736"/>
                <a:gridCol w="3132039"/>
                <a:gridCol w="1566019"/>
              </a:tblGrid>
              <a:tr h="295148">
                <a:tc>
                  <a:txBody>
                    <a:bodyPr wrap="square" lIns="45720" tIns="18288" rIns="45720" bIns="18288" anchor="ctr"/>
                    <a:lstStyle/>
                    <a:p>
                      <a:pPr algn="l">
                        <a:lnSpc>
                          <a:spcPct val="120000"/>
                        </a:lnSpc>
                      </a:pPr>
                      <a:r>
                        <a:rPr sz="1400" b="1">
                          <a:solidFill>
                            <a:srgbClr val="FFFFFF"/>
                          </a:solidFill>
                          <a:latin typeface="BIZ UDPゴシック"/>
                          <a:ea typeface="BIZ UDPゴシック"/>
                        </a:rPr>
                        <a:t>対象</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品質指標</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目標値</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レビュー・検査方式</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完了基準</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To-Be業務設計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業務要件の網羅率</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100%</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経理部レビュー</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指摘の解決</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要件定義書</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要件トレーサビリティ</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全要件が要求に対応</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ウォークスルー</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未対応0件</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連携開発</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テスト合格率</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95%以上</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単体・結合テスト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重大不具合0件</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受入</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受入テスト合格率</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100%</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受入テスト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全試験項目合格</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ドキュメント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レビュー指摘の解決率</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100%</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ピアレビュー</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指摘のクローズ</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05  プロジェクト管理計画</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5.7 進捗管理</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35</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進捗は定量指標で測定し、閾値超過時に是正する</a:t>
            </a:r>
          </a:p>
        </p:txBody>
      </p:sp>
      <p:graphicFrame>
        <p:nvGraphicFramePr>
          <p:cNvPr id="24" name="blk-table"/>
          <p:cNvGraphicFramePr>
            <a:graphicFrameLocks noGrp="1"/>
          </p:cNvGraphicFramePr>
          <p:nvPr/>
        </p:nvGraphicFramePr>
        <p:xfrm>
          <a:off x="502920" y="1591055"/>
          <a:ext cx="11185853" cy="1840992"/>
        </p:xfrm>
        <a:graphic>
          <a:graphicData uri="http://schemas.openxmlformats.org/drawingml/2006/table">
            <a:tbl>
              <a:tblPr>
                <a:tableStyleId>{5C22544A-7EE6-4342-B048-85BDC9FD1C3A}</a:tableStyleId>
              </a:tblPr>
              <a:tblGrid>
                <a:gridCol w="2460888"/>
                <a:gridCol w="3803190"/>
                <a:gridCol w="1789736"/>
                <a:gridCol w="3132039"/>
              </a:tblGrid>
              <a:tr h="262128">
                <a:tc>
                  <a:txBody>
                    <a:bodyPr wrap="square" lIns="45720" tIns="18288" rIns="45720" bIns="18288" anchor="ctr"/>
                    <a:lstStyle/>
                    <a:p>
                      <a:pPr algn="l">
                        <a:lnSpc>
                          <a:spcPct val="120000"/>
                        </a:lnSpc>
                      </a:pPr>
                      <a:r>
                        <a:rPr sz="1200" b="1">
                          <a:solidFill>
                            <a:srgbClr val="FFFFFF"/>
                          </a:solidFill>
                          <a:latin typeface="BIZ UDPゴシック"/>
                          <a:ea typeface="BIZ UDPゴシック"/>
                        </a:rPr>
                        <a:t>指標</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200" b="1">
                          <a:solidFill>
                            <a:srgbClr val="FFFFFF"/>
                          </a:solidFill>
                          <a:latin typeface="BIZ UDPゴシック"/>
                          <a:ea typeface="BIZ UDPゴシック"/>
                        </a:rPr>
                        <a:t>定義</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200" b="1">
                          <a:solidFill>
                            <a:srgbClr val="FFFFFF"/>
                          </a:solidFill>
                          <a:latin typeface="BIZ UDPゴシック"/>
                          <a:ea typeface="BIZ UDPゴシック"/>
                        </a:rPr>
                        <a:t>報告頻度</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200" b="1">
                          <a:solidFill>
                            <a:srgbClr val="FFFFFF"/>
                          </a:solidFill>
                          <a:latin typeface="BIZ UDPゴシック"/>
                          <a:ea typeface="BIZ UDPゴシック"/>
                        </a:rPr>
                        <a:t>判断基準・閾値</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384048">
                <a:tc>
                  <a:txBody>
                    <a:bodyPr wrap="square" lIns="45720" tIns="18288" rIns="45720" bIns="18288" anchor="ctr"/>
                    <a:lstStyle/>
                    <a:p>
                      <a:pPr algn="l">
                        <a:lnSpc>
                          <a:spcPct val="120000"/>
                        </a:lnSpc>
                      </a:pPr>
                      <a:r>
                        <a:rPr sz="1200" b="0">
                          <a:solidFill>
                            <a:srgbClr val="1F2937"/>
                          </a:solidFill>
                          <a:latin typeface="BIZ UDPゴシック"/>
                          <a:ea typeface="BIZ UDPゴシック"/>
                        </a:rPr>
                        <a:t>進捗率</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完了作業量 / 全体作業量</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週次</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計画比 -10% で是正策を立案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426720">
                <a:tc>
                  <a:txBody>
                    <a:bodyPr wrap="square" lIns="45720" tIns="18288" rIns="45720" bIns="18288" anchor="ctr"/>
                    <a:lstStyle/>
                    <a:p>
                      <a:pPr algn="l">
                        <a:lnSpc>
                          <a:spcPct val="120000"/>
                        </a:lnSpc>
                      </a:pPr>
                      <a:r>
                        <a:rPr sz="1200" b="0">
                          <a:solidFill>
                            <a:srgbClr val="1F2937"/>
                          </a:solidFill>
                          <a:latin typeface="BIZ UDPゴシック"/>
                          <a:ea typeface="BIZ UDPゴシック"/>
                        </a:rPr>
                        <a:t>マイルストーン達成</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完了基準の判定結果</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マイルストーン時</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未達はステアリングコミッティで対応を決定</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200" b="0">
                          <a:solidFill>
                            <a:srgbClr val="1F2937"/>
                          </a:solidFill>
                          <a:latin typeface="BIZ UDPゴシック"/>
                          <a:ea typeface="BIZ UDPゴシック"/>
                        </a:rPr>
                        <a:t>課題滞留</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期限超過課題数</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週次</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3件以上でエスカレーション</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200" b="0">
                          <a:solidFill>
                            <a:srgbClr val="1F2937"/>
                          </a:solidFill>
                          <a:latin typeface="BIZ UDPゴシック"/>
                          <a:ea typeface="BIZ UDPゴシック"/>
                        </a:rPr>
                        <a:t>リスク状況</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高リスクの発生状況</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月次</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200" b="0">
                          <a:solidFill>
                            <a:srgbClr val="1F2937"/>
                          </a:solidFill>
                          <a:latin typeface="BIZ UDPゴシック"/>
                          <a:ea typeface="BIZ UDPゴシック"/>
                        </a:rPr>
                        <a:t>顕在化時は対応を強化</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05  プロジェクト管理計画</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5.8 予算・コスト管理</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36</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予算内訳と執行管理、予実差異の閾値を定める</a:t>
            </a:r>
          </a:p>
        </p:txBody>
      </p:sp>
      <p:graphicFrame>
        <p:nvGraphicFramePr>
          <p:cNvPr id="24" name="blk-table"/>
          <p:cNvGraphicFramePr>
            <a:graphicFrameLocks noGrp="1"/>
          </p:cNvGraphicFramePr>
          <p:nvPr/>
        </p:nvGraphicFramePr>
        <p:xfrm>
          <a:off x="502920" y="1591055"/>
          <a:ext cx="11185854" cy="2599436"/>
        </p:xfrm>
        <a:graphic>
          <a:graphicData uri="http://schemas.openxmlformats.org/drawingml/2006/table">
            <a:tbl>
              <a:tblPr>
                <a:tableStyleId>{5C22544A-7EE6-4342-B048-85BDC9FD1C3A}</a:tableStyleId>
              </a:tblPr>
              <a:tblGrid>
                <a:gridCol w="3355756"/>
                <a:gridCol w="2237171"/>
                <a:gridCol w="5592927"/>
              </a:tblGrid>
              <a:tr h="295148">
                <a:tc>
                  <a:txBody>
                    <a:bodyPr wrap="square" lIns="45720" tIns="18288" rIns="45720" bIns="18288" anchor="ctr"/>
                    <a:lstStyle/>
                    <a:p>
                      <a:pPr algn="l">
                        <a:lnSpc>
                          <a:spcPct val="120000"/>
                        </a:lnSpc>
                      </a:pPr>
                      <a:r>
                        <a:rPr sz="1400" b="1">
                          <a:solidFill>
                            <a:srgbClr val="FFFFFF"/>
                          </a:solidFill>
                          <a:latin typeface="BIZ UDPゴシック"/>
                          <a:ea typeface="BIZ UDPゴシック"/>
                        </a:rPr>
                        <a:t>費目</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r">
                        <a:lnSpc>
                          <a:spcPct val="120000"/>
                        </a:lnSpc>
                      </a:pPr>
                      <a:r>
                        <a:rPr sz="1400" b="1">
                          <a:solidFill>
                            <a:srgbClr val="FFFFFF"/>
                          </a:solidFill>
                          <a:latin typeface="BIZ UDPゴシック"/>
                          <a:ea typeface="BIZ UDPゴシック"/>
                        </a:rPr>
                        <a:t>予算額</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執行管理方法</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業務コンサルティング</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r">
                        <a:lnSpc>
                          <a:spcPct val="120000"/>
                        </a:lnSpc>
                      </a:pPr>
                      <a:r>
                        <a:rPr sz="1400" b="0">
                          <a:solidFill>
                            <a:srgbClr val="1F2937"/>
                          </a:solidFill>
                          <a:latin typeface="BIZ UDPゴシック"/>
                          <a:ea typeface="BIZ UDPゴシック"/>
                        </a:rPr>
                        <a:t>2,400万円</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月次で工数と請求を突合する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サービス導入・設定</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r">
                        <a:lnSpc>
                          <a:spcPct val="120000"/>
                        </a:lnSpc>
                      </a:pPr>
                      <a:r>
                        <a:rPr sz="1400" b="0">
                          <a:solidFill>
                            <a:srgbClr val="1F2937"/>
                          </a:solidFill>
                          <a:latin typeface="BIZ UDPゴシック"/>
                          <a:ea typeface="BIZ UDPゴシック"/>
                        </a:rPr>
                        <a:t>2,800万円</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マイルストーン達成で支払う</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連携開発</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r">
                        <a:lnSpc>
                          <a:spcPct val="120000"/>
                        </a:lnSpc>
                      </a:pPr>
                      <a:r>
                        <a:rPr sz="1400" b="0">
                          <a:solidFill>
                            <a:srgbClr val="1F2937"/>
                          </a:solidFill>
                          <a:latin typeface="BIZ UDPゴシック"/>
                          <a:ea typeface="BIZ UDPゴシック"/>
                        </a:rPr>
                        <a:t>1,200万円</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検収完了で支払う</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研修・定着化支援</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r">
                        <a:lnSpc>
                          <a:spcPct val="120000"/>
                        </a:lnSpc>
                      </a:pPr>
                      <a:r>
                        <a:rPr sz="1400" b="0">
                          <a:solidFill>
                            <a:srgbClr val="1F2937"/>
                          </a:solidFill>
                          <a:latin typeface="BIZ UDPゴシック"/>
                          <a:ea typeface="BIZ UDPゴシック"/>
                        </a:rPr>
                        <a:t>800万円</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実施回数に応じて支払う</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予備費</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r">
                        <a:lnSpc>
                          <a:spcPct val="120000"/>
                        </a:lnSpc>
                      </a:pPr>
                      <a:r>
                        <a:rPr sz="1400" b="0">
                          <a:solidFill>
                            <a:srgbClr val="1F2937"/>
                          </a:solidFill>
                          <a:latin typeface="BIZ UDPゴシック"/>
                          <a:ea typeface="BIZ UDPゴシック"/>
                        </a:rPr>
                        <a:t>800万円</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プロジェクトオーナーの承認により使用する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合計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r">
                        <a:lnSpc>
                          <a:spcPct val="120000"/>
                        </a:lnSpc>
                      </a:pPr>
                      <a:r>
                        <a:rPr sz="1400" b="0">
                          <a:solidFill>
                            <a:srgbClr val="1F2937"/>
                          </a:solidFill>
                          <a:latin typeface="BIZ UDPゴシック"/>
                          <a:ea typeface="BIZ UDPゴシック"/>
                        </a:rPr>
                        <a:t>8,000万円</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予実を月次でステアリングコミッティに報告する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bl>
          </a:graphicData>
        </a:graphic>
      </p:graphicFrame>
      <p:sp>
        <p:nvSpPr>
          <p:cNvPr id="25" name="blk-callout"/>
          <p:cNvSpPr/>
          <p:nvPr/>
        </p:nvSpPr>
        <p:spPr>
          <a:xfrm>
            <a:off x="502920" y="5730240"/>
            <a:ext cx="11185855" cy="524256"/>
          </a:xfrm>
          <a:prstGeom prst="roundRect">
            <a:avLst>
              <a:gd name="adj" fmla="val 8000"/>
            </a:avLst>
          </a:prstGeom>
          <a:solidFill>
            <a:srgbClr val="EEF3FD"/>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09728"/>
          <a:lstStyle/>
          <a:p>
            <a:pPr algn="l">
              <a:lnSpc>
                <a:spcPct val="120000"/>
              </a:lnSpc>
            </a:pPr>
            <a:r>
              <a:rPr sz="1200" b="0">
                <a:solidFill>
                  <a:srgbClr val="1F2937"/>
                </a:solidFill>
                <a:latin typeface="BIZ UDPゴシック"/>
                <a:ea typeface="BIZ UDPゴシック"/>
              </a:rPr>
              <a:t>予実差異が±10%を超えた場合はステアリングコミッティに報告し、対応を協議する</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05  プロジェクト管理計画</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5.9 ドキュメント・構成管理</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37</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ドキュメントの保管場所と版管理の方法を定める</a:t>
            </a:r>
          </a:p>
        </p:txBody>
      </p:sp>
      <p:sp>
        <p:nvSpPr>
          <p:cNvPr id="24" name="drawio:root1"/>
          <p:cNvSpPr/>
          <p:nvPr/>
        </p:nvSpPr>
        <p:spPr>
          <a:xfrm>
            <a:off x="1803159" y="1591055"/>
            <a:ext cx="2855287" cy="571057"/>
          </a:xfrm>
          <a:prstGeom prst="roundRect">
            <a:avLst/>
          </a:prstGeom>
          <a:solidFill>
            <a:srgbClr val="16213E"/>
          </a:solidFill>
          <a:ln w="9517">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1049" b="1" i="0">
                <a:solidFill>
                  <a:srgbClr val="FFFFFF"/>
                </a:solidFill>
                <a:latin typeface="BIZ UDPゴシック"/>
                <a:ea typeface="BIZ UDPゴシック"/>
              </a:rPr>
              <a:t>経費精算業務改革プロジェクト</a:t>
            </a:r>
          </a:p>
        </p:txBody>
      </p:sp>
      <p:sp>
        <p:nvSpPr>
          <p:cNvPr id="25" name="drawio:f1"/>
          <p:cNvSpPr/>
          <p:nvPr/>
        </p:nvSpPr>
        <p:spPr>
          <a:xfrm>
            <a:off x="851397" y="2733170"/>
            <a:ext cx="2189053" cy="475881"/>
          </a:xfrm>
          <a:prstGeom prst="roundRect">
            <a:avLst/>
          </a:prstGeom>
          <a:solidFill>
            <a:srgbClr val="F4F6FA"/>
          </a:solidFill>
          <a:ln w="9517">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4" b="0" i="0">
                <a:solidFill>
                  <a:srgbClr val="1F2937"/>
                </a:solidFill>
                <a:latin typeface="BIZ UDPゴシック"/>
                <a:ea typeface="BIZ UDPゴシック"/>
              </a:rPr>
              <a:t>計画・要件・設計書</a:t>
            </a:r>
          </a:p>
        </p:txBody>
      </p:sp>
      <p:sp>
        <p:nvSpPr>
          <p:cNvPr id="26" name="drawio:f2"/>
          <p:cNvSpPr/>
          <p:nvPr/>
        </p:nvSpPr>
        <p:spPr>
          <a:xfrm>
            <a:off x="3421156" y="2733170"/>
            <a:ext cx="2189053" cy="475881"/>
          </a:xfrm>
          <a:prstGeom prst="roundRect">
            <a:avLst/>
          </a:prstGeom>
          <a:solidFill>
            <a:srgbClr val="F4F6FA"/>
          </a:solidFill>
          <a:ln w="9517">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4" b="0" i="0">
                <a:solidFill>
                  <a:srgbClr val="1F2937"/>
                </a:solidFill>
                <a:latin typeface="BIZ UDPゴシック"/>
                <a:ea typeface="BIZ UDPゴシック"/>
              </a:rPr>
              <a:t>議事録・課題・リスク</a:t>
            </a:r>
          </a:p>
        </p:txBody>
      </p:sp>
      <p:sp>
        <p:nvSpPr>
          <p:cNvPr id="27" name="drawio:l1"/>
          <p:cNvSpPr txBox="1"/>
          <p:nvPr/>
        </p:nvSpPr>
        <p:spPr>
          <a:xfrm>
            <a:off x="927538" y="3256639"/>
            <a:ext cx="2036771" cy="761410"/>
          </a:xfrm>
          <a:prstGeom prst="rect">
            <a:avLst/>
          </a:prstGeom>
          <a:noFill/>
        </p:spPr>
        <p:txBody>
          <a:bodyPr wrap="square" lIns="36576" rIns="36576" tIns="18288" bIns="18288" anchor="t">
            <a:spAutoFit/>
          </a:bodyPr>
          <a:lstStyle/>
          <a:p>
            <a:pPr algn="l">
              <a:lnSpc>
                <a:spcPct val="110000"/>
              </a:lnSpc>
            </a:pPr>
            <a:r>
              <a:rPr sz="899" b="0" i="0">
                <a:solidFill>
                  <a:srgbClr val="6B7280"/>
                </a:solidFill>
                <a:latin typeface="BIZ UDPゴシック"/>
                <a:ea typeface="BIZ UDPゴシック"/>
              </a:rPr>
              <a:t>現状業務分析書 / 課題一覧</a:t>
            </a:r>
          </a:p>
          <a:p>
            <a:pPr algn="l">
              <a:lnSpc>
                <a:spcPct val="110000"/>
              </a:lnSpc>
            </a:pPr>
            <a:r>
              <a:rPr sz="899" b="0" i="0">
                <a:solidFill>
                  <a:srgbClr val="6B7280"/>
                </a:solidFill>
                <a:latin typeface="BIZ UDPゴシック"/>
                <a:ea typeface="BIZ UDPゴシック"/>
              </a:rPr>
              <a:t>To-Be業務フロー / 要件定義書</a:t>
            </a:r>
          </a:p>
        </p:txBody>
      </p:sp>
      <p:sp>
        <p:nvSpPr>
          <p:cNvPr id="28" name="drawio:l2"/>
          <p:cNvSpPr txBox="1"/>
          <p:nvPr/>
        </p:nvSpPr>
        <p:spPr>
          <a:xfrm>
            <a:off x="3497297" y="3256639"/>
            <a:ext cx="2036771" cy="761410"/>
          </a:xfrm>
          <a:prstGeom prst="rect">
            <a:avLst/>
          </a:prstGeom>
          <a:noFill/>
        </p:spPr>
        <p:txBody>
          <a:bodyPr wrap="square" lIns="36576" rIns="36576" tIns="18288" bIns="18288" anchor="t">
            <a:spAutoFit/>
          </a:bodyPr>
          <a:lstStyle/>
          <a:p>
            <a:pPr algn="l">
              <a:lnSpc>
                <a:spcPct val="110000"/>
              </a:lnSpc>
            </a:pPr>
            <a:r>
              <a:rPr sz="899" b="0" i="0">
                <a:solidFill>
                  <a:srgbClr val="6B7280"/>
                </a:solidFill>
                <a:latin typeface="BIZ UDPゴシック"/>
                <a:ea typeface="BIZ UDPゴシック"/>
              </a:rPr>
              <a:t>議事録 / 課題管理表</a:t>
            </a:r>
          </a:p>
          <a:p>
            <a:pPr algn="l">
              <a:lnSpc>
                <a:spcPct val="110000"/>
              </a:lnSpc>
            </a:pPr>
            <a:r>
              <a:rPr sz="899" b="0" i="0">
                <a:solidFill>
                  <a:srgbClr val="6B7280"/>
                </a:solidFill>
                <a:latin typeface="BIZ UDPゴシック"/>
                <a:ea typeface="BIZ UDPゴシック"/>
              </a:rPr>
              <a:t>リスク登録簿 / 変更管理表</a:t>
            </a:r>
          </a:p>
        </p:txBody>
      </p:sp>
      <p:sp>
        <p:nvSpPr>
          <p:cNvPr id="29" name="drawio:f3"/>
          <p:cNvSpPr/>
          <p:nvPr/>
        </p:nvSpPr>
        <p:spPr>
          <a:xfrm>
            <a:off x="851397" y="4827047"/>
            <a:ext cx="2189053" cy="475881"/>
          </a:xfrm>
          <a:prstGeom prst="roundRect">
            <a:avLst/>
          </a:prstGeom>
          <a:solidFill>
            <a:srgbClr val="F4F6FA"/>
          </a:solidFill>
          <a:ln w="9517">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4" b="0" i="0">
                <a:solidFill>
                  <a:srgbClr val="1F2937"/>
                </a:solidFill>
                <a:latin typeface="BIZ UDPゴシック"/>
                <a:ea typeface="BIZ UDPゴシック"/>
              </a:rPr>
              <a:t>図 (drawio)</a:t>
            </a:r>
          </a:p>
        </p:txBody>
      </p:sp>
      <p:sp>
        <p:nvSpPr>
          <p:cNvPr id="30" name="drawio:f4"/>
          <p:cNvSpPr/>
          <p:nvPr/>
        </p:nvSpPr>
        <p:spPr>
          <a:xfrm>
            <a:off x="3421156" y="4827047"/>
            <a:ext cx="2189053" cy="475881"/>
          </a:xfrm>
          <a:prstGeom prst="roundRect">
            <a:avLst/>
          </a:prstGeom>
          <a:solidFill>
            <a:srgbClr val="F4F6FA"/>
          </a:solidFill>
          <a:ln w="9517">
            <a:solidFill>
              <a:srgbClr val="16213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10000"/>
              </a:lnSpc>
            </a:pPr>
            <a:r>
              <a:rPr sz="974" b="0" i="0">
                <a:solidFill>
                  <a:srgbClr val="1F2937"/>
                </a:solidFill>
                <a:latin typeface="BIZ UDPゴシック"/>
                <a:ea typeface="BIZ UDPゴシック"/>
              </a:rPr>
              <a:t>検収・契約文書</a:t>
            </a:r>
          </a:p>
        </p:txBody>
      </p:sp>
      <p:sp>
        <p:nvSpPr>
          <p:cNvPr id="31" name="drawio:l3"/>
          <p:cNvSpPr txBox="1"/>
          <p:nvPr/>
        </p:nvSpPr>
        <p:spPr>
          <a:xfrm>
            <a:off x="927538" y="5350517"/>
            <a:ext cx="2036771" cy="666233"/>
          </a:xfrm>
          <a:prstGeom prst="rect">
            <a:avLst/>
          </a:prstGeom>
          <a:noFill/>
        </p:spPr>
        <p:txBody>
          <a:bodyPr wrap="square" lIns="36576" rIns="36576" tIns="18288" bIns="18288" anchor="t">
            <a:spAutoFit/>
          </a:bodyPr>
          <a:lstStyle/>
          <a:p>
            <a:pPr algn="l">
              <a:lnSpc>
                <a:spcPct val="110000"/>
              </a:lnSpc>
            </a:pPr>
            <a:r>
              <a:rPr sz="899" b="0" i="0">
                <a:solidFill>
                  <a:srgbClr val="6B7280"/>
                </a:solidFill>
                <a:latin typeface="BIZ UDPゴシック"/>
                <a:ea typeface="BIZ UDPゴシック"/>
              </a:rPr>
              <a:t>D01〜D32 の drawio 正本</a:t>
            </a:r>
          </a:p>
          <a:p>
            <a:pPr algn="l">
              <a:lnSpc>
                <a:spcPct val="110000"/>
              </a:lnSpc>
            </a:pPr>
            <a:r>
              <a:rPr sz="899" b="0" i="0">
                <a:solidFill>
                  <a:srgbClr val="6B7280"/>
                </a:solidFill>
                <a:latin typeface="BIZ UDPゴシック"/>
                <a:ea typeface="BIZ UDPゴシック"/>
              </a:rPr>
              <a:t>(命名規約に従う)</a:t>
            </a:r>
          </a:p>
        </p:txBody>
      </p:sp>
      <p:sp>
        <p:nvSpPr>
          <p:cNvPr id="32" name="drawio:l4"/>
          <p:cNvSpPr txBox="1"/>
          <p:nvPr/>
        </p:nvSpPr>
        <p:spPr>
          <a:xfrm>
            <a:off x="3497297" y="5350517"/>
            <a:ext cx="2036771" cy="666233"/>
          </a:xfrm>
          <a:prstGeom prst="rect">
            <a:avLst/>
          </a:prstGeom>
          <a:noFill/>
        </p:spPr>
        <p:txBody>
          <a:bodyPr wrap="square" lIns="36576" rIns="36576" tIns="18288" bIns="18288" anchor="t">
            <a:spAutoFit/>
          </a:bodyPr>
          <a:lstStyle/>
          <a:p>
            <a:pPr algn="l">
              <a:lnSpc>
                <a:spcPct val="110000"/>
              </a:lnSpc>
            </a:pPr>
            <a:r>
              <a:rPr sz="899" b="0" i="0">
                <a:solidFill>
                  <a:srgbClr val="6B7280"/>
                </a:solidFill>
                <a:latin typeface="BIZ UDPゴシック"/>
                <a:ea typeface="BIZ UDPゴシック"/>
              </a:rPr>
              <a:t>契約書 / 検収書</a:t>
            </a:r>
          </a:p>
          <a:p>
            <a:pPr algn="l">
              <a:lnSpc>
                <a:spcPct val="110000"/>
              </a:lnSpc>
            </a:pPr>
            <a:r>
              <a:rPr sz="899" b="0" i="0">
                <a:solidFill>
                  <a:srgbClr val="6B7280"/>
                </a:solidFill>
                <a:latin typeface="BIZ UDPゴシック"/>
                <a:ea typeface="BIZ UDPゴシック"/>
              </a:rPr>
              <a:t>(確定版を共有フォルダに保管)</a:t>
            </a:r>
          </a:p>
        </p:txBody>
      </p:sp>
      <p:sp>
        <p:nvSpPr>
          <p:cNvPr id="33" name="drawio:e1"/>
          <p:cNvSpPr/>
          <p:nvPr/>
        </p:nvSpPr>
        <p:spPr>
          <a:xfrm>
            <a:off x="1945924" y="2153546"/>
            <a:ext cx="1284879" cy="586762"/>
          </a:xfrm>
          <a:custGeom>
            <a:avLst/>
            <a:gdLst/>
            <a:ahLst/>
            <a:cxnLst/>
            <a:rect l="l" t="t" r="r" b="b"/>
            <a:pathLst>
              <a:path w="1284879" h="586762">
                <a:moveTo>
                  <a:pt x="1284879" y="0"/>
                </a:moveTo>
                <a:lnTo>
                  <a:pt x="1284879" y="294095"/>
                </a:lnTo>
                <a:lnTo>
                  <a:pt x="0" y="294095"/>
                </a:lnTo>
                <a:lnTo>
                  <a:pt x="0" y="586762"/>
                </a:lnTo>
              </a:path>
            </a:pathLst>
          </a:custGeom>
          <a:noFill/>
          <a:ln w="19035">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rawio:e2"/>
          <p:cNvSpPr/>
          <p:nvPr/>
        </p:nvSpPr>
        <p:spPr>
          <a:xfrm>
            <a:off x="3230803" y="2153546"/>
            <a:ext cx="1284879" cy="586762"/>
          </a:xfrm>
          <a:custGeom>
            <a:avLst/>
            <a:gdLst/>
            <a:ahLst/>
            <a:cxnLst/>
            <a:rect l="l" t="t" r="r" b="b"/>
            <a:pathLst>
              <a:path w="1284879" h="586762">
                <a:moveTo>
                  <a:pt x="0" y="0"/>
                </a:moveTo>
                <a:lnTo>
                  <a:pt x="0" y="294095"/>
                </a:lnTo>
                <a:lnTo>
                  <a:pt x="1284879" y="294095"/>
                </a:lnTo>
                <a:lnTo>
                  <a:pt x="1284879" y="586762"/>
                </a:lnTo>
              </a:path>
            </a:pathLst>
          </a:custGeom>
          <a:noFill/>
          <a:ln w="19035">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rawio:e3"/>
          <p:cNvSpPr/>
          <p:nvPr/>
        </p:nvSpPr>
        <p:spPr>
          <a:xfrm>
            <a:off x="1945924" y="2153546"/>
            <a:ext cx="1284879" cy="2680639"/>
          </a:xfrm>
          <a:custGeom>
            <a:avLst/>
            <a:gdLst/>
            <a:ahLst/>
            <a:cxnLst/>
            <a:rect l="l" t="t" r="r" b="b"/>
            <a:pathLst>
              <a:path w="1284879" h="2680639">
                <a:moveTo>
                  <a:pt x="1284879" y="0"/>
                </a:moveTo>
                <a:lnTo>
                  <a:pt x="1284879" y="294095"/>
                </a:lnTo>
                <a:lnTo>
                  <a:pt x="1284879" y="2387973"/>
                </a:lnTo>
                <a:lnTo>
                  <a:pt x="0" y="2387973"/>
                </a:lnTo>
                <a:lnTo>
                  <a:pt x="0" y="2680639"/>
                </a:lnTo>
              </a:path>
            </a:pathLst>
          </a:custGeom>
          <a:noFill/>
          <a:ln w="19035">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rawio:e4"/>
          <p:cNvSpPr/>
          <p:nvPr/>
        </p:nvSpPr>
        <p:spPr>
          <a:xfrm>
            <a:off x="3230803" y="2153546"/>
            <a:ext cx="1284879" cy="2680639"/>
          </a:xfrm>
          <a:custGeom>
            <a:avLst/>
            <a:gdLst/>
            <a:ahLst/>
            <a:cxnLst/>
            <a:rect l="l" t="t" r="r" b="b"/>
            <a:pathLst>
              <a:path w="1284879" h="2680639">
                <a:moveTo>
                  <a:pt x="0" y="0"/>
                </a:moveTo>
                <a:lnTo>
                  <a:pt x="0" y="294095"/>
                </a:lnTo>
                <a:lnTo>
                  <a:pt x="0" y="2387973"/>
                </a:lnTo>
                <a:lnTo>
                  <a:pt x="1284879" y="2387973"/>
                </a:lnTo>
                <a:lnTo>
                  <a:pt x="1284879" y="2680639"/>
                </a:lnTo>
              </a:path>
            </a:pathLst>
          </a:custGeom>
          <a:noFill/>
          <a:ln w="19035">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lk-diagram-cap"/>
          <p:cNvSpPr txBox="1"/>
          <p:nvPr/>
        </p:nvSpPr>
        <p:spPr>
          <a:xfrm>
            <a:off x="502920" y="6053327"/>
            <a:ext cx="5455767" cy="237744"/>
          </a:xfrm>
          <a:prstGeom prst="rect">
            <a:avLst/>
          </a:prstGeom>
          <a:noFill/>
        </p:spPr>
        <p:txBody>
          <a:bodyPr wrap="square" lIns="0" tIns="0" rIns="0" bIns="0" anchor="t">
            <a:spAutoFit/>
          </a:bodyPr>
          <a:lstStyle/>
          <a:p>
            <a:pPr algn="ctr">
              <a:lnSpc>
                <a:spcPct val="120000"/>
              </a:lnSpc>
            </a:pPr>
            <a:r>
              <a:rPr sz="900" b="0">
                <a:solidFill>
                  <a:srgbClr val="6B7280"/>
                </a:solidFill>
                <a:latin typeface="BIZ UDPゴシック"/>
                <a:ea typeface="BIZ UDPゴシック"/>
              </a:rPr>
              <a:t>ドキュメント管理フォルダ構成</a:t>
            </a:r>
          </a:p>
        </p:txBody>
      </p:sp>
      <p:graphicFrame>
        <p:nvGraphicFramePr>
          <p:cNvPr id="38" name="blk-table"/>
          <p:cNvGraphicFramePr>
            <a:graphicFrameLocks noGrp="1"/>
          </p:cNvGraphicFramePr>
          <p:nvPr/>
        </p:nvGraphicFramePr>
        <p:xfrm>
          <a:off x="6233007" y="1591055"/>
          <a:ext cx="5455767" cy="1831340"/>
        </p:xfrm>
        <a:graphic>
          <a:graphicData uri="http://schemas.openxmlformats.org/drawingml/2006/table">
            <a:tbl>
              <a:tblPr>
                <a:tableStyleId>{5C22544A-7EE6-4342-B048-85BDC9FD1C3A}</a:tableStyleId>
              </a:tblPr>
              <a:tblGrid>
                <a:gridCol w="2182307"/>
                <a:gridCol w="3273460"/>
              </a:tblGrid>
              <a:tr h="295148">
                <a:tc>
                  <a:txBody>
                    <a:bodyPr wrap="square" lIns="45720" tIns="18288" rIns="45720" bIns="18288" anchor="ctr"/>
                    <a:lstStyle/>
                    <a:p>
                      <a:pPr algn="l">
                        <a:lnSpc>
                          <a:spcPct val="120000"/>
                        </a:lnSpc>
                      </a:pPr>
                      <a:r>
                        <a:rPr sz="1400" b="1">
                          <a:solidFill>
                            <a:srgbClr val="FFFFFF"/>
                          </a:solidFill>
                          <a:latin typeface="BIZ UDPゴシック"/>
                          <a:ea typeface="BIZ UDPゴシック"/>
                        </a:rPr>
                        <a:t>管理対象</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版管理ルール</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計画・要件・設計書</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承認時に vX.Y でベースライン化する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議事録・課題・リスク</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更新の都度、更新履歴を記録する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図 (drawio)</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正本はdrawioとし、命名規約に従う</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検収・契約文書</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確定版を共有フォルダで管理する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05  プロジェクト管理計画</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5.10 情報セキュリティ管理</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38</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情報の取扱区分とインシデント時の対応を定める</a:t>
            </a:r>
          </a:p>
        </p:txBody>
      </p:sp>
      <p:graphicFrame>
        <p:nvGraphicFramePr>
          <p:cNvPr id="24" name="blk-table"/>
          <p:cNvGraphicFramePr>
            <a:graphicFrameLocks noGrp="1"/>
          </p:cNvGraphicFramePr>
          <p:nvPr/>
        </p:nvGraphicFramePr>
        <p:xfrm>
          <a:off x="502920" y="1591055"/>
          <a:ext cx="11185854" cy="1447292"/>
        </p:xfrm>
        <a:graphic>
          <a:graphicData uri="http://schemas.openxmlformats.org/drawingml/2006/table">
            <a:tbl>
              <a:tblPr>
                <a:tableStyleId>{5C22544A-7EE6-4342-B048-85BDC9FD1C3A}</a:tableStyleId>
              </a:tblPr>
              <a:tblGrid>
                <a:gridCol w="1789736"/>
                <a:gridCol w="2908322"/>
                <a:gridCol w="6487796"/>
              </a:tblGrid>
              <a:tr h="295148">
                <a:tc>
                  <a:txBody>
                    <a:bodyPr wrap="square" lIns="45720" tIns="18288" rIns="45720" bIns="18288" anchor="ctr"/>
                    <a:lstStyle/>
                    <a:p>
                      <a:pPr algn="l">
                        <a:lnSpc>
                          <a:spcPct val="120000"/>
                        </a:lnSpc>
                      </a:pPr>
                      <a:r>
                        <a:rPr sz="1400" b="1">
                          <a:solidFill>
                            <a:srgbClr val="FFFFFF"/>
                          </a:solidFill>
                          <a:latin typeface="BIZ UDPゴシック"/>
                          <a:ea typeface="BIZ UDPゴシック"/>
                        </a:rPr>
                        <a:t>情報区分</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例</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取扱ルール</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機密</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個人情報・契約情報・人件費</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暗号化とアクセス権限制御を行い、社外持出しを禁止する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社内限</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業務フロー・要件定義書</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関係者のみ共有し、共有フォルダで管理する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公開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一般周知資料</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制限なし</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bl>
          </a:graphicData>
        </a:graphic>
      </p:graphicFrame>
      <p:sp>
        <p:nvSpPr>
          <p:cNvPr id="25" name="blk-callout"/>
          <p:cNvSpPr/>
          <p:nvPr/>
        </p:nvSpPr>
        <p:spPr>
          <a:xfrm>
            <a:off x="502920" y="5730240"/>
            <a:ext cx="11185855" cy="524256"/>
          </a:xfrm>
          <a:prstGeom prst="roundRect">
            <a:avLst>
              <a:gd name="adj" fmla="val 8000"/>
            </a:avLst>
          </a:prstGeom>
          <a:solidFill>
            <a:srgbClr val="FCF4EB"/>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09728"/>
          <a:lstStyle/>
          <a:p>
            <a:pPr algn="l">
              <a:lnSpc>
                <a:spcPct val="120000"/>
              </a:lnSpc>
            </a:pPr>
            <a:r>
              <a:rPr sz="1200" b="0">
                <a:solidFill>
                  <a:srgbClr val="1F2937"/>
                </a:solidFill>
                <a:latin typeface="BIZ UDPゴシック"/>
                <a:ea typeface="BIZ UDPゴシック"/>
              </a:rPr>
              <a:t>インシデント発生時は直ちにプロジェクトマネージャーと情報システム部へ連絡し、社内規程の手順に従う</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v-bg"/>
          <p:cNvSpPr/>
          <p:nvPr/>
        </p:nvSpPr>
        <p:spPr>
          <a:xfrm>
            <a:off x="0" y="0"/>
            <a:ext cx="12191695" cy="6858000"/>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v-acc1"/>
          <p:cNvSpPr/>
          <p:nvPr/>
        </p:nvSpPr>
        <p:spPr>
          <a:xfrm>
            <a:off x="9814255" y="-1005840"/>
            <a:ext cx="2560320" cy="2560320"/>
          </a:xfrm>
          <a:prstGeom prst="rect">
            <a:avLst/>
          </a:prstGeom>
          <a:solidFill>
            <a:srgbClr val="B4235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v-acc2"/>
          <p:cNvSpPr/>
          <p:nvPr/>
        </p:nvSpPr>
        <p:spPr>
          <a:xfrm>
            <a:off x="10637215" y="5120640"/>
            <a:ext cx="1188720" cy="1188720"/>
          </a:xfrm>
          <a:prstGeom prst="ellipse">
            <a:avLst/>
          </a:prstGeom>
          <a:noFill/>
          <a:ln w="254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v-acc3"/>
          <p:cNvSpPr/>
          <p:nvPr/>
        </p:nvSpPr>
        <p:spPr>
          <a:xfrm rot="1320000">
            <a:off x="11643055" y="2468879"/>
            <a:ext cx="502920" cy="3108960"/>
          </a:xfrm>
          <a:prstGeom prst="rect">
            <a:avLst/>
          </a:prstGeom>
          <a:solidFill>
            <a:srgbClr val="B4235A">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v-kicker"/>
          <p:cNvSpPr txBox="1"/>
          <p:nvPr/>
        </p:nvSpPr>
        <p:spPr>
          <a:xfrm>
            <a:off x="777240" y="960120"/>
            <a:ext cx="2743200" cy="256032"/>
          </a:xfrm>
          <a:prstGeom prst="rect">
            <a:avLst/>
          </a:prstGeom>
          <a:noFill/>
        </p:spPr>
        <p:txBody>
          <a:bodyPr wrap="square" lIns="0" tIns="0" rIns="0" bIns="0" anchor="t">
            <a:spAutoFit/>
          </a:bodyPr>
          <a:lstStyle/>
          <a:p>
            <a:pPr algn="l">
              <a:lnSpc>
                <a:spcPct val="120000"/>
              </a:lnSpc>
            </a:pPr>
            <a:r>
              <a:rPr sz="1200" b="1" spc="400">
                <a:solidFill>
                  <a:srgbClr val="0E7490"/>
                </a:solidFill>
                <a:latin typeface="BIZ UDPゴシック"/>
                <a:ea typeface="BIZ UDPゴシック"/>
              </a:rPr>
              <a:t>CHAPTER</a:t>
            </a:r>
          </a:p>
        </p:txBody>
      </p:sp>
      <p:sp>
        <p:nvSpPr>
          <p:cNvPr id="7" name="dv-num"/>
          <p:cNvSpPr txBox="1"/>
          <p:nvPr/>
        </p:nvSpPr>
        <p:spPr>
          <a:xfrm>
            <a:off x="731519" y="1234440"/>
            <a:ext cx="3108960" cy="1417320"/>
          </a:xfrm>
          <a:prstGeom prst="rect">
            <a:avLst/>
          </a:prstGeom>
          <a:noFill/>
        </p:spPr>
        <p:txBody>
          <a:bodyPr wrap="none" lIns="0" tIns="0" rIns="0" bIns="0" anchor="t">
            <a:spAutoFit/>
          </a:bodyPr>
          <a:lstStyle/>
          <a:p>
            <a:pPr algn="l">
              <a:lnSpc>
                <a:spcPct val="120000"/>
              </a:lnSpc>
            </a:pPr>
            <a:r>
              <a:rPr sz="9600" b="1">
                <a:solidFill>
                  <a:srgbClr val="B4235A"/>
                </a:solidFill>
                <a:latin typeface="BIZ UDPゴシック"/>
                <a:ea typeface="BIZ UDPゴシック"/>
              </a:rPr>
              <a:t>06</a:t>
            </a:r>
          </a:p>
        </p:txBody>
      </p:sp>
      <p:sp>
        <p:nvSpPr>
          <p:cNvPr id="8" name="dv-title"/>
          <p:cNvSpPr txBox="1"/>
          <p:nvPr/>
        </p:nvSpPr>
        <p:spPr>
          <a:xfrm>
            <a:off x="777240" y="2880360"/>
            <a:ext cx="9539935" cy="685800"/>
          </a:xfrm>
          <a:prstGeom prst="rect">
            <a:avLst/>
          </a:prstGeom>
          <a:noFill/>
        </p:spPr>
        <p:txBody>
          <a:bodyPr wrap="square" lIns="0" tIns="0" rIns="0" bIns="0" anchor="t">
            <a:spAutoFit/>
          </a:bodyPr>
          <a:lstStyle/>
          <a:p>
            <a:pPr algn="l">
              <a:lnSpc>
                <a:spcPct val="120000"/>
              </a:lnSpc>
            </a:pPr>
            <a:r>
              <a:rPr sz="4000" b="1">
                <a:solidFill>
                  <a:srgbClr val="FFFFFF"/>
                </a:solidFill>
                <a:latin typeface="BIZ UDPゴシック"/>
                <a:ea typeface="BIZ UDPゴシック"/>
              </a:rPr>
              <a:t>プロジェクトルール</a:t>
            </a:r>
          </a:p>
        </p:txBody>
      </p:sp>
      <p:sp>
        <p:nvSpPr>
          <p:cNvPr id="9" name="dv-sec-6.1"/>
          <p:cNvSpPr txBox="1"/>
          <p:nvPr/>
        </p:nvSpPr>
        <p:spPr>
          <a:xfrm>
            <a:off x="777240" y="4069080"/>
            <a:ext cx="10637215" cy="256032"/>
          </a:xfrm>
          <a:prstGeom prst="rect">
            <a:avLst/>
          </a:prstGeom>
          <a:noFill/>
        </p:spPr>
        <p:txBody>
          <a:bodyPr wrap="square" lIns="0" tIns="0" rIns="0" bIns="0" anchor="t">
            <a:spAutoFit/>
          </a:bodyPr>
          <a:lstStyle/>
          <a:p>
            <a:pPr algn="l">
              <a:lnSpc>
                <a:spcPct val="120000"/>
              </a:lnSpc>
            </a:pPr>
            <a:r>
              <a:rPr sz="1300" b="0">
                <a:solidFill>
                  <a:srgbClr val="D2E1FC"/>
                </a:solidFill>
                <a:latin typeface="BIZ UDPゴシック"/>
                <a:ea typeface="BIZ UDPゴシック"/>
              </a:rPr>
              <a:t>6.1  運営ルール</a:t>
            </a:r>
          </a:p>
        </p:txBody>
      </p:sp>
      <p:sp>
        <p:nvSpPr>
          <p:cNvPr id="10" name="dv-sec-6.2"/>
          <p:cNvSpPr txBox="1"/>
          <p:nvPr/>
        </p:nvSpPr>
        <p:spPr>
          <a:xfrm>
            <a:off x="777240" y="4291965"/>
            <a:ext cx="10637215" cy="256032"/>
          </a:xfrm>
          <a:prstGeom prst="rect">
            <a:avLst/>
          </a:prstGeom>
          <a:noFill/>
        </p:spPr>
        <p:txBody>
          <a:bodyPr wrap="square" lIns="0" tIns="0" rIns="0" bIns="0" anchor="t">
            <a:spAutoFit/>
          </a:bodyPr>
          <a:lstStyle/>
          <a:p>
            <a:pPr algn="l">
              <a:lnSpc>
                <a:spcPct val="120000"/>
              </a:lnSpc>
            </a:pPr>
            <a:r>
              <a:rPr sz="1300" b="0">
                <a:solidFill>
                  <a:srgbClr val="D2E1FC"/>
                </a:solidFill>
                <a:latin typeface="BIZ UDPゴシック"/>
                <a:ea typeface="BIZ UDPゴシック"/>
              </a:rPr>
              <a:t>6.2  ファイル命名規約</a:t>
            </a:r>
          </a:p>
        </p:txBody>
      </p:sp>
      <p:sp>
        <p:nvSpPr>
          <p:cNvPr id="11" name="ftr-page"/>
          <p:cNvSpPr txBox="1"/>
          <p:nvPr/>
        </p:nvSpPr>
        <p:spPr>
          <a:xfrm>
            <a:off x="10774375" y="6400800"/>
            <a:ext cx="914400" cy="274320"/>
          </a:xfrm>
          <a:prstGeom prst="rect">
            <a:avLst/>
          </a:prstGeom>
          <a:noFill/>
        </p:spPr>
        <p:txBody>
          <a:bodyPr wrap="square" lIns="0" tIns="0" rIns="0" bIns="0" anchor="t">
            <a:spAutoFit/>
          </a:bodyPr>
          <a:lstStyle/>
          <a:p>
            <a:pPr algn="r">
              <a:lnSpc>
                <a:spcPct val="120000"/>
              </a:lnSpc>
            </a:pPr>
            <a:r>
              <a:rPr sz="1100" b="1">
                <a:solidFill>
                  <a:srgbClr val="FFFFFF"/>
                </a:solidFill>
                <a:latin typeface="BIZ UDPゴシック"/>
                <a:ea typeface="BIZ UDPゴシック"/>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06  プロジェクトルール</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6.1 運営ルール</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40</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勤務・工数・経費等の運営ルールを定める</a:t>
            </a:r>
          </a:p>
        </p:txBody>
      </p:sp>
      <p:graphicFrame>
        <p:nvGraphicFramePr>
          <p:cNvPr id="24" name="blk-table"/>
          <p:cNvGraphicFramePr>
            <a:graphicFrameLocks noGrp="1"/>
          </p:cNvGraphicFramePr>
          <p:nvPr/>
        </p:nvGraphicFramePr>
        <p:xfrm>
          <a:off x="502920" y="1591055"/>
          <a:ext cx="11185854" cy="2215388"/>
        </p:xfrm>
        <a:graphic>
          <a:graphicData uri="http://schemas.openxmlformats.org/drawingml/2006/table">
            <a:tbl>
              <a:tblPr>
                <a:tableStyleId>{5C22544A-7EE6-4342-B048-85BDC9FD1C3A}</a:tableStyleId>
              </a:tblPr>
              <a:tblGrid>
                <a:gridCol w="3355756"/>
                <a:gridCol w="7830098"/>
              </a:tblGrid>
              <a:tr h="295148">
                <a:tc>
                  <a:txBody>
                    <a:bodyPr wrap="square" lIns="45720" tIns="18288" rIns="45720" bIns="18288" anchor="ctr"/>
                    <a:lstStyle/>
                    <a:p>
                      <a:pPr algn="l">
                        <a:lnSpc>
                          <a:spcPct val="120000"/>
                        </a:lnSpc>
                      </a:pPr>
                      <a:r>
                        <a:rPr sz="1400" b="1">
                          <a:solidFill>
                            <a:srgbClr val="FFFFFF"/>
                          </a:solidFill>
                          <a:latin typeface="BIZ UDPゴシック"/>
                          <a:ea typeface="BIZ UDPゴシック"/>
                        </a:rPr>
                        <a:t>項目</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ルール</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作業時間</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標準作業時間は9:00〜18:00とし、時間外作業は事前申請する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工数報告</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週次で工数を報告し、実績を管理する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経費精算</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プロジェクト経費は所定の手続きで速やかに精算する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情報持出し</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私物端末の業務利用を禁止する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成果物提出</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レビューは2営業日前までに依頼する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06  プロジェクトルール</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D5DB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6.2 ファイル命名規約</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41</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ファイル命名の規則を定め、版と内容を一意にする</a:t>
            </a:r>
          </a:p>
        </p:txBody>
      </p:sp>
      <p:graphicFrame>
        <p:nvGraphicFramePr>
          <p:cNvPr id="24" name="blk-table"/>
          <p:cNvGraphicFramePr>
            <a:graphicFrameLocks noGrp="1"/>
          </p:cNvGraphicFramePr>
          <p:nvPr/>
        </p:nvGraphicFramePr>
        <p:xfrm>
          <a:off x="502920" y="1591055"/>
          <a:ext cx="11185854" cy="1831340"/>
        </p:xfrm>
        <a:graphic>
          <a:graphicData uri="http://schemas.openxmlformats.org/drawingml/2006/table">
            <a:tbl>
              <a:tblPr>
                <a:tableStyleId>{5C22544A-7EE6-4342-B048-85BDC9FD1C3A}</a:tableStyleId>
              </a:tblPr>
              <a:tblGrid>
                <a:gridCol w="2684605"/>
                <a:gridCol w="5592927"/>
                <a:gridCol w="2908322"/>
              </a:tblGrid>
              <a:tr h="295148">
                <a:tc>
                  <a:txBody>
                    <a:bodyPr wrap="square" lIns="45720" tIns="18288" rIns="45720" bIns="18288" anchor="ctr"/>
                    <a:lstStyle/>
                    <a:p>
                      <a:pPr algn="l">
                        <a:lnSpc>
                          <a:spcPct val="120000"/>
                        </a:lnSpc>
                      </a:pPr>
                      <a:r>
                        <a:rPr sz="1400" b="1">
                          <a:solidFill>
                            <a:srgbClr val="FFFFFF"/>
                          </a:solidFill>
                          <a:latin typeface="BIZ UDPゴシック"/>
                          <a:ea typeface="BIZ UDPゴシック"/>
                        </a:rPr>
                        <a:t>種別</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命名規則</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400" b="1">
                          <a:solidFill>
                            <a:srgbClr val="FFFFFF"/>
                          </a:solidFill>
                          <a:latin typeface="BIZ UDPゴシック"/>
                          <a:ea typeface="BIZ UDPゴシック"/>
                        </a:rPr>
                        <a:t>例</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計画・報告書</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P_文書種別_版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P_週次報告_v01</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議事録</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M_会議体_YYYYMMDD</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M_定例_20260401</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設計・要件</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S_対象_版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S_経費精算_要件定義_v10</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400" b="0">
                          <a:solidFill>
                            <a:srgbClr val="1F2937"/>
                          </a:solidFill>
                          <a:latin typeface="BIZ UDPゴシック"/>
                          <a:ea typeface="BIZ UDPゴシック"/>
                        </a:rPr>
                        <a:t>図</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DNN_図名.drawio</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400" b="0">
                          <a:solidFill>
                            <a:srgbClr val="1F2937"/>
                          </a:solidFill>
                          <a:latin typeface="BIZ UDPゴシック"/>
                          <a:ea typeface="BIZ UDPゴシック"/>
                        </a:rPr>
                        <a:t>D01_全体像.drawio</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v-bg"/>
          <p:cNvSpPr/>
          <p:nvPr/>
        </p:nvSpPr>
        <p:spPr>
          <a:xfrm>
            <a:off x="0" y="0"/>
            <a:ext cx="12191695" cy="6858000"/>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v-acc1"/>
          <p:cNvSpPr/>
          <p:nvPr/>
        </p:nvSpPr>
        <p:spPr>
          <a:xfrm>
            <a:off x="9814255" y="-1005840"/>
            <a:ext cx="2560320" cy="2560320"/>
          </a:xfrm>
          <a:prstGeom prst="rect">
            <a:avLst/>
          </a:prstGeom>
          <a:solidFill>
            <a:srgbClr val="B4235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v-acc2"/>
          <p:cNvSpPr/>
          <p:nvPr/>
        </p:nvSpPr>
        <p:spPr>
          <a:xfrm>
            <a:off x="10637215" y="5120640"/>
            <a:ext cx="1188720" cy="1188720"/>
          </a:xfrm>
          <a:prstGeom prst="ellipse">
            <a:avLst/>
          </a:prstGeom>
          <a:noFill/>
          <a:ln w="254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v-acc3"/>
          <p:cNvSpPr/>
          <p:nvPr/>
        </p:nvSpPr>
        <p:spPr>
          <a:xfrm rot="1320000">
            <a:off x="11643055" y="2468879"/>
            <a:ext cx="502920" cy="3108960"/>
          </a:xfrm>
          <a:prstGeom prst="rect">
            <a:avLst/>
          </a:prstGeom>
          <a:solidFill>
            <a:srgbClr val="B4235A">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v-kicker"/>
          <p:cNvSpPr txBox="1"/>
          <p:nvPr/>
        </p:nvSpPr>
        <p:spPr>
          <a:xfrm>
            <a:off x="777240" y="960120"/>
            <a:ext cx="2743200" cy="256032"/>
          </a:xfrm>
          <a:prstGeom prst="rect">
            <a:avLst/>
          </a:prstGeom>
          <a:noFill/>
        </p:spPr>
        <p:txBody>
          <a:bodyPr wrap="square" lIns="0" tIns="0" rIns="0" bIns="0" anchor="t">
            <a:spAutoFit/>
          </a:bodyPr>
          <a:lstStyle/>
          <a:p>
            <a:pPr algn="l">
              <a:lnSpc>
                <a:spcPct val="120000"/>
              </a:lnSpc>
            </a:pPr>
            <a:r>
              <a:rPr sz="1200" b="1" spc="400">
                <a:solidFill>
                  <a:srgbClr val="0E7490"/>
                </a:solidFill>
                <a:latin typeface="BIZ UDPゴシック"/>
                <a:ea typeface="BIZ UDPゴシック"/>
              </a:rPr>
              <a:t>CHAPTER</a:t>
            </a:r>
          </a:p>
        </p:txBody>
      </p:sp>
      <p:sp>
        <p:nvSpPr>
          <p:cNvPr id="7" name="dv-num"/>
          <p:cNvSpPr txBox="1"/>
          <p:nvPr/>
        </p:nvSpPr>
        <p:spPr>
          <a:xfrm>
            <a:off x="731519" y="1234440"/>
            <a:ext cx="3108960" cy="1417320"/>
          </a:xfrm>
          <a:prstGeom prst="rect">
            <a:avLst/>
          </a:prstGeom>
          <a:noFill/>
        </p:spPr>
        <p:txBody>
          <a:bodyPr wrap="none" lIns="0" tIns="0" rIns="0" bIns="0" anchor="t">
            <a:spAutoFit/>
          </a:bodyPr>
          <a:lstStyle/>
          <a:p>
            <a:pPr algn="l">
              <a:lnSpc>
                <a:spcPct val="120000"/>
              </a:lnSpc>
            </a:pPr>
            <a:r>
              <a:rPr sz="9600" b="1">
                <a:solidFill>
                  <a:srgbClr val="B4235A"/>
                </a:solidFill>
                <a:latin typeface="BIZ UDPゴシック"/>
                <a:ea typeface="BIZ UDPゴシック"/>
              </a:rPr>
              <a:t>07</a:t>
            </a:r>
          </a:p>
        </p:txBody>
      </p:sp>
      <p:sp>
        <p:nvSpPr>
          <p:cNvPr id="8" name="dv-title"/>
          <p:cNvSpPr txBox="1"/>
          <p:nvPr/>
        </p:nvSpPr>
        <p:spPr>
          <a:xfrm>
            <a:off x="777240" y="2880360"/>
            <a:ext cx="9539935" cy="685800"/>
          </a:xfrm>
          <a:prstGeom prst="rect">
            <a:avLst/>
          </a:prstGeom>
          <a:noFill/>
        </p:spPr>
        <p:txBody>
          <a:bodyPr wrap="square" lIns="0" tIns="0" rIns="0" bIns="0" anchor="t">
            <a:spAutoFit/>
          </a:bodyPr>
          <a:lstStyle/>
          <a:p>
            <a:pPr algn="l">
              <a:lnSpc>
                <a:spcPct val="120000"/>
              </a:lnSpc>
            </a:pPr>
            <a:r>
              <a:rPr sz="4000" b="1">
                <a:solidFill>
                  <a:srgbClr val="FFFFFF"/>
                </a:solidFill>
                <a:latin typeface="BIZ UDPゴシック"/>
                <a:ea typeface="BIZ UDPゴシック"/>
              </a:rPr>
              <a:t>その他</a:t>
            </a:r>
          </a:p>
        </p:txBody>
      </p:sp>
      <p:sp>
        <p:nvSpPr>
          <p:cNvPr id="9" name="dv-sec-7.1"/>
          <p:cNvSpPr txBox="1"/>
          <p:nvPr/>
        </p:nvSpPr>
        <p:spPr>
          <a:xfrm>
            <a:off x="777240" y="4069080"/>
            <a:ext cx="10637215" cy="256032"/>
          </a:xfrm>
          <a:prstGeom prst="rect">
            <a:avLst/>
          </a:prstGeom>
          <a:noFill/>
        </p:spPr>
        <p:txBody>
          <a:bodyPr wrap="square" lIns="0" tIns="0" rIns="0" bIns="0" anchor="t">
            <a:spAutoFit/>
          </a:bodyPr>
          <a:lstStyle/>
          <a:p>
            <a:pPr algn="l">
              <a:lnSpc>
                <a:spcPct val="120000"/>
              </a:lnSpc>
            </a:pPr>
            <a:r>
              <a:rPr sz="1300" b="0">
                <a:solidFill>
                  <a:srgbClr val="D2E1FC"/>
                </a:solidFill>
                <a:latin typeface="BIZ UDPゴシック"/>
                <a:ea typeface="BIZ UDPゴシック"/>
              </a:rPr>
              <a:t>7.1  成果物一覧</a:t>
            </a:r>
          </a:p>
        </p:txBody>
      </p:sp>
      <p:sp>
        <p:nvSpPr>
          <p:cNvPr id="10" name="dv-sec-7.2"/>
          <p:cNvSpPr txBox="1"/>
          <p:nvPr/>
        </p:nvSpPr>
        <p:spPr>
          <a:xfrm>
            <a:off x="777240" y="4291965"/>
            <a:ext cx="10637215" cy="256032"/>
          </a:xfrm>
          <a:prstGeom prst="rect">
            <a:avLst/>
          </a:prstGeom>
          <a:noFill/>
        </p:spPr>
        <p:txBody>
          <a:bodyPr wrap="square" lIns="0" tIns="0" rIns="0" bIns="0" anchor="t">
            <a:spAutoFit/>
          </a:bodyPr>
          <a:lstStyle/>
          <a:p>
            <a:pPr algn="l">
              <a:lnSpc>
                <a:spcPct val="120000"/>
              </a:lnSpc>
            </a:pPr>
            <a:r>
              <a:rPr sz="1300" b="0">
                <a:solidFill>
                  <a:srgbClr val="D2E1FC"/>
                </a:solidFill>
                <a:latin typeface="BIZ UDPゴシック"/>
                <a:ea typeface="BIZ UDPゴシック"/>
              </a:rPr>
              <a:t>7.2  用語集</a:t>
            </a:r>
          </a:p>
        </p:txBody>
      </p:sp>
      <p:sp>
        <p:nvSpPr>
          <p:cNvPr id="11" name="dv-sec-7.3"/>
          <p:cNvSpPr txBox="1"/>
          <p:nvPr/>
        </p:nvSpPr>
        <p:spPr>
          <a:xfrm>
            <a:off x="777240" y="4514850"/>
            <a:ext cx="10637215" cy="256032"/>
          </a:xfrm>
          <a:prstGeom prst="rect">
            <a:avLst/>
          </a:prstGeom>
          <a:noFill/>
        </p:spPr>
        <p:txBody>
          <a:bodyPr wrap="square" lIns="0" tIns="0" rIns="0" bIns="0" anchor="t">
            <a:spAutoFit/>
          </a:bodyPr>
          <a:lstStyle/>
          <a:p>
            <a:pPr algn="l">
              <a:lnSpc>
                <a:spcPct val="120000"/>
              </a:lnSpc>
            </a:pPr>
            <a:r>
              <a:rPr sz="1300" b="0">
                <a:solidFill>
                  <a:srgbClr val="D2E1FC"/>
                </a:solidFill>
                <a:latin typeface="BIZ UDPゴシック"/>
                <a:ea typeface="BIZ UDPゴシック"/>
              </a:rPr>
              <a:t>7.3  参考資料</a:t>
            </a:r>
          </a:p>
        </p:txBody>
      </p:sp>
      <p:sp>
        <p:nvSpPr>
          <p:cNvPr id="12" name="ftr-page"/>
          <p:cNvSpPr txBox="1"/>
          <p:nvPr/>
        </p:nvSpPr>
        <p:spPr>
          <a:xfrm>
            <a:off x="10774375" y="6400800"/>
            <a:ext cx="914400" cy="274320"/>
          </a:xfrm>
          <a:prstGeom prst="rect">
            <a:avLst/>
          </a:prstGeom>
          <a:noFill/>
        </p:spPr>
        <p:txBody>
          <a:bodyPr wrap="square" lIns="0" tIns="0" rIns="0" bIns="0" anchor="t">
            <a:spAutoFit/>
          </a:bodyPr>
          <a:lstStyle/>
          <a:p>
            <a:pPr algn="r">
              <a:lnSpc>
                <a:spcPct val="120000"/>
              </a:lnSpc>
            </a:pPr>
            <a:r>
              <a:rPr sz="1100" b="1">
                <a:solidFill>
                  <a:srgbClr val="FFFFFF"/>
                </a:solidFill>
                <a:latin typeface="BIZ UDPゴシック"/>
                <a:ea typeface="BIZ UDPゴシック"/>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07  その他</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7.1 成果物一覧</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43</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工程ごとの成果物を一覧化する</a:t>
            </a:r>
          </a:p>
        </p:txBody>
      </p:sp>
      <p:graphicFrame>
        <p:nvGraphicFramePr>
          <p:cNvPr id="24" name="blk-table"/>
          <p:cNvGraphicFramePr>
            <a:graphicFrameLocks noGrp="1"/>
          </p:cNvGraphicFramePr>
          <p:nvPr/>
        </p:nvGraphicFramePr>
        <p:xfrm>
          <a:off x="502920" y="1591055"/>
          <a:ext cx="11185853" cy="4663430"/>
        </p:xfrm>
        <a:graphic>
          <a:graphicData uri="http://schemas.openxmlformats.org/drawingml/2006/table">
            <a:tbl>
              <a:tblPr>
                <a:tableStyleId>{5C22544A-7EE6-4342-B048-85BDC9FD1C3A}</a:tableStyleId>
              </a:tblPr>
              <a:tblGrid>
                <a:gridCol w="2013453"/>
                <a:gridCol w="2908322"/>
                <a:gridCol w="4474342"/>
                <a:gridCol w="1789736"/>
              </a:tblGrid>
              <a:tr h="245618">
                <a:tc>
                  <a:txBody>
                    <a:bodyPr wrap="square" lIns="45720" tIns="18288" rIns="45720" bIns="18288" anchor="ctr"/>
                    <a:lstStyle/>
                    <a:p>
                      <a:pPr algn="l">
                        <a:lnSpc>
                          <a:spcPct val="120000"/>
                        </a:lnSpc>
                      </a:pPr>
                      <a:r>
                        <a:rPr sz="1100" b="1">
                          <a:solidFill>
                            <a:srgbClr val="FFFFFF"/>
                          </a:solidFill>
                          <a:latin typeface="BIZ UDPゴシック"/>
                          <a:ea typeface="BIZ UDPゴシック"/>
                        </a:rPr>
                        <a:t>工程</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100" b="1">
                          <a:solidFill>
                            <a:srgbClr val="FFFFFF"/>
                          </a:solidFill>
                          <a:latin typeface="BIZ UDPゴシック"/>
                          <a:ea typeface="BIZ UDPゴシック"/>
                        </a:rPr>
                        <a:t>成果物</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100" b="1">
                          <a:solidFill>
                            <a:srgbClr val="FFFFFF"/>
                          </a:solidFill>
                          <a:latin typeface="BIZ UDPゴシック"/>
                          <a:ea typeface="BIZ UDPゴシック"/>
                        </a:rPr>
                        <a:t>内容</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100" b="1">
                          <a:solidFill>
                            <a:srgbClr val="FFFFFF"/>
                          </a:solidFill>
                          <a:latin typeface="BIZ UDPゴシック"/>
                          <a:ea typeface="BIZ UDPゴシック"/>
                        </a:rPr>
                        <a:t>作成責任者</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365713">
                <a:tc>
                  <a:txBody>
                    <a:bodyPr wrap="square" lIns="45720" tIns="18288" rIns="45720" bIns="18288" anchor="ctr"/>
                    <a:lstStyle/>
                    <a:p>
                      <a:pPr algn="l">
                        <a:lnSpc>
                          <a:spcPct val="120000"/>
                        </a:lnSpc>
                      </a:pPr>
                      <a:r>
                        <a:rPr sz="1100" b="0">
                          <a:solidFill>
                            <a:srgbClr val="1F2937"/>
                          </a:solidFill>
                          <a:latin typeface="BIZ UDPゴシック"/>
                          <a:ea typeface="BIZ UDPゴシック"/>
                        </a:rPr>
                        <a:t>現状分析</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現状業務分析書</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As-Is業務フローと課題の整理</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業務コンサルタント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65713">
                <a:tc>
                  <a:txBody>
                    <a:bodyPr wrap="square" lIns="45720" tIns="18288" rIns="45720" bIns="18288" anchor="ctr"/>
                    <a:lstStyle/>
                    <a:p>
                      <a:pPr algn="l">
                        <a:lnSpc>
                          <a:spcPct val="120000"/>
                        </a:lnSpc>
                      </a:pPr>
                      <a:r>
                        <a:rPr sz="1100" b="0">
                          <a:solidFill>
                            <a:srgbClr val="1F2937"/>
                          </a:solidFill>
                          <a:latin typeface="BIZ UDPゴシック"/>
                          <a:ea typeface="BIZ UDPゴシック"/>
                        </a:rPr>
                        <a:t>現状分析</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課題一覧</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課題と対応方針の一覧</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業務コンサルタント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65713">
                <a:tc>
                  <a:txBody>
                    <a:bodyPr wrap="square" lIns="45720" tIns="18288" rIns="45720" bIns="18288" anchor="ctr"/>
                    <a:lstStyle/>
                    <a:p>
                      <a:pPr algn="l">
                        <a:lnSpc>
                          <a:spcPct val="120000"/>
                        </a:lnSpc>
                      </a:pPr>
                      <a:r>
                        <a:rPr sz="1100" b="0">
                          <a:solidFill>
                            <a:srgbClr val="1F2937"/>
                          </a:solidFill>
                          <a:latin typeface="BIZ UDPゴシック"/>
                          <a:ea typeface="BIZ UDPゴシック"/>
                        </a:rPr>
                        <a:t>To-Be設計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To-Be業務フロー</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改革後の業務フロー</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業務コンサルタント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65713">
                <a:tc>
                  <a:txBody>
                    <a:bodyPr wrap="square" lIns="45720" tIns="18288" rIns="45720" bIns="18288" anchor="ctr"/>
                    <a:lstStyle/>
                    <a:p>
                      <a:pPr algn="l">
                        <a:lnSpc>
                          <a:spcPct val="120000"/>
                        </a:lnSpc>
                      </a:pPr>
                      <a:r>
                        <a:rPr sz="1100" b="0">
                          <a:solidFill>
                            <a:srgbClr val="1F2937"/>
                          </a:solidFill>
                          <a:latin typeface="BIZ UDPゴシック"/>
                          <a:ea typeface="BIZ UDPゴシック"/>
                        </a:rPr>
                        <a:t>To-Be設計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要件定義書</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機能・非機能・業務要件</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業務コンサルタント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65713">
                <a:tc>
                  <a:txBody>
                    <a:bodyPr wrap="square" lIns="45720" tIns="18288" rIns="45720" bIns="18288" anchor="ctr"/>
                    <a:lstStyle/>
                    <a:p>
                      <a:pPr algn="l">
                        <a:lnSpc>
                          <a:spcPct val="120000"/>
                        </a:lnSpc>
                      </a:pPr>
                      <a:r>
                        <a:rPr sz="1100" b="0">
                          <a:solidFill>
                            <a:srgbClr val="1F2937"/>
                          </a:solidFill>
                          <a:latin typeface="BIZ UDPゴシック"/>
                          <a:ea typeface="BIZ UDPゴシック"/>
                        </a:rPr>
                        <a:t>導入・設定</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設定完了報告書</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SaaS設定の完了報告</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導入エンジニア</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65713">
                <a:tc>
                  <a:txBody>
                    <a:bodyPr wrap="square" lIns="45720" tIns="18288" rIns="45720" bIns="18288" anchor="ctr"/>
                    <a:lstStyle/>
                    <a:p>
                      <a:pPr algn="l">
                        <a:lnSpc>
                          <a:spcPct val="120000"/>
                        </a:lnSpc>
                      </a:pPr>
                      <a:r>
                        <a:rPr sz="1100" b="0">
                          <a:solidFill>
                            <a:srgbClr val="1F2937"/>
                          </a:solidFill>
                          <a:latin typeface="BIZ UDPゴシック"/>
                          <a:ea typeface="BIZ UDPゴシック"/>
                        </a:rPr>
                        <a:t>導入・設定</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連携設計書</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基幹システム連携の設計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導入エンジニア</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65713">
                <a:tc>
                  <a:txBody>
                    <a:bodyPr wrap="square" lIns="45720" tIns="18288" rIns="45720" bIns="18288" anchor="ctr"/>
                    <a:lstStyle/>
                    <a:p>
                      <a:pPr algn="l">
                        <a:lnSpc>
                          <a:spcPct val="120000"/>
                        </a:lnSpc>
                      </a:pPr>
                      <a:r>
                        <a:rPr sz="1100" b="0">
                          <a:solidFill>
                            <a:srgbClr val="1F2937"/>
                          </a:solidFill>
                          <a:latin typeface="BIZ UDPゴシック"/>
                          <a:ea typeface="BIZ UDPゴシック"/>
                        </a:rPr>
                        <a:t>導入・設定</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テスト結果報告書</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結合テストの結果</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導入エンジニア</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65713">
                <a:tc>
                  <a:txBody>
                    <a:bodyPr wrap="square" lIns="45720" tIns="18288" rIns="45720" bIns="18288" anchor="ctr"/>
                    <a:lstStyle/>
                    <a:p>
                      <a:pPr algn="l">
                        <a:lnSpc>
                          <a:spcPct val="120000"/>
                        </a:lnSpc>
                      </a:pPr>
                      <a:r>
                        <a:rPr sz="1100" b="0">
                          <a:solidFill>
                            <a:srgbClr val="1F2937"/>
                          </a:solidFill>
                          <a:latin typeface="BIZ UDPゴシック"/>
                          <a:ea typeface="BIZ UDPゴシック"/>
                        </a:rPr>
                        <a:t>受入・研修</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受入テスト結果報告書</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受入テストの結果</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経理部</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65713">
                <a:tc>
                  <a:txBody>
                    <a:bodyPr wrap="square" lIns="45720" tIns="18288" rIns="45720" bIns="18288" anchor="ctr"/>
                    <a:lstStyle/>
                    <a:p>
                      <a:pPr algn="l">
                        <a:lnSpc>
                          <a:spcPct val="120000"/>
                        </a:lnSpc>
                      </a:pPr>
                      <a:r>
                        <a:rPr sz="1100" b="0">
                          <a:solidFill>
                            <a:srgbClr val="1F2937"/>
                          </a:solidFill>
                          <a:latin typeface="BIZ UDPゴシック"/>
                          <a:ea typeface="BIZ UDPゴシック"/>
                        </a:rPr>
                        <a:t>受入・研修</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研修資料</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研修テキスト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変更管理リード</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65713">
                <a:tc>
                  <a:txBody>
                    <a:bodyPr wrap="square" lIns="45720" tIns="18288" rIns="45720" bIns="18288" anchor="ctr"/>
                    <a:lstStyle/>
                    <a:p>
                      <a:pPr algn="l">
                        <a:lnSpc>
                          <a:spcPct val="120000"/>
                        </a:lnSpc>
                      </a:pPr>
                      <a:r>
                        <a:rPr sz="1100" b="0">
                          <a:solidFill>
                            <a:srgbClr val="1F2937"/>
                          </a:solidFill>
                          <a:latin typeface="BIZ UDPゴシック"/>
                          <a:ea typeface="BIZ UDPゴシック"/>
                        </a:rPr>
                        <a:t>受入・研修</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操作マニュアル</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利用者向け手順書</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変更管理リード</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94969">
                <a:tc>
                  <a:txBody>
                    <a:bodyPr wrap="square" lIns="45720" tIns="18288" rIns="45720" bIns="18288" anchor="ctr"/>
                    <a:lstStyle/>
                    <a:p>
                      <a:pPr algn="l">
                        <a:lnSpc>
                          <a:spcPct val="120000"/>
                        </a:lnSpc>
                      </a:pPr>
                      <a:r>
                        <a:rPr sz="1100" b="0">
                          <a:solidFill>
                            <a:srgbClr val="1F2937"/>
                          </a:solidFill>
                          <a:latin typeface="BIZ UDPゴシック"/>
                          <a:ea typeface="BIZ UDPゴシック"/>
                        </a:rPr>
                        <a:t>移行・定着化</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移行計画書</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本番移行の手順と切戻し計画</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プロジェクトマネージャー</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65713">
                <a:tc>
                  <a:txBody>
                    <a:bodyPr wrap="square" lIns="45720" tIns="18288" rIns="45720" bIns="18288" anchor="ctr"/>
                    <a:lstStyle/>
                    <a:p>
                      <a:pPr algn="l">
                        <a:lnSpc>
                          <a:spcPct val="120000"/>
                        </a:lnSpc>
                      </a:pPr>
                      <a:r>
                        <a:rPr sz="1100" b="0">
                          <a:solidFill>
                            <a:srgbClr val="1F2937"/>
                          </a:solidFill>
                          <a:latin typeface="BIZ UDPゴシック"/>
                          <a:ea typeface="BIZ UDPゴシック"/>
                        </a:rPr>
                        <a:t>移行・定着化</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定着化報告書</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定着化KPIの達成状況</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変更管理リード</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07  その他</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7.2 用語集 (1/2)</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44</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本文で使う主な用語・略語を定義する</a:t>
            </a:r>
          </a:p>
        </p:txBody>
      </p:sp>
      <p:graphicFrame>
        <p:nvGraphicFramePr>
          <p:cNvPr id="24" name="blk-table"/>
          <p:cNvGraphicFramePr>
            <a:graphicFrameLocks noGrp="1"/>
          </p:cNvGraphicFramePr>
          <p:nvPr/>
        </p:nvGraphicFramePr>
        <p:xfrm>
          <a:off x="502920" y="1591055"/>
          <a:ext cx="11185853" cy="4107940"/>
        </p:xfrm>
        <a:graphic>
          <a:graphicData uri="http://schemas.openxmlformats.org/drawingml/2006/table">
            <a:tbl>
              <a:tblPr>
                <a:tableStyleId>{5C22544A-7EE6-4342-B048-85BDC9FD1C3A}</a:tableStyleId>
              </a:tblPr>
              <a:tblGrid>
                <a:gridCol w="2237171"/>
                <a:gridCol w="2013453"/>
                <a:gridCol w="1789736"/>
                <a:gridCol w="5145493"/>
              </a:tblGrid>
              <a:tr h="245618">
                <a:tc>
                  <a:txBody>
                    <a:bodyPr wrap="square" lIns="45720" tIns="18288" rIns="45720" bIns="18288" anchor="ctr"/>
                    <a:lstStyle/>
                    <a:p>
                      <a:pPr algn="l">
                        <a:lnSpc>
                          <a:spcPct val="120000"/>
                        </a:lnSpc>
                      </a:pPr>
                      <a:r>
                        <a:rPr sz="1100" b="1">
                          <a:solidFill>
                            <a:srgbClr val="FFFFFF"/>
                          </a:solidFill>
                          <a:latin typeface="BIZ UDPゴシック"/>
                          <a:ea typeface="BIZ UDPゴシック"/>
                        </a:rPr>
                        <a:t>用語</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100" b="1">
                          <a:solidFill>
                            <a:srgbClr val="FFFFFF"/>
                          </a:solidFill>
                          <a:latin typeface="BIZ UDPゴシック"/>
                          <a:ea typeface="BIZ UDPゴシック"/>
                        </a:rPr>
                        <a:t>読み</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100" b="1">
                          <a:solidFill>
                            <a:srgbClr val="FFFFFF"/>
                          </a:solidFill>
                          <a:latin typeface="BIZ UDPゴシック"/>
                          <a:ea typeface="BIZ UDPゴシック"/>
                        </a:rPr>
                        <a:t>分類</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100" b="1">
                          <a:solidFill>
                            <a:srgbClr val="FFFFFF"/>
                          </a:solidFill>
                          <a:latin typeface="BIZ UDPゴシック"/>
                          <a:ea typeface="BIZ UDPゴシック"/>
                        </a:rPr>
                        <a:t>説明</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384048">
                <a:tc>
                  <a:txBody>
                    <a:bodyPr wrap="square" lIns="45720" tIns="18288" rIns="45720" bIns="18288" anchor="ctr"/>
                    <a:lstStyle/>
                    <a:p>
                      <a:pPr algn="l">
                        <a:lnSpc>
                          <a:spcPct val="120000"/>
                        </a:lnSpc>
                      </a:pPr>
                      <a:r>
                        <a:rPr sz="1100" b="0">
                          <a:solidFill>
                            <a:srgbClr val="1F2937"/>
                          </a:solidFill>
                          <a:latin typeface="BIZ UDPゴシック"/>
                          <a:ea typeface="BIZ UDPゴシック"/>
                        </a:rPr>
                        <a:t>ステアリングコミッティ</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すてありんぐこみってぃ</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会議体</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プロジェクトの重要課題を意思決定する上位会議体</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94969">
                <a:tc>
                  <a:txBody>
                    <a:bodyPr wrap="square" lIns="45720" tIns="18288" rIns="45720" bIns="18288" anchor="ctr"/>
                    <a:lstStyle/>
                    <a:p>
                      <a:pPr algn="l">
                        <a:lnSpc>
                          <a:spcPct val="120000"/>
                        </a:lnSpc>
                      </a:pPr>
                      <a:r>
                        <a:rPr sz="1100" b="0">
                          <a:solidFill>
                            <a:srgbClr val="1F2937"/>
                          </a:solidFill>
                          <a:latin typeface="BIZ UDPゴシック"/>
                          <a:ea typeface="BIZ UDPゴシック"/>
                        </a:rPr>
                        <a:t>CCB</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しーしーびー</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略語</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Change Control Board。変更要求を承認する変更管理委員会 (本件はステアリングコミッティが兼ねる)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100" b="0">
                          <a:solidFill>
                            <a:srgbClr val="1F2937"/>
                          </a:solidFill>
                          <a:latin typeface="BIZ UDPゴシック"/>
                          <a:ea typeface="BIZ UDPゴシック"/>
                        </a:rPr>
                        <a:t>To-Be</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とぅーびー</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用語</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改革後に目指す業務の姿</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100" b="0">
                          <a:solidFill>
                            <a:srgbClr val="1F2937"/>
                          </a:solidFill>
                          <a:latin typeface="BIZ UDPゴシック"/>
                          <a:ea typeface="BIZ UDPゴシック"/>
                        </a:rPr>
                        <a:t>As-Is</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あずいず</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用語</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現状の業務の姿</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100" b="0">
                          <a:solidFill>
                            <a:srgbClr val="1F2937"/>
                          </a:solidFill>
                          <a:latin typeface="BIZ UDPゴシック"/>
                          <a:ea typeface="BIZ UDPゴシック"/>
                        </a:rPr>
                        <a:t>BPR</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びーぴーあーる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略語</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Business Process Re-engineering。業務プロセスの抜本的な改革</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100" b="0">
                          <a:solidFill>
                            <a:srgbClr val="1F2937"/>
                          </a:solidFill>
                          <a:latin typeface="BIZ UDPゴシック"/>
                          <a:ea typeface="BIZ UDPゴシック"/>
                        </a:rPr>
                        <a:t>SaaS</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さーす</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略語</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Software as a Service。クラウドで提供されるソフトウェア</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100" b="0">
                          <a:solidFill>
                            <a:srgbClr val="1F2937"/>
                          </a:solidFill>
                          <a:latin typeface="BIZ UDPゴシック"/>
                          <a:ea typeface="BIZ UDPゴシック"/>
                        </a:rPr>
                        <a:t>KPI</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けーぴーあい</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略語</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Key Performance Indicator。重要業績評価指標</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100" b="0">
                          <a:solidFill>
                            <a:srgbClr val="1F2937"/>
                          </a:solidFill>
                          <a:latin typeface="BIZ UDPゴシック"/>
                          <a:ea typeface="BIZ UDPゴシック"/>
                        </a:rPr>
                        <a:t>フィット&amp;ギャップ</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ふぃっとあんどぎゃっぷ</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用語</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標準機能と要件の適合・不足を分析すること (Fit &amp; Gap)</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100" b="0">
                          <a:solidFill>
                            <a:srgbClr val="1F2937"/>
                          </a:solidFill>
                          <a:latin typeface="BIZ UDPゴシック"/>
                          <a:ea typeface="BIZ UDPゴシック"/>
                        </a:rPr>
                        <a:t>PMO</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ぴーえむおー</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略語</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Project Management Office。プロジェクト管理事務局</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94969">
                <a:tc>
                  <a:txBody>
                    <a:bodyPr wrap="square" lIns="45720" tIns="18288" rIns="45720" bIns="18288" anchor="ctr"/>
                    <a:lstStyle/>
                    <a:p>
                      <a:pPr algn="l">
                        <a:lnSpc>
                          <a:spcPct val="120000"/>
                        </a:lnSpc>
                      </a:pPr>
                      <a:r>
                        <a:rPr sz="1100" b="0">
                          <a:solidFill>
                            <a:srgbClr val="1F2937"/>
                          </a:solidFill>
                          <a:latin typeface="BIZ UDPゴシック"/>
                          <a:ea typeface="BIZ UDPゴシック"/>
                        </a:rPr>
                        <a:t>RACI</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らしー</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略語</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責任分担を整理する手法 (Responsible / Accountable / Consulted / Informed)</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07  その他</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7.2 用語集 (2/2)</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45</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工程や運用で使う用語を定義する</a:t>
            </a:r>
          </a:p>
        </p:txBody>
      </p:sp>
      <p:graphicFrame>
        <p:nvGraphicFramePr>
          <p:cNvPr id="24" name="blk-table"/>
          <p:cNvGraphicFramePr>
            <a:graphicFrameLocks noGrp="1"/>
          </p:cNvGraphicFramePr>
          <p:nvPr/>
        </p:nvGraphicFramePr>
        <p:xfrm>
          <a:off x="502920" y="1591055"/>
          <a:ext cx="11185853" cy="4086098"/>
        </p:xfrm>
        <a:graphic>
          <a:graphicData uri="http://schemas.openxmlformats.org/drawingml/2006/table">
            <a:tbl>
              <a:tblPr>
                <a:tableStyleId>{5C22544A-7EE6-4342-B048-85BDC9FD1C3A}</a:tableStyleId>
              </a:tblPr>
              <a:tblGrid>
                <a:gridCol w="2237171"/>
                <a:gridCol w="2013453"/>
                <a:gridCol w="1789736"/>
                <a:gridCol w="5145493"/>
              </a:tblGrid>
              <a:tr h="245618">
                <a:tc>
                  <a:txBody>
                    <a:bodyPr wrap="square" lIns="45720" tIns="18288" rIns="45720" bIns="18288" anchor="ctr"/>
                    <a:lstStyle/>
                    <a:p>
                      <a:pPr algn="l">
                        <a:lnSpc>
                          <a:spcPct val="120000"/>
                        </a:lnSpc>
                      </a:pPr>
                      <a:r>
                        <a:rPr sz="1100" b="1">
                          <a:solidFill>
                            <a:srgbClr val="FFFFFF"/>
                          </a:solidFill>
                          <a:latin typeface="BIZ UDPゴシック"/>
                          <a:ea typeface="BIZ UDPゴシック"/>
                        </a:rPr>
                        <a:t>用語</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100" b="1">
                          <a:solidFill>
                            <a:srgbClr val="FFFFFF"/>
                          </a:solidFill>
                          <a:latin typeface="BIZ UDPゴシック"/>
                          <a:ea typeface="BIZ UDPゴシック"/>
                        </a:rPr>
                        <a:t>読み</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100" b="1">
                          <a:solidFill>
                            <a:srgbClr val="FFFFFF"/>
                          </a:solidFill>
                          <a:latin typeface="BIZ UDPゴシック"/>
                          <a:ea typeface="BIZ UDPゴシック"/>
                        </a:rPr>
                        <a:t>分類</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100" b="1">
                          <a:solidFill>
                            <a:srgbClr val="FFFFFF"/>
                          </a:solidFill>
                          <a:latin typeface="BIZ UDPゴシック"/>
                          <a:ea typeface="BIZ UDPゴシック"/>
                        </a:rPr>
                        <a:t>説明</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384048">
                <a:tc>
                  <a:txBody>
                    <a:bodyPr wrap="square" lIns="45720" tIns="18288" rIns="45720" bIns="18288" anchor="ctr"/>
                    <a:lstStyle/>
                    <a:p>
                      <a:pPr algn="l">
                        <a:lnSpc>
                          <a:spcPct val="120000"/>
                        </a:lnSpc>
                      </a:pPr>
                      <a:r>
                        <a:rPr sz="1100" b="0">
                          <a:solidFill>
                            <a:srgbClr val="1F2937"/>
                          </a:solidFill>
                          <a:latin typeface="BIZ UDPゴシック"/>
                          <a:ea typeface="BIZ UDPゴシック"/>
                        </a:rPr>
                        <a:t>EVM</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いーぶいえむ</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略語</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Earned Value Management。出来高を基準に進捗とコストを管理する手法</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100" b="0">
                          <a:solidFill>
                            <a:srgbClr val="1F2937"/>
                          </a:solidFill>
                          <a:latin typeface="BIZ UDPゴシック"/>
                          <a:ea typeface="BIZ UDPゴシック"/>
                        </a:rPr>
                        <a:t>現状分析</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げんじょうぶんせき</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工程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As-Is 業務を調査・分析する工程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100" b="0">
                          <a:solidFill>
                            <a:srgbClr val="1F2937"/>
                          </a:solidFill>
                          <a:latin typeface="BIZ UDPゴシック"/>
                          <a:ea typeface="BIZ UDPゴシック"/>
                        </a:rPr>
                        <a:t>To-Be設計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とぅーびーせっけい</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工程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目指す業務とシステムを設計する工程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100" b="0">
                          <a:solidFill>
                            <a:srgbClr val="1F2937"/>
                          </a:solidFill>
                          <a:latin typeface="BIZ UDPゴシック"/>
                          <a:ea typeface="BIZ UDPゴシック"/>
                        </a:rPr>
                        <a:t>受入テスト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うけいれてすと</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用語</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オーナー側が要件の充足を確認するテスト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100" b="0">
                          <a:solidFill>
                            <a:srgbClr val="1F2937"/>
                          </a:solidFill>
                          <a:latin typeface="BIZ UDPゴシック"/>
                          <a:ea typeface="BIZ UDPゴシック"/>
                        </a:rPr>
                        <a:t>移行</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いこう</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用語</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旧運用から新運用へ切り替えること</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100" b="0">
                          <a:solidFill>
                            <a:srgbClr val="1F2937"/>
                          </a:solidFill>
                          <a:latin typeface="BIZ UDPゴシック"/>
                          <a:ea typeface="BIZ UDPゴシック"/>
                        </a:rPr>
                        <a:t>定着化</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ていちゃくか</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用語</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新しい運用が日常業務として根付くこと</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100" b="0">
                          <a:solidFill>
                            <a:srgbClr val="1F2937"/>
                          </a:solidFill>
                          <a:latin typeface="BIZ UDPゴシック"/>
                          <a:ea typeface="BIZ UDPゴシック"/>
                        </a:rPr>
                        <a:t>経費精算</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けいひせいさん</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用語</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従業員の経費を申請・承認・支払する業務</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100" b="0">
                          <a:solidFill>
                            <a:srgbClr val="1F2937"/>
                          </a:solidFill>
                          <a:latin typeface="BIZ UDPゴシック"/>
                          <a:ea typeface="BIZ UDPゴシック"/>
                        </a:rPr>
                        <a:t>リードタイム</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りーどたいむ</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用語</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申請から支払までの所要時間</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100" b="0">
                          <a:solidFill>
                            <a:srgbClr val="1F2937"/>
                          </a:solidFill>
                          <a:latin typeface="BIZ UDPゴシック"/>
                          <a:ea typeface="BIZ UDPゴシック"/>
                        </a:rPr>
                        <a:t>基幹システム</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きかんしすてむ</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用語</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会計・人事などの中核となる業務システム</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100" b="0">
                          <a:solidFill>
                            <a:srgbClr val="1F2937"/>
                          </a:solidFill>
                          <a:latin typeface="BIZ UDPゴシック"/>
                          <a:ea typeface="BIZ UDPゴシック"/>
                        </a:rPr>
                        <a:t>インシデント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いんしでんと</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用語</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情報セキュリティ上の事故・問題</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dr-strip"/>
          <p:cNvSpPr/>
          <p:nvPr/>
        </p:nvSpPr>
        <p:spPr>
          <a:xfrm>
            <a:off x="0" y="0"/>
            <a:ext cx="12191695" cy="54864"/>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dr-strip"/>
          <p:cNvSpPr/>
          <p:nvPr/>
        </p:nvSpPr>
        <p:spPr>
          <a:xfrm>
            <a:off x="0" y="0"/>
            <a:ext cx="12191695" cy="54864"/>
          </a:xfrm>
          <a:prstGeom prst="rect">
            <a:avLst/>
          </a:prstGeom>
          <a:gradFill rotWithShape="1">
            <a:gsLst>
              <a:gs pos="0">
                <a:srgbClr val="16213E"/>
              </a:gs>
              <a:gs pos="100000">
                <a:srgbClr val="B4235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dr-chap"/>
          <p:cNvSpPr txBox="1"/>
          <p:nvPr/>
        </p:nvSpPr>
        <p:spPr>
          <a:xfrm>
            <a:off x="502920" y="146304"/>
            <a:ext cx="9219895" cy="219456"/>
          </a:xfrm>
          <a:prstGeom prst="rect">
            <a:avLst/>
          </a:prstGeom>
          <a:noFill/>
        </p:spPr>
        <p:txBody>
          <a:bodyPr wrap="square" lIns="0" tIns="0" rIns="0" bIns="0" anchor="t">
            <a:spAutoFit/>
          </a:bodyPr>
          <a:lstStyle/>
          <a:p>
            <a:pPr algn="l">
              <a:lnSpc>
                <a:spcPct val="120000"/>
              </a:lnSpc>
            </a:pPr>
            <a:r>
              <a:rPr sz="1100" b="1">
                <a:solidFill>
                  <a:srgbClr val="B4235A"/>
                </a:solidFill>
                <a:latin typeface="BIZ UDPゴシック"/>
                <a:ea typeface="BIZ UDPゴシック"/>
              </a:rPr>
              <a:t>07  その他</a:t>
            </a:r>
          </a:p>
        </p:txBody>
      </p:sp>
      <p:sp>
        <p:nvSpPr>
          <p:cNvPr id="6" name="hdr-bar"/>
          <p:cNvSpPr/>
          <p:nvPr/>
        </p:nvSpPr>
        <p:spPr>
          <a:xfrm>
            <a:off x="1000627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dr-bar"/>
          <p:cNvSpPr/>
          <p:nvPr/>
        </p:nvSpPr>
        <p:spPr>
          <a:xfrm>
            <a:off x="10253167"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dr-bar"/>
          <p:cNvSpPr/>
          <p:nvPr/>
        </p:nvSpPr>
        <p:spPr>
          <a:xfrm>
            <a:off x="10500055"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dr-bar"/>
          <p:cNvSpPr/>
          <p:nvPr/>
        </p:nvSpPr>
        <p:spPr>
          <a:xfrm>
            <a:off x="10746943"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dr-bar"/>
          <p:cNvSpPr/>
          <p:nvPr/>
        </p:nvSpPr>
        <p:spPr>
          <a:xfrm>
            <a:off x="10993831"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dr-bar"/>
          <p:cNvSpPr/>
          <p:nvPr/>
        </p:nvSpPr>
        <p:spPr>
          <a:xfrm>
            <a:off x="11240719" y="201168"/>
            <a:ext cx="201168" cy="50292"/>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dr-bar"/>
          <p:cNvSpPr/>
          <p:nvPr/>
        </p:nvSpPr>
        <p:spPr>
          <a:xfrm>
            <a:off x="11487607" y="201168"/>
            <a:ext cx="201168" cy="50292"/>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dr-doc"/>
          <p:cNvSpPr txBox="1"/>
          <p:nvPr/>
        </p:nvSpPr>
        <p:spPr>
          <a:xfrm>
            <a:off x="9549079" y="420624"/>
            <a:ext cx="2139696" cy="219456"/>
          </a:xfrm>
          <a:prstGeom prst="rect">
            <a:avLst/>
          </a:prstGeom>
          <a:noFill/>
        </p:spPr>
        <p:txBody>
          <a:bodyPr wrap="square" lIns="0" tIns="0" rIns="0" bIns="0" anchor="t">
            <a:spAutoFit/>
          </a:bodyPr>
          <a:lstStyle/>
          <a:p>
            <a:pPr algn="r">
              <a:lnSpc>
                <a:spcPct val="120000"/>
              </a:lnSpc>
            </a:pPr>
            <a:r>
              <a:rPr sz="900" b="0">
                <a:solidFill>
                  <a:srgbClr val="6B7280"/>
                </a:solidFill>
                <a:latin typeface="BIZ UDPゴシック"/>
                <a:ea typeface="BIZ UDPゴシック"/>
              </a:rPr>
              <a:t>プロジェクト計画書</a:t>
            </a:r>
          </a:p>
        </p:txBody>
      </p:sp>
      <p:sp>
        <p:nvSpPr>
          <p:cNvPr id="14" name="hdr-title"/>
          <p:cNvSpPr txBox="1"/>
          <p:nvPr/>
        </p:nvSpPr>
        <p:spPr>
          <a:xfrm>
            <a:off x="502920" y="365760"/>
            <a:ext cx="9585655" cy="457200"/>
          </a:xfrm>
          <a:prstGeom prst="rect">
            <a:avLst/>
          </a:prstGeom>
          <a:noFill/>
        </p:spPr>
        <p:txBody>
          <a:bodyPr wrap="none" lIns="0" tIns="0" rIns="0" bIns="0" anchor="t">
            <a:spAutoFit/>
          </a:bodyPr>
          <a:lstStyle/>
          <a:p>
            <a:pPr algn="l">
              <a:lnSpc>
                <a:spcPct val="120000"/>
              </a:lnSpc>
            </a:pPr>
            <a:r>
              <a:rPr sz="2400" b="1">
                <a:solidFill>
                  <a:srgbClr val="16213E"/>
                </a:solidFill>
                <a:latin typeface="BIZ UDPゴシック"/>
                <a:ea typeface="BIZ UDPゴシック"/>
              </a:rPr>
              <a:t>7.3 参考資料</a:t>
            </a:r>
          </a:p>
        </p:txBody>
      </p:sp>
      <p:sp>
        <p:nvSpPr>
          <p:cNvPr id="15" name="hdr-accent"/>
          <p:cNvSpPr/>
          <p:nvPr/>
        </p:nvSpPr>
        <p:spPr>
          <a:xfrm>
            <a:off x="502920" y="950976"/>
            <a:ext cx="457200" cy="45720"/>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hdr-hair"/>
          <p:cNvCxnSpPr/>
          <p:nvPr/>
        </p:nvCxnSpPr>
        <p:spPr>
          <a:xfrm>
            <a:off x="502920" y="969264"/>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cxnSp>
        <p:nvCxnSpPr>
          <p:cNvPr id="17" name="ftr-hair"/>
          <p:cNvCxnSpPr/>
          <p:nvPr/>
        </p:nvCxnSpPr>
        <p:spPr>
          <a:xfrm>
            <a:off x="502920" y="6382512"/>
            <a:ext cx="11185855" cy="0"/>
          </a:xfrm>
          <a:prstGeom prst="line">
            <a:avLst/>
          </a:prstGeom>
          <a:ln w="9525">
            <a:solidFill>
              <a:srgbClr val="D5DBE5"/>
            </a:solidFill>
          </a:ln>
        </p:spPr>
        <p:style>
          <a:lnRef idx="2">
            <a:schemeClr val="accent1"/>
          </a:lnRef>
          <a:fillRef idx="0">
            <a:schemeClr val="accent1"/>
          </a:fillRef>
          <a:effectRef idx="1">
            <a:schemeClr val="accent1"/>
          </a:effectRef>
          <a:fontRef idx="minor">
            <a:schemeClr val="tx1"/>
          </a:fontRef>
        </p:style>
      </p:cxnSp>
      <p:sp>
        <p:nvSpPr>
          <p:cNvPr id="18" name="ftr-copy"/>
          <p:cNvSpPr txBox="1"/>
          <p:nvPr/>
        </p:nvSpPr>
        <p:spPr>
          <a:xfrm>
            <a:off x="502920" y="6455664"/>
            <a:ext cx="4474342" cy="219456"/>
          </a:xfrm>
          <a:prstGeom prst="rect">
            <a:avLst/>
          </a:prstGeom>
          <a:noFill/>
        </p:spPr>
        <p:txBody>
          <a:bodyPr wrap="square" lIns="0" tIns="0" rIns="0" bIns="0" anchor="t">
            <a:spAutoFit/>
          </a:bodyPr>
          <a:lstStyle/>
          <a:p>
            <a:pPr algn="l">
              <a:lnSpc>
                <a:spcPct val="120000"/>
              </a:lnSpc>
            </a:pPr>
            <a:r>
              <a:rPr sz="800" b="0">
                <a:solidFill>
                  <a:srgbClr val="6B7280"/>
                </a:solidFill>
                <a:latin typeface="BIZ UDPゴシック"/>
                <a:ea typeface="BIZ UDPゴシック"/>
              </a:rPr>
              <a:t>© 2026 エグザンプルシステムズ株式会社 All Rights Reserved.</a:t>
            </a:r>
          </a:p>
        </p:txBody>
      </p:sp>
      <p:sp>
        <p:nvSpPr>
          <p:cNvPr id="19" name="ftr-conf"/>
          <p:cNvSpPr/>
          <p:nvPr/>
        </p:nvSpPr>
        <p:spPr>
          <a:xfrm>
            <a:off x="5675223" y="6437376"/>
            <a:ext cx="841248" cy="219456"/>
          </a:xfrm>
          <a:prstGeom prst="roundRect">
            <a:avLst>
              <a:gd name="adj" fmla="val 50000"/>
            </a:avLst>
          </a:prstGeom>
          <a:noFill/>
          <a:ln w="12700">
            <a:solidFill>
              <a:srgbClr val="B423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120000"/>
              </a:lnSpc>
            </a:pPr>
            <a:r>
              <a:rPr sz="800" b="1">
                <a:solidFill>
                  <a:srgbClr val="B4235A"/>
                </a:solidFill>
                <a:latin typeface="BIZ UDPゴシック"/>
                <a:ea typeface="BIZ UDPゴシック"/>
              </a:rPr>
              <a:t>社外秘</a:t>
            </a:r>
          </a:p>
        </p:txBody>
      </p:sp>
      <p:sp>
        <p:nvSpPr>
          <p:cNvPr id="20" name="ftr-page"/>
          <p:cNvSpPr txBox="1"/>
          <p:nvPr/>
        </p:nvSpPr>
        <p:spPr>
          <a:xfrm>
            <a:off x="10774375" y="6455664"/>
            <a:ext cx="914400" cy="237744"/>
          </a:xfrm>
          <a:prstGeom prst="rect">
            <a:avLst/>
          </a:prstGeom>
          <a:noFill/>
        </p:spPr>
        <p:txBody>
          <a:bodyPr wrap="square" lIns="0" tIns="0" rIns="0" bIns="0" anchor="t">
            <a:spAutoFit/>
          </a:bodyPr>
          <a:lstStyle/>
          <a:p>
            <a:pPr algn="r">
              <a:lnSpc>
                <a:spcPct val="120000"/>
              </a:lnSpc>
            </a:pPr>
            <a:r>
              <a:rPr sz="1100" b="1">
                <a:solidFill>
                  <a:srgbClr val="16213E"/>
                </a:solidFill>
                <a:latin typeface="BIZ UDPゴシック"/>
                <a:ea typeface="BIZ UDPゴシック"/>
              </a:rPr>
              <a:t>46</a:t>
            </a:r>
          </a:p>
        </p:txBody>
      </p:sp>
      <p:sp>
        <p:nvSpPr>
          <p:cNvPr id="21" name="lead-box"/>
          <p:cNvSpPr/>
          <p:nvPr/>
        </p:nvSpPr>
        <p:spPr>
          <a:xfrm>
            <a:off x="502920" y="1078992"/>
            <a:ext cx="11185855"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ad-bar"/>
          <p:cNvSpPr/>
          <p:nvPr/>
        </p:nvSpPr>
        <p:spPr>
          <a:xfrm>
            <a:off x="502920" y="1078992"/>
            <a:ext cx="54864" cy="384048"/>
          </a:xfrm>
          <a:prstGeom prst="rect">
            <a:avLst/>
          </a:prstGeom>
          <a:solidFill>
            <a:srgbClr val="B4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ad-text"/>
          <p:cNvSpPr txBox="1"/>
          <p:nvPr/>
        </p:nvSpPr>
        <p:spPr>
          <a:xfrm>
            <a:off x="704088" y="1078992"/>
            <a:ext cx="10957255" cy="384048"/>
          </a:xfrm>
          <a:prstGeom prst="rect">
            <a:avLst/>
          </a:prstGeom>
          <a:noFill/>
        </p:spPr>
        <p:txBody>
          <a:bodyPr wrap="square" lIns="0" tIns="0" rIns="0" bIns="0" anchor="ctr">
            <a:spAutoFit/>
          </a:bodyPr>
          <a:lstStyle/>
          <a:p>
            <a:pPr algn="l">
              <a:lnSpc>
                <a:spcPct val="120000"/>
              </a:lnSpc>
            </a:pPr>
            <a:r>
              <a:rPr sz="1500" b="1">
                <a:solidFill>
                  <a:srgbClr val="1F2937"/>
                </a:solidFill>
                <a:latin typeface="BIZ UDPゴシック"/>
                <a:ea typeface="BIZ UDPゴシック"/>
              </a:rPr>
              <a:t>準拠・参照した標準や資料を示す</a:t>
            </a:r>
          </a:p>
        </p:txBody>
      </p:sp>
      <p:graphicFrame>
        <p:nvGraphicFramePr>
          <p:cNvPr id="24" name="blk-table"/>
          <p:cNvGraphicFramePr>
            <a:graphicFrameLocks noGrp="1"/>
          </p:cNvGraphicFramePr>
          <p:nvPr/>
        </p:nvGraphicFramePr>
        <p:xfrm>
          <a:off x="502920" y="1591055"/>
          <a:ext cx="11185853" cy="1781810"/>
        </p:xfrm>
        <a:graphic>
          <a:graphicData uri="http://schemas.openxmlformats.org/drawingml/2006/table">
            <a:tbl>
              <a:tblPr>
                <a:tableStyleId>{5C22544A-7EE6-4342-B048-85BDC9FD1C3A}</a:tableStyleId>
              </a:tblPr>
              <a:tblGrid>
                <a:gridCol w="4474342"/>
                <a:gridCol w="1566019"/>
                <a:gridCol w="2013453"/>
                <a:gridCol w="3132039"/>
              </a:tblGrid>
              <a:tr h="245618">
                <a:tc>
                  <a:txBody>
                    <a:bodyPr wrap="square" lIns="45720" tIns="18288" rIns="45720" bIns="18288" anchor="ctr"/>
                    <a:lstStyle/>
                    <a:p>
                      <a:pPr algn="l">
                        <a:lnSpc>
                          <a:spcPct val="120000"/>
                        </a:lnSpc>
                      </a:pPr>
                      <a:r>
                        <a:rPr sz="1100" b="1">
                          <a:solidFill>
                            <a:srgbClr val="FFFFFF"/>
                          </a:solidFill>
                          <a:latin typeface="BIZ UDPゴシック"/>
                          <a:ea typeface="BIZ UDPゴシック"/>
                        </a:rPr>
                        <a:t>名称</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100" b="1">
                          <a:solidFill>
                            <a:srgbClr val="FFFFFF"/>
                          </a:solidFill>
                          <a:latin typeface="BIZ UDPゴシック"/>
                          <a:ea typeface="BIZ UDPゴシック"/>
                        </a:rPr>
                        <a:t>版</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100" b="1">
                          <a:solidFill>
                            <a:srgbClr val="FFFFFF"/>
                          </a:solidFill>
                          <a:latin typeface="BIZ UDPゴシック"/>
                          <a:ea typeface="BIZ UDPゴシック"/>
                        </a:rPr>
                        <a:t>発行</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c>
                  <a:txBody>
                    <a:bodyPr wrap="square" lIns="45720" tIns="18288" rIns="45720" bIns="18288" anchor="ctr"/>
                    <a:lstStyle/>
                    <a:p>
                      <a:pPr algn="l">
                        <a:lnSpc>
                          <a:spcPct val="120000"/>
                        </a:lnSpc>
                      </a:pPr>
                      <a:r>
                        <a:rPr sz="1100" b="1">
                          <a:solidFill>
                            <a:srgbClr val="FFFFFF"/>
                          </a:solidFill>
                          <a:latin typeface="BIZ UDPゴシック"/>
                          <a:ea typeface="BIZ UDPゴシック"/>
                        </a:rPr>
                        <a:t>URL</a:t>
                      </a:r>
                    </a:p>
                  </a:txBody>
                  <a:tcPr marL="45720" marR="45720" marT="18288" marB="18288">
                    <a:lnL w="9525" cap="flat">
                      <a:solidFill>
                        <a:srgbClr val="16213E"/>
                      </a:solidFill>
                    </a:lnL>
                    <a:lnR w="9525" cap="flat">
                      <a:solidFill>
                        <a:srgbClr val="16213E"/>
                      </a:solidFill>
                    </a:lnR>
                    <a:lnT w="9525" cap="flat">
                      <a:solidFill>
                        <a:srgbClr val="16213E"/>
                      </a:solidFill>
                    </a:lnT>
                    <a:lnB w="9525" cap="flat">
                      <a:solidFill>
                        <a:srgbClr val="16213E"/>
                      </a:solidFill>
                    </a:lnB>
                    <a:solidFill>
                      <a:srgbClr val="16213E"/>
                    </a:solidFill>
                  </a:tcPr>
                </a:tc>
              </a:tr>
              <a:tr h="384048">
                <a:tc>
                  <a:txBody>
                    <a:bodyPr wrap="square" lIns="45720" tIns="18288" rIns="45720" bIns="18288" anchor="ctr"/>
                    <a:lstStyle/>
                    <a:p>
                      <a:pPr algn="l">
                        <a:lnSpc>
                          <a:spcPct val="120000"/>
                        </a:lnSpc>
                      </a:pPr>
                      <a:r>
                        <a:rPr sz="1100" b="0">
                          <a:solidFill>
                            <a:srgbClr val="1F2937"/>
                          </a:solidFill>
                          <a:latin typeface="BIZ UDPゴシック"/>
                          <a:ea typeface="BIZ UDPゴシック"/>
                        </a:rPr>
                        <a:t>PMBOK ガイド</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第8版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PMI</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https://www.pmi.org/standards/pmbok</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100" b="0">
                          <a:solidFill>
                            <a:srgbClr val="1F2937"/>
                          </a:solidFill>
                          <a:latin typeface="BIZ UDPゴシック"/>
                          <a:ea typeface="BIZ UDPゴシック"/>
                        </a:rPr>
                        <a:t>ISO 21502:2020</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2020</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ISO</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https://www.iso.org/standard/74947.html</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r h="384048">
                <a:tc>
                  <a:txBody>
                    <a:bodyPr wrap="square" lIns="45720" tIns="18288" rIns="45720" bIns="18288" anchor="ctr"/>
                    <a:lstStyle/>
                    <a:p>
                      <a:pPr algn="l">
                        <a:lnSpc>
                          <a:spcPct val="120000"/>
                        </a:lnSpc>
                      </a:pPr>
                      <a:r>
                        <a:rPr sz="1100" b="0">
                          <a:solidFill>
                            <a:srgbClr val="1F2937"/>
                          </a:solidFill>
                          <a:latin typeface="BIZ UDPゴシック"/>
                          <a:ea typeface="BIZ UDPゴシック"/>
                        </a:rPr>
                        <a:t>デジタル・ガバメント推進標準ガイドライン</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最新版</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デジタル庁</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https://www.digital.go.jp/resources/standard_guidelines</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FFFFF"/>
                    </a:solidFill>
                  </a:tcPr>
                </a:tc>
              </a:tr>
              <a:tr h="384048">
                <a:tc>
                  <a:txBody>
                    <a:bodyPr wrap="square" lIns="45720" tIns="18288" rIns="45720" bIns="18288" anchor="ctr"/>
                    <a:lstStyle/>
                    <a:p>
                      <a:pPr algn="l">
                        <a:lnSpc>
                          <a:spcPct val="120000"/>
                        </a:lnSpc>
                      </a:pPr>
                      <a:r>
                        <a:rPr sz="1100" b="0">
                          <a:solidFill>
                            <a:srgbClr val="1F2937"/>
                          </a:solidFill>
                          <a:latin typeface="BIZ UDPゴシック"/>
                          <a:ea typeface="BIZ UDPゴシック"/>
                        </a:rPr>
                        <a:t>共通フレーム2013</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2013</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IPA</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c>
                  <a:txBody>
                    <a:bodyPr wrap="square" lIns="45720" tIns="18288" rIns="45720" bIns="18288" anchor="ctr"/>
                    <a:lstStyle/>
                    <a:p>
                      <a:pPr algn="l">
                        <a:lnSpc>
                          <a:spcPct val="120000"/>
                        </a:lnSpc>
                      </a:pPr>
                      <a:r>
                        <a:rPr sz="1100" b="0">
                          <a:solidFill>
                            <a:srgbClr val="1F2937"/>
                          </a:solidFill>
                          <a:latin typeface="BIZ UDPゴシック"/>
                          <a:ea typeface="BIZ UDPゴシック"/>
                        </a:rPr>
                        <a:t>https://www.ipa.go.jp/publish/</a:t>
                      </a:r>
                    </a:p>
                  </a:txBody>
                  <a:tcPr marL="45720" marR="45720" marT="18288" marB="18288">
                    <a:lnL w="6350" cap="flat">
                      <a:solidFill>
                        <a:srgbClr val="D5DBE5"/>
                      </a:solidFill>
                    </a:lnL>
                    <a:lnR w="6350" cap="flat">
                      <a:solidFill>
                        <a:srgbClr val="D5DBE5"/>
                      </a:solidFill>
                    </a:lnR>
                    <a:lnT w="6350" cap="flat">
                      <a:solidFill>
                        <a:srgbClr val="D5DBE5"/>
                      </a:solidFill>
                    </a:lnT>
                    <a:lnB w="6350" cap="flat">
                      <a:solidFill>
                        <a:srgbClr val="D5DBE5"/>
                      </a:solidFill>
                    </a:lnB>
                    <a:solidFill>
                      <a:srgbClr val="F4F6FA"/>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